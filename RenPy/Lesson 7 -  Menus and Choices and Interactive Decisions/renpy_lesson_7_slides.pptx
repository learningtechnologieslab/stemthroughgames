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5497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" y="0"/>
            <a:ext cx="36576" cy="514350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457200" y="86868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7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457200" y="1508760"/>
            <a:ext cx="5943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Menus &amp; Choices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2304288"/>
            <a:ext cx="5943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Decisions in RenPy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TODAY'S ROADMAP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We're Doing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143000"/>
            <a:ext cx="64008" cy="1051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978408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Warm-Up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78408" y="1737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Spectrum — meaningful vs. trivial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0040" y="233172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" y="2331720"/>
            <a:ext cx="64008" cy="10515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78408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Instruction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78408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menu: + jump syntax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20040" y="352044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320040" y="3520440"/>
            <a:ext cx="64008" cy="105156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978408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Guided Practice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978408" y="4114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starter scene together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754880" y="114300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4754880" y="1143000"/>
            <a:ext cx="64008" cy="10515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1"/>
          <p:cNvSpPr/>
          <p:nvPr/>
        </p:nvSpPr>
        <p:spPr>
          <a:xfrm>
            <a:off x="5413248" y="1463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Activity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5413248" y="173736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your own branching story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4754880" y="233172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4754880" y="2331720"/>
            <a:ext cx="64008" cy="105156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6"/>
          <p:cNvSpPr/>
          <p:nvPr/>
        </p:nvSpPr>
        <p:spPr>
          <a:xfrm>
            <a:off x="5413248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&amp; Challenge</a:t>
            </a:r>
            <a:endParaRPr lang="en-US" sz="1400" dirty="0"/>
          </a:p>
        </p:txBody>
      </p:sp>
      <p:sp>
        <p:nvSpPr>
          <p:cNvPr id="34" name="Text 27"/>
          <p:cNvSpPr/>
          <p:nvPr/>
        </p:nvSpPr>
        <p:spPr>
          <a:xfrm>
            <a:off x="5413248" y="292608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 + extension tasks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4754880" y="3520440"/>
            <a:ext cx="4160520" cy="105156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4754880" y="3520440"/>
            <a:ext cx="64008" cy="105156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1"/>
          <p:cNvSpPr/>
          <p:nvPr/>
        </p:nvSpPr>
        <p:spPr>
          <a:xfrm>
            <a:off x="5413248" y="38404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Reflection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5413248" y="411480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choices meaningful?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end of today, you will…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64008" cy="7498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1051560" y="12618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63FF"/>
                </a:solidFill>
              </a:rPr>
              <a:t>Write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051560" y="15179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menu: block with at least two player choices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65760" y="2103120"/>
            <a:ext cx="8412480" cy="749808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" y="2103120"/>
            <a:ext cx="64008" cy="749808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1051560" y="21762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B1"/>
                </a:solidFill>
              </a:rPr>
              <a:t>Use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51560" y="24323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statements to send players to separate story paths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65760" y="3017520"/>
            <a:ext cx="8412480" cy="749808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365760" y="3017520"/>
            <a:ext cx="64008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051560" y="3090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Build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051560" y="33467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branching story with two distinct endings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365760" y="3931920"/>
            <a:ext cx="8412480" cy="749808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65760" y="3931920"/>
            <a:ext cx="64008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1051560" y="40050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6B"/>
                </a:solidFill>
              </a:rPr>
              <a:t>Explain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051560" y="4261104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choice feel meaningful in a game or story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WARM-UP  ·  0–5 MIN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Choice Spectrum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164592"/>
          </a:xfrm>
          <a:prstGeom prst="rect">
            <a:avLst/>
          </a:prstGeom>
          <a:solidFill>
            <a:srgbClr val="2D3155"/>
          </a:solidFill>
          <a:ln w="12700">
            <a:solidFill>
              <a:srgbClr val="2D3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1170432" cy="1645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627632" y="1143000"/>
            <a:ext cx="1170432" cy="164592"/>
          </a:xfrm>
          <a:prstGeom prst="rect">
            <a:avLst/>
          </a:prstGeom>
          <a:solidFill>
            <a:srgbClr val="FF8E6B"/>
          </a:solidFill>
          <a:ln w="12700">
            <a:solidFill>
              <a:srgbClr val="FF8E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98064" y="1143000"/>
            <a:ext cx="1170432" cy="164592"/>
          </a:xfrm>
          <a:prstGeom prst="rect">
            <a:avLst/>
          </a:prstGeom>
          <a:solidFill>
            <a:srgbClr val="FFAA6B"/>
          </a:solidFill>
          <a:ln w="12700">
            <a:solidFill>
              <a:srgbClr val="FFA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68496" y="1143000"/>
            <a:ext cx="1170432" cy="16459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38928" y="1143000"/>
            <a:ext cx="1170432" cy="164592"/>
          </a:xfrm>
          <a:prstGeom prst="rect">
            <a:avLst/>
          </a:prstGeom>
          <a:solidFill>
            <a:srgbClr val="B8E063"/>
          </a:solidFill>
          <a:ln w="12700">
            <a:solidFill>
              <a:srgbClr val="B8E0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09360" y="1143000"/>
            <a:ext cx="1170432" cy="164592"/>
          </a:xfrm>
          <a:prstGeom prst="rect">
            <a:avLst/>
          </a:prstGeom>
          <a:solidFill>
            <a:srgbClr val="6CE0A0"/>
          </a:solidFill>
          <a:ln w="12700">
            <a:solidFill>
              <a:srgbClr val="6CE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79792" y="1143000"/>
            <a:ext cx="1170432" cy="16459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6B"/>
                </a:solidFill>
              </a:rPr>
              <a:t>TRIVIAL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4B1"/>
                </a:solidFill>
              </a:rPr>
              <a:t>MEANINGFUL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783080"/>
            <a:ext cx="8412480" cy="8686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1783080"/>
            <a:ext cx="64008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1837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097280" y="18470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you want to continue playing?" — Yes or No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22402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</a:rPr>
              <a:t>Is this really a choice?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92240" y="203911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D4B1"/>
                </a:solidFill>
              </a:rPr>
              <a:t>Place your sticky note →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788920"/>
            <a:ext cx="8412480" cy="8686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64008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843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1097280" y="28529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"Betray your friend for power, or stay loyal and risk losing?"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97280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</a:rPr>
              <a:t>What are the trade-offs?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304495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D4B1"/>
                </a:solidFill>
              </a:rPr>
              <a:t>Place your sticky note →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94760"/>
            <a:ext cx="8412480" cy="8686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65760" y="3794760"/>
            <a:ext cx="64008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849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097280" y="385876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"Pick your character's shirt color: red or blue"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97280" y="42519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92A4"/>
                </a:solidFill>
              </a:rPr>
              <a:t>Does this change the story?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92240" y="40507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D4B1"/>
                </a:solidFill>
              </a:rPr>
              <a:t>Place your sticky note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VOCABULARY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Terms to Know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</a:rPr>
              <a:t>5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16002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bookmark in your script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359152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6012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86207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directly to a label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60120" y="37124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60120" y="41239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player a list of choices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097280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0" y="118872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94960" y="1600200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a story branch / label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359152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0" y="2450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C63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branch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2862072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story path created by a choice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3621024"/>
            <a:ext cx="41605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394960" y="371246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394960" y="41239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label that concludes one story path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DIRECT INSTRUCTION  ·  5–12 MIN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menu: Block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374904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7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RenPy Script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8249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stand at a crossroads."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1518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926080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"Go left":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236976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left_path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547872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858768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"Go right":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169664"/>
            <a:ext cx="4663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right_path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577840" y="1097280"/>
            <a:ext cx="3200400" cy="685800"/>
          </a:xfrm>
          <a:prstGeom prst="rect">
            <a:avLst/>
          </a:prstGeom>
          <a:solidFill>
            <a:srgbClr val="232840"/>
          </a:solidFill>
          <a:ln w="19050">
            <a:solidFill>
              <a:srgbClr val="FF79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0" y="11338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14264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 bookmark in your story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1920240"/>
            <a:ext cx="3200400" cy="685800"/>
          </a:xfrm>
          <a:prstGeom prst="rect">
            <a:avLst/>
          </a:prstGeom>
          <a:solidFill>
            <a:srgbClr val="232840"/>
          </a:solidFill>
          <a:ln w="19050">
            <a:solidFill>
              <a:srgbClr val="BD93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669280" y="19568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69280" y="22494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Pauses story, shows choices to player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2743200"/>
            <a:ext cx="3200400" cy="685800"/>
          </a:xfrm>
          <a:prstGeom prst="rect">
            <a:avLst/>
          </a:prstGeom>
          <a:solidFill>
            <a:srgbClr val="232840"/>
          </a:solidFill>
          <a:ln w="19050">
            <a:solidFill>
              <a:srgbClr val="50FA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0" y="277977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"Option text":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30723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clickable choice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3566160"/>
            <a:ext cx="3200400" cy="685800"/>
          </a:xfrm>
          <a:prstGeom prst="rect">
            <a:avLst/>
          </a:prstGeom>
          <a:solidFill>
            <a:srgbClr val="232840"/>
          </a:solidFill>
          <a:ln w="19050">
            <a:solidFill>
              <a:srgbClr val="8BE9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69280" y="36027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&lt;name&gt;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669280" y="38953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story to that label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FF6B6B"/>
                </a:solidFill>
              </a:rPr>
              <a:t>Indentation = 4 spaces per level. Tabs break RenPy!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CONCEPT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Branching Works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474720" y="1051560"/>
            <a:ext cx="2194560" cy="6400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0" y="10515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start: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2103120"/>
            <a:ext cx="2194560" cy="6400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474720" y="210312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200400"/>
            <a:ext cx="2468880" cy="64008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left_path: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3200400"/>
            <a:ext cx="2468880" cy="6400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3200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right_path: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297680"/>
            <a:ext cx="2468880" cy="59436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4297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ending_A: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4297680"/>
            <a:ext cx="2468880" cy="59436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4297680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ending_B: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691640"/>
            <a:ext cx="0" cy="41148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 flipH="1">
            <a:off x="1691637" y="2743200"/>
            <a:ext cx="2880362" cy="457200"/>
          </a:xfrm>
          <a:prstGeom prst="line">
            <a:avLst/>
          </a:prstGeom>
          <a:noFill/>
          <a:ln w="254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571999" y="2743200"/>
            <a:ext cx="2880361" cy="457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691640" y="3840480"/>
            <a:ext cx="0" cy="457200"/>
          </a:xfrm>
          <a:prstGeom prst="line">
            <a:avLst/>
          </a:prstGeom>
          <a:noFill/>
          <a:ln w="254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3840480"/>
            <a:ext cx="0" cy="4572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00D4B1"/>
                </a:solidFill>
              </a:rPr>
              <a:t>"Go left"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697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6B6B"/>
                </a:solidFill>
              </a:rPr>
              <a:t>"Go right"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926080" y="3246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4"/>
                </a:solidFill>
              </a:rPr>
              <a:t>Each jump sends the story to a completely different path — the player's choice drives the narrative!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GUIDED PRACTICE 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Along: Starter Scene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</a:rPr>
              <a:t>8 / 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566160"/>
          </a:xfrm>
          <a:prstGeom prst="rect">
            <a:avLst/>
          </a:prstGeom>
          <a:solidFill>
            <a:srgbClr val="1E1E2E"/>
          </a:solidFill>
          <a:ln w="12700">
            <a:solidFill>
              <a:srgbClr val="3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070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script.rpy  — type this now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scene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 crossroads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97510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7685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stand at a crossroads deep in the forest."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57860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"Left: a glowing light. Right: rushing water."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88036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182112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"Go left — toward the light":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78561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left_path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4087368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"Go right — into the shadows":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4389120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jump </a:t>
            </a:r>
            <a:r>
              <a:rPr lang="en-US" sz="1200" dirty="0">
                <a:solidFill>
                  <a:srgbClr val="8BE9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right_path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663440"/>
            <a:ext cx="8412480" cy="329184"/>
          </a:xfrm>
          <a:prstGeom prst="rect">
            <a:avLst/>
          </a:prstGeom>
          <a:solidFill>
            <a:srgbClr val="1A20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4690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D4B1"/>
                </a:solidFill>
              </a:rPr>
              <a:t>Typing beats copy-paste — your fingers learn the syntax! Raise your hand if you hit an error.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MAIN ACTIVITY 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Your Branching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</a:rPr>
              <a:t>9 / 14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Task: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starter scene into a complete story with </a:t>
            </a: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distinct endings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65760" y="2148840"/>
            <a:ext cx="8412480" cy="77724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65760" y="2148840"/>
            <a:ext cx="64008" cy="7772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" y="21945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005840" y="22037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</a:rPr>
              <a:t>Two Labels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005840" y="25146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left_path: and label right_path: — continue each path with 3+ lines of dialogue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" y="3063240"/>
            <a:ext cx="8412480" cy="77724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5760" y="3063240"/>
            <a:ext cx="64008" cy="777240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02920" y="31089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D4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005840" y="31181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B1"/>
                </a:solidFill>
              </a:rPr>
              <a:t>Two Endings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05840" y="34290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path leads to a unique ending label (e.g. label ending_village:). End each with return.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5760" y="3977640"/>
            <a:ext cx="64008" cy="7772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02920" y="402336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05840" y="4032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Different Tones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005840" y="4343400"/>
            <a:ext cx="7589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each ending feel emotionally different — hopeful vs. bittersweet, action vs. calm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B6B"/>
                </a:solidFill>
              </a:rPr>
              <a:t>Finished early? See the Challenge slide!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EXAMPLE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Write an Ending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4160520" cy="3108960"/>
          </a:xfrm>
          <a:prstGeom prst="rect">
            <a:avLst/>
          </a:prstGeom>
          <a:solidFill>
            <a:srgbClr val="1E1E2E"/>
          </a:solidFill>
          <a:ln w="1905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29768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D4B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 A — Village Route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ending_village: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spend the night in the village."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"For the first time, you feel at home."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THE END — Village Route  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005840"/>
            <a:ext cx="4160520" cy="3108960"/>
          </a:xfrm>
          <a:prstGeom prst="rect">
            <a:avLst/>
          </a:prstGeom>
          <a:solidFill>
            <a:srgbClr val="1E1E2E"/>
          </a:solidFill>
          <a:ln w="1905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18888" y="1051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 B — River Route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3716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79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 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ending_river: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"The figure hands you a pebble."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103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A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"You sit together until dawn."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2468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0FA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  THE END — River Route  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28346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2004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BD93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8503920" cy="640080"/>
          </a:xfrm>
          <a:prstGeom prst="rect">
            <a:avLst/>
          </a:prstGeom>
          <a:solidFill>
            <a:srgbClr val="232840"/>
          </a:solidFill>
          <a:ln w="12700">
            <a:solidFill>
              <a:srgbClr val="2328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31596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D166"/>
                </a:solidFill>
              </a:rPr>
              <a:t>Every ending needs: 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9456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a label name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3+ lines of story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a clear tone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132320" y="431596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return at the end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CHALLENGE  ·  FINISHED EARLY?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4114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Level Up Your Story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20040" y="1143000"/>
            <a:ext cx="85039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17914" y="121615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D4B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Nested Choice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17914" y="160020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one of your paths, add a second menu: with another jump — a choice within a choice.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0040" y="2377440"/>
            <a:ext cx="85039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7914" y="245059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Show a Character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17914" y="28346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show &lt;character name&gt; and hide on each path to make a character appear only on one route.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0040" y="3611880"/>
            <a:ext cx="8503920" cy="1097280"/>
          </a:xfrm>
          <a:prstGeom prst="rect">
            <a:avLst/>
          </a:prstGeom>
          <a:solidFill>
            <a:srgbClr val="2328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17914" y="3685032"/>
            <a:ext cx="7223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 Third Ending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17914" y="40690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hidden ending that only appears if the player makes a very specific combination of choices.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C63FF"/>
                </a:solidFill>
              </a:rPr>
              <a:t>Ask a classmate to playtest your story before adding the next level!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GALLERY WALK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&amp; Playtest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Instructions: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4813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Visit TWO classmates' computers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865376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Play one full branch of their story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02920" y="2249424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Leave a sticky note with: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2651760"/>
            <a:ext cx="3657600" cy="1280160"/>
          </a:xfrm>
          <a:prstGeom prst="rect">
            <a:avLst/>
          </a:prstGeom>
          <a:solidFill>
            <a:srgbClr val="FFEB3B"/>
          </a:solidFill>
          <a:ln w="12700">
            <a:solidFill>
              <a:srgbClr val="FFEB3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2724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3300"/>
                </a:solidFill>
              </a:rPr>
              <a:t>One thing you LOVED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5500"/>
                </a:solidFill>
              </a:rPr>
              <a:t>about their story or code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7700"/>
                </a:solidFill>
              </a:rPr>
              <a:t>(pink sticky)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651760"/>
            <a:ext cx="3657600" cy="1280160"/>
          </a:xfrm>
          <a:prstGeom prst="rect">
            <a:avLst/>
          </a:prstGeom>
          <a:solidFill>
            <a:srgbClr val="FFB3C1"/>
          </a:solidFill>
          <a:ln w="12700">
            <a:solidFill>
              <a:srgbClr val="FFB3C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46320" y="2724912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0011"/>
                </a:solidFill>
              </a:rPr>
              <a:t>One idea to make it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30358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0022"/>
                </a:solidFill>
              </a:rPr>
              <a:t>even better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46320" y="3337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70033"/>
                </a:solidFill>
              </a:rPr>
              <a:t>(yellow sticky)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92A4"/>
                </a:solidFill>
              </a:rPr>
              <a:t>Be specific and kind — good feedback makes better games!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D1A"/>
          </a:solidFill>
          <a:ln w="12700">
            <a:solidFill>
              <a:srgbClr val="0A0D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REFLECTION  ·  55–60 MIN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4114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Choices Meaningful?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" y="1234440"/>
            <a:ext cx="8503920" cy="804672"/>
          </a:xfrm>
          <a:prstGeom prst="rect">
            <a:avLst/>
          </a:prstGeom>
          <a:solidFill>
            <a:srgbClr val="2328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9670" y="1362456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 game or book where a choice really affected you. What made it feel important?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" y="2167128"/>
            <a:ext cx="8503920" cy="804672"/>
          </a:xfrm>
          <a:prstGeom prst="rect">
            <a:avLst/>
          </a:prstGeom>
          <a:solidFill>
            <a:srgbClr val="232840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09670" y="2295144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difference between a choice that changes the story and one that just delays it?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0040" y="3099816"/>
            <a:ext cx="8503920" cy="804672"/>
          </a:xfrm>
          <a:prstGeom prst="rect">
            <a:avLst/>
          </a:prstGeom>
          <a:solidFill>
            <a:srgbClr val="2328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09670" y="3227832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own RenPy story today — do your two endings feel earned? Why or why not?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20040" y="4032504"/>
            <a:ext cx="8503920" cy="804672"/>
          </a:xfrm>
          <a:prstGeom prst="rect">
            <a:avLst/>
          </a:prstGeom>
          <a:solidFill>
            <a:srgbClr val="2328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09670" y="4160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else in real life do you face branching choices with lasting consequences?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320040" y="4892040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2A4"/>
                </a:solidFill>
              </a:rPr>
              <a:t>There are no wrong answers — this is design thinking!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E2E"/>
          </a:solidFill>
          <a:ln w="12700">
            <a:solidFill>
              <a:srgbClr val="1A1E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4B1"/>
          </a:solidFill>
          <a:ln w="12700">
            <a:solidFill>
              <a:srgbClr val="00D4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300" dirty="0">
                <a:solidFill>
                  <a:srgbClr val="00D4B1"/>
                </a:solidFill>
              </a:rPr>
              <a:t>EXIT TICKET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Before You Go…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04672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2A4"/>
                </a:solidFill>
              </a:rPr>
              <a:t>14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892040" cy="3611880"/>
          </a:xfrm>
          <a:prstGeom prst="rect">
            <a:avLst/>
          </a:prstGeom>
          <a:solidFill>
            <a:srgbClr val="232840"/>
          </a:solidFill>
          <a:ln w="12700">
            <a:solidFill>
              <a:srgbClr val="6C6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 Write the RenPy syntax for a menu with two options.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38528"/>
            <a:ext cx="4480560" cy="0"/>
          </a:xfrm>
          <a:prstGeom prst="line">
            <a:avLst/>
          </a:prstGeom>
          <a:noFill/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2585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 What does jump do in RenPy? (your own words)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88336"/>
            <a:ext cx="4480560" cy="0"/>
          </a:xfrm>
          <a:prstGeom prst="line">
            <a:avLst/>
          </a:prstGeom>
          <a:noFill/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0837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 Name ONE thing that makes a player choice feel meaningful.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438144"/>
            <a:ext cx="4480560" cy="0"/>
          </a:xfrm>
          <a:prstGeom prst="line">
            <a:avLst/>
          </a:prstGeom>
          <a:noFill/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75818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Q4.  Rate your confidence today: ① ② ③ ④ 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4480560" cy="0"/>
          </a:xfrm>
          <a:prstGeom prst="line">
            <a:avLst/>
          </a:prstGeom>
          <a:noFill/>
          <a:ln w="9525">
            <a:solidFill>
              <a:srgbClr val="4444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394960" y="1051560"/>
            <a:ext cx="3429000" cy="3611880"/>
          </a:xfrm>
          <a:prstGeom prst="rect">
            <a:avLst/>
          </a:prstGeom>
          <a:solidFill>
            <a:srgbClr val="232840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32120" y="1258725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Today's Big Ideas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32120" y="1633629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menu: creates player choice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1999389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jump routes to labels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2365149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B1"/>
                </a:solidFill>
              </a:rPr>
              <a:t>✓  Choices need trade-offs to feel real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1048</Words>
  <Application>Microsoft Macintosh PowerPoint</Application>
  <PresentationFormat>On-screen Show (16:9)</PresentationFormat>
  <Paragraphs>192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Babichenko, Dmitriy</cp:lastModifiedBy>
  <cp:revision>7</cp:revision>
  <dcterms:created xsi:type="dcterms:W3CDTF">2026-05-31T21:08:36Z</dcterms:created>
  <dcterms:modified xsi:type="dcterms:W3CDTF">2026-07-13T17:36:59Z</dcterms:modified>
</cp:coreProperties>
</file>