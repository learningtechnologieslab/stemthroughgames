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5505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4ECDC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0" y="457200"/>
            <a:ext cx="4114800" cy="4114800"/>
          </a:xfrm>
          <a:prstGeom prst="ellipse">
            <a:avLst/>
          </a:prstGeom>
          <a:solidFill>
            <a:srgbClr val="1E3554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0" y="731520"/>
            <a:ext cx="3383280" cy="3383280"/>
          </a:xfrm>
          <a:prstGeom prst="ellipse">
            <a:avLst/>
          </a:prstGeom>
          <a:solidFill>
            <a:srgbClr val="4ECDC4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STEM THROUGH GAMES  ·  RENPY VISUAL NOVEL PROGRAM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EA4C8"/>
                </a:solidFill>
              </a:rPr>
              <a:t>Design Thinking &amp; Final Visual Novel Kickoff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49116" y="132389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E3554">
              <a:alpha val="90000"/>
            </a:srgb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49116" y="132389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CDC4"/>
                </a:solidFill>
              </a:rPr>
              <a:t>Story Map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49116" y="210113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E3554">
              <a:alpha val="90000"/>
            </a:srgb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49116" y="210113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CDC4"/>
                </a:solidFill>
              </a:rPr>
              <a:t>Character Sheet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49116" y="287837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E3554">
              <a:alpha val="90000"/>
            </a:srgb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49116" y="287837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CDC4"/>
                </a:solidFill>
              </a:rPr>
              <a:t>Scene Plan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1E355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4ECDC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4ECD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TODAY'S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Doing Today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1E355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64008" cy="96012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82880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A4C8"/>
                </a:solidFill>
              </a:rPr>
              <a:t>What makes a story memorable?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28016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1E355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68880" y="1280160"/>
            <a:ext cx="64008" cy="96012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78608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Hook &amp; Intro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182880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A4C8"/>
                </a:solidFill>
              </a:rPr>
              <a:t>Design Thinking + genre showcase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28016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1E355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1280160"/>
            <a:ext cx="64008" cy="9601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27448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Pick Your Genre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27448" y="182880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A4C8"/>
                </a:solidFill>
              </a:rPr>
              <a:t>Choose your project direction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28016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1E355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66560" y="1280160"/>
            <a:ext cx="64008" cy="960120"/>
          </a:xfrm>
          <a:prstGeom prst="rect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76288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Story Map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76288" y="182880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A4C8"/>
                </a:solidFill>
              </a:rPr>
              <a:t>Plan your 3-act structure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404872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1E355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2404872"/>
            <a:ext cx="64008" cy="9601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9768" y="2679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Characters &amp; Scenes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" y="2953512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A4C8"/>
                </a:solidFill>
              </a:rPr>
              <a:t>Character sheets + scene plan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68880" y="2404872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1E355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468880" y="2404872"/>
            <a:ext cx="64008" cy="96012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78608" y="2679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Gallery Share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78608" y="2953512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A4C8"/>
                </a:solidFill>
              </a:rPr>
              <a:t>Pitch to a partner, get feedback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2404872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1E355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17720" y="2404872"/>
            <a:ext cx="64008" cy="960120"/>
          </a:xfrm>
          <a:prstGeom prst="rect">
            <a:avLst/>
          </a:prstGeom>
          <a:solidFill>
            <a:srgbClr val="7EA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27448" y="2679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Exit Ticket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27448" y="2953512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A4C8"/>
                </a:solidFill>
              </a:rPr>
              <a:t>Reflect &amp; preview Day 14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297680"/>
            <a:ext cx="8503920" cy="438912"/>
          </a:xfrm>
          <a:prstGeom prst="roundRect">
            <a:avLst>
              <a:gd name="adj" fmla="val 16667"/>
            </a:avLst>
          </a:prstGeom>
          <a:solidFill>
            <a:srgbClr val="4ECDC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D16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2276856" cy="292608"/>
          </a:xfrm>
          <a:prstGeom prst="roundRect">
            <a:avLst>
              <a:gd name="adj" fmla="val 25000"/>
            </a:avLst>
          </a:prstGeom>
          <a:solidFill>
            <a:srgbClr val="4ECD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WARM-UP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011680"/>
          </a:xfrm>
          <a:prstGeom prst="roundRect">
            <a:avLst>
              <a:gd name="adj" fmla="val 8182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91440" cy="201168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Think of a story - a book, game, movie, or show - that you still remember vividly.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A4C8"/>
                </a:solidFill>
              </a:rPr>
              <a:t>In your journal, answer: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30428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What made it stick with you?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Was it the characters? The choices? The surprise ending?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D16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D166"/>
                </a:solidFill>
              </a:rPr>
              <a:t>Bridge: "Today YOU become the author."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3771900"/>
            <a:ext cx="2286000" cy="2286000"/>
          </a:xfrm>
          <a:prstGeom prst="ellipse">
            <a:avLst/>
          </a:prstGeom>
          <a:solidFill>
            <a:srgbClr val="FFD16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65760" y="201168"/>
            <a:ext cx="3182112" cy="292608"/>
          </a:xfrm>
          <a:prstGeom prst="roundRect">
            <a:avLst>
              <a:gd name="adj" fmla="val 25000"/>
            </a:avLst>
          </a:prstGeom>
          <a:solidFill>
            <a:srgbClr val="4ECD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DESIGN THINKING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 Stages of Design Thinking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1572768" cy="2377440"/>
          </a:xfrm>
          <a:prstGeom prst="roundRect">
            <a:avLst>
              <a:gd name="adj" fmla="val 6977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3816" y="1645920"/>
            <a:ext cx="585216" cy="585216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3816" y="1645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2D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DC4"/>
                </a:solidFill>
              </a:rPr>
              <a:t>Empathize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770632"/>
            <a:ext cx="1353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</a:rPr>
              <a:t>Who will play your game?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</a:rPr>
              <a:t>What do they want to feel?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11096" y="2670048"/>
            <a:ext cx="91440" cy="54864"/>
          </a:xfrm>
          <a:prstGeom prst="rect">
            <a:avLst/>
          </a:prstGeom>
          <a:solidFill>
            <a:srgbClr val="7EA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20824" y="1508760"/>
            <a:ext cx="1572768" cy="2377440"/>
          </a:xfrm>
          <a:prstGeom prst="roundRect">
            <a:avLst>
              <a:gd name="adj" fmla="val 6977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14600" y="1645920"/>
            <a:ext cx="585216" cy="58521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14600" y="1645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2D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12264" y="233172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</a:rPr>
              <a:t>Define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30552" y="2770632"/>
            <a:ext cx="1353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</a:rPr>
              <a:t>Pick your genre.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</a:rPr>
              <a:t>Write your project statement.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11880" y="2670048"/>
            <a:ext cx="91440" cy="54864"/>
          </a:xfrm>
          <a:prstGeom prst="rect">
            <a:avLst/>
          </a:prstGeom>
          <a:solidFill>
            <a:srgbClr val="7EA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21608" y="1508760"/>
            <a:ext cx="1572768" cy="2377440"/>
          </a:xfrm>
          <a:prstGeom prst="roundRect">
            <a:avLst>
              <a:gd name="adj" fmla="val 6977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15384" y="1645920"/>
            <a:ext cx="585216" cy="58521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15384" y="1645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2D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13048" y="233172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</a:rPr>
              <a:t>Ideate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31336" y="2770632"/>
            <a:ext cx="1353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</a:rPr>
              <a:t>Generate story ideas.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</a:rPr>
              <a:t>Don't commit too fast!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12664" y="2670048"/>
            <a:ext cx="91440" cy="54864"/>
          </a:xfrm>
          <a:prstGeom prst="rect">
            <a:avLst/>
          </a:prstGeom>
          <a:solidFill>
            <a:srgbClr val="7EA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22392" y="1508760"/>
            <a:ext cx="1572768" cy="2377440"/>
          </a:xfrm>
          <a:prstGeom prst="roundRect">
            <a:avLst>
              <a:gd name="adj" fmla="val 6977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16168" y="1645920"/>
            <a:ext cx="585216" cy="585216"/>
          </a:xfrm>
          <a:prstGeom prst="ellipse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16168" y="1645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2D"/>
                </a:solidFill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513832" y="233172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</a:rPr>
              <a:t>Prototype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32120" y="2770632"/>
            <a:ext cx="1353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</a:rPr>
              <a:t>Story Map + Characters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</a:rPr>
              <a:t>+ Scene Plan = YOUR prototype.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13448" y="2670048"/>
            <a:ext cx="91440" cy="54864"/>
          </a:xfrm>
          <a:prstGeom prst="rect">
            <a:avLst/>
          </a:prstGeom>
          <a:solidFill>
            <a:srgbClr val="7EA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123176" y="1508760"/>
            <a:ext cx="1572768" cy="2377440"/>
          </a:xfrm>
          <a:prstGeom prst="roundRect">
            <a:avLst>
              <a:gd name="adj" fmla="val 6977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16952" y="1645920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16952" y="1645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2D"/>
                </a:solidFill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214616" y="233172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</a:rPr>
              <a:t>Test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32904" y="2770632"/>
            <a:ext cx="1353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</a:rPr>
              <a:t>Gallery Share: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</a:rPr>
              <a:t>Real audience, real feedback.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201168"/>
            <a:ext cx="3483864" cy="292608"/>
          </a:xfrm>
          <a:prstGeom prst="roundRect">
            <a:avLst>
              <a:gd name="adj" fmla="val 25000"/>
            </a:avLst>
          </a:prstGeom>
          <a:solidFill>
            <a:srgbClr val="4ECD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CHOOSE YOUR GENRE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Project Options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EA4C8"/>
                </a:solidFill>
              </a:rPr>
              <a:t>Pick the one you already have ideas for — excitement beats perfection.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600200" cy="2468880"/>
          </a:xfrm>
          <a:prstGeom prst="roundRect">
            <a:avLst>
              <a:gd name="adj" fmla="val 6857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1600200" cy="2743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</a:rPr>
              <a:t>Mystery Story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496312"/>
            <a:ext cx="1380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Secret underground lab — and the janitor knows too much.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1051560" cy="18288"/>
          </a:xfrm>
          <a:prstGeom prst="rect">
            <a:avLst/>
          </a:prstGeom>
          <a:solidFill>
            <a:srgbClr val="FF6B6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4107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F6B6B"/>
                </a:solidFill>
              </a:rPr>
              <a:t>Truth vs. Loyalty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75104" y="1417320"/>
            <a:ext cx="1600200" cy="2468880"/>
          </a:xfrm>
          <a:prstGeom prst="roundRect">
            <a:avLst>
              <a:gd name="adj" fmla="val 6857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75104" y="141732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75104" y="1737360"/>
            <a:ext cx="1600200" cy="27432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66544" y="20574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</a:rPr>
              <a:t>Fantasy Adventure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84832" y="2496312"/>
            <a:ext cx="1380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Magic tournament where spells are powered by knowledge.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49424" y="3355848"/>
            <a:ext cx="1051560" cy="18288"/>
          </a:xfrm>
          <a:prstGeom prst="rect">
            <a:avLst/>
          </a:prstGeom>
          <a:solidFill>
            <a:srgbClr val="FFD16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66544" y="34107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FD166"/>
                </a:solidFill>
              </a:rPr>
              <a:t>Courage &amp; Identity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75888" y="1417320"/>
            <a:ext cx="1600200" cy="2468880"/>
          </a:xfrm>
          <a:prstGeom prst="roundRect">
            <a:avLst>
              <a:gd name="adj" fmla="val 6857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75888" y="141732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75888" y="1737360"/>
            <a:ext cx="1600200" cy="2743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67328" y="20574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</a:rPr>
              <a:t>School Drama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85616" y="2496312"/>
            <a:ext cx="1380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Election week: alliances shift and rumors fly.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950208" y="3355848"/>
            <a:ext cx="1051560" cy="18288"/>
          </a:xfrm>
          <a:prstGeom prst="rect">
            <a:avLst/>
          </a:prstGeom>
          <a:solidFill>
            <a:srgbClr val="A78BF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67328" y="34107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A78BFA"/>
                </a:solidFill>
              </a:rPr>
              <a:t>Integrity &amp; Friendship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76672" y="1417320"/>
            <a:ext cx="1600200" cy="2468880"/>
          </a:xfrm>
          <a:prstGeom prst="roundRect">
            <a:avLst>
              <a:gd name="adj" fmla="val 6857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76672" y="141732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76672" y="1737360"/>
            <a:ext cx="1600200" cy="27432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68112" y="20574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DC4"/>
                </a:solidFill>
              </a:rPr>
              <a:t>Science Fiction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2496312"/>
            <a:ext cx="1380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Only a middle schooler can decode Earth's alien signal.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50992" y="3355848"/>
            <a:ext cx="1051560" cy="18288"/>
          </a:xfrm>
          <a:prstGeom prst="rect">
            <a:avLst/>
          </a:prstGeom>
          <a:solidFill>
            <a:srgbClr val="4ECDC4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68112" y="34107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4ECDC4"/>
                </a:solidFill>
              </a:rPr>
              <a:t>Discovery &amp; Responsibility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77456" y="1417320"/>
            <a:ext cx="1600200" cy="2468880"/>
          </a:xfrm>
          <a:prstGeom prst="roundRect">
            <a:avLst>
              <a:gd name="adj" fmla="val 6857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077456" y="141732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6EE7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077456" y="1737360"/>
            <a:ext cx="1600200" cy="274320"/>
          </a:xfrm>
          <a:prstGeom prst="rect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68896" y="20574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E7B7"/>
                </a:solidFill>
              </a:rPr>
              <a:t>Educational Game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87184" y="2496312"/>
            <a:ext cx="1380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Time-traveling tutor must fix historical glitches.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351776" y="3355848"/>
            <a:ext cx="1051560" cy="18288"/>
          </a:xfrm>
          <a:prstGeom prst="rect">
            <a:avLst/>
          </a:prstGeom>
          <a:solidFill>
            <a:srgbClr val="6EE7B7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168896" y="34107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6EE7B7"/>
                </a:solidFill>
              </a:rPr>
              <a:t>Learning Through Play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276856" cy="292608"/>
          </a:xfrm>
          <a:prstGeom prst="roundRect">
            <a:avLst>
              <a:gd name="adj" fmla="val 25000"/>
            </a:avLst>
          </a:prstGeom>
          <a:solidFill>
            <a:srgbClr val="4ECD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DEFINE YOUR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Your Project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280160"/>
          </a:xfrm>
          <a:prstGeom prst="roundRect">
            <a:avLst>
              <a:gd name="adj" fmla="val 10714"/>
            </a:avLst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91440" cy="128016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2E44"/>
                </a:solidFill>
              </a:rPr>
              <a:t>"I am making a [GENRE] visual novel for [AUDIENCE] about [TOPIC], where players must choose between [CHOICE A] and [CHOICE B]."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2651760" cy="64008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788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DC4"/>
                </a:solidFill>
              </a:rPr>
              <a:t>Be Specific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31546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9A"/>
                </a:solidFill>
              </a:rPr>
              <a:t>"Middle school students who like puzzles" is better than "everyone".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26517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2651760"/>
            <a:ext cx="2651760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2788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Your Choice Matters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31546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9A"/>
                </a:solidFill>
              </a:rPr>
              <a:t>The two choices are the heart of a visual novel. Make them morally interesting!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6517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2651760"/>
            <a:ext cx="2651760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44768" y="2788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One Sentence Max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31546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9A"/>
                </a:solidFill>
              </a:rPr>
              <a:t>If it takes two sentences, your scope might be too big. Narrow it down.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4ECDC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4046220"/>
            <a:ext cx="1828800" cy="1828800"/>
          </a:xfrm>
          <a:prstGeom prst="ellipse">
            <a:avLst/>
          </a:prstGeom>
          <a:solidFill>
            <a:srgbClr val="FFD16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2679192" cy="292608"/>
          </a:xfrm>
          <a:prstGeom prst="roundRect">
            <a:avLst>
              <a:gd name="adj" fmla="val 25000"/>
            </a:avLst>
          </a:prstGeom>
          <a:solidFill>
            <a:srgbClr val="4ECD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STORY MAP  ·  25–40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 1: Your Story 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EA4C8"/>
                </a:solidFill>
              </a:rPr>
              <a:t>Map your 3-act structure with at least 2 branching choices.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2651760" cy="566928"/>
          </a:xfrm>
          <a:prstGeom prst="roundRect">
            <a:avLst>
              <a:gd name="adj" fmla="val 19355"/>
            </a:avLst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810512"/>
            <a:ext cx="2651760" cy="256032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5087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</a:rPr>
              <a:t>ACT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75564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2D"/>
                </a:solidFill>
              </a:rPr>
              <a:t>Beginning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" y="2176272"/>
            <a:ext cx="2395728" cy="402336"/>
          </a:xfrm>
          <a:prstGeom prst="roundRect">
            <a:avLst>
              <a:gd name="adj" fmla="val 13636"/>
            </a:avLst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" y="21762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Setting established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" y="2660904"/>
            <a:ext cx="2395728" cy="402336"/>
          </a:xfrm>
          <a:prstGeom prst="roundRect">
            <a:avLst>
              <a:gd name="adj" fmla="val 13636"/>
            </a:avLst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" y="2660904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Main character introduced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" y="3145536"/>
            <a:ext cx="2395728" cy="402336"/>
          </a:xfrm>
          <a:prstGeom prst="roundRect">
            <a:avLst>
              <a:gd name="adj" fmla="val 13636"/>
            </a:avLst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" y="314553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Problem / Goal revealed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" y="3630168"/>
            <a:ext cx="2395728" cy="402336"/>
          </a:xfrm>
          <a:prstGeom prst="roundRect">
            <a:avLst>
              <a:gd name="adj" fmla="val 13636"/>
            </a:avLst>
          </a:prstGeom>
          <a:solidFill>
            <a:srgbClr val="4ECDC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1208" y="363016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</a:rPr>
              <a:t>First player choice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08376" y="2779776"/>
            <a:ext cx="109728" cy="109728"/>
          </a:xfrm>
          <a:prstGeom prst="rect">
            <a:avLst/>
          </a:prstGeom>
          <a:solidFill>
            <a:srgbClr val="7EA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54680" y="14630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54680" y="1463040"/>
            <a:ext cx="2651760" cy="566928"/>
          </a:xfrm>
          <a:prstGeom prst="roundRect">
            <a:avLst>
              <a:gd name="adj" fmla="val 19355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54680" y="1810512"/>
            <a:ext cx="2651760" cy="25603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64408" y="15087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</a:rPr>
              <a:t>ACT 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64408" y="175564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2D"/>
                </a:solidFill>
              </a:rPr>
              <a:t>Middle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82696" y="2176272"/>
            <a:ext cx="2395728" cy="402336"/>
          </a:xfrm>
          <a:prstGeom prst="roundRect">
            <a:avLst>
              <a:gd name="adj" fmla="val 13636"/>
            </a:avLst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55848" y="21762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Rising tension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82696" y="2660904"/>
            <a:ext cx="2395728" cy="402336"/>
          </a:xfrm>
          <a:prstGeom prst="roundRect">
            <a:avLst>
              <a:gd name="adj" fmla="val 13636"/>
            </a:avLst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55848" y="2660904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New information revealed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82696" y="3145536"/>
            <a:ext cx="2395728" cy="402336"/>
          </a:xfrm>
          <a:prstGeom prst="roundRect">
            <a:avLst>
              <a:gd name="adj" fmla="val 13636"/>
            </a:avLst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55848" y="314553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Allies &amp; obstacles appear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82696" y="3630168"/>
            <a:ext cx="2395728" cy="402336"/>
          </a:xfrm>
          <a:prstGeom prst="roundRect">
            <a:avLst>
              <a:gd name="adj" fmla="val 13636"/>
            </a:avLst>
          </a:prstGeom>
          <a:solidFill>
            <a:srgbClr val="FFD16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55848" y="363016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</a:rPr>
              <a:t> Second player choice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43016" y="2779776"/>
            <a:ext cx="109728" cy="109728"/>
          </a:xfrm>
          <a:prstGeom prst="rect">
            <a:avLst/>
          </a:prstGeom>
          <a:solidFill>
            <a:srgbClr val="7EA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989320" y="14630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989320" y="1463040"/>
            <a:ext cx="2651760" cy="566928"/>
          </a:xfrm>
          <a:prstGeom prst="roundRect">
            <a:avLst>
              <a:gd name="adj" fmla="val 19355"/>
            </a:avLst>
          </a:prstGeom>
          <a:solidFill>
            <a:srgbClr val="6EE7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989320" y="1810512"/>
            <a:ext cx="2651760" cy="256032"/>
          </a:xfrm>
          <a:prstGeom prst="rect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99048" y="15087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</a:rPr>
              <a:t>ACT 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099048" y="175564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2D"/>
                </a:solidFill>
              </a:rPr>
              <a:t>End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17336" y="2176272"/>
            <a:ext cx="2395728" cy="402336"/>
          </a:xfrm>
          <a:prstGeom prst="roundRect">
            <a:avLst>
              <a:gd name="adj" fmla="val 13636"/>
            </a:avLst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90488" y="217627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Climax moment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17336" y="2660904"/>
            <a:ext cx="2395728" cy="402336"/>
          </a:xfrm>
          <a:prstGeom prst="roundRect">
            <a:avLst>
              <a:gd name="adj" fmla="val 13636"/>
            </a:avLst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90488" y="2660904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Ending A (best choice)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17336" y="3145536"/>
            <a:ext cx="2395728" cy="402336"/>
          </a:xfrm>
          <a:prstGeom prst="roundRect">
            <a:avLst>
              <a:gd name="adj" fmla="val 13636"/>
            </a:avLst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90488" y="314553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Ending B (neutral)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17336" y="3630168"/>
            <a:ext cx="2395728" cy="402336"/>
          </a:xfrm>
          <a:prstGeom prst="roundRect">
            <a:avLst>
              <a:gd name="adj" fmla="val 13636"/>
            </a:avLst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190488" y="363016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Theme / message clear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3282696" cy="292608"/>
          </a:xfrm>
          <a:prstGeom prst="roundRect">
            <a:avLst>
              <a:gd name="adj" fmla="val 25000"/>
            </a:avLst>
          </a:prstGeom>
          <a:solidFill>
            <a:srgbClr val="4ECD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CHARACTER SHEET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 2: Build Your Characters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7A9A"/>
                </a:solidFill>
              </a:rPr>
              <a:t>Minimum 2 characters. Readers should tell them apart by dialogue alone.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64008" cy="512064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</a:rPr>
              <a:t>Name &amp; Role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9A"/>
                </a:solidFill>
              </a:rPr>
              <a:t>Who are they in the story?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947672"/>
            <a:ext cx="64008" cy="5120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0253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Personality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240280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9A"/>
                </a:solidFill>
              </a:rPr>
              <a:t>3 words that describe them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64008" cy="5120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57860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Motivation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816352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9A"/>
                </a:solidFill>
              </a:rPr>
              <a:t>What do they desperately want?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099816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099816"/>
            <a:ext cx="64008" cy="5120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15468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Greatest Fear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39242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9A"/>
                </a:solidFill>
              </a:rPr>
              <a:t>What holds them back?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675888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64008" cy="512064"/>
          </a:xfrm>
          <a:prstGeom prst="rect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73075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E7B7"/>
                </a:solidFill>
              </a:rPr>
              <a:t>Voice / Tone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968496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9A"/>
                </a:solidFill>
              </a:rPr>
              <a:t>Casual? Formal? Nervous? Sarcastic?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4251960"/>
            <a:ext cx="64008" cy="512064"/>
          </a:xfrm>
          <a:prstGeom prst="rect">
            <a:avLst/>
          </a:prstGeom>
          <a:solidFill>
            <a:srgbClr val="7EA4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430682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A4C8"/>
                </a:solidFill>
              </a:rPr>
              <a:t>Appearance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544568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9A"/>
                </a:solidFill>
              </a:rPr>
              <a:t>Hair, eyes, outfit — for your sprite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1444752"/>
            <a:ext cx="4206240" cy="1417320"/>
          </a:xfrm>
          <a:prstGeom prst="roundRect">
            <a:avLst>
              <a:gd name="adj" fmla="val 9032"/>
            </a:avLst>
          </a:prstGeom>
          <a:solidFill>
            <a:srgbClr val="EEF6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15361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DC4"/>
                </a:solidFill>
              </a:rPr>
              <a:t>Sample Dialogue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18288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E44"/>
                </a:solidFill>
              </a:rPr>
              <a:t>"Write one line of dialogue.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1A2E44"/>
                </a:solidFill>
              </a:rPr>
              <a:t>It should SOUND like this character —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1A2E44"/>
                </a:solidFill>
              </a:rPr>
              <a:t>not just what they say, but how."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2971800"/>
            <a:ext cx="4206240" cy="1417320"/>
          </a:xfrm>
          <a:prstGeom prst="roundRect">
            <a:avLst>
              <a:gd name="adj" fmla="val 9032"/>
            </a:avLst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09160" y="3063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Tip</a:t>
            </a:r>
          </a:p>
        </p:txBody>
      </p:sp>
      <p:sp>
        <p:nvSpPr>
          <p:cNvPr id="35" name="Text 33"/>
          <p:cNvSpPr/>
          <p:nvPr/>
        </p:nvSpPr>
        <p:spPr>
          <a:xfrm>
            <a:off x="4709160" y="340156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4"/>
                </a:solidFill>
              </a:rPr>
              <a:t>Give characters OPPOSING traits.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4"/>
                </a:solidFill>
              </a:rPr>
              <a:t>One brave + one cautious = automatic tension.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4"/>
                </a:solidFill>
              </a:rPr>
              <a:t>Name the flaw — flaws create conflict!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4ECDC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4046220"/>
            <a:ext cx="1828800" cy="1828800"/>
          </a:xfrm>
          <a:prstGeom prst="ellipse">
            <a:avLst/>
          </a:prstGeom>
          <a:solidFill>
            <a:srgbClr val="FFD16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2779776" cy="292608"/>
          </a:xfrm>
          <a:prstGeom prst="roundRect">
            <a:avLst>
              <a:gd name="adj" fmla="val 25000"/>
            </a:avLst>
          </a:prstGeom>
          <a:solidFill>
            <a:srgbClr val="4ECD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SCENE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 3: Your Scene Plan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EA4C8"/>
                </a:solidFill>
              </a:rPr>
              <a:t>Minimum 6 scenes. This grid IS your coding checklist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320040" cy="384048"/>
          </a:xfrm>
          <a:prstGeom prst="rect">
            <a:avLst/>
          </a:prstGeom>
          <a:solidFill>
            <a:srgbClr val="4ECDC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44475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#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444752"/>
            <a:ext cx="1783080" cy="384048"/>
          </a:xfrm>
          <a:prstGeom prst="rect">
            <a:avLst/>
          </a:prstGeom>
          <a:solidFill>
            <a:srgbClr val="4ECDC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4447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Scene Name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1444752"/>
            <a:ext cx="1828800" cy="384048"/>
          </a:xfrm>
          <a:prstGeom prst="rect">
            <a:avLst/>
          </a:prstGeom>
          <a:solidFill>
            <a:srgbClr val="4ECDC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23160" y="14447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Location / BG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1444752"/>
            <a:ext cx="1645920" cy="384048"/>
          </a:xfrm>
          <a:prstGeom prst="rect">
            <a:avLst/>
          </a:prstGeom>
          <a:solidFill>
            <a:srgbClr val="4ECDC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51960" y="14447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Characters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1444752"/>
            <a:ext cx="2194560" cy="384048"/>
          </a:xfrm>
          <a:prstGeom prst="rect">
            <a:avLst/>
          </a:prstGeom>
          <a:solidFill>
            <a:srgbClr val="4ECDC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97880" y="14447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What Happens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92440" y="1444752"/>
            <a:ext cx="731520" cy="384048"/>
          </a:xfrm>
          <a:prstGeom prst="rect">
            <a:avLst/>
          </a:prstGeom>
          <a:solidFill>
            <a:srgbClr val="4ECDC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92440" y="14447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Choice?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1828800"/>
            <a:ext cx="32004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6616" y="1828800"/>
            <a:ext cx="246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1828800"/>
            <a:ext cx="178308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" y="182880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Opening Scene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23160" y="1828800"/>
            <a:ext cx="182880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59736" y="18288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School hallway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1828800"/>
            <a:ext cx="164592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88536" y="18288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Protagonist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97880" y="1828800"/>
            <a:ext cx="219456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34456" y="182880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Player arrives, sees something strange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1828800"/>
            <a:ext cx="73152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129016" y="18288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2212848"/>
            <a:ext cx="32004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6616" y="2212848"/>
            <a:ext cx="246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2212848"/>
            <a:ext cx="178308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6656" y="2212848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Discovery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23160" y="2212848"/>
            <a:ext cx="182880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459736" y="22128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Science lab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51960" y="2212848"/>
            <a:ext cx="164592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88536" y="221284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Protagonist, NPC #1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97880" y="2212848"/>
            <a:ext cx="219456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34456" y="221284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Find the clue / spark the conflict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92440" y="2212848"/>
            <a:ext cx="73152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129016" y="221284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</a:rPr>
              <a:t>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2596896"/>
            <a:ext cx="32004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56616" y="2596896"/>
            <a:ext cx="246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" y="2596896"/>
            <a:ext cx="178308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6656" y="2596896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Choice A path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423160" y="2596896"/>
            <a:ext cx="182880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459736" y="259689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Depends on choice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251960" y="2596896"/>
            <a:ext cx="164592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288536" y="259689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Varies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97880" y="2596896"/>
            <a:ext cx="219456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934456" y="259689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Consequences of Choice A unfold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92440" y="2596896"/>
            <a:ext cx="73152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129016" y="259689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2980944"/>
            <a:ext cx="32004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56616" y="2980944"/>
            <a:ext cx="246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4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0080" y="2980944"/>
            <a:ext cx="178308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76656" y="2980944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Midpoint Twist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423160" y="2980944"/>
            <a:ext cx="182880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459736" y="298094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New location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251960" y="2980944"/>
            <a:ext cx="164592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288536" y="298094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New character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897880" y="2980944"/>
            <a:ext cx="219456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934456" y="2980944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Shocking new info changes the goal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092440" y="2980944"/>
            <a:ext cx="73152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129016" y="298094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</a:rPr>
              <a:t>Y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0040" y="3364992"/>
            <a:ext cx="32004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56616" y="3364992"/>
            <a:ext cx="246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5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0080" y="3364992"/>
            <a:ext cx="178308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76656" y="3364992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Climax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423160" y="3364992"/>
            <a:ext cx="182880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459736" y="336499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Final location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251960" y="3364992"/>
            <a:ext cx="164592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288536" y="3364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All main chars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897880" y="3364992"/>
            <a:ext cx="219456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934456" y="336499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The moment everything comes together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092440" y="3364992"/>
            <a:ext cx="731520" cy="384048"/>
          </a:xfrm>
          <a:prstGeom prst="rect">
            <a:avLst/>
          </a:prstGeom>
          <a:solidFill>
            <a:srgbClr val="1625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129016" y="336499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20040" y="3749040"/>
            <a:ext cx="32004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56616" y="3749040"/>
            <a:ext cx="246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6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0080" y="3749040"/>
            <a:ext cx="178308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76656" y="374904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Ending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423160" y="3749040"/>
            <a:ext cx="182880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459736" y="37490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Resolution scene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251960" y="3749040"/>
            <a:ext cx="164592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288536" y="3749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Protagonist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897880" y="3749040"/>
            <a:ext cx="219456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5934456" y="374904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0FE"/>
                </a:solidFill>
              </a:rPr>
              <a:t>Outcome based on all player choices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8092440" y="3749040"/>
            <a:ext cx="731520" cy="38404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8129016" y="374904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</a:rPr>
              <a:t>N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20040" y="4206240"/>
            <a:ext cx="8503920" cy="548640"/>
          </a:xfrm>
          <a:prstGeom prst="roundRect">
            <a:avLst>
              <a:gd name="adj" fmla="val 16667"/>
            </a:avLst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20040" y="42062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CDC4"/>
                </a:solidFill>
              </a:rPr>
              <a:t> RenPy Link:  Scene Name → label   |   Location → scene bg   |   Characters → show   |   Choice? → menu: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3081528" cy="292608"/>
          </a:xfrm>
          <a:prstGeom prst="roundRect">
            <a:avLst>
              <a:gd name="adj" fmla="val 25000"/>
            </a:avLst>
          </a:prstGeom>
          <a:solidFill>
            <a:srgbClr val="4ECD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SHARE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 Pitch Protocol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51760" cy="274320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651760" cy="594360"/>
          </a:xfrm>
          <a:prstGeom prst="roundRect">
            <a:avLst>
              <a:gd name="adj" fmla="val 21538"/>
            </a:avLst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651760" cy="329184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13350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Partner A Pitches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6184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2 minutes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" y="2136516"/>
            <a:ext cx="128016" cy="128016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19568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</a:rPr>
              <a:t>Share your story map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703444"/>
            <a:ext cx="128016" cy="128016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25237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</a:rPr>
              <a:t>Explain your genre &amp; main character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270372"/>
            <a:ext cx="128016" cy="128016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0906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</a:rPr>
              <a:t>Describe your two ending options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261872"/>
            <a:ext cx="2651760" cy="274320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1261872"/>
            <a:ext cx="2651760" cy="594360"/>
          </a:xfrm>
          <a:prstGeom prst="roundRect">
            <a:avLst>
              <a:gd name="adj" fmla="val 21538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1554480"/>
            <a:ext cx="2651760" cy="32918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12618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57600" y="13350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Partner B Gives Feedback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16184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1 minute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64992" y="2112661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47872" y="19568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</a:rPr>
              <a:t>ONE "Glow" — what is exciting about this idea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64992" y="2679589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47872" y="25237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</a:rPr>
              <a:t>ONE "Grow" — one thing that could be stronger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64992" y="3246517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47872" y="30906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</a:rPr>
              <a:t>Be SPECIFIC — not "I like it" but WHY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1261872"/>
            <a:ext cx="2651760" cy="274320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35040" y="1261872"/>
            <a:ext cx="2651760" cy="594360"/>
          </a:xfrm>
          <a:prstGeom prst="roundRect">
            <a:avLst>
              <a:gd name="adj" fmla="val 21538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35040" y="1554480"/>
            <a:ext cx="2651760" cy="32918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35040" y="12618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3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492240" y="13350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Switch Roles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16184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3 minutes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99632" y="2136516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82512" y="19568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</a:rPr>
              <a:t>Partners swap — now B pitches, A gives feedback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99632" y="2703444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82512" y="25237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</a:rPr>
              <a:t>Listen for patterns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99632" y="3270372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82512" y="30906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4"/>
                </a:solidFill>
              </a:rPr>
              <a:t>Jot down what you want to change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FFD16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314700"/>
            <a:ext cx="3657600" cy="3657600"/>
          </a:xfrm>
          <a:prstGeom prst="ellipse">
            <a:avLst/>
          </a:prstGeom>
          <a:solidFill>
            <a:srgbClr val="4ECDC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2880360" cy="292608"/>
          </a:xfrm>
          <a:prstGeom prst="roundRect">
            <a:avLst>
              <a:gd name="adj" fmla="val 25000"/>
            </a:avLst>
          </a:prstGeom>
          <a:solidFill>
            <a:srgbClr val="4ECD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EXIT TICKET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You Leave…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896112"/>
          </a:xfrm>
          <a:prstGeom prst="roundRect">
            <a:avLst>
              <a:gd name="adj" fmla="val 12245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585216" cy="585216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4356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1280160"/>
            <a:ext cx="7223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What genre did you choose, and why?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8229600" cy="896112"/>
          </a:xfrm>
          <a:prstGeom prst="roundRect">
            <a:avLst>
              <a:gd name="adj" fmla="val 12245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6928" y="2459736"/>
            <a:ext cx="585216" cy="58521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4597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8448" y="2304288"/>
            <a:ext cx="7223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Name your main character and their biggest problem.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8229600" cy="896112"/>
          </a:xfrm>
          <a:prstGeom prst="roundRect">
            <a:avLst>
              <a:gd name="adj" fmla="val 12245"/>
            </a:avLst>
          </a:prstGeom>
          <a:solidFill>
            <a:srgbClr val="1E355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" y="3483864"/>
            <a:ext cx="585216" cy="58521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4838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98448" y="3328416"/>
            <a:ext cx="7223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What is one thing you are NOT sure about in your plan yet?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4ECDC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4046220"/>
            <a:ext cx="1828800" cy="1828800"/>
          </a:xfrm>
          <a:prstGeom prst="ellipse">
            <a:avLst/>
          </a:prstGeom>
          <a:solidFill>
            <a:srgbClr val="FFD16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673352" cy="292608"/>
          </a:xfrm>
          <a:prstGeom prst="roundRect">
            <a:avLst>
              <a:gd name="adj" fmla="val 25000"/>
            </a:avLst>
          </a:prstGeom>
          <a:solidFill>
            <a:srgbClr val="4ECD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LOOKING AHEAD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Road to Your Final Game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A4C8"/>
                </a:solidFill>
              </a:rPr>
              <a:t>Every deliverable today becomes a coding task tomorrow.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" y="2596896"/>
            <a:ext cx="7040880" cy="73152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694944" cy="69494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13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305409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</a:rPr>
              <a:t>Today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334670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EA4C8"/>
                </a:solidFill>
              </a:rPr>
              <a:t>Project Planning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508760"/>
            <a:ext cx="877824" cy="347472"/>
          </a:xfrm>
          <a:prstGeom prst="roundRect">
            <a:avLst>
              <a:gd name="adj" fmla="val 21053"/>
            </a:avLst>
          </a:prstGeom>
          <a:solidFill>
            <a:srgbClr val="FFD166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508760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YOU ARE HERE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554480" y="2286000"/>
            <a:ext cx="694944" cy="694944"/>
          </a:xfrm>
          <a:prstGeom prst="ellipse">
            <a:avLst/>
          </a:prstGeom>
          <a:solidFill>
            <a:srgbClr val="1E3554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54480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CDC4"/>
                </a:solidFill>
              </a:rPr>
              <a:t>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05409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A4C8"/>
                </a:solidFill>
              </a:rPr>
              <a:t>Coding Sprint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334670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EA4C8"/>
                </a:solidFill>
              </a:rPr>
              <a:t>Code Act 1 scenes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0" y="2286000"/>
            <a:ext cx="694944" cy="694944"/>
          </a:xfrm>
          <a:prstGeom prst="ellipse">
            <a:avLst/>
          </a:prstGeom>
          <a:solidFill>
            <a:srgbClr val="1E3554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0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CDC4"/>
                </a:solidFill>
              </a:rPr>
              <a:t>15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05409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A4C8"/>
                </a:solidFill>
              </a:rPr>
              <a:t>Coding Sprint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334670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EA4C8"/>
                </a:solidFill>
              </a:rPr>
              <a:t>Branching choices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66160" y="2286000"/>
            <a:ext cx="694944" cy="694944"/>
          </a:xfrm>
          <a:prstGeom prst="ellipse">
            <a:avLst/>
          </a:prstGeom>
          <a:solidFill>
            <a:srgbClr val="1E3554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66160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16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05409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A4C8"/>
                </a:solidFill>
              </a:rPr>
              <a:t>Assets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334670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EA4C8"/>
                </a:solidFill>
              </a:rPr>
              <a:t>Sprites &amp; BGs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2286000"/>
            <a:ext cx="694944" cy="694944"/>
          </a:xfrm>
          <a:prstGeom prst="ellipse">
            <a:avLst/>
          </a:prstGeom>
          <a:solidFill>
            <a:srgbClr val="1E3554"/>
          </a:solidFill>
          <a:ln w="254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E7B7"/>
                </a:solidFill>
              </a:rPr>
              <a:t>17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0" y="305409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A4C8"/>
                </a:solidFill>
              </a:rPr>
              <a:t>Variables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97680" y="334670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EA4C8"/>
                </a:solidFill>
              </a:rPr>
              <a:t>Multiple endings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77840" y="2286000"/>
            <a:ext cx="694944" cy="694944"/>
          </a:xfrm>
          <a:prstGeom prst="ellipse">
            <a:avLst/>
          </a:prstGeom>
          <a:solidFill>
            <a:srgbClr val="1E3554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77840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</a:rPr>
              <a:t>18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05409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A4C8"/>
                </a:solidFill>
              </a:rPr>
              <a:t>Playtesting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0" y="334670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EA4C8"/>
                </a:solidFill>
              </a:rPr>
              <a:t>Peer feedback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583680" y="2286000"/>
            <a:ext cx="694944" cy="694944"/>
          </a:xfrm>
          <a:prstGeom prst="ellipse">
            <a:avLst/>
          </a:prstGeom>
          <a:solidFill>
            <a:srgbClr val="1E3554"/>
          </a:solidFill>
          <a:ln w="25400">
            <a:solidFill>
              <a:srgbClr val="7EA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83680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A4C8"/>
                </a:solidFill>
              </a:rPr>
              <a:t>19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09360" y="305409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A4C8"/>
                </a:solidFill>
              </a:rPr>
              <a:t>Polish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334670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EA4C8"/>
                </a:solidFill>
              </a:rPr>
              <a:t>Bug fixes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589520" y="2286000"/>
            <a:ext cx="694944" cy="694944"/>
          </a:xfrm>
          <a:prstGeom prst="ellipse">
            <a:avLst/>
          </a:prstGeom>
          <a:solidFill>
            <a:srgbClr val="1E3554"/>
          </a:solidFill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89520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</a:rPr>
              <a:t>20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0" y="305409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A4C8"/>
                </a:solidFill>
              </a:rPr>
              <a:t>Showcase!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334670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EA4C8"/>
                </a:solidFill>
              </a:rPr>
              <a:t>Present your game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498080" y="1508760"/>
            <a:ext cx="877824" cy="347472"/>
          </a:xfrm>
          <a:prstGeom prst="roundRect">
            <a:avLst>
              <a:gd name="adj" fmla="val 21053"/>
            </a:avLst>
          </a:prstGeom>
          <a:solidFill>
            <a:srgbClr val="FFD166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98080" y="1508760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FINISH LINE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65760" y="4407408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44074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D166"/>
                </a:solidFill>
              </a:rPr>
              <a:t>A short, complete game beats an epic, unfinished one. Plan achievably — you have 7 days to code.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949</Words>
  <Application>Microsoft Macintosh PowerPoint</Application>
  <PresentationFormat>On-screen Show (16:9)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13 – Project Planning | STEM Through Games</dc:title>
  <dc:subject>PptxGenJS Presentation</dc:subject>
  <dc:creator>PptxGenJS</dc:creator>
  <cp:lastModifiedBy>Babichenko, Dmitriy</cp:lastModifiedBy>
  <cp:revision>15</cp:revision>
  <dcterms:created xsi:type="dcterms:W3CDTF">2026-06-01T17:56:04Z</dcterms:created>
  <dcterms:modified xsi:type="dcterms:W3CDTF">2026-07-14T00:56:22Z</dcterms:modified>
</cp:coreProperties>
</file>