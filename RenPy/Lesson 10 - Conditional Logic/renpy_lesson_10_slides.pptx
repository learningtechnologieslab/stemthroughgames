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126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3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32004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E87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320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STEM THROUGH GAMES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Conditional Logic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94360" y="2730455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0E4F7"/>
                </a:solidFill>
              </a:rPr>
              <a:t>Dynamic Storytelling in Ren'Py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12648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/  else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035040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7"/>
                </a:solidFill>
              </a:rPr>
              <a:t>Boolean  ·  Variables  ·  Branching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A3C6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D0E4F7"/>
                </a:solidFill>
              </a:rPr>
              <a:t>HOOK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691640"/>
          </a:xfrm>
          <a:prstGeom prst="rect">
            <a:avLst/>
          </a:prstGeom>
          <a:solidFill>
            <a:srgbClr val="0F1F3D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09728" cy="1691640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4577" y="960120"/>
            <a:ext cx="790506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Think of your favorite video game.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4577" y="1371600"/>
            <a:ext cx="7905063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0E4F7"/>
                </a:solidFill>
              </a:rPr>
              <a:t>Has a character ever remembered something YOU did earlier in the game?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0E4F7"/>
                </a:solidFill>
              </a:rPr>
              <a:t>What happened?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65760" y="28346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2834640"/>
            <a:ext cx="2697480" cy="438912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75488" y="283464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Think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75488" y="3337560"/>
            <a:ext cx="2487168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333"/>
                </a:solidFill>
              </a:rPr>
              <a:t>60 seconds — think silently about your answer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246120" y="28346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246120" y="2834640"/>
            <a:ext cx="2697480" cy="438912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3355848" y="283464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Pair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355848" y="3337560"/>
            <a:ext cx="2487168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333"/>
                </a:solidFill>
              </a:rPr>
              <a:t>Share with your neighbor — take turns!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26480" y="28346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126480" y="2834640"/>
            <a:ext cx="2697480" cy="438912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6236208" y="283464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Share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236208" y="3337560"/>
            <a:ext cx="2487168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333"/>
                </a:solidFill>
              </a:rPr>
              <a:t>2–3 pairs share out. Teacher notes on board.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</a:rPr>
              <a:t>Speaker note: Record responses on board. Bridge to "How does the game KNOW?"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D0E4F7"/>
                </a:solidFill>
              </a:rPr>
              <a:t>LEARNING 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3C6E"/>
                </a:solidFill>
              </a:rPr>
              <a:t>By the end of today, you will be able to...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91440" cy="1508760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4597" y="1463040"/>
            <a:ext cx="372880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C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4597" y="1828800"/>
            <a:ext cx="3728803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3"/>
                </a:solidFill>
              </a:rPr>
              <a:t>What a Boolean variable is and how True/False values work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09160" y="1325880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1325880"/>
            <a:ext cx="91440" cy="1508760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957997" y="1463040"/>
            <a:ext cx="372880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C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957997" y="1828800"/>
            <a:ext cx="3728803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3"/>
                </a:solidFill>
              </a:rPr>
              <a:t>Working if/else blocks that change story based on player state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365760" y="3063240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5760" y="3063240"/>
            <a:ext cx="91440" cy="1508760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14597" y="3200400"/>
            <a:ext cx="372880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C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14597" y="3566160"/>
            <a:ext cx="3728803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3"/>
                </a:solidFill>
              </a:rPr>
              <a:t>A branching scene that reacts to whether the player has an item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709160" y="3063240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709160" y="3063240"/>
            <a:ext cx="91440" cy="150876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4957997" y="3200400"/>
            <a:ext cx="372880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C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4957997" y="3566160"/>
            <a:ext cx="3728803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3"/>
                </a:solidFill>
              </a:rPr>
              <a:t>if/else logic to player agency and game personalization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3C6E"/>
                </a:solidFill>
              </a:rPr>
              <a:t>Essential Question: How do games know what YOU have done — and why does it matter?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EDE0F7"/>
                </a:solidFill>
              </a:rPr>
              <a:t>KEY CONCEPT  ·  Boolean Variables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F3D"/>
                </a:solidFill>
              </a:rPr>
              <a:t>A Boolean holds exactly one of two values: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749040" cy="2011680"/>
          </a:xfrm>
          <a:prstGeom prst="rect">
            <a:avLst/>
          </a:prstGeom>
          <a:solidFill>
            <a:srgbClr val="1E7A4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5087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4688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57200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AD6"/>
                </a:solidFill>
              </a:rPr>
              <a:t>yes  ·  on  ·  1  ·  has item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3749040" cy="2011680"/>
          </a:xfrm>
          <a:prstGeom prst="rect">
            <a:avLst/>
          </a:prstGeom>
          <a:solidFill>
            <a:srgbClr val="E8772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508760"/>
            <a:ext cx="914400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24688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4663440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CEBD8"/>
                </a:solidFill>
              </a:rPr>
              <a:t>no  ·  off  ·  0  ·  no item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995928" y="1920240"/>
            <a:ext cx="685800" cy="6858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995928" y="1920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65760" y="3611880"/>
            <a:ext cx="8412480" cy="914400"/>
          </a:xfrm>
          <a:prstGeom prst="rect">
            <a:avLst/>
          </a:prstGeom>
          <a:solidFill>
            <a:srgbClr val="D0E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57200" y="3611880"/>
            <a:ext cx="8183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3C6E"/>
                </a:solidFill>
              </a:rPr>
              <a:t>Think of it like a light switch — it's either ON or OFF. Nothing in between.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Ren'Py:    default has_key = False         $ has_key = True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DD6F4"/>
                </a:solidFill>
              </a:rPr>
              <a:t>DIRECT INSTRUCTION  ·  Anatomy of an if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0E4F7"/>
                </a:solidFill>
              </a:rPr>
              <a:t>Pseudo-code (English first):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1645920"/>
          </a:xfrm>
          <a:prstGeom prst="rect">
            <a:avLst/>
          </a:prstGeom>
          <a:solidFill>
            <a:srgbClr val="1A3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365760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5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condition is True: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 this thing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5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6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 this other thing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3931920" cy="347472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73152" cy="347472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1417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B800"/>
                </a:solidFill>
              </a:rPr>
              <a:t>The condition to check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965960"/>
            <a:ext cx="3931920" cy="347472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965960"/>
            <a:ext cx="73152" cy="347472"/>
          </a:xfrm>
          <a:prstGeom prst="rect">
            <a:avLst/>
          </a:prstGeom>
          <a:solidFill>
            <a:srgbClr val="A6E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965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6E22E"/>
                </a:solidFill>
              </a:rPr>
              <a:t>Code that runs if TRUE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487168"/>
            <a:ext cx="3931920" cy="347472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2487168"/>
            <a:ext cx="73152" cy="347472"/>
          </a:xfrm>
          <a:prstGeom prst="rect">
            <a:avLst/>
          </a:prstGeom>
          <a:solidFill>
            <a:srgbClr val="66D9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24871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D9E8"/>
                </a:solidFill>
              </a:rPr>
              <a:t>Code that runs if FALSE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8412480" cy="86868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91440" cy="868680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017520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Indentation is not decoration — it tells Ren'Py which lines belong INSIDE the if block.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Forgetting the colon (:) after if or else is the #1 student mistake!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069080"/>
            <a:ext cx="2697480" cy="868680"/>
          </a:xfrm>
          <a:prstGeom prst="rect">
            <a:avLst/>
          </a:prstGeom>
          <a:solidFill>
            <a:srgbClr val="1A3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4069080"/>
            <a:ext cx="2697480" cy="274320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069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F3D"/>
                </a:solidFill>
              </a:rPr>
              <a:t>Colon after if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389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has_key: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4069080"/>
            <a:ext cx="2697480" cy="868680"/>
          </a:xfrm>
          <a:prstGeom prst="rect">
            <a:avLst/>
          </a:prstGeom>
          <a:solidFill>
            <a:srgbClr val="1A3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46120" y="4069080"/>
            <a:ext cx="2697480" cy="274320"/>
          </a:xfrm>
          <a:prstGeom prst="rect">
            <a:avLst/>
          </a:prstGeom>
          <a:solidFill>
            <a:srgbClr val="A6E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46120" y="4069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F3D"/>
                </a:solidFill>
              </a:rPr>
              <a:t>4-space indent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4389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'You unlock'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26480" y="4069080"/>
            <a:ext cx="2697480" cy="868680"/>
          </a:xfrm>
          <a:prstGeom prst="rect">
            <a:avLst/>
          </a:prstGeom>
          <a:solidFill>
            <a:srgbClr val="1A3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26480" y="4069080"/>
            <a:ext cx="2697480" cy="274320"/>
          </a:xfrm>
          <a:prstGeom prst="rect">
            <a:avLst/>
          </a:prstGeom>
          <a:solidFill>
            <a:srgbClr val="66D9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26480" y="4069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F3D"/>
                </a:solidFill>
              </a:rPr>
              <a:t>Colon after else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4389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DD6F4"/>
                </a:solidFill>
              </a:rPr>
              <a:t>LIVE CODE DEMO  ·  The Door Scene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51206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D97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has_key = </a:t>
            </a:r>
            <a:r>
              <a:rPr lang="en-US" sz="1150" dirty="0">
                <a:solidFill>
                  <a:srgbClr val="FD97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74320" y="1010412"/>
            <a:ext cx="51206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" y="1271016"/>
            <a:ext cx="51206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start: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1531620"/>
            <a:ext cx="51206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"You stand in a dim hallway."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1792224"/>
            <a:ext cx="51206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2052828"/>
            <a:ext cx="51206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examine_table: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2313432"/>
            <a:ext cx="51206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 rusty key glints on the table."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2574036"/>
            <a:ext cx="51206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menu: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" y="2834640"/>
            <a:ext cx="51206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"Pick up the key":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4320" y="3095244"/>
            <a:ext cx="51206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50" dirty="0">
                <a:solidFill>
                  <a:srgbClr val="FD97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has_key = </a:t>
            </a:r>
            <a:r>
              <a:rPr lang="en-US" sz="1150" dirty="0">
                <a:solidFill>
                  <a:srgbClr val="FD97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4320" y="3355848"/>
            <a:ext cx="51206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4320" y="3616452"/>
            <a:ext cx="51206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try_door: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4320" y="3877056"/>
            <a:ext cx="51206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66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has_key: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4320" y="4137660"/>
            <a:ext cx="51206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"You unlock the door."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4320" y="4398264"/>
            <a:ext cx="51206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66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74320" y="4658868"/>
            <a:ext cx="51206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"The door is locked."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49240" y="786384"/>
            <a:ext cx="36576" cy="201168"/>
          </a:xfrm>
          <a:prstGeom prst="rect">
            <a:avLst/>
          </a:prstGeom>
          <a:solidFill>
            <a:srgbClr val="FD97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0" y="749808"/>
            <a:ext cx="338328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D971F"/>
                </a:solidFill>
              </a:rPr>
              <a:t>Always declare with default at the top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49240" y="2363724"/>
            <a:ext cx="36576" cy="201168"/>
          </a:xfrm>
          <a:prstGeom prst="rect">
            <a:avLst/>
          </a:prstGeom>
          <a:solidFill>
            <a:srgbClr val="FD97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0" y="2327148"/>
            <a:ext cx="338328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D971F"/>
                </a:solidFill>
              </a:rPr>
              <a:t>$ means Python expression in Ren'Py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9240" y="3278124"/>
            <a:ext cx="36576" cy="201168"/>
          </a:xfrm>
          <a:prstGeom prst="rect">
            <a:avLst/>
          </a:prstGeom>
          <a:solidFill>
            <a:srgbClr val="66D9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0" y="3241548"/>
            <a:ext cx="338328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D9E8"/>
                </a:solidFill>
              </a:rPr>
              <a:t>Checks if has_key is True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9240" y="3538728"/>
            <a:ext cx="36576" cy="201168"/>
          </a:xfrm>
          <a:prstGeom prst="rect">
            <a:avLst/>
          </a:prstGeom>
          <a:solidFill>
            <a:srgbClr val="A6E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0" y="3502152"/>
            <a:ext cx="338328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6E22E"/>
                </a:solidFill>
              </a:rPr>
              <a:t>If True → this dialogue plays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49240" y="3799332"/>
            <a:ext cx="36576" cy="201168"/>
          </a:xfrm>
          <a:prstGeom prst="rect">
            <a:avLst/>
          </a:prstGeom>
          <a:solidFill>
            <a:srgbClr val="FF70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0" y="3762756"/>
            <a:ext cx="338328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7070"/>
                </a:solidFill>
              </a:rPr>
              <a:t>If False → this dialogue plays instead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49240" y="4572000"/>
            <a:ext cx="3520440" cy="457200"/>
          </a:xfrm>
          <a:prstGeom prst="rect">
            <a:avLst/>
          </a:prstGeom>
          <a:solidFill>
            <a:srgbClr val="E8772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49240" y="4572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Run it TWICE — with key and without!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D0E4F7"/>
                </a:solidFill>
              </a:rPr>
              <a:t>COMPREHENSION CHECK  ·  Cold-Call Quiz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F3D"/>
                </a:solidFill>
              </a:rPr>
              <a:t>What does your class think?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347472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800"/>
                </a:solidFill>
              </a:rPr>
              <a:t>Q1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755648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3"/>
                </a:solidFill>
              </a:rPr>
              <a:t>What is has_key equal to at the very start of the game?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" y="2587752"/>
            <a:ext cx="3886200" cy="228600"/>
          </a:xfrm>
          <a:prstGeom prst="rect">
            <a:avLst/>
          </a:prstGeom>
          <a:solidFill>
            <a:srgbClr val="D0E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" y="25877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3C6E"/>
                </a:solidFill>
              </a:rPr>
              <a:t>Look at the default line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09160" y="1371600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09160" y="1371600"/>
            <a:ext cx="4114800" cy="347472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00600" y="13716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800"/>
                </a:solidFill>
              </a:rPr>
              <a:t>Q2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18888" y="1755648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3"/>
                </a:solidFill>
              </a:rPr>
              <a:t>Which line changes has_key from False to True?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18888" y="2587752"/>
            <a:ext cx="3886200" cy="228600"/>
          </a:xfrm>
          <a:prstGeom prst="rect">
            <a:avLst/>
          </a:prstGeom>
          <a:solidFill>
            <a:srgbClr val="D0E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120640" y="25877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3C6E"/>
                </a:solidFill>
              </a:rPr>
              <a:t>Find the $ dollar-sign line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65760" y="3108960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65760" y="3108960"/>
            <a:ext cx="4114800" cy="347472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57200" y="31089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800"/>
                </a:solidFill>
              </a:rPr>
              <a:t>Q3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75488" y="3493008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3"/>
                </a:solidFill>
              </a:rPr>
              <a:t>What would happen if you deleted the else block entirely?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75488" y="4325112"/>
            <a:ext cx="3886200" cy="228600"/>
          </a:xfrm>
          <a:prstGeom prst="rect">
            <a:avLst/>
          </a:prstGeom>
          <a:solidFill>
            <a:srgbClr val="D0E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777240" y="43251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3C6E"/>
                </a:solidFill>
              </a:rPr>
              <a:t>Think: what runs when if is False?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709160" y="3108960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709160" y="3108960"/>
            <a:ext cx="4114800" cy="347472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4800600" y="31089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800"/>
                </a:solidFill>
              </a:rPr>
              <a:t>Q4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4818888" y="3493008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3"/>
                </a:solidFill>
              </a:rPr>
              <a:t>Why does the text under if and else need to be indented?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4818888" y="4325112"/>
            <a:ext cx="3886200" cy="228600"/>
          </a:xfrm>
          <a:prstGeom prst="rect">
            <a:avLst/>
          </a:prstGeom>
          <a:solidFill>
            <a:srgbClr val="D0E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5120640" y="43251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3C6E"/>
                </a:solidFill>
              </a:rPr>
              <a:t>Ren'Py uses indentation to define blocks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EDE0F7"/>
                </a:solidFill>
              </a:rPr>
              <a:t>GUIDED PRACTICE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F3D"/>
                </a:solidFill>
              </a:rPr>
              <a:t>Your task: Complete the TODO blocks in the starter file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4846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1005840" cy="1005840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9903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Task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5623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Together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1444752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3"/>
                </a:solidFill>
              </a:rPr>
              <a:t>Security door — has_keycard check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333"/>
                </a:solidFill>
              </a:rPr>
              <a:t>Code alongside the teacher. Test both paths.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4846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1005840" cy="1005840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6060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Task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063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Pairs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63040" y="265176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3"/>
                </a:solidFill>
              </a:rPr>
              <a:t>Storage room — has_flashlight check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333"/>
                </a:solidFill>
              </a:rPr>
              <a:t>Write pseudo-code first, then code it.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767328"/>
            <a:ext cx="4846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767328"/>
            <a:ext cx="1005840" cy="100584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81304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✦ Ext.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27024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Fast finishers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63040" y="385876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3"/>
                </a:solidFill>
              </a:rPr>
              <a:t>What if player has BOTH items?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333"/>
                </a:solidFill>
              </a:rPr>
              <a:t>Can you write that condition?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0" y="1298448"/>
            <a:ext cx="3383280" cy="361188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0" y="1298448"/>
            <a:ext cx="3383280" cy="36576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344168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897880" y="1298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Watch For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623560" y="1828800"/>
            <a:ext cx="54864" cy="457200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760720" y="1828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4F7"/>
                </a:solidFill>
              </a:rPr>
              <a:t>Missing colon after if or else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623560" y="2514600"/>
            <a:ext cx="54864" cy="457200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760720" y="25146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4F7"/>
                </a:solidFill>
              </a:rPr>
              <a:t>Wrong indentation (tabs vs spaces)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623560" y="3200400"/>
            <a:ext cx="54864" cy="457200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760720" y="32004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4F7"/>
                </a:solidFill>
              </a:rPr>
              <a:t>Variable name typo (case matters!)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623560" y="3886200"/>
            <a:ext cx="54864" cy="457200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760720" y="3886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4F7"/>
                </a:solidFill>
              </a:rPr>
              <a:t>$ sign missing before assignment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3C6E"/>
                </a:solidFill>
              </a:rPr>
              <a:t>Pseudo-code first → then Ren'Py code. Pair check before running.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D0E4F7"/>
                </a:solidFill>
              </a:rPr>
              <a:t>INDEPENDENT PRACTICE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Your Own Branching Scene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4173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91440" cy="1417320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800"/>
                </a:solidFill>
              </a:rPr>
              <a:t>Your scene must include: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Boolean variable the player can earn or discover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moment where having / not having it changes the story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least 3 lines of custom dialogue in each branch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2697480" cy="1920240"/>
          </a:xfrm>
          <a:prstGeom prst="rect">
            <a:avLst/>
          </a:prstGeom>
          <a:solidFill>
            <a:srgbClr val="D0E4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2697480" cy="384048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Scaffolded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3401568"/>
            <a:ext cx="2478024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3"/>
                </a:solidFill>
              </a:rPr>
              <a:t>Use the fill-in-the-blank template. Choose from the provided Boolean names.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46120" y="2926080"/>
            <a:ext cx="2697480" cy="1920240"/>
          </a:xfrm>
          <a:prstGeom prst="rect">
            <a:avLst/>
          </a:prstGeom>
          <a:solidFill>
            <a:srgbClr val="D6EAD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46120" y="2926080"/>
            <a:ext cx="2697480" cy="384048"/>
          </a:xfrm>
          <a:prstGeom prst="rect">
            <a:avLst/>
          </a:prstGeom>
          <a:solidFill>
            <a:srgbClr val="1E7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46120" y="29260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On Grade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3401568"/>
            <a:ext cx="2478024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3"/>
                </a:solidFill>
              </a:rPr>
              <a:t>Write from scratch. Use today's code as a reference.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2926080"/>
            <a:ext cx="2697480" cy="1920240"/>
          </a:xfrm>
          <a:prstGeom prst="rect">
            <a:avLst/>
          </a:prstGeom>
          <a:solidFill>
            <a:srgbClr val="FCEBD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2926080"/>
            <a:ext cx="2697480" cy="384048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29260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Extension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36208" y="3401568"/>
            <a:ext cx="2478024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3"/>
                </a:solidFill>
              </a:rPr>
              <a:t>Chain two if/else blocks. Explore elif for three-way branching.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FFFF"/>
                </a:solidFill>
              </a:rPr>
              <a:t>DEBUG GUIDE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F3D"/>
                </a:solidFill>
              </a:rPr>
              <a:t>Something not working? Check these first: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73152" cy="64008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05840" y="138074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IndentationError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566160" y="1435608"/>
            <a:ext cx="27432" cy="411480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160520" y="1380744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3"/>
                </a:solidFill>
              </a:rPr>
              <a:t>Count your spaces. Use Tab key — it inserts exactly 4 spaces.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65760" y="2048256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65760" y="2048256"/>
            <a:ext cx="73152" cy="640080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100584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runs even with key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3566160" y="2157984"/>
            <a:ext cx="27432" cy="411480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4160520" y="2103120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3"/>
                </a:solidFill>
              </a:rPr>
              <a:t>Check spelling: has_key vs has_Key? Python is case-sensitive!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365760" y="2770632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365760" y="2770632"/>
            <a:ext cx="73152" cy="640080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1005840" y="28254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 branches run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3566160" y="2880360"/>
            <a:ext cx="27432" cy="411480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7"/>
          <p:cNvSpPr/>
          <p:nvPr/>
        </p:nvSpPr>
        <p:spPr>
          <a:xfrm>
            <a:off x="4160520" y="2825496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3"/>
                </a:solidFill>
              </a:rPr>
              <a:t>Add jump or return at the end of your if block.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365760" y="3493008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365760" y="3493008"/>
            <a:ext cx="73152" cy="640080"/>
          </a:xfrm>
          <a:prstGeom prst="rect">
            <a:avLst/>
          </a:prstGeom>
          <a:solidFill>
            <a:srgbClr val="1E7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0"/>
          <p:cNvSpPr/>
          <p:nvPr/>
        </p:nvSpPr>
        <p:spPr>
          <a:xfrm>
            <a:off x="1005840" y="35478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line not working</a:t>
            </a:r>
            <a:endParaRPr lang="en-US" sz="1250" dirty="0"/>
          </a:p>
        </p:txBody>
      </p:sp>
      <p:sp>
        <p:nvSpPr>
          <p:cNvPr id="30" name="Shape 21"/>
          <p:cNvSpPr/>
          <p:nvPr/>
        </p:nvSpPr>
        <p:spPr>
          <a:xfrm>
            <a:off x="3566160" y="3602736"/>
            <a:ext cx="27432" cy="411480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2"/>
          <p:cNvSpPr/>
          <p:nvPr/>
        </p:nvSpPr>
        <p:spPr>
          <a:xfrm>
            <a:off x="4160520" y="3547872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3"/>
                </a:solidFill>
              </a:rPr>
              <a:t>The $ must be INSIDE the menu choice — indent one more level.</a:t>
            </a:r>
            <a:endParaRPr lang="en-US" sz="1250" dirty="0"/>
          </a:p>
        </p:txBody>
      </p:sp>
      <p:sp>
        <p:nvSpPr>
          <p:cNvPr id="33" name="Shape 23"/>
          <p:cNvSpPr/>
          <p:nvPr/>
        </p:nvSpPr>
        <p:spPr>
          <a:xfrm>
            <a:off x="365760" y="4215384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4"/>
          <p:cNvSpPr/>
          <p:nvPr/>
        </p:nvSpPr>
        <p:spPr>
          <a:xfrm>
            <a:off x="365760" y="4215384"/>
            <a:ext cx="73152" cy="640080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5"/>
          <p:cNvSpPr/>
          <p:nvPr/>
        </p:nvSpPr>
        <p:spPr>
          <a:xfrm>
            <a:off x="1005840" y="42702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NameError: has_key</a:t>
            </a:r>
            <a:endParaRPr lang="en-US" sz="1250" dirty="0"/>
          </a:p>
        </p:txBody>
      </p:sp>
      <p:sp>
        <p:nvSpPr>
          <p:cNvPr id="37" name="Shape 26"/>
          <p:cNvSpPr/>
          <p:nvPr/>
        </p:nvSpPr>
        <p:spPr>
          <a:xfrm>
            <a:off x="3566160" y="4325112"/>
            <a:ext cx="27432" cy="411480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27"/>
          <p:cNvSpPr/>
          <p:nvPr/>
        </p:nvSpPr>
        <p:spPr>
          <a:xfrm>
            <a:off x="4160520" y="4270248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3"/>
                </a:solidFill>
              </a:rPr>
              <a:t>Forgot default has_key = False at the top of the file!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D0E4F7"/>
                </a:solidFill>
              </a:rPr>
              <a:t>REFLECTION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2103120"/>
          </a:xfrm>
          <a:prstGeom prst="rect">
            <a:avLst/>
          </a:prstGeom>
          <a:solidFill>
            <a:srgbClr val="1A3C6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73152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79999" y="987552"/>
            <a:ext cx="777820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800"/>
                </a:solidFill>
              </a:rPr>
              <a:t>Reflection Question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2269" y="1371600"/>
            <a:ext cx="767449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 games personalize experiences?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4538" y="1874520"/>
            <a:ext cx="757078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4F7"/>
                </a:solidFill>
              </a:rPr>
              <a:t>Think of a game where the story or world changed based on something you did.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0E4F7"/>
                </a:solidFill>
              </a:rPr>
              <a:t>How might a programmer have written that using if/else logic?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127248"/>
            <a:ext cx="2560320" cy="658368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312724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Write for 2–3 min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91840" y="3127248"/>
            <a:ext cx="5303520" cy="658368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29000" y="3127248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Then: cold-call 1–2 students to share their connection with the class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39502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AA"/>
                </a:solidFill>
              </a:rPr>
              <a:t>Examples students might give: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42976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B800"/>
                </a:solidFill>
              </a:rPr>
              <a:t>Pokémon remembers your starter. </a:t>
            </a:r>
            <a:r>
              <a:rPr lang="en-US" sz="1300" dirty="0">
                <a:solidFill>
                  <a:srgbClr val="A6E22E"/>
                </a:solidFill>
              </a:rPr>
              <a:t>Undertale tracks every choice. </a:t>
            </a:r>
            <a:r>
              <a:rPr lang="en-US" sz="1300" dirty="0">
                <a:solidFill>
                  <a:srgbClr val="D0E4F7"/>
                </a:solidFill>
              </a:rPr>
              <a:t>Minecraft: survival vs creative mode variables.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7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D6EAD6"/>
                </a:solidFill>
              </a:rPr>
              <a:t>EXIT TICKET  ·  Choose One  ·  Last 2 Minutes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F3D"/>
                </a:solidFill>
              </a:rPr>
              <a:t>Before you go — pick ONE: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371600" cy="1024128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Option A —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481328"/>
            <a:ext cx="6675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3"/>
                </a:solidFill>
              </a:rPr>
              <a:t>Write the Ren'Py code that prints "Welcome back!" if has_visited is True, and "Hello, stranger!" otherwise.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542032"/>
            <a:ext cx="1371600" cy="1024128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587752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Option B — Concept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651760"/>
            <a:ext cx="6675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3"/>
                </a:solidFill>
              </a:rPr>
              <a:t>In your own words: what is the difference between a variable and a conditional?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" y="3712464"/>
            <a:ext cx="841248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712464"/>
            <a:ext cx="1371600" cy="1024128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758184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Option C — Real World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3822192"/>
            <a:ext cx="6675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3"/>
                </a:solidFill>
              </a:rPr>
              <a:t>Name one game that uses conditional logic and explain how you think it works under the hood.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3C6E"/>
                </a:solidFill>
              </a:rPr>
              <a:t>Answer on a sticky note, index card, or the class digital form.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1031</Words>
  <Application>Microsoft Macintosh PowerPoint</Application>
  <PresentationFormat>On-screen Show (16:9)</PresentationFormat>
  <Paragraphs>162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10: Conditional Logic</dc:title>
  <dc:subject>PptxGenJS Presentation</dc:subject>
  <dc:creator>STEM Through Games</dc:creator>
  <cp:lastModifiedBy>Babichenko, Dmitriy</cp:lastModifiedBy>
  <cp:revision>6</cp:revision>
  <dcterms:created xsi:type="dcterms:W3CDTF">2026-06-01T14:36:37Z</dcterms:created>
  <dcterms:modified xsi:type="dcterms:W3CDTF">2026-07-13T18:27:56Z</dcterms:modified>
</cp:coreProperties>
</file>