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10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Today we're learning how to give characters a name and voice in Ren'Py. Ask: have you ever played a game where a character name appears above their dialogue? That's what we're building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blocks. Let students know they'll be writing and running real code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read both excerpts silently for 30 seconds, then discuss: What is different? Which is easier to follow? Connect to visual novel games they may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Character() is a special object in Ren'Py. The variable name (a) is our shortcut. We define it once at the top and then use it throughout the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narrator text is just a string in quotes with NO variable. Character dialogue uses the variable before the string. Both are valid and you'll use both in your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error slowly. Have students find the mistake before revealing the fix. These are the three most common errors on Day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10 minutes to type and run this code. Circulate. After ~10 min do a check-in: ask students to point to the line that defines Alex and explain what the variable 'a'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make up their own characters — not just copy the example. Encourage creative names and topics. The bonus is adding a narrator stage direction between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2-3 minutes to think individually, then share out. Key points: 1) Player immersion, 2) Story clarity, 3) Code design — defining once and reusing.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Q1: define s = Character("Sam")   Q2: Character dialogue has a variable before the string and shows a name label; narrator text is a plain string with no variable and no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5669280" cy="5143500"/>
          </a:xfrm>
          <a:prstGeom prst="rect">
            <a:avLst/>
          </a:prstGeom>
          <a:solidFill>
            <a:srgbClr val="0F2247"/>
          </a:solidFill>
          <a:ln w="12700">
            <a:solidFill>
              <a:srgbClr val="0F22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6692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STEM THROUGH GAMES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Characters in Ren'Py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4A3A8"/>
                </a:solidFill>
              </a:rPr>
              <a:t>Speaking Characters &amp; Dialogue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5943600" y="365760"/>
            <a:ext cx="292608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356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08076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Define a character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080760" y="758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a = Character(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080760" y="1014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"Alex"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080760" y="1271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80760" y="1527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08076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start: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080760" y="2039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"Hi there!"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080760" y="2295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943600" y="2926080"/>
            <a:ext cx="292608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943600" y="4251960"/>
            <a:ext cx="2926080" cy="41148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943600" y="4251960"/>
            <a:ext cx="73152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035040" y="42702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Alex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035040" y="4453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</a:rPr>
              <a:t>"Hi there!"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0350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5566"/>
                </a:solidFill>
              </a:rPr>
              <a:t>Game preview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</a:rPr>
              <a:t>Warm-Up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2834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A64"/>
                </a:solidFill>
              </a:rPr>
              <a:t>Who Is Speaking?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93392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993392" y="1097280"/>
            <a:ext cx="16002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084832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</a:rPr>
              <a:t>Learn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084832" y="2834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A64"/>
                </a:solidFill>
              </a:rPr>
              <a:t>Characters in Ren'Py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712464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712464" y="1097280"/>
            <a:ext cx="16002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803904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</a:rPr>
              <a:t>Code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3803904" y="2834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A64"/>
                </a:solidFill>
              </a:rPr>
              <a:t>Main Activity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31536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431536" y="1097280"/>
            <a:ext cx="160020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522976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</a:rPr>
              <a:t>Challenge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5522976" y="2834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A64"/>
                </a:solidFill>
              </a:rPr>
              <a:t>Two Characters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150608" y="109728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7150608" y="1097280"/>
            <a:ext cx="16002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7242048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332"/>
                </a:solidFill>
              </a:rPr>
              <a:t>Reflect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7242048" y="2834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A64"/>
                </a:solidFill>
              </a:rPr>
              <a:t>Why name speakers?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0" cy="914400"/>
          </a:xfrm>
          <a:prstGeom prst="rect">
            <a:avLst/>
          </a:prstGeom>
          <a:solidFill>
            <a:srgbClr val="0A5558"/>
          </a:solidFill>
          <a:ln w="12700">
            <a:solidFill>
              <a:srgbClr val="0A5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ACFD3"/>
                </a:solidFill>
              </a:rPr>
              <a:t>WARM-UP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512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914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Speaking?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393192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5A64"/>
                </a:solidFill>
              </a:rPr>
              <a:t>Excerpt A  —  Narrator 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 was a dark and stormy night."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door creaked open slowly."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"Someone was there."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6393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6800"/>
                </a:solidFill>
              </a:rPr>
              <a:t>Who said these lines? Can you tell?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9319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Excerpt B  —  Named Speakers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69164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691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"Who's there?"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231343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23134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Jordan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"It's just me!"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293522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9352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scared me!"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356616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36393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E7D32"/>
                </a:solidFill>
              </a:rPr>
              <a:t>ou</a:t>
            </a:r>
            <a:r>
              <a:rPr lang="en-US" sz="1200" dirty="0">
                <a:solidFill>
                  <a:srgbClr val="2E7D32"/>
                </a:solidFill>
              </a:rPr>
              <a:t> always know who is speaking!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0" cy="914400"/>
          </a:xfrm>
          <a:prstGeom prst="rect">
            <a:avLst/>
          </a:prstGeom>
          <a:solidFill>
            <a:srgbClr val="0F2247"/>
          </a:solidFill>
          <a:ln w="12700">
            <a:solidFill>
              <a:srgbClr val="0F2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899CC"/>
                </a:solidFill>
              </a:rPr>
              <a:t>LEARN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914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Character in Ren'Py?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50292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86968" y="1124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Display Name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6968" y="14904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</a:rPr>
              <a:t>The name shown on screen above the dialogue box (e.g. "Alex")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2313432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4320" y="2313432"/>
            <a:ext cx="50292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86968" y="2386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Variable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86968" y="27523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</a:rPr>
              <a:t>A short code nickname you use in your script (e.g. a)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74320" y="3575304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74320" y="3575304"/>
            <a:ext cx="502920" cy="109728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86968" y="36484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Object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86968" y="40142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</a:rPr>
              <a:t>A Character() is a special object that bundles name + settings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663440" y="1051560"/>
            <a:ext cx="416052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356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75488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9CC"/>
                </a:solidFill>
              </a:rPr>
              <a:t>Syntax Breakdown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54880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 a  =  Character("Alex")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754880" y="2029968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2D3561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75488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46520" y="2157984"/>
            <a:ext cx="274320" cy="0"/>
          </a:xfrm>
          <a:prstGeom prst="line">
            <a:avLst/>
          </a:prstGeom>
          <a:noFill/>
          <a:ln w="19050">
            <a:solidFill>
              <a:srgbClr val="445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74827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E8"/>
                </a:solidFill>
              </a:rPr>
              <a:t>Keyword that creates a variable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754880" y="274320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2D3561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75488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446520" y="2871216"/>
            <a:ext cx="274320" cy="0"/>
          </a:xfrm>
          <a:prstGeom prst="line">
            <a:avLst/>
          </a:prstGeom>
          <a:noFill/>
          <a:ln w="19050">
            <a:solidFill>
              <a:srgbClr val="445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748272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E8"/>
                </a:solidFill>
              </a:rPr>
              <a:t>Short variable name (your choice)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754880" y="345643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2D3561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754880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Character("Alex")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46520" y="3584448"/>
            <a:ext cx="274320" cy="0"/>
          </a:xfrm>
          <a:prstGeom prst="line">
            <a:avLst/>
          </a:prstGeom>
          <a:noFill/>
          <a:ln w="19050">
            <a:solidFill>
              <a:srgbClr val="445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748272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FE8"/>
                </a:solidFill>
              </a:rPr>
              <a:t>Ren'Py object with display name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754880" y="4041648"/>
            <a:ext cx="3931920" cy="621792"/>
          </a:xfrm>
          <a:prstGeom prst="rect">
            <a:avLst/>
          </a:prstGeom>
          <a:solidFill>
            <a:srgbClr val="16213E"/>
          </a:solidFill>
          <a:ln w="12700">
            <a:solidFill>
              <a:srgbClr val="3D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8920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"Hi there!"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489204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2A4"/>
                </a:solidFill>
              </a:rPr>
              <a:t>← Use variable + string to speak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Narrator vs. Character Dialogue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8404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Character Dialogue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347472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755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"Hi there!"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48840" y="2286000"/>
            <a:ext cx="0" cy="27432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347472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3474720" cy="50292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77724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37856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0050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</a:rPr>
              <a:t>"Hi there!"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297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7377"/>
                </a:solidFill>
              </a:rPr>
              <a:t>Name label appears above text box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37760" y="105156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937760" y="1051560"/>
            <a:ext cx="3840480" cy="5029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16636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Narrator Text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120640" y="1691640"/>
            <a:ext cx="347472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212080" y="17556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room was silent."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812280" y="2286000"/>
            <a:ext cx="0" cy="274320"/>
          </a:xfrm>
          <a:prstGeom prst="line">
            <a:avLst/>
          </a:prstGeom>
          <a:noFill/>
          <a:ln w="25400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120640" y="2606040"/>
            <a:ext cx="347472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120640" y="3749040"/>
            <a:ext cx="3474720" cy="50292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21208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DDFF"/>
                </a:solidFill>
              </a:rPr>
              <a:t>"The room was silent."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166360" y="4297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55A64"/>
                </a:solidFill>
              </a:rPr>
              <a:t>No name label — just the text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91440"/>
            <a:ext cx="8458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3840480" cy="10515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92608" y="11064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Wrong Case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1480" y="1444752"/>
            <a:ext cx="3566160" cy="384048"/>
          </a:xfrm>
          <a:prstGeom prst="rect">
            <a:avLst/>
          </a:prstGeom>
          <a:solidFill>
            <a:srgbClr val="3A0A0A"/>
          </a:solidFill>
          <a:ln w="12700">
            <a:solidFill>
              <a:srgbClr val="3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"Hi there!"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60520" y="1572768"/>
            <a:ext cx="502920" cy="0"/>
          </a:xfrm>
          <a:prstGeom prst="line">
            <a:avLst/>
          </a:prstGeom>
          <a:noFill/>
          <a:ln w="25400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80560" y="144475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55A6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46320" y="1097280"/>
            <a:ext cx="384048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109728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64608" y="110642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983480" y="1444752"/>
            <a:ext cx="3566160" cy="384048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7492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"Hi there!"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83480" y="1865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32"/>
                </a:solidFill>
              </a:rPr>
              <a:t>Variable names are case-sensitive. Uppercase A is not the same as lowercase 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331720"/>
            <a:ext cx="3840480" cy="10515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4320" y="2331720"/>
            <a:ext cx="989936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92607" y="2340864"/>
            <a:ext cx="9716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Missing Indent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" y="2679192"/>
            <a:ext cx="3566160" cy="384048"/>
          </a:xfrm>
          <a:prstGeom prst="rect">
            <a:avLst/>
          </a:prstGeom>
          <a:solidFill>
            <a:srgbClr val="3A0A0A"/>
          </a:solidFill>
          <a:ln w="12700">
            <a:solidFill>
              <a:srgbClr val="3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2920" y="27340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"Hi there!"   (no indent)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60520" y="2807208"/>
            <a:ext cx="502920" cy="0"/>
          </a:xfrm>
          <a:prstGeom prst="line">
            <a:avLst/>
          </a:prstGeom>
          <a:noFill/>
          <a:ln w="25400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480560" y="267919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55A64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846320" y="2331720"/>
            <a:ext cx="384048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46320" y="233172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64608" y="234086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83480" y="2679192"/>
            <a:ext cx="3566160" cy="384048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74920" y="27340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"Hi there!"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983480" y="3099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32"/>
                </a:solidFill>
              </a:rPr>
              <a:t>All dialogue inside a label block MUST be indented 4 spaces or 1 tab.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3566160"/>
            <a:ext cx="3840480" cy="10515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74320" y="3566160"/>
            <a:ext cx="989936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292608" y="3575304"/>
            <a:ext cx="97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Wrong Capitalization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3913632"/>
            <a:ext cx="3566160" cy="384048"/>
          </a:xfrm>
          <a:prstGeom prst="rect">
            <a:avLst/>
          </a:prstGeom>
          <a:solidFill>
            <a:srgbClr val="3A0A0A"/>
          </a:solidFill>
          <a:ln w="12700">
            <a:solidFill>
              <a:srgbClr val="3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3968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a = character("Alex")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160520" y="4041648"/>
            <a:ext cx="502920" cy="0"/>
          </a:xfrm>
          <a:prstGeom prst="line">
            <a:avLst/>
          </a:prstGeom>
          <a:noFill/>
          <a:ln w="25400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480560" y="39136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55A64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846320" y="3566160"/>
            <a:ext cx="384048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846320" y="356616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64608" y="357530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983480" y="3913632"/>
            <a:ext cx="3566160" cy="384048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074920" y="3968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a = Character("Alex")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983480" y="4334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32"/>
                </a:solidFill>
              </a:rPr>
              <a:t>Character must be capitalized. Python (and Ren'Py) is case-sensitive.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0" cy="914400"/>
          </a:xfrm>
          <a:prstGeom prst="rect">
            <a:avLst/>
          </a:prstGeom>
          <a:solidFill>
            <a:srgbClr val="0A5558"/>
          </a:solidFill>
          <a:ln w="12700">
            <a:solidFill>
              <a:srgbClr val="0A5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ACFD3"/>
                </a:solidFill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914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Activity — Code &amp; Run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</a:rPr>
              <a:t>Type this into your script.rpy file: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75488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356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a = Character("Alex")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start: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"Hi there!"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"My name is Alex."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 room felt quiet."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5A64"/>
                </a:solidFill>
              </a:rPr>
              <a:t>Color guide: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986784"/>
            <a:ext cx="182880" cy="182880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" y="3931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Ren'Py keywords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3986784"/>
            <a:ext cx="182880" cy="182880"/>
          </a:xfrm>
          <a:prstGeom prst="rect">
            <a:avLst/>
          </a:prstGeom>
          <a:solidFill>
            <a:srgbClr val="A6E22E"/>
          </a:solidFill>
          <a:ln w="12700">
            <a:solidFill>
              <a:srgbClr val="A6E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52928" y="3931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Character define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35254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Character dialogue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4352544"/>
            <a:ext cx="182880" cy="18288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52928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Narrator 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1051560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03520" y="1051560"/>
            <a:ext cx="3520440" cy="475488"/>
          </a:xfrm>
          <a:prstGeom prst="rect">
            <a:avLst/>
          </a:prstGeom>
          <a:solidFill>
            <a:srgbClr val="0A5558"/>
          </a:solidFill>
          <a:ln w="12700">
            <a:solidFill>
              <a:srgbClr val="0A5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to Observe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897880" y="166420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"Alex" appears above the text box for lines 1 &amp; 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897880" y="243230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Line 3 is narrator text — NO name label appears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897880" y="32004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When you reach return, the game ends cleanly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897880" y="39684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The define line is BEFORE the label block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0" cy="914400"/>
          </a:xfrm>
          <a:prstGeom prst="rect">
            <a:avLst/>
          </a:prstGeom>
          <a:solidFill>
            <a:srgbClr val="8C3100"/>
          </a:solidFill>
          <a:ln w="12700">
            <a:solidFill>
              <a:srgbClr val="8C3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CC99"/>
                </a:solidFill>
              </a:rPr>
              <a:t>CHALLENGE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914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Characters Talking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Starter code: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572000" cy="24688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356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a = Character("Alex")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70992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j = Character("Jordan")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20370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start: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"Hey Jordan!"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69748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"Hey Alex!"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"Want to play?"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191256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"Let's go!"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343814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" y="3913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5100"/>
                </a:solidFill>
              </a:rPr>
              <a:t>Make it YOUR characters — give them unique names!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051560"/>
            <a:ext cx="3749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1051560"/>
            <a:ext cx="3749040" cy="457200"/>
          </a:xfrm>
          <a:prstGeom prst="rect">
            <a:avLst/>
          </a:prstGeom>
          <a:solidFill>
            <a:srgbClr val="8C3100"/>
          </a:solidFill>
          <a:ln w="12700">
            <a:solidFill>
              <a:srgbClr val="8C3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Requirements Checklist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57800" y="1664208"/>
            <a:ext cx="27432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23560" y="16276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Two define statements with different variables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2167128"/>
            <a:ext cx="27432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23560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Each character has a unique, descriptive name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57800" y="2670048"/>
            <a:ext cx="27432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23560" y="26334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At least 4 dialogue lines alternating between them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57800" y="3172968"/>
            <a:ext cx="27432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23560" y="3136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All lines properly indented inside label start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57800" y="3675888"/>
            <a:ext cx="274320" cy="274320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23560" y="3639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</a:rPr>
              <a:t>Script runs without errors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66360" y="4187952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EF3D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577840" y="42245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6800"/>
                </a:solidFill>
              </a:rPr>
              <a:t>BONUS: Add a narrator line between dialogue lines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0A2E"/>
          </a:solidFill>
          <a:ln w="12700">
            <a:solidFill>
              <a:srgbClr val="140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-457200"/>
            <a:ext cx="5029200" cy="5029200"/>
          </a:xfrm>
          <a:prstGeom prst="ellipse">
            <a:avLst/>
          </a:prstGeom>
          <a:solidFill>
            <a:srgbClr val="1E0D3A"/>
          </a:solidFill>
          <a:ln w="12700">
            <a:solidFill>
              <a:srgbClr val="2D1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663440" cy="24231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it important to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speakers in a game?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3493008"/>
            <a:ext cx="4663440" cy="868680"/>
          </a:xfrm>
          <a:prstGeom prst="rect">
            <a:avLst/>
          </a:prstGeom>
          <a:solidFill>
            <a:srgbClr val="1E0D3A"/>
          </a:solidFill>
          <a:ln w="12700">
            <a:solidFill>
              <a:srgbClr val="3D1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35661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4A8FF"/>
                </a:solidFill>
              </a:rPr>
              <a:t>What would change if NO characters had names?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0" y="822960"/>
            <a:ext cx="3108960" cy="1143000"/>
          </a:xfrm>
          <a:prstGeom prst="rect">
            <a:avLst/>
          </a:prstGeom>
          <a:solidFill>
            <a:srgbClr val="1E0D3A"/>
          </a:solidFill>
          <a:ln w="12700">
            <a:solidFill>
              <a:srgbClr val="3D1A6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828306" y="896112"/>
            <a:ext cx="28402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Player Experience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828306" y="1261872"/>
            <a:ext cx="28402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A8FF"/>
                </a:solidFill>
              </a:rPr>
              <a:t>Named characters feel real and relatable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0" y="2176272"/>
            <a:ext cx="3108960" cy="1143000"/>
          </a:xfrm>
          <a:prstGeom prst="rect">
            <a:avLst/>
          </a:prstGeom>
          <a:solidFill>
            <a:srgbClr val="1E0D3A"/>
          </a:solidFill>
          <a:ln w="12700">
            <a:solidFill>
              <a:srgbClr val="3D1A6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828306" y="2249424"/>
            <a:ext cx="28402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Storytelling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828306" y="2615184"/>
            <a:ext cx="28402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A8FF"/>
                </a:solidFill>
              </a:rPr>
              <a:t>Readers can follow conversations easily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0" y="3529584"/>
            <a:ext cx="3108960" cy="1143000"/>
          </a:xfrm>
          <a:prstGeom prst="rect">
            <a:avLst/>
          </a:prstGeom>
          <a:solidFill>
            <a:srgbClr val="1E0D3A"/>
          </a:solidFill>
          <a:ln w="12700">
            <a:solidFill>
              <a:srgbClr val="3D1A6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828306" y="3602736"/>
            <a:ext cx="28402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Efficiency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828306" y="3968496"/>
            <a:ext cx="28402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A8FF"/>
                </a:solidFill>
              </a:rPr>
              <a:t>Change the name once — updates everywhere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91440"/>
            <a:ext cx="8458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5A64"/>
                </a:solidFill>
              </a:rPr>
              <a:t>Answer before you go!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41148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1874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1490472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</a:rPr>
              <a:t>Write the code to define a character named "Sam" using variable 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4672" y="2075688"/>
            <a:ext cx="790956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6112" y="2130552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55A64"/>
                </a:solidFill>
              </a:rPr>
              <a:t>Answer:  define s = Character("Sam")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97180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4320" y="2971800"/>
            <a:ext cx="41148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34290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04672" y="3044952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</a:rPr>
              <a:t>What is the difference between character dialogue and narrator text in Ren'Py?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" y="3630168"/>
            <a:ext cx="7909560" cy="621792"/>
          </a:xfrm>
          <a:prstGeom prst="rect">
            <a:avLst/>
          </a:prstGeom>
          <a:solidFill>
            <a:srgbClr val="ECEF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96112" y="3685032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55A64"/>
                </a:solidFill>
              </a:rPr>
              <a:t>Answer:  Character dialogue uses a variable before the string; narrator text is just a string with no variable — no name label appears.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4553712"/>
            <a:ext cx="8595360" cy="438912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6800"/>
                </a:solidFill>
              </a:rPr>
              <a:t>Rate your confidence today:   ☆  ☆  ☆  ☆  ☆   (1 = confused, 5 = got it!)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1070</Words>
  <Application>Microsoft Macintosh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8</cp:revision>
  <dcterms:created xsi:type="dcterms:W3CDTF">2026-05-20T17:02:23Z</dcterms:created>
  <dcterms:modified xsi:type="dcterms:W3CDTF">2026-07-13T14:42:51Z</dcterms:modified>
</cp:coreProperties>
</file>