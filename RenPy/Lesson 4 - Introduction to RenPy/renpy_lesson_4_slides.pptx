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61" d="100"/>
          <a:sy n="161" d="100"/>
        </p:scale>
        <p:origin x="216" y="3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921673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3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0"/>
            <a:ext cx="2560320" cy="5143500"/>
          </a:xfrm>
          <a:prstGeom prst="rect">
            <a:avLst/>
          </a:prstGeom>
          <a:solidFill>
            <a:srgbClr val="3D2B8E">
              <a:alpha val="28000"/>
            </a:srgbClr>
          </a:solidFill>
          <a:ln w="12700">
            <a:solidFill>
              <a:srgbClr val="3D2B8E">
                <a:alpha val="2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7315200" y="0"/>
            <a:ext cx="1828800" cy="5143500"/>
          </a:xfrm>
          <a:prstGeom prst="rect">
            <a:avLst/>
          </a:prstGeom>
          <a:solidFill>
            <a:srgbClr val="6B4FBB">
              <a:alpha val="18000"/>
            </a:srgbClr>
          </a:solidFill>
          <a:ln w="12700">
            <a:solidFill>
              <a:srgbClr val="6B4FBB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1691640"/>
            <a:ext cx="164592" cy="1737360"/>
          </a:xfrm>
          <a:prstGeom prst="rect">
            <a:avLst/>
          </a:prstGeom>
          <a:solidFill>
            <a:srgbClr val="4CC9A4"/>
          </a:solidFill>
          <a:ln w="12700">
            <a:solidFill>
              <a:srgbClr val="4CC9A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29184" y="868680"/>
            <a:ext cx="6583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Introduction to Ren'Py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329184" y="1901952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4CC9A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Game Engine Basics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2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91440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kern="0" spc="200" dirty="0">
                <a:solidFill>
                  <a:srgbClr val="8A859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STEM THROUGH GAMES  ·  DAY 4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3291840" cy="5143500"/>
          </a:xfrm>
          <a:prstGeom prst="rect">
            <a:avLst/>
          </a:prstGeom>
          <a:solidFill>
            <a:srgbClr val="1A1333"/>
          </a:solidFill>
          <a:ln w="12700">
            <a:solidFill>
              <a:srgbClr val="1A1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146304" cy="5143500"/>
          </a:xfrm>
          <a:prstGeom prst="rect">
            <a:avLst/>
          </a:prstGeom>
          <a:solidFill>
            <a:srgbClr val="4CC9A4"/>
          </a:solidFill>
          <a:ln w="12700">
            <a:solidFill>
              <a:srgbClr val="4CC9A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56032" y="475488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300" dirty="0">
                <a:solidFill>
                  <a:srgbClr val="4CC9A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WARM-UP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256032" y="822960"/>
            <a:ext cx="2834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0–8</a:t>
            </a:r>
            <a:r>
              <a:rPr lang="en-US" sz="3200" dirty="0"/>
              <a:t> </a:t>
            </a: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min</a:t>
            </a:r>
            <a:endParaRPr lang="en-US" sz="3200" dirty="0"/>
          </a:p>
        </p:txBody>
      </p:sp>
      <p:sp>
        <p:nvSpPr>
          <p:cNvPr id="9" name="Text 6"/>
          <p:cNvSpPr/>
          <p:nvPr/>
        </p:nvSpPr>
        <p:spPr>
          <a:xfrm>
            <a:off x="3611880" y="475488"/>
            <a:ext cx="521208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13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makes a game</a:t>
            </a:r>
            <a:endParaRPr lang="en-US" sz="2200" dirty="0"/>
          </a:p>
          <a:p>
            <a:pPr marL="0" indent="0">
              <a:buNone/>
            </a:pPr>
            <a:r>
              <a:rPr lang="en-US" sz="2200" b="1" dirty="0">
                <a:solidFill>
                  <a:srgbClr val="1A13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different from a story?</a:t>
            </a:r>
            <a:endParaRPr lang="en-US" sz="2200" dirty="0"/>
          </a:p>
        </p:txBody>
      </p:sp>
      <p:sp>
        <p:nvSpPr>
          <p:cNvPr id="10" name="Shape 7"/>
          <p:cNvSpPr/>
          <p:nvPr/>
        </p:nvSpPr>
        <p:spPr>
          <a:xfrm>
            <a:off x="3611880" y="1417320"/>
            <a:ext cx="5212080" cy="1207008"/>
          </a:xfrm>
          <a:prstGeom prst="rect">
            <a:avLst/>
          </a:prstGeom>
          <a:solidFill>
            <a:srgbClr val="E8E5F4"/>
          </a:solidFill>
          <a:ln w="12700">
            <a:solidFill>
              <a:srgbClr val="E8E5F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3611880" y="1417320"/>
            <a:ext cx="73152" cy="1207008"/>
          </a:xfrm>
          <a:prstGeom prst="rect">
            <a:avLst/>
          </a:prstGeom>
          <a:solidFill>
            <a:srgbClr val="6B4FBB"/>
          </a:solidFill>
          <a:ln w="12700">
            <a:solidFill>
              <a:srgbClr val="6B4FB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3822192" y="1481328"/>
            <a:ext cx="4846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6B4FB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Journal Prompt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3822192" y="1755648"/>
            <a:ext cx="484632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1A13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"Think of your favorite story — book, movie, or game. What would change if you could control what happens next?"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3611880" y="2834640"/>
            <a:ext cx="347472" cy="347472"/>
          </a:xfrm>
          <a:prstGeom prst="ellipse">
            <a:avLst/>
          </a:prstGeom>
          <a:solidFill>
            <a:srgbClr val="4CC9A4"/>
          </a:solidFill>
          <a:ln w="12700">
            <a:solidFill>
              <a:srgbClr val="4CC9A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3611880" y="28346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13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4059936" y="2816352"/>
            <a:ext cx="4709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3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Write 2–3 sentences in your journal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3611880" y="3383280"/>
            <a:ext cx="347472" cy="347472"/>
          </a:xfrm>
          <a:prstGeom prst="ellipse">
            <a:avLst/>
          </a:prstGeom>
          <a:solidFill>
            <a:srgbClr val="4CC9A4"/>
          </a:solidFill>
          <a:ln w="12700">
            <a:solidFill>
              <a:srgbClr val="4CC9A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3611880" y="33832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13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4059936" y="3364992"/>
            <a:ext cx="4709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3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Pair-share with a neighbor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3611880" y="3931920"/>
            <a:ext cx="347472" cy="347472"/>
          </a:xfrm>
          <a:prstGeom prst="ellipse">
            <a:avLst/>
          </a:prstGeom>
          <a:solidFill>
            <a:srgbClr val="4CC9A4"/>
          </a:solidFill>
          <a:ln w="12700">
            <a:solidFill>
              <a:srgbClr val="4CC9A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3611880" y="393192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13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4059936" y="3913632"/>
            <a:ext cx="4709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3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Class share-out (2–3 volunteers)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2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457200" y="347472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3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is Ren'Py?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2633472" cy="2999232"/>
          </a:xfrm>
          <a:prstGeom prst="rect">
            <a:avLst/>
          </a:prstGeom>
          <a:solidFill>
            <a:srgbClr val="1A1333"/>
          </a:solidFill>
          <a:ln w="12700">
            <a:solidFill>
              <a:srgbClr val="1A1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57200" y="1051560"/>
            <a:ext cx="2633472" cy="64008"/>
          </a:xfrm>
          <a:prstGeom prst="rect">
            <a:avLst/>
          </a:prstGeom>
          <a:solidFill>
            <a:srgbClr val="3D2B8E"/>
          </a:solidFill>
          <a:ln w="12700">
            <a:solidFill>
              <a:srgbClr val="3D2B8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417320" y="1261872"/>
            <a:ext cx="713232" cy="713232"/>
          </a:xfrm>
          <a:prstGeom prst="ellipse">
            <a:avLst/>
          </a:prstGeom>
          <a:solidFill>
            <a:srgbClr val="3D2B8E">
              <a:alpha val="68000"/>
            </a:srgbClr>
          </a:solidFill>
          <a:ln w="12700">
            <a:solidFill>
              <a:srgbClr val="3D2B8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603504" y="2121408"/>
            <a:ext cx="234086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Free &amp; Open Source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603504" y="2651760"/>
            <a:ext cx="2340864" cy="12070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8A9E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Download at renpy.org — runs on Windows, Mac, and Linux. No cost, no sign-up required.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3264408" y="1051560"/>
            <a:ext cx="2633472" cy="2999232"/>
          </a:xfrm>
          <a:prstGeom prst="rect">
            <a:avLst/>
          </a:prstGeom>
          <a:solidFill>
            <a:srgbClr val="1A1333"/>
          </a:solidFill>
          <a:ln w="12700">
            <a:solidFill>
              <a:srgbClr val="1A1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3264408" y="1051560"/>
            <a:ext cx="2633472" cy="64008"/>
          </a:xfrm>
          <a:prstGeom prst="rect">
            <a:avLst/>
          </a:prstGeom>
          <a:solidFill>
            <a:srgbClr val="6B4FBB"/>
          </a:solidFill>
          <a:ln w="12700">
            <a:solidFill>
              <a:srgbClr val="6B4FB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4224528" y="1261872"/>
            <a:ext cx="713232" cy="713232"/>
          </a:xfrm>
          <a:prstGeom prst="ellipse">
            <a:avLst/>
          </a:prstGeom>
          <a:solidFill>
            <a:srgbClr val="6B4FBB">
              <a:alpha val="68000"/>
            </a:srgbClr>
          </a:solidFill>
          <a:ln w="12700">
            <a:solidFill>
              <a:srgbClr val="6B4FB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1"/>
          <p:cNvSpPr/>
          <p:nvPr/>
        </p:nvSpPr>
        <p:spPr>
          <a:xfrm>
            <a:off x="3410712" y="2121408"/>
            <a:ext cx="234086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Script-Based Engine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3410712" y="2651760"/>
            <a:ext cx="2340864" cy="12070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8A9E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You write .rpy files — plain text that tells the engine what to show and say.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6071616" y="1051560"/>
            <a:ext cx="2633472" cy="2999232"/>
          </a:xfrm>
          <a:prstGeom prst="rect">
            <a:avLst/>
          </a:prstGeom>
          <a:solidFill>
            <a:srgbClr val="1A1333"/>
          </a:solidFill>
          <a:ln w="12700">
            <a:solidFill>
              <a:srgbClr val="1A1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4"/>
          <p:cNvSpPr/>
          <p:nvPr/>
        </p:nvSpPr>
        <p:spPr>
          <a:xfrm>
            <a:off x="6071616" y="1051560"/>
            <a:ext cx="2633472" cy="64008"/>
          </a:xfrm>
          <a:prstGeom prst="rect">
            <a:avLst/>
          </a:prstGeom>
          <a:solidFill>
            <a:srgbClr val="2A8A70"/>
          </a:solidFill>
          <a:ln w="12700">
            <a:solidFill>
              <a:srgbClr val="2A8A7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68896" y="1399032"/>
            <a:ext cx="420624" cy="420624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6217920" y="2121408"/>
            <a:ext cx="234086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Built for Stories</a:t>
            </a:r>
            <a:endParaRPr lang="en-US" sz="1300" dirty="0"/>
          </a:p>
        </p:txBody>
      </p:sp>
      <p:sp>
        <p:nvSpPr>
          <p:cNvPr id="22" name="Text 17"/>
          <p:cNvSpPr/>
          <p:nvPr/>
        </p:nvSpPr>
        <p:spPr>
          <a:xfrm>
            <a:off x="6217920" y="2651760"/>
            <a:ext cx="2340864" cy="12070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8A9E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Used worldwide for visual novels. Professional games ship with it every year.</a:t>
            </a:r>
            <a:endParaRPr lang="en-US" sz="1100" dirty="0"/>
          </a:p>
        </p:txBody>
      </p:sp>
      <p:sp>
        <p:nvSpPr>
          <p:cNvPr id="23" name="Text 18"/>
          <p:cNvSpPr/>
          <p:nvPr/>
        </p:nvSpPr>
        <p:spPr>
          <a:xfrm>
            <a:off x="457200" y="4206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8A859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Used by indie developers and students around the world — totally free, forever.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2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457200" y="347472"/>
            <a:ext cx="5943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3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Project Structure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384048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kern="0" spc="100" dirty="0">
                <a:solidFill>
                  <a:srgbClr val="6B4FB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DIRECT INSTRUCTION  ·  8–20 MIN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024128"/>
            <a:ext cx="3794760" cy="32461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94360" y="1078992"/>
            <a:ext cx="3520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kern="0" spc="200" dirty="0">
                <a:solidFill>
                  <a:srgbClr val="8A859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PROJECT FOLDER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621792" y="1426464"/>
            <a:ext cx="349300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4CC9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MyGame/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621792" y="1810512"/>
            <a:ext cx="349300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B8A9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├─ game/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621792" y="2194560"/>
            <a:ext cx="349300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EE7B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│   ├─ script.rpy  ← THE BRAIN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21792" y="2578608"/>
            <a:ext cx="349300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B8A9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│   ├─ images/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621792" y="2962656"/>
            <a:ext cx="349300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B8A9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│   ├─ audio/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621792" y="3346704"/>
            <a:ext cx="349300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8A859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├─ renpy/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4480560" y="1024128"/>
            <a:ext cx="4206240" cy="950976"/>
          </a:xfrm>
          <a:prstGeom prst="rect">
            <a:avLst/>
          </a:prstGeom>
          <a:solidFill>
            <a:srgbClr val="E8E5F4"/>
          </a:solidFill>
          <a:ln w="12700">
            <a:solidFill>
              <a:srgbClr val="E8E5F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4480560" y="1024128"/>
            <a:ext cx="64008" cy="950976"/>
          </a:xfrm>
          <a:prstGeom prst="rect">
            <a:avLst/>
          </a:prstGeom>
          <a:solidFill>
            <a:srgbClr val="4CC9A4"/>
          </a:solidFill>
          <a:ln w="12700">
            <a:solidFill>
              <a:srgbClr val="4CC9A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663440" y="1115568"/>
            <a:ext cx="3886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script.rpy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663440" y="1426464"/>
            <a:ext cx="3886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859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Every line of dialogue, every scene change lives here. This is the file you'll edit.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480560" y="2112264"/>
            <a:ext cx="4206240" cy="950976"/>
          </a:xfrm>
          <a:prstGeom prst="rect">
            <a:avLst/>
          </a:prstGeom>
          <a:solidFill>
            <a:srgbClr val="E8E5F4"/>
          </a:solidFill>
          <a:ln w="12700">
            <a:solidFill>
              <a:srgbClr val="E8E5F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4480560" y="2112264"/>
            <a:ext cx="64008" cy="950976"/>
          </a:xfrm>
          <a:prstGeom prst="rect">
            <a:avLst/>
          </a:prstGeom>
          <a:solidFill>
            <a:srgbClr val="6B4FBB"/>
          </a:solidFill>
          <a:ln w="12700">
            <a:solidFill>
              <a:srgbClr val="6B4FB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663440" y="2203704"/>
            <a:ext cx="3886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.rpy files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663440" y="2514600"/>
            <a:ext cx="3886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859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Plain text — open in any editor. Ren'Py reads them when you launch.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480560" y="3200400"/>
            <a:ext cx="4206240" cy="950976"/>
          </a:xfrm>
          <a:prstGeom prst="rect">
            <a:avLst/>
          </a:prstGeom>
          <a:solidFill>
            <a:srgbClr val="E8E5F4"/>
          </a:solidFill>
          <a:ln w="12700">
            <a:solidFill>
              <a:srgbClr val="E8E5F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4480560" y="3200400"/>
            <a:ext cx="64008" cy="950976"/>
          </a:xfrm>
          <a:prstGeom prst="rect">
            <a:avLst/>
          </a:prstGeom>
          <a:solidFill>
            <a:srgbClr val="B8A9E8"/>
          </a:solidFill>
          <a:ln w="12700">
            <a:solidFill>
              <a:srgbClr val="B8A9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663440" y="3291840"/>
            <a:ext cx="3886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game/ folder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663440" y="3602736"/>
            <a:ext cx="3886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859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Put your images and audio here. Ren'Py looks inside automatically.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3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457200" y="27432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Your First Script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310896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kern="0" spc="100" dirty="0">
                <a:solidFill>
                  <a:srgbClr val="4CC9A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MAIN ACTIVITY  ·  20–45 MIN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969264"/>
            <a:ext cx="5166360" cy="2788920"/>
          </a:xfrm>
          <a:prstGeom prst="rect">
            <a:avLst/>
          </a:prstGeom>
          <a:solidFill>
            <a:srgbClr val="111827"/>
          </a:solidFill>
          <a:ln w="12700">
            <a:solidFill>
              <a:srgbClr val="2D2D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57200" y="969264"/>
            <a:ext cx="5166360" cy="274320"/>
          </a:xfrm>
          <a:prstGeom prst="rect">
            <a:avLst/>
          </a:prstGeom>
          <a:solidFill>
            <a:srgbClr val="252525"/>
          </a:solidFill>
          <a:ln w="12700">
            <a:solidFill>
              <a:srgbClr val="25252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94360" y="996696"/>
            <a:ext cx="2743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859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script.rpy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21792" y="1325880"/>
            <a:ext cx="47548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game/script.rpy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21792" y="1664208"/>
            <a:ext cx="47548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label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start: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21792" y="1993392"/>
            <a:ext cx="47548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EE7B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"Hello, world!"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21792" y="2322576"/>
            <a:ext cx="47548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EE7B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"I just made my first Ren'Py game."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21792" y="2651760"/>
            <a:ext cx="47548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400" b="1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806440" y="969264"/>
            <a:ext cx="2880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CC9A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Step by step: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806440" y="1417320"/>
            <a:ext cx="320040" cy="320040"/>
          </a:xfrm>
          <a:prstGeom prst="ellipse">
            <a:avLst/>
          </a:prstGeom>
          <a:solidFill>
            <a:srgbClr val="6B4FBB"/>
          </a:solidFill>
          <a:ln w="12700">
            <a:solidFill>
              <a:srgbClr val="6B4FB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806440" y="141732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236208" y="1408176"/>
            <a:ext cx="24505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8A9E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Create new project in launcher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806440" y="1874520"/>
            <a:ext cx="320040" cy="320040"/>
          </a:xfrm>
          <a:prstGeom prst="ellipse">
            <a:avLst/>
          </a:prstGeom>
          <a:solidFill>
            <a:srgbClr val="6B4FBB"/>
          </a:solidFill>
          <a:ln w="12700">
            <a:solidFill>
              <a:srgbClr val="6B4FB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806440" y="187452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236208" y="1865376"/>
            <a:ext cx="24505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8A9E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Open game/script.rpy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806440" y="2331720"/>
            <a:ext cx="320040" cy="320040"/>
          </a:xfrm>
          <a:prstGeom prst="ellipse">
            <a:avLst/>
          </a:prstGeom>
          <a:solidFill>
            <a:srgbClr val="6B4FBB"/>
          </a:solidFill>
          <a:ln w="12700">
            <a:solidFill>
              <a:srgbClr val="6B4FB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806440" y="233172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236208" y="2322576"/>
            <a:ext cx="24505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8A9E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Delete defaults, type the code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806440" y="2788920"/>
            <a:ext cx="320040" cy="320040"/>
          </a:xfrm>
          <a:prstGeom prst="ellipse">
            <a:avLst/>
          </a:prstGeom>
          <a:solidFill>
            <a:srgbClr val="6B4FBB"/>
          </a:solidFill>
          <a:ln w="12700">
            <a:solidFill>
              <a:srgbClr val="6B4FB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5806440" y="278892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236208" y="2779776"/>
            <a:ext cx="24505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8A9E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Save &amp; click Launch Project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5806440" y="3246120"/>
            <a:ext cx="320040" cy="320040"/>
          </a:xfrm>
          <a:prstGeom prst="ellipse">
            <a:avLst/>
          </a:prstGeom>
          <a:solidFill>
            <a:srgbClr val="6B4FBB"/>
          </a:solidFill>
          <a:ln w="12700">
            <a:solidFill>
              <a:srgbClr val="6B4FB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5806440" y="324612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236208" y="3236976"/>
            <a:ext cx="24505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8A9E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Click through — celebrate!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457200" y="3895344"/>
            <a:ext cx="8229600" cy="713232"/>
          </a:xfrm>
          <a:prstGeom prst="rect">
            <a:avLst/>
          </a:prstGeom>
          <a:solidFill>
            <a:srgbClr val="2A8A70">
              <a:alpha val="38000"/>
            </a:srgbClr>
          </a:solidFill>
          <a:ln w="12700">
            <a:solidFill>
              <a:srgbClr val="4CC9A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29"/>
          <p:cNvSpPr/>
          <p:nvPr/>
        </p:nvSpPr>
        <p:spPr>
          <a:xfrm>
            <a:off x="524786" y="3931920"/>
            <a:ext cx="7960846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Try it: change the text, add a third line, or use your own name as the speaker!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2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457200" y="347472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3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Vocabulary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078992"/>
            <a:ext cx="4114800" cy="1536192"/>
          </a:xfrm>
          <a:prstGeom prst="rect">
            <a:avLst/>
          </a:prstGeom>
          <a:solidFill>
            <a:srgbClr val="1A1333"/>
          </a:solidFill>
          <a:ln w="12700">
            <a:solidFill>
              <a:srgbClr val="1A1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57200" y="1078992"/>
            <a:ext cx="4114800" cy="64008"/>
          </a:xfrm>
          <a:prstGeom prst="rect">
            <a:avLst/>
          </a:prstGeom>
          <a:solidFill>
            <a:srgbClr val="6B4FBB"/>
          </a:solidFill>
          <a:ln w="12700">
            <a:solidFill>
              <a:srgbClr val="6B4FB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21792" y="1207008"/>
            <a:ext cx="378561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6B4FB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label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621792" y="1609344"/>
            <a:ext cx="3785616" cy="8778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B8A9E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Marks the start of a section. label start: is where every Ren'Py game begins.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809744" y="1078992"/>
            <a:ext cx="4114800" cy="1536192"/>
          </a:xfrm>
          <a:prstGeom prst="rect">
            <a:avLst/>
          </a:prstGeom>
          <a:solidFill>
            <a:srgbClr val="1A1333"/>
          </a:solidFill>
          <a:ln w="12700">
            <a:solidFill>
              <a:srgbClr val="1A1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809744" y="1078992"/>
            <a:ext cx="4114800" cy="64008"/>
          </a:xfrm>
          <a:prstGeom prst="rect">
            <a:avLst/>
          </a:prstGeom>
          <a:solidFill>
            <a:srgbClr val="4CC9A4"/>
          </a:solidFill>
          <a:ln w="12700">
            <a:solidFill>
              <a:srgbClr val="4CC9A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974336" y="1207008"/>
            <a:ext cx="378561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4CC9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4974336" y="1609344"/>
            <a:ext cx="3785616" cy="8778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B8A9E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Ends the current section. Every label block needs one to close properly.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57200" y="2779776"/>
            <a:ext cx="4114800" cy="1536192"/>
          </a:xfrm>
          <a:prstGeom prst="rect">
            <a:avLst/>
          </a:prstGeom>
          <a:solidFill>
            <a:srgbClr val="1A1333"/>
          </a:solidFill>
          <a:ln w="12700">
            <a:solidFill>
              <a:srgbClr val="1A1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57200" y="2779776"/>
            <a:ext cx="4114800" cy="64008"/>
          </a:xfrm>
          <a:prstGeom prst="rect">
            <a:avLst/>
          </a:prstGeom>
          <a:solidFill>
            <a:srgbClr val="B8A9E8"/>
          </a:solidFill>
          <a:ln w="12700">
            <a:solidFill>
              <a:srgbClr val="B8A9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21792" y="2907792"/>
            <a:ext cx="378561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B8A9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indentation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621792" y="3310128"/>
            <a:ext cx="3785616" cy="8778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B8A9E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Lines inside a label need 4 spaces of indent. The computer uses spacing to group lines.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809744" y="2779776"/>
            <a:ext cx="4114800" cy="1536192"/>
          </a:xfrm>
          <a:prstGeom prst="rect">
            <a:avLst/>
          </a:prstGeom>
          <a:solidFill>
            <a:srgbClr val="1A1333"/>
          </a:solidFill>
          <a:ln w="12700">
            <a:solidFill>
              <a:srgbClr val="1A1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4809744" y="2779776"/>
            <a:ext cx="4114800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974336" y="2907792"/>
            <a:ext cx="378561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.rpy file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4974336" y="3310128"/>
            <a:ext cx="3785616" cy="8778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B8A9E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plain-text script file Ren'Py reads. Open it in any code editor.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2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457200" y="347472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3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Watch Out For These!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3840480" cy="2651760"/>
          </a:xfrm>
          <a:prstGeom prst="rect">
            <a:avLst/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57200" y="1051560"/>
            <a:ext cx="3840480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621792" y="1170432"/>
            <a:ext cx="354787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Missing colon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621792" y="1627632"/>
            <a:ext cx="3547872" cy="1255678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749808" y="1664208"/>
            <a:ext cx="3291840" cy="108127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label start</a:t>
            </a:r>
            <a:r>
              <a:rPr lang="en-US" sz="1200" dirty="0">
                <a:solidFill>
                  <a:srgbClr val="FF6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← WRONG</a:t>
            </a:r>
            <a:r>
              <a:rPr lang="en-US" sz="12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label start:</a:t>
            </a:r>
            <a:r>
              <a:rPr lang="en-US" sz="1200" dirty="0">
                <a:solidFill>
                  <a:srgbClr val="6EE7B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← CORRECT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621792" y="2935224"/>
            <a:ext cx="35478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8350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colon tells Ren'Py a block is starting. Without it you'll get a syntax error.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846320" y="1051560"/>
            <a:ext cx="3840480" cy="2651760"/>
          </a:xfrm>
          <a:prstGeom prst="rect">
            <a:avLst/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4846320" y="1051560"/>
            <a:ext cx="3840480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1"/>
          <p:cNvSpPr/>
          <p:nvPr/>
        </p:nvSpPr>
        <p:spPr>
          <a:xfrm>
            <a:off x="5010912" y="1170432"/>
            <a:ext cx="354787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Wrong indentation</a:t>
            </a:r>
            <a:endParaRPr lang="en-US" sz="1400" dirty="0"/>
          </a:p>
        </p:txBody>
      </p:sp>
      <p:sp>
        <p:nvSpPr>
          <p:cNvPr id="16" name="Shape 12"/>
          <p:cNvSpPr/>
          <p:nvPr/>
        </p:nvSpPr>
        <p:spPr>
          <a:xfrm>
            <a:off x="5010912" y="1627632"/>
            <a:ext cx="3547872" cy="1218938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3"/>
          <p:cNvSpPr/>
          <p:nvPr/>
        </p:nvSpPr>
        <p:spPr>
          <a:xfrm>
            <a:off x="5138928" y="1664208"/>
            <a:ext cx="3291840" cy="108127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label start:
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FF6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"Hello"  ← no indent
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6EE7B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"Hello"  ← correct</a:t>
            </a:r>
            <a:endParaRPr lang="en-US" sz="1150" dirty="0"/>
          </a:p>
        </p:txBody>
      </p:sp>
      <p:sp>
        <p:nvSpPr>
          <p:cNvPr id="18" name="Text 14"/>
          <p:cNvSpPr/>
          <p:nvPr/>
        </p:nvSpPr>
        <p:spPr>
          <a:xfrm>
            <a:off x="5010912" y="2977765"/>
            <a:ext cx="3547872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8350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Lines inside a label must have exactly 4 spaces. Tabs may not work the same way!</a:t>
            </a:r>
            <a:endParaRPr lang="en-US" sz="1100" dirty="0"/>
          </a:p>
        </p:txBody>
      </p:sp>
      <p:sp>
        <p:nvSpPr>
          <p:cNvPr id="19" name="Shape 15"/>
          <p:cNvSpPr/>
          <p:nvPr/>
        </p:nvSpPr>
        <p:spPr>
          <a:xfrm>
            <a:off x="457200" y="3858768"/>
            <a:ext cx="8229600" cy="749808"/>
          </a:xfrm>
          <a:prstGeom prst="rect">
            <a:avLst/>
          </a:prstGeom>
          <a:solidFill>
            <a:srgbClr val="E8E5F4"/>
          </a:solidFill>
          <a:ln w="12700">
            <a:solidFill>
              <a:srgbClr val="E8E5F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6"/>
          <p:cNvSpPr/>
          <p:nvPr/>
        </p:nvSpPr>
        <p:spPr>
          <a:xfrm>
            <a:off x="564543" y="3913632"/>
            <a:ext cx="7921089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3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Tip</a:t>
            </a:r>
            <a:r>
              <a:rPr lang="en-US" sz="1200" dirty="0">
                <a:solidFill>
                  <a:srgbClr val="1A13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: Read the error message carefully — Ren'Py usually tells you exactly which line has the problem.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2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457200" y="347472"/>
            <a:ext cx="3950208" cy="4462272"/>
          </a:xfrm>
          <a:prstGeom prst="rect">
            <a:avLst/>
          </a:prstGeom>
          <a:solidFill>
            <a:srgbClr val="1A1333"/>
          </a:solidFill>
          <a:ln w="12700">
            <a:solidFill>
              <a:srgbClr val="1A1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347472"/>
            <a:ext cx="3950208" cy="64008"/>
          </a:xfrm>
          <a:prstGeom prst="rect">
            <a:avLst/>
          </a:prstGeom>
          <a:solidFill>
            <a:srgbClr val="4CC9A4"/>
          </a:solidFill>
          <a:ln w="12700">
            <a:solidFill>
              <a:srgbClr val="4CC9A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21792" y="457200"/>
            <a:ext cx="3621024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4CC9A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EXTENSION  ·  45–55 MIN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21792" y="768096"/>
            <a:ext cx="362102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Named Characters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66928" y="1280160"/>
            <a:ext cx="3730752" cy="1920240"/>
          </a:xfrm>
          <a:prstGeom prst="rect">
            <a:avLst/>
          </a:prstGeom>
          <a:solidFill>
            <a:srgbClr val="111827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94944" y="1389888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define </a:t>
            </a: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 = Character(</a:t>
            </a:r>
            <a:r>
              <a:rPr lang="en-US" sz="1300" dirty="0">
                <a:solidFill>
                  <a:srgbClr val="6EE7B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"Emi"</a:t>
            </a: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94944" y="1737360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label </a:t>
            </a: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start: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94944" y="2066544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 </a:t>
            </a:r>
            <a:r>
              <a:rPr lang="en-US" sz="1300" dirty="0">
                <a:solidFill>
                  <a:srgbClr val="6EE7B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"Hi! I'm Emi."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94944" y="2395728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300" b="1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21792" y="3337560"/>
            <a:ext cx="36576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8A9E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define keyword creates a named character. Their name will appear in the dialogue box!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4736592" y="347472"/>
            <a:ext cx="3950208" cy="4462272"/>
          </a:xfrm>
          <a:prstGeom prst="rect">
            <a:avLst/>
          </a:prstGeom>
          <a:solidFill>
            <a:srgbClr val="E8E5F4"/>
          </a:solidFill>
          <a:ln w="12700">
            <a:solidFill>
              <a:srgbClr val="E8E5F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4"/>
          <p:cNvSpPr/>
          <p:nvPr/>
        </p:nvSpPr>
        <p:spPr>
          <a:xfrm>
            <a:off x="4736592" y="347472"/>
            <a:ext cx="3950208" cy="64008"/>
          </a:xfrm>
          <a:prstGeom prst="rect">
            <a:avLst/>
          </a:prstGeom>
          <a:solidFill>
            <a:srgbClr val="6B4FBB"/>
          </a:solidFill>
          <a:ln w="12700">
            <a:solidFill>
              <a:srgbClr val="6B4FB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4901184" y="457200"/>
            <a:ext cx="3621024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6B4FB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REFLECTION  ·  55–75 MIN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4901184" y="768096"/>
            <a:ext cx="362102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3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Journal Prompts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4901184" y="1316736"/>
            <a:ext cx="329184" cy="329184"/>
          </a:xfrm>
          <a:prstGeom prst="ellipse">
            <a:avLst/>
          </a:prstGeom>
          <a:solidFill>
            <a:srgbClr val="6B4FBB"/>
          </a:solidFill>
          <a:ln w="12700">
            <a:solidFill>
              <a:srgbClr val="6B4FB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4901184" y="131673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5358384" y="1298448"/>
            <a:ext cx="3182112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3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is a Ren'Py script different from writing in a notebook? What rules does the computer need?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4901184" y="2468880"/>
            <a:ext cx="329184" cy="329184"/>
          </a:xfrm>
          <a:prstGeom prst="ellipse">
            <a:avLst/>
          </a:prstGeom>
          <a:solidFill>
            <a:srgbClr val="6B4FBB"/>
          </a:solidFill>
          <a:ln w="12700">
            <a:solidFill>
              <a:srgbClr val="6B4FB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4901184" y="24688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5358384" y="2450592"/>
            <a:ext cx="3182112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3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happened when you made a mistake? How did you figure out what went wrong?</a:t>
            </a:r>
            <a:endParaRPr lang="en-US" sz="1150" dirty="0"/>
          </a:p>
        </p:txBody>
      </p:sp>
      <p:sp>
        <p:nvSpPr>
          <p:cNvPr id="26" name="Shape 23"/>
          <p:cNvSpPr/>
          <p:nvPr/>
        </p:nvSpPr>
        <p:spPr>
          <a:xfrm>
            <a:off x="4901184" y="3621024"/>
            <a:ext cx="329184" cy="329184"/>
          </a:xfrm>
          <a:prstGeom prst="ellipse">
            <a:avLst/>
          </a:prstGeom>
          <a:solidFill>
            <a:srgbClr val="6B4FBB"/>
          </a:solidFill>
          <a:ln w="12700">
            <a:solidFill>
              <a:srgbClr val="6B4FB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4"/>
          <p:cNvSpPr/>
          <p:nvPr/>
        </p:nvSpPr>
        <p:spPr>
          <a:xfrm>
            <a:off x="4901184" y="362102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5358384" y="3602736"/>
            <a:ext cx="3182112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3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kind of story do you want to build in Ren'Py? Describe one scene.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3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949440" y="0"/>
            <a:ext cx="2194560" cy="5143500"/>
          </a:xfrm>
          <a:prstGeom prst="rect">
            <a:avLst/>
          </a:prstGeom>
          <a:solidFill>
            <a:srgbClr val="3D2B8E">
              <a:alpha val="22000"/>
            </a:srgbClr>
          </a:solidFill>
          <a:ln w="12700">
            <a:solidFill>
              <a:srgbClr val="3D2B8E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4CC9A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Great work today!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896112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B8A9E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You accomplished all of this:</a:t>
            </a:r>
            <a:endParaRPr lang="en-US" sz="15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389888"/>
            <a:ext cx="310896" cy="31089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14400" y="1371600"/>
            <a:ext cx="6217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Opened Ren'Py and explored the project folder structure</a:t>
            </a:r>
            <a:endParaRPr lang="en-US" sz="14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883664"/>
            <a:ext cx="310896" cy="310896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914400" y="1865376"/>
            <a:ext cx="6217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Wrote your first label start: script block</a:t>
            </a:r>
            <a:endParaRPr lang="en-US" sz="14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377440"/>
            <a:ext cx="310896" cy="310896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914400" y="2359152"/>
            <a:ext cx="6217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Launched a real game and clicked through dialogue</a:t>
            </a:r>
            <a:endParaRPr lang="en-US" sz="140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871216"/>
            <a:ext cx="310896" cy="310896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914400" y="2852928"/>
            <a:ext cx="6217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Read error messages and fixed bugs</a:t>
            </a:r>
            <a:endParaRPr lang="en-US" sz="1400" dirty="0"/>
          </a:p>
        </p:txBody>
      </p:sp>
      <p:sp>
        <p:nvSpPr>
          <p:cNvPr id="13" name="Shape 7"/>
          <p:cNvSpPr/>
          <p:nvPr/>
        </p:nvSpPr>
        <p:spPr>
          <a:xfrm>
            <a:off x="457200" y="3401568"/>
            <a:ext cx="8229600" cy="713232"/>
          </a:xfrm>
          <a:prstGeom prst="rect">
            <a:avLst/>
          </a:prstGeom>
          <a:solidFill>
            <a:srgbClr val="6B4FBB">
              <a:alpha val="38000"/>
            </a:srgbClr>
          </a:solidFill>
          <a:ln w="12700">
            <a:solidFill>
              <a:srgbClr val="6B4FB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8"/>
          <p:cNvSpPr/>
          <p:nvPr/>
        </p:nvSpPr>
        <p:spPr>
          <a:xfrm>
            <a:off x="603504" y="3438144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Exit ticket: Show your running game to the teacher before you leave!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667</Words>
  <Application>Microsoft Macintosh PowerPoint</Application>
  <PresentationFormat>On-screen Show (16:9)</PresentationFormat>
  <Paragraphs>109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Consolas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Day 4 – Introduction to Ren'Py</dc:title>
  <dc:subject>PptxGenJS Presentation</dc:subject>
  <dc:creator>PptxGenJS</dc:creator>
  <cp:lastModifiedBy>Babichenko, Dmitriy</cp:lastModifiedBy>
  <cp:revision>7</cp:revision>
  <dcterms:created xsi:type="dcterms:W3CDTF">2026-05-20T16:29:46Z</dcterms:created>
  <dcterms:modified xsi:type="dcterms:W3CDTF">2026-07-13T14:27:24Z</dcterms:modified>
</cp:coreProperties>
</file>