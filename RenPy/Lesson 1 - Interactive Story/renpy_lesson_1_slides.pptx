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6239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3657600"/>
          </a:xfrm>
          <a:prstGeom prst="ellipse">
            <a:avLst/>
          </a:prstGeom>
          <a:solidFill>
            <a:srgbClr val="2D1457">
              <a:alpha val="60000"/>
            </a:srgbClr>
          </a:solidFill>
          <a:ln w="12700">
            <a:solidFill>
              <a:srgbClr val="2D14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2D1457"/>
          </a:solidFill>
          <a:ln w="12700">
            <a:solidFill>
              <a:srgbClr val="2D14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82880" y="-182880"/>
            <a:ext cx="1097280" cy="1097280"/>
          </a:xfrm>
          <a:prstGeom prst="ellipse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 THROUGH GAMES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an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Story?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Narrative Thinking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 School  ·  Introduction to RenPy  ·  50–60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end of today, you will be able to…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31462" y="1472184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what an interactive story is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20040" y="219456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2920" y="2350008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02920" y="23500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31462" y="2340864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books, films, and games as storytelling formats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20040" y="306324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2920" y="3218688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502920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31462" y="3209544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Recognize how player choice shapes a story's outcome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320040" y="3931920"/>
            <a:ext cx="85039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02920" y="4087368"/>
            <a:ext cx="402336" cy="40233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50292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31462" y="4078224"/>
            <a:ext cx="7040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Identify characters, choices, and outcomes in a visual novel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3657600"/>
          </a:xfrm>
          <a:prstGeom prst="ellipse">
            <a:avLst/>
          </a:prstGeom>
          <a:solidFill>
            <a:srgbClr val="2D1457">
              <a:alpha val="60000"/>
            </a:srgbClr>
          </a:solidFill>
          <a:ln w="12700">
            <a:solidFill>
              <a:srgbClr val="2D14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2286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228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 · 10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 You Ever Chosen Your Own Path?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8503920" cy="868680"/>
          </a:xfrm>
          <a:prstGeom prst="rect">
            <a:avLst/>
          </a:prstGeom>
          <a:solidFill>
            <a:srgbClr val="2D1457">
              <a:alpha val="80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1655064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a game you've played where YOUR choices changed what happened?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587752"/>
            <a:ext cx="8503920" cy="868680"/>
          </a:xfrm>
          <a:prstGeom prst="rect">
            <a:avLst/>
          </a:prstGeom>
          <a:solidFill>
            <a:srgbClr val="2D1457">
              <a:alpha val="80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2770632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2770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2734056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Has a game ever made you feel like you were the main character of a story?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666744"/>
            <a:ext cx="8503920" cy="868680"/>
          </a:xfrm>
          <a:prstGeom prst="rect">
            <a:avLst/>
          </a:prstGeom>
          <a:solidFill>
            <a:srgbClr val="2D1457">
              <a:alpha val="80000"/>
            </a:srgbClr>
          </a:solidFill>
          <a:ln w="190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02920" y="3849624"/>
            <a:ext cx="502920" cy="5029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849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43000" y="3813048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the difference between watching a movie and playing a game with a story?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Tip: Write responses on board in two columns — "Watching/Reading" vs. "Playing"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MINI-LESSON · 10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Is a Game Different From a Book?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574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09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3776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09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CONTROL…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09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109728" cy="658368"/>
          </a:xfrm>
          <a:prstGeom prst="rect">
            <a:avLst/>
          </a:prstGeom>
          <a:solidFill>
            <a:srgbClr val="7B6FA0"/>
          </a:solidFill>
          <a:ln w="12700">
            <a:solidFill>
              <a:srgbClr val="7B6F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9222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1810512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00600" y="181051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imagination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178040" y="1792224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E0D6F5"/>
          </a:solidFill>
          <a:ln w="12700">
            <a:solidFill>
              <a:srgbClr val="E0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78040" y="17922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2450592"/>
            <a:ext cx="8503920" cy="658368"/>
          </a:xfrm>
          <a:prstGeom prst="rect">
            <a:avLst/>
          </a:prstGeom>
          <a:solidFill>
            <a:srgbClr val="F4F0FD"/>
          </a:solidFill>
          <a:ln w="6350">
            <a:solidFill>
              <a:srgbClr val="E0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0040" y="2450592"/>
            <a:ext cx="109728" cy="658368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596896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51560" y="2615184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B5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Film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800600" y="26151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Nothing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178040" y="2596896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E0D6F5"/>
          </a:solidFill>
          <a:ln w="12700">
            <a:solidFill>
              <a:srgbClr val="E0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178040" y="25968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20040" y="3255264"/>
            <a:ext cx="8503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20040" y="3255264"/>
            <a:ext cx="109728" cy="658368"/>
          </a:xfrm>
          <a:prstGeom prst="rect">
            <a:avLst/>
          </a:prstGeom>
          <a:solidFill>
            <a:srgbClr val="00907A"/>
          </a:solidFill>
          <a:ln w="12700">
            <a:solidFill>
              <a:srgbClr val="00907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01568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51560" y="3419856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 Game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00600" y="341985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Actions &amp; choices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7178040" y="3401568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178040" y="34015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320040" y="4059936"/>
            <a:ext cx="8503920" cy="658368"/>
          </a:xfrm>
          <a:prstGeom prst="rect">
            <a:avLst/>
          </a:prstGeom>
          <a:solidFill>
            <a:srgbClr val="F4F0FD"/>
          </a:solidFill>
          <a:ln w="6350">
            <a:solidFill>
              <a:srgbClr val="E0D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320040" y="4059936"/>
            <a:ext cx="109728" cy="658368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206240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51560" y="4224528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Novel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4800600" y="422452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Dialogue &amp; paths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7178040" y="4206240"/>
            <a:ext cx="1280160" cy="347472"/>
          </a:xfrm>
          <a:prstGeom prst="roundRect">
            <a:avLst>
              <a:gd name="adj" fmla="val 26316"/>
            </a:avLst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7178040" y="42062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3657600"/>
          </a:xfrm>
          <a:prstGeom prst="ellipse">
            <a:avLst/>
          </a:prstGeom>
          <a:solidFill>
            <a:srgbClr val="2D1457">
              <a:alpha val="60000"/>
            </a:srgbClr>
          </a:solidFill>
          <a:ln w="12700">
            <a:solidFill>
              <a:srgbClr val="2D14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18288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82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to Know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206240" cy="141732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206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 Novel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1728216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interactive story told through text, images, and music — where you make choices that affect the plot.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834640"/>
            <a:ext cx="4206240" cy="141732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834640"/>
            <a:ext cx="4206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Branching Narrative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328416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story with multiple paths. Different choices lead to different events and endings.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4206240" cy="141732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4206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344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Dialogue Tree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92040" y="1728216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menu of conversation options the player can pick from.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206240" cy="141732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20624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9443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92040" y="3328416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 or consequence of a player's choice.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40" y="182880"/>
            <a:ext cx="2475626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82880"/>
            <a:ext cx="2550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ACTIVITY · 20–25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to Play!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114800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1298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A — Free Exploration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29844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10–12 min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visual novel demo on your device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through at least one full scene or branch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making a DIFFERENT choice on your second playthrough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Working in pairs? Take turns deciding!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54880" y="1298448"/>
            <a:ext cx="41148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298448"/>
            <a:ext cx="4114800" cy="56692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19472" y="12984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 B — Story Detective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0" y="129844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10–12 min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956816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up your Story Detective Worksheet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2 characters you met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down 2 choices you were given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Describe what happened AFTER each choice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3657600"/>
          </a:xfrm>
          <a:prstGeom prst="ellipse">
            <a:avLst/>
          </a:prstGeom>
          <a:solidFill>
            <a:srgbClr val="2D1457">
              <a:alpha val="60000"/>
            </a:srgbClr>
          </a:solidFill>
          <a:ln w="12700">
            <a:solidFill>
              <a:srgbClr val="2D14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91839" y="182880"/>
            <a:ext cx="2651759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91840" y="182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 DETECTIVE WORKSHEET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Did You Find?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4114800" cy="160020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91440" cy="16002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50128" y="13807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Characters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0128" y="176479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 2 characters — their name, personality &amp; role in the story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234440"/>
            <a:ext cx="4114800" cy="160020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91440" cy="16002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5084968" y="138074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Choices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84968" y="176479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down 2 choices you were given as the player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20040" y="3017520"/>
            <a:ext cx="4114800" cy="160020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20040" y="3017520"/>
            <a:ext cx="91440" cy="160020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50128" y="31638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Outcomes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0128" y="354787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happened AFTER each choice? Did the story change?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754880" y="3017520"/>
            <a:ext cx="4114800" cy="160020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4754880" y="3017520"/>
            <a:ext cx="91440" cy="1600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5084968" y="31638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Reaction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084968" y="3547872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Curious · Surprised · Confused · Excited · Bored · Invested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0A2E"/>
          </a:solidFill>
          <a:ln w="12700">
            <a:solidFill>
              <a:srgbClr val="1A0A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7432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Branching Stories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choice creates a new path — this is what makes visual novels unique.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91840" y="1234440"/>
            <a:ext cx="2560320" cy="777240"/>
          </a:xfrm>
          <a:prstGeom prst="rect">
            <a:avLst/>
          </a:prstGeom>
          <a:solidFill>
            <a:srgbClr val="1A0A2E"/>
          </a:solidFill>
          <a:ln w="19050">
            <a:solidFill>
              <a:srgbClr val="1A0A2E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0" y="1325880"/>
            <a:ext cx="2377440" cy="388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Starting Scene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623060"/>
            <a:ext cx="2377440" cy="349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story begins…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 flipH="1">
            <a:off x="2578608" y="2011680"/>
            <a:ext cx="1307592" cy="777240"/>
          </a:xfrm>
          <a:prstGeom prst="line">
            <a:avLst/>
          </a:prstGeom>
          <a:noFill/>
          <a:ln w="25400">
            <a:solidFill>
              <a:srgbClr val="0090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257800" y="2011680"/>
            <a:ext cx="1005840" cy="777240"/>
          </a:xfrm>
          <a:prstGeom prst="line">
            <a:avLst/>
          </a:prstGeom>
          <a:noFill/>
          <a:ln w="25400">
            <a:solidFill>
              <a:srgbClr val="0090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06240" y="2084832"/>
            <a:ext cx="731520" cy="3657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06240" y="20848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463040" y="2788920"/>
            <a:ext cx="2377440" cy="777240"/>
          </a:xfrm>
          <a:prstGeom prst="rect">
            <a:avLst/>
          </a:prstGeom>
          <a:solidFill>
            <a:srgbClr val="00C9A7"/>
          </a:solidFill>
          <a:ln w="1905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554480" y="2880360"/>
            <a:ext cx="2194560" cy="388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Choice 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3177540"/>
            <a:ext cx="2194560" cy="349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"Help the stranger"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0" y="2788920"/>
            <a:ext cx="2377440" cy="777240"/>
          </a:xfrm>
          <a:prstGeom prst="rect">
            <a:avLst/>
          </a:prstGeom>
          <a:solidFill>
            <a:srgbClr val="FFD166"/>
          </a:solidFill>
          <a:ln w="1905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94960" y="2880360"/>
            <a:ext cx="2194560" cy="3886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Choice 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3177540"/>
            <a:ext cx="2194560" cy="3497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D14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"Walk away"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11680" y="3566160"/>
            <a:ext cx="0" cy="594360"/>
          </a:xfrm>
          <a:prstGeom prst="line">
            <a:avLst/>
          </a:prstGeom>
          <a:noFill/>
          <a:ln w="25400">
            <a:solidFill>
              <a:srgbClr val="0090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0" y="3566160"/>
            <a:ext cx="411480" cy="594360"/>
          </a:xfrm>
          <a:prstGeom prst="line">
            <a:avLst/>
          </a:prstGeom>
          <a:noFill/>
          <a:ln w="25400">
            <a:solidFill>
              <a:srgbClr val="0090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52160" y="3566160"/>
            <a:ext cx="0" cy="594360"/>
          </a:xfrm>
          <a:prstGeom prst="line">
            <a:avLst/>
          </a:prstGeom>
          <a:noFill/>
          <a:ln w="25400">
            <a:solidFill>
              <a:srgbClr val="0090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0" y="3566160"/>
            <a:ext cx="411480" cy="594360"/>
          </a:xfrm>
          <a:prstGeom prst="line">
            <a:avLst/>
          </a:prstGeom>
          <a:noFill/>
          <a:ln w="25400">
            <a:solidFill>
              <a:srgbClr val="00907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4160520"/>
            <a:ext cx="1463040" cy="777240"/>
          </a:xfrm>
          <a:prstGeom prst="rect">
            <a:avLst/>
          </a:prstGeom>
          <a:solidFill>
            <a:srgbClr val="E0F8F3"/>
          </a:solidFill>
          <a:ln w="19050">
            <a:solidFill>
              <a:srgbClr val="E0F8F3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2519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A1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4489704"/>
            <a:ext cx="1280160" cy="2962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Stranger helps you later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87168" y="4160520"/>
            <a:ext cx="1463040" cy="777240"/>
          </a:xfrm>
          <a:prstGeom prst="rect">
            <a:avLst/>
          </a:prstGeom>
          <a:solidFill>
            <a:srgbClr val="C8F0E8"/>
          </a:solidFill>
          <a:ln w="19050">
            <a:solidFill>
              <a:srgbClr val="C8F0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78608" y="42519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A2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78608" y="4489704"/>
            <a:ext cx="1280160" cy="2962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gain a new friend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4160520"/>
            <a:ext cx="1463040" cy="77724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3CD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42519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B1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9160" y="4489704"/>
            <a:ext cx="1280160" cy="2962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reach goal faster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4160520"/>
            <a:ext cx="1463040" cy="777240"/>
          </a:xfrm>
          <a:prstGeom prst="rect">
            <a:avLst/>
          </a:prstGeom>
          <a:solidFill>
            <a:srgbClr val="FFE8C4"/>
          </a:solidFill>
          <a:ln w="19050">
            <a:solidFill>
              <a:srgbClr val="FFE8C4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446520" y="425196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Outcome B2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6520" y="4489704"/>
            <a:ext cx="1280160" cy="2962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feel guilty later…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3657600"/>
          </a:xfrm>
          <a:prstGeom prst="ellipse">
            <a:avLst/>
          </a:prstGeom>
          <a:solidFill>
            <a:srgbClr val="2D1457">
              <a:alpha val="60000"/>
            </a:srgbClr>
          </a:solidFill>
          <a:ln w="12700">
            <a:solidFill>
              <a:srgbClr val="2D14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39" y="182880"/>
            <a:ext cx="2235783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39" y="182880"/>
            <a:ext cx="22357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 · 8–10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Talk About It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24912" cy="352044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724912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Comparing Formats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"How is playing a visual novel different from reading a book?"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"In a book, the author decides everything. Who decides in a visual novel?"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325880"/>
            <a:ext cx="2724912" cy="352044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27832" y="1325880"/>
            <a:ext cx="2724912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46304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Thinking About Choice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64992" y="19659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"Did any choices surprise you with what happened next?"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"If this story had NO choices, would it be less interesting? Why?"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35624" y="1325880"/>
            <a:ext cx="2724912" cy="3520440"/>
          </a:xfrm>
          <a:prstGeom prst="rect">
            <a:avLst/>
          </a:prstGeom>
          <a:solidFill>
            <a:srgbClr val="2D145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35624" y="1325880"/>
            <a:ext cx="2724912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72784" y="1463040"/>
            <a:ext cx="24505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Connecting to Creation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72784" y="196596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"If YOU were making a visual novel, what would it be about?"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kinds of choices would your player have?"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E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20039" y="182880"/>
            <a:ext cx="2640517" cy="274320"/>
          </a:xfrm>
          <a:prstGeom prst="roundRect">
            <a:avLst>
              <a:gd name="adj" fmla="val 50000"/>
            </a:avLst>
          </a:prstGeom>
          <a:solidFill>
            <a:srgbClr val="00C9A7">
              <a:alpha val="85000"/>
            </a:srgbClr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39" y="182880"/>
            <a:ext cx="264051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 · 3–5 MIN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Leave…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8503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850392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6F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 this sentence in 2–3 sentences: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"A visual novel is…"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2423160"/>
            <a:ext cx="8046720" cy="0"/>
          </a:xfrm>
          <a:prstGeom prst="line">
            <a:avLst/>
          </a:prstGeom>
          <a:noFill/>
          <a:ln w="12700">
            <a:solidFill>
              <a:srgbClr val="E0D6F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770632"/>
            <a:ext cx="8046720" cy="0"/>
          </a:xfrm>
          <a:prstGeom prst="line">
            <a:avLst/>
          </a:prstGeom>
          <a:noFill/>
          <a:ln w="12700">
            <a:solidFill>
              <a:srgbClr val="E0D6F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8503920" cy="1600200"/>
          </a:xfrm>
          <a:prstGeom prst="rect">
            <a:avLst/>
          </a:prstGeom>
          <a:solidFill>
            <a:srgbClr val="FFF8E7"/>
          </a:solidFill>
          <a:ln w="12700">
            <a:solidFill>
              <a:srgbClr val="E0D6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3200400"/>
            <a:ext cx="850392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33375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90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(Optional):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3712464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"One choice I would put in MY visual novel is…"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48640" y="4224528"/>
            <a:ext cx="8046720" cy="0"/>
          </a:xfrm>
          <a:prstGeom prst="line">
            <a:avLst/>
          </a:prstGeom>
          <a:noFill/>
          <a:ln w="12700">
            <a:solidFill>
              <a:srgbClr val="E0D6F5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3657600"/>
          </a:xfrm>
          <a:prstGeom prst="ellipse">
            <a:avLst/>
          </a:prstGeom>
          <a:solidFill>
            <a:srgbClr val="2D1457">
              <a:alpha val="60000"/>
            </a:srgbClr>
          </a:solidFill>
          <a:ln w="12700">
            <a:solidFill>
              <a:srgbClr val="2D14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0C9A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 Preview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Time: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Opening RenPy for the First Time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6974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34290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"Everything you saw today — the characters, the dialogue,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choices — was written by a person, in a programming language.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F0EB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That's what we're going to learn."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0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STEM Through Games Program  ·  Lesson 1 of Unit: Introduction to RenPy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666</Words>
  <Application>Microsoft Macintosh PowerPoint</Application>
  <PresentationFormat>On-screen Show (16:9)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Games: What Is an Interactive Story?</dc:title>
  <dc:subject>PptxGenJS Presentation</dc:subject>
  <dc:creator>PptxGenJS</dc:creator>
  <cp:lastModifiedBy>Babichenko, Dmitriy</cp:lastModifiedBy>
  <cp:revision>5</cp:revision>
  <dcterms:created xsi:type="dcterms:W3CDTF">2026-05-19T18:15:18Z</dcterms:created>
  <dcterms:modified xsi:type="dcterms:W3CDTF">2026-07-10T14:40:38Z</dcterms:modified>
</cp:coreProperties>
</file>