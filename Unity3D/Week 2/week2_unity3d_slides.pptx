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9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1005840"/>
            <a:ext cx="3108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0B2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Fundamentals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9FD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Methods, and MonoBehaviour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Scene Just Sits There. Let's Fix That.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you built a diorama out of cubes, spheres, and empty GameObjects — but nothing moved. If you wanted your goal object to actually slide across the platform, what would the computer need to know, and in what order?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talk: list every piece of information the computer would need, in the order it would need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49440" y="155448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86600" y="1673352"/>
            <a:ext cx="512064" cy="512064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86600" y="1673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it starts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2450592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86600" y="2569464"/>
            <a:ext cx="512064" cy="512064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86600" y="2569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0" y="245059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direction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49440" y="3346704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86600" y="3465576"/>
            <a:ext cx="512064" cy="512064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0" y="3465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0" y="334670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far to shift, tick by tick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0" y="4242816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86600" y="4361688"/>
            <a:ext cx="512064" cy="512064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86600" y="4361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0" y="424281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doing it, over and over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Decomposition: Big Job → Small, Ordered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scientists call what you just did decomposition — breaking one big, fuzzy job into small steps a machine can follow exactly, in order (that ordering is called sequencing). Watch it work on something totally unrelated to code: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 Sandwich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02336" cy="402336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bread out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813048"/>
            <a:ext cx="402336" cy="402336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7856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peanut butter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379976"/>
            <a:ext cx="402336" cy="402336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3525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it, edge to edge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946904"/>
            <a:ext cx="402336" cy="402336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919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second slice on top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45352" y="24688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19672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 Cube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19672" y="3246120"/>
            <a:ext cx="402336" cy="402336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19672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68312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its current position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19672" y="3813048"/>
            <a:ext cx="402336" cy="402336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9672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68312" y="37856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direction &amp; rate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19672" y="4379976"/>
            <a:ext cx="402336" cy="402336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9672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68312" y="43525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new position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19672" y="4946904"/>
            <a:ext cx="402336" cy="402336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19672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68312" y="4919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— then repeat, forever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is decomposition made literal: the compiler runs your steps one exact instruction at a time, in the order you wrote them.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Script, Really?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is a to-do list, written in C#, that you attach to a GameObject as a component — the exact same way you attached a Mesh Renderer or a Collider in Week 1.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8712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GameObject  </a:t>
            </a: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just a container — empty until something is attached.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39312"/>
            <a:ext cx="365760" cy="3657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5844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 </a:t>
            </a: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component made of instructions instead of a mesh or a light.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attached  </a:t>
            </a: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reads it and starts following its instructions.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66560" y="1645920"/>
            <a:ext cx="4846320" cy="4297680"/>
          </a:xfrm>
          <a:prstGeom prst="roundRect">
            <a:avLst>
              <a:gd name="adj" fmla="val 2128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20116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5236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 (GameObject)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 Renderer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 Collider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3429000"/>
            <a:ext cx="0" cy="502920"/>
          </a:xfrm>
          <a:prstGeom prst="line">
            <a:avLst/>
          </a:prstGeom>
          <a:noFill/>
          <a:ln w="31750">
            <a:solidFill>
              <a:srgbClr val="1B7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52360" y="39776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Wobble.cs  (Script)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4370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4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“change size over time”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52360" y="5029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cube isn't just sitting in the scene — it has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MonoBehaviour: Unity's Roster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script you write starts with </a:t>
            </a:r>
            <a:r>
              <a:rPr lang="en-US" sz="15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MonoBehaviour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one word puts your script on Unity's roster — like signing up for a class — which means the engine now knows to call your code automatically, at the right moments, every single time it runs.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Engine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(running your game)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3383280"/>
            <a:ext cx="1188720" cy="0"/>
          </a:xfrm>
          <a:prstGeom prst="line">
            <a:avLst/>
          </a:prstGeom>
          <a:noFill/>
          <a:ln w="31750">
            <a:solidFill>
              <a:srgbClr val="D2AA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6052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automatically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0" y="24231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0" y="35661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3566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0" y="2816352"/>
            <a:ext cx="1005840" cy="109728"/>
          </a:xfrm>
          <a:prstGeom prst="line">
            <a:avLst/>
          </a:prstGeom>
          <a:noFill/>
          <a:ln w="25400">
            <a:solidFill>
              <a:srgbClr val="1B7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0" y="3950208"/>
            <a:ext cx="1005840" cy="0"/>
          </a:xfrm>
          <a:prstGeom prst="line">
            <a:avLst/>
          </a:prstGeom>
          <a:noFill/>
          <a:ln w="25400">
            <a:solidFill>
              <a:srgbClr val="D2AA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78240" y="278892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78240" y="2788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here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: MonoBehaviour, Unity has no idea your script exists — it's just a plain C# file the engine never calls.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Your First Script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85216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728216"/>
            <a:ext cx="55229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Wobble</a:t>
            </a: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MonoBehaviour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Start()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once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every frame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600200"/>
            <a:ext cx="384048" cy="38404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0" y="1684703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Wobble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name — this script's ID card. It should match the file name.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2423160"/>
            <a:ext cx="384048" cy="384048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507663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MonoBehaviour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the script into Unity's engine — see the previous slide.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3246120"/>
            <a:ext cx="384048" cy="384048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23760" y="3330623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runs exactly once, right before frame 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4069080"/>
            <a:ext cx="384048" cy="384048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4153583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runs again and again, once every frame.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Is a Labeled Box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never changes. What's stored inside can — that's the whole point of a variable.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3175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4720" y="24688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317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frameCount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0632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2200" y="24688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3175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2468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2200" y="30632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869680" y="24688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3175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6968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69680" y="2468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startScale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869680" y="30632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(1, 1, 1)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box is built and labeled for the first time.
</a:t>
            </a: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value inside gets replaced or updated.
</a:t>
            </a:r>
            <a:r>
              <a:rPr lang="en-US" sz="15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value is used somewhere else, without being edited.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Flavors of Data You'll Use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8271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fast?”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decimal rate or amount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288036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9264" y="3008376"/>
            <a:ext cx="45171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speed = 2.0f;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81928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7960" y="1856232"/>
            <a:ext cx="548640" cy="54864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42048" y="188271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30968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times?”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whole-number count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288036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02552" y="3008376"/>
            <a:ext cx="45171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int frameCount = 0;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4672" y="4416552"/>
            <a:ext cx="548640" cy="54864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44303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9768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state?”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/ false switch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4672" y="544068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" y="5568696"/>
            <a:ext cx="45171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bool growing = true;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81928" y="41605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37960" y="4416552"/>
            <a:ext cx="548640" cy="548640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3796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42048" y="444303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030968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/ what size?”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x, y, z triple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37960" y="544068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02552" y="5568696"/>
            <a:ext cx="45171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Vector3 startScale;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One Line of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0" y="1933377"/>
            <a:ext cx="8686800" cy="777240"/>
          </a:xfrm>
          <a:prstGeom prst="roundRect">
            <a:avLst>
              <a:gd name="adj" fmla="val 70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01952" y="2061393"/>
            <a:ext cx="83576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2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r>
              <a:rPr lang="en-US" sz="2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</a:t>
            </a:r>
            <a:r>
              <a:rPr lang="en-US" sz="2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2.0f</a:t>
            </a:r>
            <a:r>
              <a:rPr lang="en-US" sz="2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318115"/>
            <a:ext cx="2724912" cy="2834640"/>
          </a:xfrm>
          <a:prstGeom prst="roundRect">
            <a:avLst>
              <a:gd name="adj" fmla="val 3356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318115"/>
            <a:ext cx="2724912" cy="502920"/>
          </a:xfrm>
          <a:prstGeom prst="roundRect">
            <a:avLst>
              <a:gd name="adj" fmla="val 18182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318115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003915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" y="4598275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is allowed to see/use this variable (here: even the Inspector).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10712" y="3318115"/>
            <a:ext cx="2724912" cy="2834640"/>
          </a:xfrm>
          <a:prstGeom prst="roundRect">
            <a:avLst>
              <a:gd name="adj" fmla="val 3356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10712" y="3318115"/>
            <a:ext cx="2724912" cy="502920"/>
          </a:xfrm>
          <a:prstGeom prst="roundRect">
            <a:avLst>
              <a:gd name="adj" fmla="val 18182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0712" y="3318115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7872" y="4003915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75304" y="4598275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value this box can hold — a decimal number.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2784" y="3318115"/>
            <a:ext cx="2724912" cy="2834640"/>
          </a:xfrm>
          <a:prstGeom prst="roundRect">
            <a:avLst>
              <a:gd name="adj" fmla="val 3356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3318115"/>
            <a:ext cx="2724912" cy="502920"/>
          </a:xfrm>
          <a:prstGeom prst="roundRect">
            <a:avLst>
              <a:gd name="adj" fmla="val 18182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3318115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9944" y="4003915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37376" y="4598275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on the box. You choose this — make it describe the value.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34856" y="3318115"/>
            <a:ext cx="2724912" cy="2834640"/>
          </a:xfrm>
          <a:prstGeom prst="roundRect">
            <a:avLst>
              <a:gd name="adj" fmla="val 3356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34856" y="3318115"/>
            <a:ext cx="2724912" cy="502920"/>
          </a:xfrm>
          <a:prstGeom prst="roundRect">
            <a:avLst>
              <a:gd name="adj" fmla="val 18182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34856" y="3318115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72016" y="4003915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2.0f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99448" y="4598275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the box right now, the moment the script starts.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Start() vs. Update(): The Most Important Split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reading the rules once before a board game.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Runs right before frame 1 — then never again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1330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Perfect for setup: recording a starting position or scale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7000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If you need it only once, it belongs here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6459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519672" y="24231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9672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FRAME (~60x / sec)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9672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taking your turn, again and again, without stopping.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3566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Called continuously while the game is running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9672" y="41330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Perfect for anything that must keep changing: movement, color, timers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9672" y="47000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If it needs to happen over and over, it belongs here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It!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77840" cy="1737360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819656"/>
            <a:ext cx="52486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frameCount++;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frameCount++ was moved into Start() instead.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frameCount equal after 5 full seconds of Play mode?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0B2D5E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10712" y="43434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0B2D5E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10712" y="4343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2784" y="43434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0B2D5E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4343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(still counting)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34856" y="43434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0B2D5E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34856" y="4343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— won't compile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a partner — justify your answer using what Start() and Update() actually do. We'll reveal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Time.deltaTime: Fair Motion, Frame by Frame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Time.deltaTime is a variable Unity already keeps for you: the number of seconds since the very last frame. Multiply a rate by a sliver of time, and you get a sliver of change — repeated every frame, that's motion.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194560" y="260604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59152" y="2786606"/>
            <a:ext cx="7443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this frame  =  </a:t>
            </a:r>
            <a:r>
              <a:rPr lang="en-US" sz="1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 </a:t>
            </a: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Time.deltaTime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432408" y="379476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7EEF9"/>
          </a:solidFill>
          <a:ln w="1270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69568" y="4910328"/>
            <a:ext cx="1143000" cy="164592"/>
          </a:xfrm>
          <a:prstGeom prst="rect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32408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4320" y="379476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7EEF9"/>
          </a:solidFill>
          <a:ln w="1270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1480" y="4764024"/>
            <a:ext cx="1143000" cy="310896"/>
          </a:xfrm>
          <a:prstGeom prst="rect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14320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6232" y="379476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7EEF9"/>
          </a:solidFill>
          <a:ln w="1270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33392" y="4617720"/>
            <a:ext cx="1143000" cy="457200"/>
          </a:xfrm>
          <a:prstGeom prst="rect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6232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8144" y="379476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7EEF9"/>
          </a:solidFill>
          <a:ln w="1270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15304" y="4471416"/>
            <a:ext cx="1143000" cy="603504"/>
          </a:xfrm>
          <a:prstGeom prst="rect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8144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60056" y="379476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7EEF9"/>
          </a:solidFill>
          <a:ln w="1270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97216" y="4325112"/>
            <a:ext cx="1143000" cy="749808"/>
          </a:xfrm>
          <a:prstGeom prst="rect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60056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41968" y="379476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7EEF9"/>
          </a:solidFill>
          <a:ln w="1270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9128" y="4178808"/>
            <a:ext cx="1143000" cy="896112"/>
          </a:xfrm>
          <a:prstGeom prst="rect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41968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 every frame → small, fair steps that add up to smooth motion — a rate of change, just like “miles per hour” in math class.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Build: Make Something Change Over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Attach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script (e.g. ColorPulse). Attach it to a GameObject. Confirm: no red Console errors.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39312" y="1920240"/>
            <a:ext cx="548640" cy="54864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3931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in Update()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93592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counter or timer to shift color or scale, a little, every frame.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01384" y="1920240"/>
            <a:ext cx="548640" cy="54864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0138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55664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Field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55664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hard-coded rate into a public float speed.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16916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63456" y="1920240"/>
            <a:ext cx="548640" cy="548640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6345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17736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it Live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17736" y="3246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Play. Drag speed in the Inspector and watch the effect change instantly.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93776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public field (a bool toggle or a Vector3 target) and branch your behavior with an if statement in Update().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78040" y="4956048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42632" y="5084064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 =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Mathf.PingPong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(Time.time*speed, 1f);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4023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840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Fields Show Up in the Inspector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variable public, and Unity automatically builds an editable control for it — no extra work. That's the bridge between your code and the visual Editor.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3046738"/>
            <a:ext cx="5065776" cy="32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</a:t>
            </a: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2.0f;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while Play mode is running, drag the slider and watch your object react instantly — code and Editor, connected in real time.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3F3F3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600200"/>
            <a:ext cx="5120640" cy="457200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2194560"/>
            <a:ext cx="4846320" cy="38404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697480"/>
            <a:ext cx="48463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Wobble (Script)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1228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342900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738360" y="3364992"/>
            <a:ext cx="402336" cy="402336"/>
          </a:xfrm>
          <a:prstGeom prst="ellipse">
            <a:avLst/>
          </a:prstGeom>
          <a:solidFill>
            <a:srgbClr val="D2AA4B"/>
          </a:solidFill>
          <a:ln w="1905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881360" y="3401568"/>
            <a:ext cx="5486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881360" y="34015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4023360"/>
            <a:ext cx="4663440" cy="822960"/>
          </a:xfrm>
          <a:prstGeom prst="roundRect">
            <a:avLst>
              <a:gd name="adj" fmla="val 5556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4069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6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drag this while Play mode is running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Detective: Swap Seats &amp; Investigate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seats with a partner. Using only their screen, find and point to each of the following — out loud — before moving to the next item.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5328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94760" y="246888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where a variable is given a type for the first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4564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3456432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where that variable's value gets replaced or updated.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45079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444398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94760" y="4443984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where that variable is used without being edited.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4009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54955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54315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or Update?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94760" y="5431536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line above, name which method it lives in — and explain why it belongs there.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Debug.Log(): Your Script's Diary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can't see what a variable is doing, ask it to tell you. Debug.Log() prints a message to the Console every time that line runs — it's the fastest way to check whether your code is actually doing what you think it's doing.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Start() only logs once, and Update() logs a flood of lines nonstop — you've just watched the ONCE vs. EVERY FRAME rule happen in the Console.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773936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Debug.Log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("Wobble script has started.");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78892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0C0C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Wobble script has started.
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2743200"/>
          </a:xfrm>
          <a:prstGeom prst="roundRect">
            <a:avLst>
              <a:gd name="adj" fmla="val 3333"/>
            </a:avLst>
          </a:prstGeom>
          <a:solidFill>
            <a:srgbClr val="0B2D5E"/>
          </a:solidFill>
          <a:ln w="1905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78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one line of your script lives in Start(). What would visibly change in Play mode if you moved that line into Update() instead? What would change if a line moved the other way, from Update() into Start()?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sentences — and name at least one real variable from your own script.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37310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337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in Five Ideas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1848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ordered to-do list, written in C#, attached as a component.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59736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MonoBehaviour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your script on Unity's roster so the engine calls it automatically.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0098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labeled box: declare it, change it, read it.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14223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runs once. Update() runs every frame.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based on whether something happens once or continuously.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98348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Time.deltaTime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motion fair no matter how fast the game is running.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1729</Words>
  <Application>Microsoft Macintosh PowerPoint</Application>
  <PresentationFormat>Widescreen</PresentationFormat>
  <Paragraphs>258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25</cp:revision>
  <dcterms:created xsi:type="dcterms:W3CDTF">2026-07-17T19:20:39Z</dcterms:created>
  <dcterms:modified xsi:type="dcterms:W3CDTF">2026-07-18T01:42:27Z</dcterms:modified>
</cp:coreProperties>
</file>