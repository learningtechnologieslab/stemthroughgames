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27" d="100"/>
          <a:sy n="127" d="100"/>
        </p:scale>
        <p:origin x="536"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021239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41E42"/>
        </a:solidFill>
        <a:effectLst/>
      </p:bgPr>
    </p:bg>
    <p:spTree>
      <p:nvGrpSpPr>
        <p:cNvPr id="1" name=""/>
        <p:cNvGrpSpPr/>
        <p:nvPr/>
      </p:nvGrpSpPr>
      <p:grpSpPr>
        <a:xfrm>
          <a:off x="0" y="0"/>
          <a:ext cx="0" cy="0"/>
          <a:chOff x="0" y="0"/>
          <a:chExt cx="0" cy="0"/>
        </a:xfrm>
      </p:grpSpPr>
      <p:sp>
        <p:nvSpPr>
          <p:cNvPr id="7" name="Text 4"/>
          <p:cNvSpPr/>
          <p:nvPr/>
        </p:nvSpPr>
        <p:spPr>
          <a:xfrm>
            <a:off x="731520" y="2377440"/>
            <a:ext cx="10725912" cy="1371600"/>
          </a:xfrm>
          <a:prstGeom prst="rect">
            <a:avLst/>
          </a:prstGeom>
          <a:noFill/>
          <a:ln/>
        </p:spPr>
        <p:txBody>
          <a:bodyPr wrap="square" lIns="0" tIns="0" rIns="0" bIns="0" rtlCol="0" anchor="ctr"/>
          <a:lstStyle/>
          <a:p>
            <a:pPr marL="0" indent="0" algn="ctr">
              <a:lnSpc>
                <a:spcPct val="105000"/>
              </a:lnSpc>
              <a:buNone/>
            </a:pPr>
            <a:r>
              <a:rPr lang="en-US" sz="4000" b="1" dirty="0">
                <a:solidFill>
                  <a:srgbClr val="FFFFFF"/>
                </a:solidFill>
                <a:latin typeface="Georgia" pitchFamily="34" charset="0"/>
                <a:ea typeface="Georgia" pitchFamily="34" charset="-122"/>
                <a:cs typeface="Georgia" pitchFamily="34" charset="-120"/>
              </a:rPr>
              <a:t>Debugging, Optimization &amp;</a:t>
            </a:r>
            <a:endParaRPr lang="en-US" sz="4000" dirty="0"/>
          </a:p>
          <a:p>
            <a:pPr marL="0" indent="0" algn="ctr">
              <a:lnSpc>
                <a:spcPct val="105000"/>
              </a:lnSpc>
              <a:buNone/>
            </a:pPr>
            <a:r>
              <a:rPr lang="en-US" sz="4000" b="1" dirty="0">
                <a:solidFill>
                  <a:srgbClr val="FFFFFF"/>
                </a:solidFill>
                <a:latin typeface="Georgia" pitchFamily="34" charset="0"/>
                <a:ea typeface="Georgia" pitchFamily="34" charset="-122"/>
                <a:cs typeface="Georgia" pitchFamily="34" charset="-120"/>
              </a:rPr>
              <a:t>Playtesting as Method</a:t>
            </a:r>
            <a:endParaRPr lang="en-US" sz="4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9FB"/>
        </a:solidFill>
        <a:effectLst/>
      </p:bgPr>
    </p:bg>
    <p:spTree>
      <p:nvGrpSpPr>
        <p:cNvPr id="1" name=""/>
        <p:cNvGrpSpPr/>
        <p:nvPr/>
      </p:nvGrpSpPr>
      <p:grpSpPr>
        <a:xfrm>
          <a:off x="0" y="0"/>
          <a:ext cx="0" cy="0"/>
          <a:chOff x="0" y="0"/>
          <a:chExt cx="0" cy="0"/>
        </a:xfrm>
      </p:grpSpPr>
      <p:sp>
        <p:nvSpPr>
          <p:cNvPr id="2" name="Text 0"/>
          <p:cNvSpPr/>
          <p:nvPr/>
        </p:nvSpPr>
        <p:spPr>
          <a:xfrm>
            <a:off x="640080" y="411480"/>
            <a:ext cx="7315200" cy="320040"/>
          </a:xfrm>
          <a:prstGeom prst="rect">
            <a:avLst/>
          </a:prstGeom>
          <a:noFill/>
          <a:ln/>
        </p:spPr>
        <p:txBody>
          <a:bodyPr wrap="square" lIns="0" tIns="0" rIns="0" bIns="0" rtlCol="0" anchor="ctr"/>
          <a:lstStyle/>
          <a:p>
            <a:pPr marL="0" indent="0">
              <a:buNone/>
            </a:pPr>
            <a:r>
              <a:rPr lang="en-US" sz="1300" b="1" kern="0" spc="200" dirty="0">
                <a:solidFill>
                  <a:srgbClr val="AD8433"/>
                </a:solidFill>
                <a:latin typeface="Calibri" pitchFamily="34" charset="0"/>
                <a:ea typeface="Calibri" pitchFamily="34" charset="-122"/>
                <a:cs typeface="Calibri" pitchFamily="34" charset="-120"/>
              </a:rPr>
              <a:t>ROADMAP</a:t>
            </a:r>
            <a:endParaRPr lang="en-US" sz="1300" dirty="0"/>
          </a:p>
        </p:txBody>
      </p:sp>
      <p:sp>
        <p:nvSpPr>
          <p:cNvPr id="3" name="Text 1"/>
          <p:cNvSpPr/>
          <p:nvPr/>
        </p:nvSpPr>
        <p:spPr>
          <a:xfrm>
            <a:off x="621792" y="658368"/>
            <a:ext cx="10908792" cy="777240"/>
          </a:xfrm>
          <a:prstGeom prst="rect">
            <a:avLst/>
          </a:prstGeom>
          <a:noFill/>
          <a:ln/>
        </p:spPr>
        <p:txBody>
          <a:bodyPr wrap="square" lIns="0" tIns="0" rIns="0" bIns="0" rtlCol="0" anchor="ctr"/>
          <a:lstStyle/>
          <a:p>
            <a:pPr marL="0" indent="0">
              <a:buNone/>
            </a:pPr>
            <a:r>
              <a:rPr lang="en-US" sz="3200" b="1" dirty="0">
                <a:solidFill>
                  <a:srgbClr val="041E42"/>
                </a:solidFill>
                <a:latin typeface="Georgia" pitchFamily="34" charset="0"/>
                <a:ea typeface="Georgia" pitchFamily="34" charset="-122"/>
                <a:cs typeface="Georgia" pitchFamily="34" charset="-120"/>
              </a:rPr>
              <a:t>Today's Mission</a:t>
            </a:r>
            <a:endParaRPr lang="en-US" sz="3200" dirty="0"/>
          </a:p>
        </p:txBody>
      </p:sp>
      <p:sp>
        <p:nvSpPr>
          <p:cNvPr id="4" name="Shape 2"/>
          <p:cNvSpPr/>
          <p:nvPr/>
        </p:nvSpPr>
        <p:spPr>
          <a:xfrm>
            <a:off x="640080" y="2057400"/>
            <a:ext cx="2487168" cy="3520440"/>
          </a:xfrm>
          <a:prstGeom prst="roundRect">
            <a:avLst>
              <a:gd name="adj" fmla="val 3309"/>
            </a:avLst>
          </a:prstGeom>
          <a:solidFill>
            <a:srgbClr val="FFFFFF"/>
          </a:solidFill>
          <a:ln/>
          <a:effectLst>
            <a:outerShdw blurRad="127000" dist="38100" dir="5400000" algn="bl" rotWithShape="0">
              <a:srgbClr val="1A2233">
                <a:alpha val="16000"/>
              </a:srgbClr>
            </a:outerShdw>
          </a:effectLst>
        </p:spPr>
        <p:txBody>
          <a:bodyPr/>
          <a:lstStyle/>
          <a:p>
            <a:endParaRPr lang="en-US"/>
          </a:p>
        </p:txBody>
      </p:sp>
      <p:sp>
        <p:nvSpPr>
          <p:cNvPr id="5" name="Text 3"/>
          <p:cNvSpPr/>
          <p:nvPr/>
        </p:nvSpPr>
        <p:spPr>
          <a:xfrm>
            <a:off x="804672" y="2185416"/>
            <a:ext cx="640080" cy="457200"/>
          </a:xfrm>
          <a:prstGeom prst="rect">
            <a:avLst/>
          </a:prstGeom>
          <a:noFill/>
          <a:ln/>
        </p:spPr>
        <p:txBody>
          <a:bodyPr wrap="square" lIns="0" tIns="0" rIns="0" bIns="0" rtlCol="0" anchor="ctr"/>
          <a:lstStyle/>
          <a:p>
            <a:pPr marL="0" indent="0">
              <a:buNone/>
            </a:pPr>
            <a:r>
              <a:rPr lang="en-US" sz="2000" b="1" dirty="0">
                <a:solidFill>
                  <a:srgbClr val="C7CEDB"/>
                </a:solidFill>
                <a:latin typeface="Georgia" pitchFamily="34" charset="0"/>
                <a:ea typeface="Georgia" pitchFamily="34" charset="-122"/>
                <a:cs typeface="Georgia" pitchFamily="34" charset="-120"/>
              </a:rPr>
              <a:t>1</a:t>
            </a:r>
            <a:endParaRPr lang="en-US" sz="2000" dirty="0"/>
          </a:p>
        </p:txBody>
      </p:sp>
      <p:sp>
        <p:nvSpPr>
          <p:cNvPr id="6" name="Shape 4"/>
          <p:cNvSpPr/>
          <p:nvPr/>
        </p:nvSpPr>
        <p:spPr>
          <a:xfrm>
            <a:off x="1380744" y="2743200"/>
            <a:ext cx="1005840" cy="1005840"/>
          </a:xfrm>
          <a:prstGeom prst="ellipse">
            <a:avLst/>
          </a:prstGeom>
          <a:solidFill>
            <a:srgbClr val="041E42"/>
          </a:solidFill>
          <a:ln/>
        </p:spPr>
        <p:txBody>
          <a:bodyPr/>
          <a:lstStyle/>
          <a:p>
            <a:endParaRPr lang="en-US"/>
          </a:p>
        </p:txBody>
      </p:sp>
      <p:sp>
        <p:nvSpPr>
          <p:cNvPr id="8" name="Text 5"/>
          <p:cNvSpPr/>
          <p:nvPr/>
        </p:nvSpPr>
        <p:spPr>
          <a:xfrm>
            <a:off x="749808" y="3931920"/>
            <a:ext cx="2267712" cy="685800"/>
          </a:xfrm>
          <a:prstGeom prst="rect">
            <a:avLst/>
          </a:prstGeom>
          <a:noFill/>
          <a:ln/>
        </p:spPr>
        <p:txBody>
          <a:bodyPr wrap="square" lIns="0" tIns="0" rIns="0" bIns="0" rtlCol="0" anchor="ctr"/>
          <a:lstStyle/>
          <a:p>
            <a:pPr marL="0" indent="0" algn="ctr">
              <a:buNone/>
            </a:pPr>
            <a:r>
              <a:rPr lang="en-US" sz="1550" b="1" dirty="0">
                <a:solidFill>
                  <a:srgbClr val="222222"/>
                </a:solidFill>
                <a:latin typeface="Calibri" pitchFamily="34" charset="0"/>
                <a:ea typeface="Calibri" pitchFamily="34" charset="-122"/>
                <a:cs typeface="Calibri" pitchFamily="34" charset="-120"/>
              </a:rPr>
              <a:t>Broken on</a:t>
            </a:r>
            <a:endParaRPr lang="en-US" sz="1550" dirty="0"/>
          </a:p>
          <a:p>
            <a:pPr marL="0" indent="0" algn="ctr">
              <a:buNone/>
            </a:pPr>
            <a:r>
              <a:rPr lang="en-US" sz="1550" b="1" dirty="0">
                <a:solidFill>
                  <a:srgbClr val="222222"/>
                </a:solidFill>
                <a:latin typeface="Calibri" pitchFamily="34" charset="0"/>
                <a:ea typeface="Calibri" pitchFamily="34" charset="-122"/>
                <a:cs typeface="Calibri" pitchFamily="34" charset="-120"/>
              </a:rPr>
              <a:t>Purpose</a:t>
            </a:r>
            <a:endParaRPr lang="en-US" sz="1550" dirty="0"/>
          </a:p>
        </p:txBody>
      </p:sp>
      <p:sp>
        <p:nvSpPr>
          <p:cNvPr id="9" name="Text 6"/>
          <p:cNvSpPr/>
          <p:nvPr/>
        </p:nvSpPr>
        <p:spPr>
          <a:xfrm>
            <a:off x="777240" y="4663440"/>
            <a:ext cx="2212848" cy="731520"/>
          </a:xfrm>
          <a:prstGeom prst="rect">
            <a:avLst/>
          </a:prstGeom>
          <a:noFill/>
          <a:ln/>
        </p:spPr>
        <p:txBody>
          <a:bodyPr wrap="square" lIns="0" tIns="0" rIns="0" bIns="0" rtlCol="0" anchor="ctr"/>
          <a:lstStyle/>
          <a:p>
            <a:pPr marL="0" indent="0" algn="ctr">
              <a:buNone/>
            </a:pPr>
            <a:r>
              <a:rPr lang="en-US" sz="1250" dirty="0">
                <a:solidFill>
                  <a:srgbClr val="6B7280"/>
                </a:solidFill>
                <a:latin typeface="Calibri" pitchFamily="34" charset="0"/>
                <a:ea typeface="Calibri" pitchFamily="34" charset="-122"/>
                <a:cs typeface="Calibri" pitchFamily="34" charset="-120"/>
              </a:rPr>
              <a:t>Read a real error message</a:t>
            </a:r>
            <a:endParaRPr lang="en-US" sz="1250" dirty="0"/>
          </a:p>
        </p:txBody>
      </p:sp>
      <p:sp>
        <p:nvSpPr>
          <p:cNvPr id="10" name="Shape 7"/>
          <p:cNvSpPr/>
          <p:nvPr/>
        </p:nvSpPr>
        <p:spPr>
          <a:xfrm>
            <a:off x="3447288" y="2057400"/>
            <a:ext cx="2487168" cy="3520440"/>
          </a:xfrm>
          <a:prstGeom prst="roundRect">
            <a:avLst>
              <a:gd name="adj" fmla="val 3309"/>
            </a:avLst>
          </a:prstGeom>
          <a:solidFill>
            <a:srgbClr val="FFFFFF"/>
          </a:solidFill>
          <a:ln/>
          <a:effectLst>
            <a:outerShdw blurRad="127000" dist="38100" dir="5400000" algn="bl" rotWithShape="0">
              <a:srgbClr val="1A2233">
                <a:alpha val="16000"/>
              </a:srgbClr>
            </a:outerShdw>
          </a:effectLst>
        </p:spPr>
        <p:txBody>
          <a:bodyPr/>
          <a:lstStyle/>
          <a:p>
            <a:endParaRPr lang="en-US"/>
          </a:p>
        </p:txBody>
      </p:sp>
      <p:sp>
        <p:nvSpPr>
          <p:cNvPr id="11" name="Text 8"/>
          <p:cNvSpPr/>
          <p:nvPr/>
        </p:nvSpPr>
        <p:spPr>
          <a:xfrm>
            <a:off x="3611880" y="2185416"/>
            <a:ext cx="640080" cy="457200"/>
          </a:xfrm>
          <a:prstGeom prst="rect">
            <a:avLst/>
          </a:prstGeom>
          <a:noFill/>
          <a:ln/>
        </p:spPr>
        <p:txBody>
          <a:bodyPr wrap="square" lIns="0" tIns="0" rIns="0" bIns="0" rtlCol="0" anchor="ctr"/>
          <a:lstStyle/>
          <a:p>
            <a:pPr marL="0" indent="0">
              <a:buNone/>
            </a:pPr>
            <a:r>
              <a:rPr lang="en-US" sz="2000" b="1" dirty="0">
                <a:solidFill>
                  <a:srgbClr val="C7CEDB"/>
                </a:solidFill>
                <a:latin typeface="Georgia" pitchFamily="34" charset="0"/>
                <a:ea typeface="Georgia" pitchFamily="34" charset="-122"/>
                <a:cs typeface="Georgia" pitchFamily="34" charset="-120"/>
              </a:rPr>
              <a:t>2</a:t>
            </a:r>
            <a:endParaRPr lang="en-US" sz="2000" dirty="0"/>
          </a:p>
        </p:txBody>
      </p:sp>
      <p:sp>
        <p:nvSpPr>
          <p:cNvPr id="12" name="Shape 9"/>
          <p:cNvSpPr/>
          <p:nvPr/>
        </p:nvSpPr>
        <p:spPr>
          <a:xfrm>
            <a:off x="4187952" y="2743200"/>
            <a:ext cx="1005840" cy="1005840"/>
          </a:xfrm>
          <a:prstGeom prst="ellipse">
            <a:avLst/>
          </a:prstGeom>
          <a:solidFill>
            <a:srgbClr val="1B7F8C"/>
          </a:solidFill>
          <a:ln/>
        </p:spPr>
        <p:txBody>
          <a:bodyPr/>
          <a:lstStyle/>
          <a:p>
            <a:endParaRPr lang="en-US"/>
          </a:p>
        </p:txBody>
      </p:sp>
      <p:sp>
        <p:nvSpPr>
          <p:cNvPr id="14" name="Text 10"/>
          <p:cNvSpPr/>
          <p:nvPr/>
        </p:nvSpPr>
        <p:spPr>
          <a:xfrm>
            <a:off x="3557016" y="3931920"/>
            <a:ext cx="2267712" cy="685800"/>
          </a:xfrm>
          <a:prstGeom prst="rect">
            <a:avLst/>
          </a:prstGeom>
          <a:noFill/>
          <a:ln/>
        </p:spPr>
        <p:txBody>
          <a:bodyPr wrap="square" lIns="0" tIns="0" rIns="0" bIns="0" rtlCol="0" anchor="ctr"/>
          <a:lstStyle/>
          <a:p>
            <a:pPr marL="0" indent="0" algn="ctr">
              <a:buNone/>
            </a:pPr>
            <a:r>
              <a:rPr lang="en-US" sz="1550" b="1" dirty="0">
                <a:solidFill>
                  <a:srgbClr val="222222"/>
                </a:solidFill>
                <a:latin typeface="Calibri" pitchFamily="34" charset="0"/>
                <a:ea typeface="Calibri" pitchFamily="34" charset="-122"/>
                <a:cs typeface="Calibri" pitchFamily="34" charset="-120"/>
              </a:rPr>
              <a:t>Think Like a</a:t>
            </a:r>
            <a:endParaRPr lang="en-US" sz="1550" dirty="0"/>
          </a:p>
          <a:p>
            <a:pPr marL="0" indent="0" algn="ctr">
              <a:buNone/>
            </a:pPr>
            <a:r>
              <a:rPr lang="en-US" sz="1550" b="1" dirty="0">
                <a:solidFill>
                  <a:srgbClr val="222222"/>
                </a:solidFill>
                <a:latin typeface="Calibri" pitchFamily="34" charset="0"/>
                <a:ea typeface="Calibri" pitchFamily="34" charset="-122"/>
                <a:cs typeface="Calibri" pitchFamily="34" charset="-120"/>
              </a:rPr>
              <a:t>Detective</a:t>
            </a:r>
            <a:endParaRPr lang="en-US" sz="1550" dirty="0"/>
          </a:p>
        </p:txBody>
      </p:sp>
      <p:sp>
        <p:nvSpPr>
          <p:cNvPr id="15" name="Text 11"/>
          <p:cNvSpPr/>
          <p:nvPr/>
        </p:nvSpPr>
        <p:spPr>
          <a:xfrm>
            <a:off x="3584448" y="4663440"/>
            <a:ext cx="2212848" cy="731520"/>
          </a:xfrm>
          <a:prstGeom prst="rect">
            <a:avLst/>
          </a:prstGeom>
          <a:noFill/>
          <a:ln/>
        </p:spPr>
        <p:txBody>
          <a:bodyPr wrap="square" lIns="0" tIns="0" rIns="0" bIns="0" rtlCol="0" anchor="ctr"/>
          <a:lstStyle/>
          <a:p>
            <a:pPr marL="0" indent="0" algn="ctr">
              <a:buNone/>
            </a:pPr>
            <a:r>
              <a:rPr lang="en-US" sz="1250" dirty="0">
                <a:solidFill>
                  <a:srgbClr val="6B7280"/>
                </a:solidFill>
                <a:latin typeface="Calibri" pitchFamily="34" charset="0"/>
                <a:ea typeface="Calibri" pitchFamily="34" charset="-122"/>
                <a:cs typeface="Calibri" pitchFamily="34" charset="-120"/>
              </a:rPr>
              <a:t>The hypothesis loop</a:t>
            </a:r>
            <a:endParaRPr lang="en-US" sz="1250" dirty="0"/>
          </a:p>
        </p:txBody>
      </p:sp>
      <p:sp>
        <p:nvSpPr>
          <p:cNvPr id="16" name="Shape 12"/>
          <p:cNvSpPr/>
          <p:nvPr/>
        </p:nvSpPr>
        <p:spPr>
          <a:xfrm>
            <a:off x="6254496" y="2057400"/>
            <a:ext cx="2487168" cy="3520440"/>
          </a:xfrm>
          <a:prstGeom prst="roundRect">
            <a:avLst>
              <a:gd name="adj" fmla="val 3309"/>
            </a:avLst>
          </a:prstGeom>
          <a:solidFill>
            <a:srgbClr val="FFFFFF"/>
          </a:solidFill>
          <a:ln/>
          <a:effectLst>
            <a:outerShdw blurRad="127000" dist="38100" dir="5400000" algn="bl" rotWithShape="0">
              <a:srgbClr val="1A2233">
                <a:alpha val="16000"/>
              </a:srgbClr>
            </a:outerShdw>
          </a:effectLst>
        </p:spPr>
        <p:txBody>
          <a:bodyPr/>
          <a:lstStyle/>
          <a:p>
            <a:endParaRPr lang="en-US"/>
          </a:p>
        </p:txBody>
      </p:sp>
      <p:sp>
        <p:nvSpPr>
          <p:cNvPr id="17" name="Text 13"/>
          <p:cNvSpPr/>
          <p:nvPr/>
        </p:nvSpPr>
        <p:spPr>
          <a:xfrm>
            <a:off x="6419088" y="2185416"/>
            <a:ext cx="640080" cy="457200"/>
          </a:xfrm>
          <a:prstGeom prst="rect">
            <a:avLst/>
          </a:prstGeom>
          <a:noFill/>
          <a:ln/>
        </p:spPr>
        <p:txBody>
          <a:bodyPr wrap="square" lIns="0" tIns="0" rIns="0" bIns="0" rtlCol="0" anchor="ctr"/>
          <a:lstStyle/>
          <a:p>
            <a:pPr marL="0" indent="0">
              <a:buNone/>
            </a:pPr>
            <a:r>
              <a:rPr lang="en-US" sz="2000" b="1" dirty="0">
                <a:solidFill>
                  <a:srgbClr val="C7CEDB"/>
                </a:solidFill>
                <a:latin typeface="Georgia" pitchFamily="34" charset="0"/>
                <a:ea typeface="Georgia" pitchFamily="34" charset="-122"/>
                <a:cs typeface="Georgia" pitchFamily="34" charset="-120"/>
              </a:rPr>
              <a:t>3</a:t>
            </a:r>
            <a:endParaRPr lang="en-US" sz="2000" dirty="0"/>
          </a:p>
        </p:txBody>
      </p:sp>
      <p:sp>
        <p:nvSpPr>
          <p:cNvPr id="18" name="Shape 14"/>
          <p:cNvSpPr/>
          <p:nvPr/>
        </p:nvSpPr>
        <p:spPr>
          <a:xfrm>
            <a:off x="6995160" y="2743200"/>
            <a:ext cx="1005840" cy="1005840"/>
          </a:xfrm>
          <a:prstGeom prst="ellipse">
            <a:avLst/>
          </a:prstGeom>
          <a:solidFill>
            <a:srgbClr val="041E42"/>
          </a:solidFill>
          <a:ln/>
        </p:spPr>
        <p:txBody>
          <a:bodyPr/>
          <a:lstStyle/>
          <a:p>
            <a:endParaRPr lang="en-US"/>
          </a:p>
        </p:txBody>
      </p:sp>
      <p:sp>
        <p:nvSpPr>
          <p:cNvPr id="20" name="Text 15"/>
          <p:cNvSpPr/>
          <p:nvPr/>
        </p:nvSpPr>
        <p:spPr>
          <a:xfrm>
            <a:off x="6364224" y="3931920"/>
            <a:ext cx="2267712" cy="685800"/>
          </a:xfrm>
          <a:prstGeom prst="rect">
            <a:avLst/>
          </a:prstGeom>
          <a:noFill/>
          <a:ln/>
        </p:spPr>
        <p:txBody>
          <a:bodyPr wrap="square" lIns="0" tIns="0" rIns="0" bIns="0" rtlCol="0" anchor="ctr"/>
          <a:lstStyle/>
          <a:p>
            <a:pPr marL="0" indent="0" algn="ctr">
              <a:buNone/>
            </a:pPr>
            <a:r>
              <a:rPr lang="en-US" sz="1550" b="1" dirty="0">
                <a:solidFill>
                  <a:srgbClr val="222222"/>
                </a:solidFill>
                <a:latin typeface="Calibri" pitchFamily="34" charset="0"/>
                <a:ea typeface="Calibri" pitchFamily="34" charset="-122"/>
                <a:cs typeface="Calibri" pitchFamily="34" charset="-120"/>
              </a:rPr>
              <a:t>Meet the</a:t>
            </a:r>
            <a:endParaRPr lang="en-US" sz="1550" dirty="0"/>
          </a:p>
          <a:p>
            <a:pPr marL="0" indent="0" algn="ctr">
              <a:buNone/>
            </a:pPr>
            <a:r>
              <a:rPr lang="en-US" sz="1550" b="1" dirty="0">
                <a:solidFill>
                  <a:srgbClr val="222222"/>
                </a:solidFill>
                <a:latin typeface="Calibri" pitchFamily="34" charset="0"/>
                <a:ea typeface="Calibri" pitchFamily="34" charset="-122"/>
                <a:cs typeface="Calibri" pitchFamily="34" charset="-120"/>
              </a:rPr>
              <a:t>Profiler</a:t>
            </a:r>
            <a:endParaRPr lang="en-US" sz="1550" dirty="0"/>
          </a:p>
        </p:txBody>
      </p:sp>
      <p:sp>
        <p:nvSpPr>
          <p:cNvPr id="21" name="Text 16"/>
          <p:cNvSpPr/>
          <p:nvPr/>
        </p:nvSpPr>
        <p:spPr>
          <a:xfrm>
            <a:off x="6391656" y="4663440"/>
            <a:ext cx="2212848" cy="731520"/>
          </a:xfrm>
          <a:prstGeom prst="rect">
            <a:avLst/>
          </a:prstGeom>
          <a:noFill/>
          <a:ln/>
        </p:spPr>
        <p:txBody>
          <a:bodyPr wrap="square" lIns="0" tIns="0" rIns="0" bIns="0" rtlCol="0" anchor="ctr"/>
          <a:lstStyle/>
          <a:p>
            <a:pPr marL="0" indent="0" algn="ctr">
              <a:buNone/>
            </a:pPr>
            <a:r>
              <a:rPr lang="en-US" sz="1250" dirty="0">
                <a:solidFill>
                  <a:srgbClr val="6B7280"/>
                </a:solidFill>
                <a:latin typeface="Calibri" pitchFamily="34" charset="0"/>
                <a:ea typeface="Calibri" pitchFamily="34" charset="-122"/>
                <a:cs typeface="Calibri" pitchFamily="34" charset="-120"/>
              </a:rPr>
              <a:t>Find a slow frame</a:t>
            </a:r>
            <a:endParaRPr lang="en-US" sz="1250" dirty="0"/>
          </a:p>
        </p:txBody>
      </p:sp>
      <p:sp>
        <p:nvSpPr>
          <p:cNvPr id="22" name="Shape 17"/>
          <p:cNvSpPr/>
          <p:nvPr/>
        </p:nvSpPr>
        <p:spPr>
          <a:xfrm>
            <a:off x="9061704" y="2057400"/>
            <a:ext cx="2487168" cy="3520440"/>
          </a:xfrm>
          <a:prstGeom prst="roundRect">
            <a:avLst>
              <a:gd name="adj" fmla="val 3309"/>
            </a:avLst>
          </a:prstGeom>
          <a:solidFill>
            <a:srgbClr val="FFFFFF"/>
          </a:solidFill>
          <a:ln/>
          <a:effectLst>
            <a:outerShdw blurRad="127000" dist="38100" dir="5400000" algn="bl" rotWithShape="0">
              <a:srgbClr val="1A2233">
                <a:alpha val="16000"/>
              </a:srgbClr>
            </a:outerShdw>
          </a:effectLst>
        </p:spPr>
        <p:txBody>
          <a:bodyPr/>
          <a:lstStyle/>
          <a:p>
            <a:endParaRPr lang="en-US"/>
          </a:p>
        </p:txBody>
      </p:sp>
      <p:sp>
        <p:nvSpPr>
          <p:cNvPr id="23" name="Text 18"/>
          <p:cNvSpPr/>
          <p:nvPr/>
        </p:nvSpPr>
        <p:spPr>
          <a:xfrm>
            <a:off x="9226296" y="2185416"/>
            <a:ext cx="640080" cy="457200"/>
          </a:xfrm>
          <a:prstGeom prst="rect">
            <a:avLst/>
          </a:prstGeom>
          <a:noFill/>
          <a:ln/>
        </p:spPr>
        <p:txBody>
          <a:bodyPr wrap="square" lIns="0" tIns="0" rIns="0" bIns="0" rtlCol="0" anchor="ctr"/>
          <a:lstStyle/>
          <a:p>
            <a:pPr marL="0" indent="0">
              <a:buNone/>
            </a:pPr>
            <a:r>
              <a:rPr lang="en-US" sz="2000" b="1" dirty="0">
                <a:solidFill>
                  <a:srgbClr val="C7CEDB"/>
                </a:solidFill>
                <a:latin typeface="Georgia" pitchFamily="34" charset="0"/>
                <a:ea typeface="Georgia" pitchFamily="34" charset="-122"/>
                <a:cs typeface="Georgia" pitchFamily="34" charset="-120"/>
              </a:rPr>
              <a:t>4</a:t>
            </a:r>
            <a:endParaRPr lang="en-US" sz="2000" dirty="0"/>
          </a:p>
        </p:txBody>
      </p:sp>
      <p:sp>
        <p:nvSpPr>
          <p:cNvPr id="24" name="Shape 19"/>
          <p:cNvSpPr/>
          <p:nvPr/>
        </p:nvSpPr>
        <p:spPr>
          <a:xfrm>
            <a:off x="9802368" y="2743200"/>
            <a:ext cx="1005840" cy="1005840"/>
          </a:xfrm>
          <a:prstGeom prst="ellipse">
            <a:avLst/>
          </a:prstGeom>
          <a:solidFill>
            <a:srgbClr val="1B7F8C"/>
          </a:solidFill>
          <a:ln/>
        </p:spPr>
        <p:txBody>
          <a:bodyPr/>
          <a:lstStyle/>
          <a:p>
            <a:endParaRPr lang="en-US"/>
          </a:p>
        </p:txBody>
      </p:sp>
      <p:sp>
        <p:nvSpPr>
          <p:cNvPr id="26" name="Text 20"/>
          <p:cNvSpPr/>
          <p:nvPr/>
        </p:nvSpPr>
        <p:spPr>
          <a:xfrm>
            <a:off x="9171432" y="3931920"/>
            <a:ext cx="2267712" cy="685800"/>
          </a:xfrm>
          <a:prstGeom prst="rect">
            <a:avLst/>
          </a:prstGeom>
          <a:noFill/>
          <a:ln/>
        </p:spPr>
        <p:txBody>
          <a:bodyPr wrap="square" lIns="0" tIns="0" rIns="0" bIns="0" rtlCol="0" anchor="ctr"/>
          <a:lstStyle/>
          <a:p>
            <a:pPr marL="0" indent="0" algn="ctr">
              <a:buNone/>
            </a:pPr>
            <a:r>
              <a:rPr lang="en-US" sz="1550" b="1" dirty="0">
                <a:solidFill>
                  <a:srgbClr val="222222"/>
                </a:solidFill>
                <a:latin typeface="Calibri" pitchFamily="34" charset="0"/>
                <a:ea typeface="Calibri" pitchFamily="34" charset="-122"/>
                <a:cs typeface="Calibri" pitchFamily="34" charset="-120"/>
              </a:rPr>
              <a:t>Playtest &amp;</a:t>
            </a:r>
            <a:endParaRPr lang="en-US" sz="1550" dirty="0"/>
          </a:p>
          <a:p>
            <a:pPr marL="0" indent="0" algn="ctr">
              <a:buNone/>
            </a:pPr>
            <a:r>
              <a:rPr lang="en-US" sz="1550" b="1" dirty="0">
                <a:solidFill>
                  <a:srgbClr val="222222"/>
                </a:solidFill>
                <a:latin typeface="Calibri" pitchFamily="34" charset="0"/>
                <a:ea typeface="Calibri" pitchFamily="34" charset="-122"/>
                <a:cs typeface="Calibri" pitchFamily="34" charset="-120"/>
              </a:rPr>
              <a:t>Triage</a:t>
            </a:r>
            <a:endParaRPr lang="en-US" sz="1550" dirty="0"/>
          </a:p>
        </p:txBody>
      </p:sp>
      <p:sp>
        <p:nvSpPr>
          <p:cNvPr id="27" name="Text 21"/>
          <p:cNvSpPr/>
          <p:nvPr/>
        </p:nvSpPr>
        <p:spPr>
          <a:xfrm>
            <a:off x="9198864" y="4663440"/>
            <a:ext cx="2212848" cy="731520"/>
          </a:xfrm>
          <a:prstGeom prst="rect">
            <a:avLst/>
          </a:prstGeom>
          <a:noFill/>
          <a:ln/>
        </p:spPr>
        <p:txBody>
          <a:bodyPr wrap="square" lIns="0" tIns="0" rIns="0" bIns="0" rtlCol="0" anchor="ctr"/>
          <a:lstStyle/>
          <a:p>
            <a:pPr marL="0" indent="0" algn="ctr">
              <a:buNone/>
            </a:pPr>
            <a:r>
              <a:rPr lang="en-US" sz="1250" dirty="0">
                <a:solidFill>
                  <a:srgbClr val="6B7280"/>
                </a:solidFill>
                <a:latin typeface="Calibri" pitchFamily="34" charset="0"/>
                <a:ea typeface="Calibri" pitchFamily="34" charset="-122"/>
                <a:cs typeface="Calibri" pitchFamily="34" charset="-120"/>
              </a:rPr>
              <a:t>Sort feedback that matters</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7315200" cy="320040"/>
          </a:xfrm>
          <a:prstGeom prst="rect">
            <a:avLst/>
          </a:prstGeom>
          <a:noFill/>
          <a:ln/>
        </p:spPr>
        <p:txBody>
          <a:bodyPr wrap="square" lIns="0" tIns="0" rIns="0" bIns="0" rtlCol="0" anchor="ctr"/>
          <a:lstStyle/>
          <a:p>
            <a:pPr marL="0" indent="0">
              <a:buNone/>
            </a:pPr>
            <a:r>
              <a:rPr lang="en-US" sz="1300" b="1" kern="0" spc="200" dirty="0">
                <a:solidFill>
                  <a:srgbClr val="AD8433"/>
                </a:solidFill>
                <a:latin typeface="Calibri" pitchFamily="34" charset="0"/>
                <a:ea typeface="Calibri" pitchFamily="34" charset="-122"/>
                <a:cs typeface="Calibri" pitchFamily="34" charset="-120"/>
              </a:rPr>
              <a:t>WARM-UP</a:t>
            </a:r>
            <a:endParaRPr lang="en-US" sz="1300" dirty="0"/>
          </a:p>
        </p:txBody>
      </p:sp>
      <p:sp>
        <p:nvSpPr>
          <p:cNvPr id="3" name="Text 1"/>
          <p:cNvSpPr/>
          <p:nvPr/>
        </p:nvSpPr>
        <p:spPr>
          <a:xfrm>
            <a:off x="621792" y="658368"/>
            <a:ext cx="10908792" cy="777240"/>
          </a:xfrm>
          <a:prstGeom prst="rect">
            <a:avLst/>
          </a:prstGeom>
          <a:noFill/>
          <a:ln/>
        </p:spPr>
        <p:txBody>
          <a:bodyPr wrap="square" lIns="0" tIns="0" rIns="0" bIns="0" rtlCol="0" anchor="ctr"/>
          <a:lstStyle/>
          <a:p>
            <a:pPr marL="0" indent="0">
              <a:buNone/>
            </a:pPr>
            <a:r>
              <a:rPr lang="en-US" sz="3200" b="1" dirty="0">
                <a:solidFill>
                  <a:srgbClr val="041E42"/>
                </a:solidFill>
                <a:latin typeface="Georgia" pitchFamily="34" charset="0"/>
                <a:ea typeface="Georgia" pitchFamily="34" charset="-122"/>
                <a:cs typeface="Georgia" pitchFamily="34" charset="-120"/>
              </a:rPr>
              <a:t>Something's Broken.</a:t>
            </a:r>
            <a:endParaRPr lang="en-US" sz="3200" dirty="0"/>
          </a:p>
        </p:txBody>
      </p:sp>
      <p:sp>
        <p:nvSpPr>
          <p:cNvPr id="4" name="Text 2"/>
          <p:cNvSpPr/>
          <p:nvPr/>
        </p:nvSpPr>
        <p:spPr>
          <a:xfrm>
            <a:off x="640080" y="1417320"/>
            <a:ext cx="10908792" cy="594360"/>
          </a:xfrm>
          <a:prstGeom prst="rect">
            <a:avLst/>
          </a:prstGeom>
          <a:noFill/>
          <a:ln/>
        </p:spPr>
        <p:txBody>
          <a:bodyPr wrap="square" lIns="0" tIns="0" rIns="0" bIns="0" rtlCol="0" anchor="ctr"/>
          <a:lstStyle/>
          <a:p>
            <a:pPr marL="0" indent="0">
              <a:buNone/>
            </a:pPr>
            <a:r>
              <a:rPr lang="en-US" sz="1600" dirty="0">
                <a:solidFill>
                  <a:srgbClr val="6B7280"/>
                </a:solidFill>
                <a:latin typeface="Calibri" pitchFamily="34" charset="0"/>
                <a:ea typeface="Calibri" pitchFamily="34" charset="-122"/>
                <a:cs typeface="Calibri" pitchFamily="34" charset="-120"/>
              </a:rPr>
              <a:t>Before you touch any code, read this Console error carefully. Which line of YOUR script is responsible? Write your guess down.</a:t>
            </a:r>
            <a:endParaRPr lang="en-US" sz="1600" dirty="0"/>
          </a:p>
        </p:txBody>
      </p:sp>
      <p:sp>
        <p:nvSpPr>
          <p:cNvPr id="5" name="Shape 3"/>
          <p:cNvSpPr/>
          <p:nvPr/>
        </p:nvSpPr>
        <p:spPr>
          <a:xfrm>
            <a:off x="640080" y="2148840"/>
            <a:ext cx="10908792" cy="2103120"/>
          </a:xfrm>
          <a:prstGeom prst="roundRect">
            <a:avLst>
              <a:gd name="adj" fmla="val 3913"/>
            </a:avLst>
          </a:prstGeom>
          <a:solidFill>
            <a:srgbClr val="1E1E1E"/>
          </a:solidFill>
          <a:ln/>
        </p:spPr>
        <p:txBody>
          <a:bodyPr/>
          <a:lstStyle/>
          <a:p>
            <a:endParaRPr lang="en-US"/>
          </a:p>
        </p:txBody>
      </p:sp>
      <p:sp>
        <p:nvSpPr>
          <p:cNvPr id="6" name="Text 4"/>
          <p:cNvSpPr/>
          <p:nvPr/>
        </p:nvSpPr>
        <p:spPr>
          <a:xfrm>
            <a:off x="896112" y="2331720"/>
            <a:ext cx="10396728" cy="1737360"/>
          </a:xfrm>
          <a:prstGeom prst="rect">
            <a:avLst/>
          </a:prstGeom>
          <a:noFill/>
          <a:ln/>
        </p:spPr>
        <p:txBody>
          <a:bodyPr wrap="square" lIns="0" tIns="0" rIns="0" bIns="0" rtlCol="0" anchor="t"/>
          <a:lstStyle/>
          <a:p>
            <a:pPr marL="0" indent="0">
              <a:spcAft>
                <a:spcPts val="300"/>
              </a:spcAft>
              <a:buNone/>
            </a:pPr>
            <a:r>
              <a:rPr lang="en-US" sz="1500" dirty="0">
                <a:solidFill>
                  <a:srgbClr val="F48771"/>
                </a:solidFill>
                <a:latin typeface="Consolas" pitchFamily="34" charset="0"/>
                <a:ea typeface="Consolas" pitchFamily="34" charset="-122"/>
                <a:cs typeface="Consolas" pitchFamily="34" charset="-120"/>
              </a:rPr>
              <a:t>NullReferenceException: Object reference not set to an instance of an object</a:t>
            </a:r>
            <a:endParaRPr lang="en-US" sz="1500" dirty="0"/>
          </a:p>
          <a:p>
            <a:pPr marL="0" indent="0">
              <a:spcAft>
                <a:spcPts val="300"/>
              </a:spcAft>
              <a:buNone/>
            </a:pPr>
            <a:r>
              <a:rPr lang="en-US" sz="1500" dirty="0">
                <a:solidFill>
                  <a:srgbClr val="D4D4D4"/>
                </a:solidFill>
                <a:latin typeface="Consolas" pitchFamily="34" charset="0"/>
                <a:ea typeface="Consolas" pitchFamily="34" charset="-122"/>
                <a:cs typeface="Consolas" pitchFamily="34" charset="-120"/>
              </a:rPr>
              <a:t>PlayerHealth.TakeDamage (Int32 amount) (at Assets/Scripts/PlayerHealth.cs:24)</a:t>
            </a:r>
            <a:endParaRPr lang="en-US" sz="1500" dirty="0"/>
          </a:p>
          <a:p>
            <a:pPr marL="0" indent="0">
              <a:spcAft>
                <a:spcPts val="300"/>
              </a:spcAft>
              <a:buNone/>
            </a:pPr>
            <a:r>
              <a:rPr lang="en-US" sz="1500" dirty="0">
                <a:solidFill>
                  <a:srgbClr val="D4D4D4"/>
                </a:solidFill>
                <a:latin typeface="Consolas" pitchFamily="34" charset="0"/>
                <a:ea typeface="Consolas" pitchFamily="34" charset="-122"/>
                <a:cs typeface="Consolas" pitchFamily="34" charset="-120"/>
              </a:rPr>
              <a:t>EnemyAttack.OnTriggerEnter (UnityEngine.Collider other) (at Assets/Scripts/EnemyAttack.cs:17)</a:t>
            </a:r>
            <a:endParaRPr lang="en-US" sz="1500" dirty="0"/>
          </a:p>
        </p:txBody>
      </p:sp>
      <p:sp>
        <p:nvSpPr>
          <p:cNvPr id="7" name="Shape 5"/>
          <p:cNvSpPr/>
          <p:nvPr/>
        </p:nvSpPr>
        <p:spPr>
          <a:xfrm>
            <a:off x="640080" y="4480560"/>
            <a:ext cx="10908792" cy="1417320"/>
          </a:xfrm>
          <a:prstGeom prst="roundRect">
            <a:avLst>
              <a:gd name="adj" fmla="val 5806"/>
            </a:avLst>
          </a:prstGeom>
          <a:solidFill>
            <a:srgbClr val="FFF4DC"/>
          </a:solidFill>
          <a:ln/>
          <a:effectLst>
            <a:outerShdw blurRad="127000" dist="38100" dir="5400000" algn="bl" rotWithShape="0">
              <a:srgbClr val="1A2233">
                <a:alpha val="16000"/>
              </a:srgbClr>
            </a:outerShdw>
          </a:effectLst>
        </p:spPr>
        <p:txBody>
          <a:bodyPr/>
          <a:lstStyle/>
          <a:p>
            <a:endParaRPr lang="en-US"/>
          </a:p>
        </p:txBody>
      </p:sp>
      <p:sp>
        <p:nvSpPr>
          <p:cNvPr id="10" name="Text 7"/>
          <p:cNvSpPr/>
          <p:nvPr/>
        </p:nvSpPr>
        <p:spPr>
          <a:xfrm>
            <a:off x="896112" y="4480560"/>
            <a:ext cx="10378440" cy="1417320"/>
          </a:xfrm>
          <a:prstGeom prst="rect">
            <a:avLst/>
          </a:prstGeom>
          <a:noFill/>
          <a:ln/>
        </p:spPr>
        <p:txBody>
          <a:bodyPr wrap="square" lIns="0" tIns="0" rIns="0" bIns="0" rtlCol="0" anchor="ctr"/>
          <a:lstStyle/>
          <a:p>
            <a:pPr marL="0" indent="0">
              <a:buNone/>
            </a:pPr>
            <a:r>
              <a:rPr lang="en-US" sz="1600" b="1" dirty="0">
                <a:solidFill>
                  <a:srgbClr val="041E42"/>
                </a:solidFill>
                <a:latin typeface="Calibri" pitchFamily="34" charset="0"/>
                <a:ea typeface="Calibri" pitchFamily="34" charset="-122"/>
                <a:cs typeface="Calibri" pitchFamily="34" charset="-120"/>
              </a:rPr>
              <a:t>Your Job: circle the ONE line number that tells you where to start looking. Don't guess the fix yet — just the location.</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41E42"/>
        </a:solidFill>
        <a:effectLst/>
      </p:bgPr>
    </p:bg>
    <p:spTree>
      <p:nvGrpSpPr>
        <p:cNvPr id="1" name=""/>
        <p:cNvGrpSpPr/>
        <p:nvPr/>
      </p:nvGrpSpPr>
      <p:grpSpPr>
        <a:xfrm>
          <a:off x="0" y="0"/>
          <a:ext cx="0" cy="0"/>
          <a:chOff x="0" y="0"/>
          <a:chExt cx="0" cy="0"/>
        </a:xfrm>
      </p:grpSpPr>
      <p:sp>
        <p:nvSpPr>
          <p:cNvPr id="4" name="Text 1"/>
          <p:cNvSpPr/>
          <p:nvPr/>
        </p:nvSpPr>
        <p:spPr>
          <a:xfrm>
            <a:off x="0" y="2057400"/>
            <a:ext cx="12188952" cy="365760"/>
          </a:xfrm>
          <a:prstGeom prst="rect">
            <a:avLst/>
          </a:prstGeom>
          <a:noFill/>
          <a:ln/>
        </p:spPr>
        <p:txBody>
          <a:bodyPr wrap="square" lIns="0" tIns="0" rIns="0" bIns="0" rtlCol="0" anchor="ctr"/>
          <a:lstStyle/>
          <a:p>
            <a:pPr marL="0" indent="0" algn="ctr">
              <a:buNone/>
            </a:pPr>
            <a:r>
              <a:rPr lang="en-US" sz="1400" b="1" kern="0" spc="300" dirty="0">
                <a:solidFill>
                  <a:srgbClr val="D2AA4B"/>
                </a:solidFill>
                <a:latin typeface="Calibri" pitchFamily="34" charset="0"/>
                <a:ea typeface="Calibri" pitchFamily="34" charset="-122"/>
                <a:cs typeface="Calibri" pitchFamily="34" charset="-120"/>
              </a:rPr>
              <a:t>THE BIG IDEA</a:t>
            </a:r>
            <a:endParaRPr lang="en-US" sz="1400" dirty="0"/>
          </a:p>
        </p:txBody>
      </p:sp>
      <p:sp>
        <p:nvSpPr>
          <p:cNvPr id="5" name="Text 2"/>
          <p:cNvSpPr/>
          <p:nvPr/>
        </p:nvSpPr>
        <p:spPr>
          <a:xfrm>
            <a:off x="914400" y="2514600"/>
            <a:ext cx="10360152" cy="1463040"/>
          </a:xfrm>
          <a:prstGeom prst="rect">
            <a:avLst/>
          </a:prstGeom>
          <a:noFill/>
          <a:ln/>
        </p:spPr>
        <p:txBody>
          <a:bodyPr wrap="square" lIns="0" tIns="0" rIns="0" bIns="0" rtlCol="0" anchor="ctr"/>
          <a:lstStyle/>
          <a:p>
            <a:pPr marL="0" indent="0" algn="ctr">
              <a:lnSpc>
                <a:spcPct val="110000"/>
              </a:lnSpc>
              <a:buNone/>
            </a:pPr>
            <a:r>
              <a:rPr lang="en-US" sz="3400" b="1" dirty="0">
                <a:solidFill>
                  <a:srgbClr val="FFFFFF"/>
                </a:solidFill>
                <a:latin typeface="Georgia" pitchFamily="34" charset="0"/>
                <a:ea typeface="Georgia" pitchFamily="34" charset="-122"/>
                <a:cs typeface="Georgia" pitchFamily="34" charset="-120"/>
              </a:rPr>
              <a:t>A bug is not a mystery to be solved by guessing.</a:t>
            </a:r>
            <a:endParaRPr lang="en-US" sz="3400" dirty="0"/>
          </a:p>
          <a:p>
            <a:pPr marL="0" indent="0" algn="ctr">
              <a:lnSpc>
                <a:spcPct val="110000"/>
              </a:lnSpc>
              <a:buNone/>
            </a:pPr>
            <a:r>
              <a:rPr lang="en-US" sz="3400" b="1" dirty="0">
                <a:solidFill>
                  <a:srgbClr val="FFFFFF"/>
                </a:solidFill>
                <a:latin typeface="Georgia" pitchFamily="34" charset="0"/>
                <a:ea typeface="Georgia" pitchFamily="34" charset="-122"/>
                <a:cs typeface="Georgia" pitchFamily="34" charset="-120"/>
              </a:rPr>
              <a:t>It's a claim you can test.</a:t>
            </a:r>
            <a:endParaRPr lang="en-US" sz="3400" dirty="0"/>
          </a:p>
        </p:txBody>
      </p:sp>
      <p:sp>
        <p:nvSpPr>
          <p:cNvPr id="6" name="Text 3"/>
          <p:cNvSpPr/>
          <p:nvPr/>
        </p:nvSpPr>
        <p:spPr>
          <a:xfrm>
            <a:off x="1463040" y="4251960"/>
            <a:ext cx="9262872" cy="1097280"/>
          </a:xfrm>
          <a:prstGeom prst="rect">
            <a:avLst/>
          </a:prstGeom>
          <a:noFill/>
          <a:ln/>
        </p:spPr>
        <p:txBody>
          <a:bodyPr wrap="square" lIns="0" tIns="0" rIns="0" bIns="0" rtlCol="0" anchor="ctr"/>
          <a:lstStyle/>
          <a:p>
            <a:pPr marL="0" indent="0" algn="ctr">
              <a:buNone/>
            </a:pPr>
            <a:r>
              <a:rPr lang="en-US" sz="1600" i="1" dirty="0">
                <a:solidFill>
                  <a:srgbClr val="C9D6EE"/>
                </a:solidFill>
                <a:latin typeface="Calibri" pitchFamily="34" charset="0"/>
                <a:ea typeface="Calibri" pitchFamily="34" charset="-122"/>
                <a:cs typeface="Calibri" pitchFamily="34" charset="-120"/>
              </a:rPr>
              <a:t>Today you'll treat three different problems — a crash, a slow frame, and a confused playtester — the exact same way: observe precisely, guess a specific cause, test only that guess, and let the result tell you if you were right.</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7315200" cy="320040"/>
          </a:xfrm>
          <a:prstGeom prst="rect">
            <a:avLst/>
          </a:prstGeom>
          <a:noFill/>
          <a:ln/>
        </p:spPr>
        <p:txBody>
          <a:bodyPr wrap="square" lIns="0" tIns="0" rIns="0" bIns="0" rtlCol="0" anchor="ctr"/>
          <a:lstStyle/>
          <a:p>
            <a:pPr marL="0" indent="0">
              <a:buNone/>
            </a:pPr>
            <a:r>
              <a:rPr lang="en-US" sz="1300" b="1" kern="0" spc="200" dirty="0">
                <a:solidFill>
                  <a:srgbClr val="AD8433"/>
                </a:solidFill>
                <a:latin typeface="Calibri" pitchFamily="34" charset="0"/>
                <a:ea typeface="Calibri" pitchFamily="34" charset="-122"/>
                <a:cs typeface="Calibri" pitchFamily="34" charset="-120"/>
              </a:rPr>
              <a:t>CT CONCEPT · DEBUGGING AS TESTING</a:t>
            </a:r>
            <a:endParaRPr lang="en-US" sz="1300" dirty="0"/>
          </a:p>
        </p:txBody>
      </p:sp>
      <p:sp>
        <p:nvSpPr>
          <p:cNvPr id="3" name="Text 1"/>
          <p:cNvSpPr/>
          <p:nvPr/>
        </p:nvSpPr>
        <p:spPr>
          <a:xfrm>
            <a:off x="621792" y="658368"/>
            <a:ext cx="10908792" cy="777240"/>
          </a:xfrm>
          <a:prstGeom prst="rect">
            <a:avLst/>
          </a:prstGeom>
          <a:noFill/>
          <a:ln/>
        </p:spPr>
        <p:txBody>
          <a:bodyPr wrap="square" lIns="0" tIns="0" rIns="0" bIns="0" rtlCol="0" anchor="ctr"/>
          <a:lstStyle/>
          <a:p>
            <a:pPr marL="0" indent="0">
              <a:buNone/>
            </a:pPr>
            <a:r>
              <a:rPr lang="en-US" sz="3200" b="1" dirty="0">
                <a:solidFill>
                  <a:srgbClr val="041E42"/>
                </a:solidFill>
                <a:latin typeface="Georgia" pitchFamily="34" charset="0"/>
                <a:ea typeface="Georgia" pitchFamily="34" charset="-122"/>
                <a:cs typeface="Georgia" pitchFamily="34" charset="-120"/>
              </a:rPr>
              <a:t>The Hypothesis Loop</a:t>
            </a:r>
            <a:endParaRPr lang="en-US" sz="3200" dirty="0"/>
          </a:p>
        </p:txBody>
      </p:sp>
      <p:sp>
        <p:nvSpPr>
          <p:cNvPr id="4" name="Shape 2"/>
          <p:cNvSpPr/>
          <p:nvPr/>
        </p:nvSpPr>
        <p:spPr>
          <a:xfrm>
            <a:off x="640080" y="1874520"/>
            <a:ext cx="2521458" cy="4023360"/>
          </a:xfrm>
          <a:prstGeom prst="roundRect">
            <a:avLst>
              <a:gd name="adj" fmla="val 3264"/>
            </a:avLst>
          </a:prstGeom>
          <a:solidFill>
            <a:srgbClr val="F7F9FB"/>
          </a:solidFill>
          <a:ln/>
          <a:effectLst>
            <a:outerShdw blurRad="127000" dist="38100" dir="5400000" algn="bl" rotWithShape="0">
              <a:srgbClr val="1A2233">
                <a:alpha val="16000"/>
              </a:srgbClr>
            </a:outerShdw>
          </a:effectLst>
        </p:spPr>
        <p:txBody>
          <a:bodyPr/>
          <a:lstStyle/>
          <a:p>
            <a:endParaRPr lang="en-US"/>
          </a:p>
        </p:txBody>
      </p:sp>
      <p:sp>
        <p:nvSpPr>
          <p:cNvPr id="7" name="Text 4"/>
          <p:cNvSpPr/>
          <p:nvPr/>
        </p:nvSpPr>
        <p:spPr>
          <a:xfrm>
            <a:off x="777240" y="3291840"/>
            <a:ext cx="2247138" cy="457200"/>
          </a:xfrm>
          <a:prstGeom prst="rect">
            <a:avLst/>
          </a:prstGeom>
          <a:noFill/>
          <a:ln/>
        </p:spPr>
        <p:txBody>
          <a:bodyPr wrap="square" lIns="0" tIns="0" rIns="0" bIns="0" rtlCol="0" anchor="ctr"/>
          <a:lstStyle/>
          <a:p>
            <a:pPr marL="0" indent="0" algn="ctr">
              <a:buNone/>
            </a:pPr>
            <a:r>
              <a:rPr lang="en-US" sz="1550" b="1" dirty="0">
                <a:solidFill>
                  <a:srgbClr val="222222"/>
                </a:solidFill>
                <a:latin typeface="Calibri" pitchFamily="34" charset="0"/>
                <a:ea typeface="Calibri" pitchFamily="34" charset="-122"/>
                <a:cs typeface="Calibri" pitchFamily="34" charset="-120"/>
              </a:rPr>
              <a:t>1. Observe</a:t>
            </a:r>
            <a:endParaRPr lang="en-US" sz="1550" dirty="0"/>
          </a:p>
        </p:txBody>
      </p:sp>
      <p:sp>
        <p:nvSpPr>
          <p:cNvPr id="8" name="Text 5"/>
          <p:cNvSpPr/>
          <p:nvPr/>
        </p:nvSpPr>
        <p:spPr>
          <a:xfrm>
            <a:off x="822960" y="3840480"/>
            <a:ext cx="2155698" cy="1920240"/>
          </a:xfrm>
          <a:prstGeom prst="rect">
            <a:avLst/>
          </a:prstGeom>
          <a:noFill/>
          <a:ln/>
        </p:spPr>
        <p:txBody>
          <a:bodyPr wrap="square" lIns="0" tIns="0" rIns="0" bIns="0" rtlCol="0" anchor="ctr"/>
          <a:lstStyle/>
          <a:p>
            <a:pPr marL="0" indent="0" algn="ctr">
              <a:buNone/>
            </a:pPr>
            <a:r>
              <a:rPr lang="en-US" sz="1300" dirty="0">
                <a:solidFill>
                  <a:srgbClr val="6B7280"/>
                </a:solidFill>
                <a:latin typeface="Calibri" pitchFamily="34" charset="0"/>
                <a:ea typeface="Calibri" pitchFamily="34" charset="-122"/>
                <a:cs typeface="Calibri" pitchFamily="34" charset="-120"/>
              </a:rPr>
              <a:t>What exactly happens — and what did you expect instead?</a:t>
            </a:r>
            <a:endParaRPr lang="en-US" sz="1300" dirty="0"/>
          </a:p>
        </p:txBody>
      </p:sp>
      <p:sp>
        <p:nvSpPr>
          <p:cNvPr id="9" name="Shape 6"/>
          <p:cNvSpPr/>
          <p:nvPr/>
        </p:nvSpPr>
        <p:spPr>
          <a:xfrm>
            <a:off x="3079242" y="3666744"/>
            <a:ext cx="438912" cy="438912"/>
          </a:xfrm>
          <a:prstGeom prst="ellipse">
            <a:avLst/>
          </a:prstGeom>
          <a:solidFill>
            <a:srgbClr val="C7CEDB"/>
          </a:solidFill>
          <a:ln/>
        </p:spPr>
        <p:txBody>
          <a:bodyPr/>
          <a:lstStyle/>
          <a:p>
            <a:endParaRPr lang="en-US"/>
          </a:p>
        </p:txBody>
      </p:sp>
      <p:pic>
        <p:nvPicPr>
          <p:cNvPr id="10" name="Image 1" descr="preencoded.png"/>
          <p:cNvPicPr>
            <a:picLocks noChangeAspect="1"/>
          </p:cNvPicPr>
          <p:nvPr/>
        </p:nvPicPr>
        <p:blipFill>
          <a:blip r:embed="rId3"/>
          <a:stretch>
            <a:fillRect/>
          </a:stretch>
        </p:blipFill>
        <p:spPr>
          <a:xfrm>
            <a:off x="3177997" y="3765499"/>
            <a:ext cx="241402" cy="241402"/>
          </a:xfrm>
          <a:prstGeom prst="rect">
            <a:avLst/>
          </a:prstGeom>
        </p:spPr>
      </p:pic>
      <p:sp>
        <p:nvSpPr>
          <p:cNvPr id="11" name="Shape 7"/>
          <p:cNvSpPr/>
          <p:nvPr/>
        </p:nvSpPr>
        <p:spPr>
          <a:xfrm>
            <a:off x="3435858" y="1874520"/>
            <a:ext cx="2521458" cy="4023360"/>
          </a:xfrm>
          <a:prstGeom prst="roundRect">
            <a:avLst>
              <a:gd name="adj" fmla="val 3264"/>
            </a:avLst>
          </a:prstGeom>
          <a:solidFill>
            <a:srgbClr val="F7F9FB"/>
          </a:solidFill>
          <a:ln/>
          <a:effectLst>
            <a:outerShdw blurRad="127000" dist="38100" dir="5400000" algn="bl" rotWithShape="0">
              <a:srgbClr val="1A2233">
                <a:alpha val="16000"/>
              </a:srgbClr>
            </a:outerShdw>
          </a:effectLst>
        </p:spPr>
        <p:txBody>
          <a:bodyPr/>
          <a:lstStyle/>
          <a:p>
            <a:endParaRPr lang="en-US"/>
          </a:p>
        </p:txBody>
      </p:sp>
      <p:sp>
        <p:nvSpPr>
          <p:cNvPr id="14" name="Text 9"/>
          <p:cNvSpPr/>
          <p:nvPr/>
        </p:nvSpPr>
        <p:spPr>
          <a:xfrm>
            <a:off x="3573018" y="3291840"/>
            <a:ext cx="2247138" cy="457200"/>
          </a:xfrm>
          <a:prstGeom prst="rect">
            <a:avLst/>
          </a:prstGeom>
          <a:noFill/>
          <a:ln/>
        </p:spPr>
        <p:txBody>
          <a:bodyPr wrap="square" lIns="0" tIns="0" rIns="0" bIns="0" rtlCol="0" anchor="ctr"/>
          <a:lstStyle/>
          <a:p>
            <a:pPr marL="0" indent="0" algn="ctr">
              <a:buNone/>
            </a:pPr>
            <a:r>
              <a:rPr lang="en-US" sz="1550" b="1" dirty="0">
                <a:solidFill>
                  <a:srgbClr val="222222"/>
                </a:solidFill>
                <a:latin typeface="Calibri" pitchFamily="34" charset="0"/>
                <a:ea typeface="Calibri" pitchFamily="34" charset="-122"/>
                <a:cs typeface="Calibri" pitchFamily="34" charset="-120"/>
              </a:rPr>
              <a:t>2. Hypothesize</a:t>
            </a:r>
            <a:endParaRPr lang="en-US" sz="1550" dirty="0"/>
          </a:p>
        </p:txBody>
      </p:sp>
      <p:sp>
        <p:nvSpPr>
          <p:cNvPr id="15" name="Text 10"/>
          <p:cNvSpPr/>
          <p:nvPr/>
        </p:nvSpPr>
        <p:spPr>
          <a:xfrm>
            <a:off x="3618738" y="3840480"/>
            <a:ext cx="2155698" cy="1920240"/>
          </a:xfrm>
          <a:prstGeom prst="rect">
            <a:avLst/>
          </a:prstGeom>
          <a:noFill/>
          <a:ln/>
        </p:spPr>
        <p:txBody>
          <a:bodyPr wrap="square" lIns="0" tIns="0" rIns="0" bIns="0" rtlCol="0" anchor="ctr"/>
          <a:lstStyle/>
          <a:p>
            <a:pPr marL="0" indent="0" algn="ctr">
              <a:buNone/>
            </a:pPr>
            <a:r>
              <a:rPr lang="en-US" sz="1300" dirty="0">
                <a:solidFill>
                  <a:srgbClr val="6B7280"/>
                </a:solidFill>
                <a:latin typeface="Calibri" pitchFamily="34" charset="0"/>
                <a:ea typeface="Calibri" pitchFamily="34" charset="-122"/>
                <a:cs typeface="Calibri" pitchFamily="34" charset="-120"/>
              </a:rPr>
              <a:t>State ONE specific, testable guess about the cause.</a:t>
            </a:r>
            <a:endParaRPr lang="en-US" sz="1300" dirty="0"/>
          </a:p>
        </p:txBody>
      </p:sp>
      <p:sp>
        <p:nvSpPr>
          <p:cNvPr id="16" name="Shape 11"/>
          <p:cNvSpPr/>
          <p:nvPr/>
        </p:nvSpPr>
        <p:spPr>
          <a:xfrm>
            <a:off x="5875020" y="3666744"/>
            <a:ext cx="438912" cy="438912"/>
          </a:xfrm>
          <a:prstGeom prst="ellipse">
            <a:avLst/>
          </a:prstGeom>
          <a:solidFill>
            <a:srgbClr val="C7CEDB"/>
          </a:solidFill>
          <a:ln/>
        </p:spPr>
        <p:txBody>
          <a:bodyPr/>
          <a:lstStyle/>
          <a:p>
            <a:endParaRPr lang="en-US"/>
          </a:p>
        </p:txBody>
      </p:sp>
      <p:pic>
        <p:nvPicPr>
          <p:cNvPr id="17" name="Image 3" descr="preencoded.png"/>
          <p:cNvPicPr>
            <a:picLocks noChangeAspect="1"/>
          </p:cNvPicPr>
          <p:nvPr/>
        </p:nvPicPr>
        <p:blipFill>
          <a:blip r:embed="rId3"/>
          <a:stretch>
            <a:fillRect/>
          </a:stretch>
        </p:blipFill>
        <p:spPr>
          <a:xfrm>
            <a:off x="5973775" y="3765499"/>
            <a:ext cx="241402" cy="241402"/>
          </a:xfrm>
          <a:prstGeom prst="rect">
            <a:avLst/>
          </a:prstGeom>
        </p:spPr>
      </p:pic>
      <p:sp>
        <p:nvSpPr>
          <p:cNvPr id="18" name="Shape 12"/>
          <p:cNvSpPr/>
          <p:nvPr/>
        </p:nvSpPr>
        <p:spPr>
          <a:xfrm>
            <a:off x="6231636" y="1874520"/>
            <a:ext cx="2521458" cy="4023360"/>
          </a:xfrm>
          <a:prstGeom prst="roundRect">
            <a:avLst>
              <a:gd name="adj" fmla="val 3264"/>
            </a:avLst>
          </a:prstGeom>
          <a:solidFill>
            <a:srgbClr val="F7F9FB"/>
          </a:solidFill>
          <a:ln/>
          <a:effectLst>
            <a:outerShdw blurRad="127000" dist="38100" dir="5400000" algn="bl" rotWithShape="0">
              <a:srgbClr val="1A2233">
                <a:alpha val="16000"/>
              </a:srgbClr>
            </a:outerShdw>
          </a:effectLst>
        </p:spPr>
        <p:txBody>
          <a:bodyPr/>
          <a:lstStyle/>
          <a:p>
            <a:endParaRPr lang="en-US"/>
          </a:p>
        </p:txBody>
      </p:sp>
      <p:sp>
        <p:nvSpPr>
          <p:cNvPr id="21" name="Text 14"/>
          <p:cNvSpPr/>
          <p:nvPr/>
        </p:nvSpPr>
        <p:spPr>
          <a:xfrm>
            <a:off x="6368796" y="3291840"/>
            <a:ext cx="2247138" cy="457200"/>
          </a:xfrm>
          <a:prstGeom prst="rect">
            <a:avLst/>
          </a:prstGeom>
          <a:noFill/>
          <a:ln/>
        </p:spPr>
        <p:txBody>
          <a:bodyPr wrap="square" lIns="0" tIns="0" rIns="0" bIns="0" rtlCol="0" anchor="ctr"/>
          <a:lstStyle/>
          <a:p>
            <a:pPr marL="0" indent="0" algn="ctr">
              <a:buNone/>
            </a:pPr>
            <a:r>
              <a:rPr lang="en-US" sz="1550" b="1" dirty="0">
                <a:solidFill>
                  <a:srgbClr val="222222"/>
                </a:solidFill>
                <a:latin typeface="Calibri" pitchFamily="34" charset="0"/>
                <a:ea typeface="Calibri" pitchFamily="34" charset="-122"/>
                <a:cs typeface="Calibri" pitchFamily="34" charset="-120"/>
              </a:rPr>
              <a:t>3. Isolate &amp; Test</a:t>
            </a:r>
            <a:endParaRPr lang="en-US" sz="1550" dirty="0"/>
          </a:p>
        </p:txBody>
      </p:sp>
      <p:sp>
        <p:nvSpPr>
          <p:cNvPr id="22" name="Text 15"/>
          <p:cNvSpPr/>
          <p:nvPr/>
        </p:nvSpPr>
        <p:spPr>
          <a:xfrm>
            <a:off x="6414516" y="3840480"/>
            <a:ext cx="2155698" cy="1920240"/>
          </a:xfrm>
          <a:prstGeom prst="rect">
            <a:avLst/>
          </a:prstGeom>
          <a:noFill/>
          <a:ln/>
        </p:spPr>
        <p:txBody>
          <a:bodyPr wrap="square" lIns="0" tIns="0" rIns="0" bIns="0" rtlCol="0" anchor="ctr"/>
          <a:lstStyle/>
          <a:p>
            <a:pPr marL="0" indent="0" algn="ctr">
              <a:buNone/>
            </a:pPr>
            <a:r>
              <a:rPr lang="en-US" sz="1300" dirty="0">
                <a:solidFill>
                  <a:srgbClr val="6B7280"/>
                </a:solidFill>
                <a:latin typeface="Calibri" pitchFamily="34" charset="0"/>
                <a:ea typeface="Calibri" pitchFamily="34" charset="-122"/>
                <a:cs typeface="Calibri" pitchFamily="34" charset="-120"/>
              </a:rPr>
              <a:t>Change or check only that ONE thing. Nothing else.</a:t>
            </a:r>
            <a:endParaRPr lang="en-US" sz="1300" dirty="0"/>
          </a:p>
        </p:txBody>
      </p:sp>
      <p:sp>
        <p:nvSpPr>
          <p:cNvPr id="23" name="Shape 16"/>
          <p:cNvSpPr/>
          <p:nvPr/>
        </p:nvSpPr>
        <p:spPr>
          <a:xfrm>
            <a:off x="8670798" y="3666744"/>
            <a:ext cx="438912" cy="438912"/>
          </a:xfrm>
          <a:prstGeom prst="ellipse">
            <a:avLst/>
          </a:prstGeom>
          <a:solidFill>
            <a:srgbClr val="C7CEDB"/>
          </a:solidFill>
          <a:ln/>
        </p:spPr>
        <p:txBody>
          <a:bodyPr/>
          <a:lstStyle/>
          <a:p>
            <a:endParaRPr lang="en-US"/>
          </a:p>
        </p:txBody>
      </p:sp>
      <p:pic>
        <p:nvPicPr>
          <p:cNvPr id="24" name="Image 5" descr="preencoded.png"/>
          <p:cNvPicPr>
            <a:picLocks noChangeAspect="1"/>
          </p:cNvPicPr>
          <p:nvPr/>
        </p:nvPicPr>
        <p:blipFill>
          <a:blip r:embed="rId3"/>
          <a:stretch>
            <a:fillRect/>
          </a:stretch>
        </p:blipFill>
        <p:spPr>
          <a:xfrm>
            <a:off x="8769553" y="3765499"/>
            <a:ext cx="241402" cy="241402"/>
          </a:xfrm>
          <a:prstGeom prst="rect">
            <a:avLst/>
          </a:prstGeom>
        </p:spPr>
      </p:pic>
      <p:sp>
        <p:nvSpPr>
          <p:cNvPr id="25" name="Shape 17"/>
          <p:cNvSpPr/>
          <p:nvPr/>
        </p:nvSpPr>
        <p:spPr>
          <a:xfrm>
            <a:off x="9027414" y="1874520"/>
            <a:ext cx="2521458" cy="4023360"/>
          </a:xfrm>
          <a:prstGeom prst="roundRect">
            <a:avLst>
              <a:gd name="adj" fmla="val 3264"/>
            </a:avLst>
          </a:prstGeom>
          <a:solidFill>
            <a:srgbClr val="F7F9FB"/>
          </a:solidFill>
          <a:ln/>
          <a:effectLst>
            <a:outerShdw blurRad="127000" dist="38100" dir="5400000" algn="bl" rotWithShape="0">
              <a:srgbClr val="1A2233">
                <a:alpha val="16000"/>
              </a:srgbClr>
            </a:outerShdw>
          </a:effectLst>
        </p:spPr>
        <p:txBody>
          <a:bodyPr/>
          <a:lstStyle/>
          <a:p>
            <a:endParaRPr lang="en-US"/>
          </a:p>
        </p:txBody>
      </p:sp>
      <p:sp>
        <p:nvSpPr>
          <p:cNvPr id="28" name="Text 19"/>
          <p:cNvSpPr/>
          <p:nvPr/>
        </p:nvSpPr>
        <p:spPr>
          <a:xfrm>
            <a:off x="9164574" y="3291840"/>
            <a:ext cx="2247138" cy="457200"/>
          </a:xfrm>
          <a:prstGeom prst="rect">
            <a:avLst/>
          </a:prstGeom>
          <a:noFill/>
          <a:ln/>
        </p:spPr>
        <p:txBody>
          <a:bodyPr wrap="square" lIns="0" tIns="0" rIns="0" bIns="0" rtlCol="0" anchor="ctr"/>
          <a:lstStyle/>
          <a:p>
            <a:pPr marL="0" indent="0" algn="ctr">
              <a:buNone/>
            </a:pPr>
            <a:r>
              <a:rPr lang="en-US" sz="1550" b="1" dirty="0">
                <a:solidFill>
                  <a:srgbClr val="222222"/>
                </a:solidFill>
                <a:latin typeface="Calibri" pitchFamily="34" charset="0"/>
                <a:ea typeface="Calibri" pitchFamily="34" charset="-122"/>
                <a:cs typeface="Calibri" pitchFamily="34" charset="-120"/>
              </a:rPr>
              <a:t>4. Confirm / Reject</a:t>
            </a:r>
            <a:endParaRPr lang="en-US" sz="1550" dirty="0"/>
          </a:p>
        </p:txBody>
      </p:sp>
      <p:sp>
        <p:nvSpPr>
          <p:cNvPr id="29" name="Text 20"/>
          <p:cNvSpPr/>
          <p:nvPr/>
        </p:nvSpPr>
        <p:spPr>
          <a:xfrm>
            <a:off x="9210294" y="3840480"/>
            <a:ext cx="2155698" cy="1920240"/>
          </a:xfrm>
          <a:prstGeom prst="rect">
            <a:avLst/>
          </a:prstGeom>
          <a:noFill/>
          <a:ln/>
        </p:spPr>
        <p:txBody>
          <a:bodyPr wrap="square" lIns="0" tIns="0" rIns="0" bIns="0" rtlCol="0" anchor="ctr"/>
          <a:lstStyle/>
          <a:p>
            <a:pPr marL="0" indent="0" algn="ctr">
              <a:buNone/>
            </a:pPr>
            <a:r>
              <a:rPr lang="en-US" sz="1300" dirty="0">
                <a:solidFill>
                  <a:srgbClr val="6B7280"/>
                </a:solidFill>
                <a:latin typeface="Calibri" pitchFamily="34" charset="0"/>
                <a:ea typeface="Calibri" pitchFamily="34" charset="-122"/>
                <a:cs typeface="Calibri" pitchFamily="34" charset="-120"/>
              </a:rPr>
              <a:t>Match? You found it. No match? That's still information.</a:t>
            </a:r>
            <a:endParaRPr lang="en-US" sz="1300" dirty="0"/>
          </a:p>
        </p:txBody>
      </p:sp>
      <p:sp>
        <p:nvSpPr>
          <p:cNvPr id="30" name="Text 21"/>
          <p:cNvSpPr/>
          <p:nvPr/>
        </p:nvSpPr>
        <p:spPr>
          <a:xfrm>
            <a:off x="640080" y="6080760"/>
            <a:ext cx="10908792" cy="457200"/>
          </a:xfrm>
          <a:prstGeom prst="rect">
            <a:avLst/>
          </a:prstGeom>
          <a:noFill/>
          <a:ln/>
        </p:spPr>
        <p:txBody>
          <a:bodyPr wrap="square" lIns="0" tIns="0" rIns="0" bIns="0" rtlCol="0" anchor="ctr"/>
          <a:lstStyle/>
          <a:p>
            <a:pPr marL="0" indent="0" algn="ctr">
              <a:buNone/>
            </a:pPr>
            <a:r>
              <a:rPr lang="en-US" sz="1300" i="1" dirty="0">
                <a:solidFill>
                  <a:srgbClr val="6B7280"/>
                </a:solidFill>
                <a:latin typeface="Calibri" pitchFamily="34" charset="0"/>
                <a:ea typeface="Calibri" pitchFamily="34" charset="-122"/>
                <a:cs typeface="Calibri" pitchFamily="34" charset="-120"/>
              </a:rPr>
              <a:t>If step 2 gets skipped, students jump straight to “randomly change things and see what happens.” That's the habit we're breaking today.</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7315200" cy="320040"/>
          </a:xfrm>
          <a:prstGeom prst="rect">
            <a:avLst/>
          </a:prstGeom>
          <a:noFill/>
          <a:ln/>
        </p:spPr>
        <p:txBody>
          <a:bodyPr wrap="square" lIns="0" tIns="0" rIns="0" bIns="0" rtlCol="0" anchor="ctr"/>
          <a:lstStyle/>
          <a:p>
            <a:pPr marL="0" indent="0">
              <a:buNone/>
            </a:pPr>
            <a:r>
              <a:rPr lang="en-US" sz="1300" b="1" kern="0" spc="200" dirty="0">
                <a:solidFill>
                  <a:srgbClr val="AD8433"/>
                </a:solidFill>
                <a:latin typeface="Calibri" pitchFamily="34" charset="0"/>
                <a:ea typeface="Calibri" pitchFamily="34" charset="-122"/>
                <a:cs typeface="Calibri" pitchFamily="34" charset="-120"/>
              </a:rPr>
              <a:t>CONSOLE WINDOW · TOP TO BOTTOM</a:t>
            </a:r>
            <a:endParaRPr lang="en-US" sz="1300" dirty="0"/>
          </a:p>
        </p:txBody>
      </p:sp>
      <p:sp>
        <p:nvSpPr>
          <p:cNvPr id="3" name="Text 1"/>
          <p:cNvSpPr/>
          <p:nvPr/>
        </p:nvSpPr>
        <p:spPr>
          <a:xfrm>
            <a:off x="621792" y="658368"/>
            <a:ext cx="10908792" cy="777240"/>
          </a:xfrm>
          <a:prstGeom prst="rect">
            <a:avLst/>
          </a:prstGeom>
          <a:noFill/>
          <a:ln/>
        </p:spPr>
        <p:txBody>
          <a:bodyPr wrap="square" lIns="0" tIns="0" rIns="0" bIns="0" rtlCol="0" anchor="ctr"/>
          <a:lstStyle/>
          <a:p>
            <a:pPr marL="0" indent="0">
              <a:buNone/>
            </a:pPr>
            <a:r>
              <a:rPr lang="en-US" sz="3200" b="1" dirty="0">
                <a:solidFill>
                  <a:srgbClr val="041E42"/>
                </a:solidFill>
                <a:latin typeface="Georgia" pitchFamily="34" charset="0"/>
                <a:ea typeface="Georgia" pitchFamily="34" charset="-122"/>
                <a:cs typeface="Georgia" pitchFamily="34" charset="-120"/>
              </a:rPr>
              <a:t>Reading a Stack Trace</a:t>
            </a:r>
            <a:endParaRPr lang="en-US" sz="3200" dirty="0"/>
          </a:p>
        </p:txBody>
      </p:sp>
      <p:sp>
        <p:nvSpPr>
          <p:cNvPr id="4" name="Shape 2"/>
          <p:cNvSpPr/>
          <p:nvPr/>
        </p:nvSpPr>
        <p:spPr>
          <a:xfrm>
            <a:off x="640080" y="1691640"/>
            <a:ext cx="10908792" cy="1554480"/>
          </a:xfrm>
          <a:prstGeom prst="roundRect">
            <a:avLst>
              <a:gd name="adj" fmla="val 5294"/>
            </a:avLst>
          </a:prstGeom>
          <a:solidFill>
            <a:srgbClr val="1E1E1E"/>
          </a:solidFill>
          <a:ln/>
        </p:spPr>
        <p:txBody>
          <a:bodyPr/>
          <a:lstStyle/>
          <a:p>
            <a:endParaRPr lang="en-US"/>
          </a:p>
        </p:txBody>
      </p:sp>
      <p:sp>
        <p:nvSpPr>
          <p:cNvPr id="5" name="Text 3"/>
          <p:cNvSpPr/>
          <p:nvPr/>
        </p:nvSpPr>
        <p:spPr>
          <a:xfrm>
            <a:off x="896112" y="1874520"/>
            <a:ext cx="10396728" cy="1188720"/>
          </a:xfrm>
          <a:prstGeom prst="rect">
            <a:avLst/>
          </a:prstGeom>
          <a:noFill/>
          <a:ln/>
        </p:spPr>
        <p:txBody>
          <a:bodyPr wrap="square" lIns="0" tIns="0" rIns="0" bIns="0" rtlCol="0" anchor="t"/>
          <a:lstStyle/>
          <a:p>
            <a:pPr marL="0" indent="0">
              <a:spcAft>
                <a:spcPts val="300"/>
              </a:spcAft>
              <a:buNone/>
            </a:pPr>
            <a:r>
              <a:rPr lang="en-US" sz="1450" dirty="0">
                <a:solidFill>
                  <a:srgbClr val="F48771"/>
                </a:solidFill>
                <a:latin typeface="Consolas" pitchFamily="34" charset="0"/>
                <a:ea typeface="Consolas" pitchFamily="34" charset="-122"/>
                <a:cs typeface="Consolas" pitchFamily="34" charset="-120"/>
              </a:rPr>
              <a:t>NullReferenceException: Object reference not set to an instance of an object</a:t>
            </a:r>
            <a:endParaRPr lang="en-US" sz="1450" dirty="0"/>
          </a:p>
          <a:p>
            <a:pPr marL="0" indent="0">
              <a:spcAft>
                <a:spcPts val="300"/>
              </a:spcAft>
              <a:buNone/>
            </a:pPr>
            <a:r>
              <a:rPr lang="en-US" sz="1450" dirty="0">
                <a:solidFill>
                  <a:srgbClr val="9CDCFE"/>
                </a:solidFill>
                <a:latin typeface="Consolas" pitchFamily="34" charset="0"/>
                <a:ea typeface="Consolas" pitchFamily="34" charset="-122"/>
                <a:cs typeface="Consolas" pitchFamily="34" charset="-120"/>
              </a:rPr>
              <a:t>PlayerHealth.TakeDamage (Int32 amount) (at Assets/Scripts/PlayerHealth.cs:24)</a:t>
            </a:r>
            <a:endParaRPr lang="en-US" sz="1450" dirty="0"/>
          </a:p>
          <a:p>
            <a:pPr marL="0" indent="0">
              <a:spcAft>
                <a:spcPts val="300"/>
              </a:spcAft>
              <a:buNone/>
            </a:pPr>
            <a:r>
              <a:rPr lang="en-US" sz="1450" dirty="0">
                <a:solidFill>
                  <a:srgbClr val="D4D4D4"/>
                </a:solidFill>
                <a:latin typeface="Consolas" pitchFamily="34" charset="0"/>
                <a:ea typeface="Consolas" pitchFamily="34" charset="-122"/>
                <a:cs typeface="Consolas" pitchFamily="34" charset="-120"/>
              </a:rPr>
              <a:t>EnemyAttack.OnTriggerEnter (UnityEngine.Collider other) (at Assets/Scripts/EnemyAttack.cs:17)</a:t>
            </a:r>
            <a:endParaRPr lang="en-US" sz="1450" dirty="0"/>
          </a:p>
        </p:txBody>
      </p:sp>
      <p:sp>
        <p:nvSpPr>
          <p:cNvPr id="6" name="Shape 4"/>
          <p:cNvSpPr/>
          <p:nvPr/>
        </p:nvSpPr>
        <p:spPr>
          <a:xfrm>
            <a:off x="640080" y="3474720"/>
            <a:ext cx="502920" cy="502920"/>
          </a:xfrm>
          <a:prstGeom prst="ellipse">
            <a:avLst/>
          </a:prstGeom>
          <a:solidFill>
            <a:srgbClr val="B23A3A"/>
          </a:solidFill>
          <a:ln/>
        </p:spPr>
        <p:txBody>
          <a:bodyPr/>
          <a:lstStyle/>
          <a:p>
            <a:endParaRPr lang="en-US"/>
          </a:p>
        </p:txBody>
      </p:sp>
      <p:sp>
        <p:nvSpPr>
          <p:cNvPr id="7" name="Text 5"/>
          <p:cNvSpPr/>
          <p:nvPr/>
        </p:nvSpPr>
        <p:spPr>
          <a:xfrm>
            <a:off x="640080" y="347472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1</a:t>
            </a:r>
            <a:endParaRPr lang="en-US" sz="1800" dirty="0"/>
          </a:p>
        </p:txBody>
      </p:sp>
      <p:sp>
        <p:nvSpPr>
          <p:cNvPr id="8" name="Text 6"/>
          <p:cNvSpPr/>
          <p:nvPr/>
        </p:nvSpPr>
        <p:spPr>
          <a:xfrm>
            <a:off x="1325880" y="3410712"/>
            <a:ext cx="3108960" cy="621792"/>
          </a:xfrm>
          <a:prstGeom prst="rect">
            <a:avLst/>
          </a:prstGeom>
          <a:noFill/>
          <a:ln/>
        </p:spPr>
        <p:txBody>
          <a:bodyPr wrap="square" lIns="0" tIns="0" rIns="0" bIns="0" rtlCol="0" anchor="ctr"/>
          <a:lstStyle/>
          <a:p>
            <a:pPr marL="0" indent="0">
              <a:buNone/>
            </a:pPr>
            <a:r>
              <a:rPr lang="en-US" sz="1450" b="1" dirty="0">
                <a:solidFill>
                  <a:srgbClr val="041E42"/>
                </a:solidFill>
                <a:latin typeface="Calibri" pitchFamily="34" charset="0"/>
                <a:ea typeface="Calibri" pitchFamily="34" charset="-122"/>
                <a:cs typeface="Calibri" pitchFamily="34" charset="-120"/>
              </a:rPr>
              <a:t>The error type &amp; message</a:t>
            </a:r>
            <a:endParaRPr lang="en-US" sz="1450" dirty="0"/>
          </a:p>
        </p:txBody>
      </p:sp>
      <p:sp>
        <p:nvSpPr>
          <p:cNvPr id="9" name="Text 7"/>
          <p:cNvSpPr/>
          <p:nvPr/>
        </p:nvSpPr>
        <p:spPr>
          <a:xfrm>
            <a:off x="4572000" y="3410712"/>
            <a:ext cx="6976872" cy="621792"/>
          </a:xfrm>
          <a:prstGeom prst="rect">
            <a:avLst/>
          </a:prstGeom>
          <a:noFill/>
          <a:ln/>
        </p:spPr>
        <p:txBody>
          <a:bodyPr wrap="square" lIns="0" tIns="0" rIns="0" bIns="0" rtlCol="0" anchor="ctr"/>
          <a:lstStyle/>
          <a:p>
            <a:pPr marL="0" indent="0">
              <a:buNone/>
            </a:pPr>
            <a:r>
              <a:rPr lang="en-US" sz="1350" dirty="0">
                <a:solidFill>
                  <a:srgbClr val="6B7280"/>
                </a:solidFill>
                <a:latin typeface="Calibri" pitchFamily="34" charset="0"/>
                <a:ea typeface="Calibri" pitchFamily="34" charset="-122"/>
                <a:cs typeface="Calibri" pitchFamily="34" charset="-120"/>
              </a:rPr>
              <a:t>What KIND of failure occurred. Here: something was expected to exist, and didn't.</a:t>
            </a:r>
            <a:endParaRPr lang="en-US" sz="1350" dirty="0"/>
          </a:p>
        </p:txBody>
      </p:sp>
      <p:sp>
        <p:nvSpPr>
          <p:cNvPr id="10" name="Shape 8"/>
          <p:cNvSpPr/>
          <p:nvPr/>
        </p:nvSpPr>
        <p:spPr>
          <a:xfrm>
            <a:off x="640080" y="4370832"/>
            <a:ext cx="502920" cy="502920"/>
          </a:xfrm>
          <a:prstGeom prst="ellipse">
            <a:avLst/>
          </a:prstGeom>
          <a:solidFill>
            <a:srgbClr val="AD8433"/>
          </a:solidFill>
          <a:ln/>
        </p:spPr>
        <p:txBody>
          <a:bodyPr/>
          <a:lstStyle/>
          <a:p>
            <a:endParaRPr lang="en-US"/>
          </a:p>
        </p:txBody>
      </p:sp>
      <p:sp>
        <p:nvSpPr>
          <p:cNvPr id="11" name="Text 9"/>
          <p:cNvSpPr/>
          <p:nvPr/>
        </p:nvSpPr>
        <p:spPr>
          <a:xfrm>
            <a:off x="640080" y="4370832"/>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2</a:t>
            </a:r>
            <a:endParaRPr lang="en-US" sz="1800" dirty="0"/>
          </a:p>
        </p:txBody>
      </p:sp>
      <p:sp>
        <p:nvSpPr>
          <p:cNvPr id="12" name="Text 10"/>
          <p:cNvSpPr/>
          <p:nvPr/>
        </p:nvSpPr>
        <p:spPr>
          <a:xfrm>
            <a:off x="1325880" y="4306824"/>
            <a:ext cx="3108960" cy="621792"/>
          </a:xfrm>
          <a:prstGeom prst="rect">
            <a:avLst/>
          </a:prstGeom>
          <a:noFill/>
          <a:ln/>
        </p:spPr>
        <p:txBody>
          <a:bodyPr wrap="square" lIns="0" tIns="0" rIns="0" bIns="0" rtlCol="0" anchor="ctr"/>
          <a:lstStyle/>
          <a:p>
            <a:pPr marL="0" indent="0">
              <a:buNone/>
            </a:pPr>
            <a:r>
              <a:rPr lang="en-US" sz="1450" b="1" dirty="0">
                <a:solidFill>
                  <a:srgbClr val="041E42"/>
                </a:solidFill>
                <a:latin typeface="Calibri" pitchFamily="34" charset="0"/>
                <a:ea typeface="Calibri" pitchFamily="34" charset="-122"/>
                <a:cs typeface="Calibri" pitchFamily="34" charset="-120"/>
              </a:rPr>
              <a:t>The deepest line in YOUR code</a:t>
            </a:r>
            <a:endParaRPr lang="en-US" sz="1450" dirty="0"/>
          </a:p>
        </p:txBody>
      </p:sp>
      <p:sp>
        <p:nvSpPr>
          <p:cNvPr id="13" name="Text 11"/>
          <p:cNvSpPr/>
          <p:nvPr/>
        </p:nvSpPr>
        <p:spPr>
          <a:xfrm>
            <a:off x="4572000" y="4306824"/>
            <a:ext cx="6976872" cy="621792"/>
          </a:xfrm>
          <a:prstGeom prst="rect">
            <a:avLst/>
          </a:prstGeom>
          <a:noFill/>
          <a:ln/>
        </p:spPr>
        <p:txBody>
          <a:bodyPr wrap="square" lIns="0" tIns="0" rIns="0" bIns="0" rtlCol="0" anchor="ctr"/>
          <a:lstStyle/>
          <a:p>
            <a:pPr marL="0" indent="0">
              <a:buNone/>
            </a:pPr>
            <a:r>
              <a:rPr lang="en-US" sz="1350" dirty="0">
                <a:solidFill>
                  <a:srgbClr val="6B7280"/>
                </a:solidFill>
                <a:latin typeface="Calibri" pitchFamily="34" charset="0"/>
                <a:ea typeface="Calibri" pitchFamily="34" charset="-122"/>
                <a:cs typeface="Calibri" pitchFamily="34" charset="-120"/>
              </a:rPr>
              <a:t>PlayerHealth.cs, line 24. This is almost always where to look first.</a:t>
            </a:r>
            <a:endParaRPr lang="en-US" sz="1350" dirty="0"/>
          </a:p>
        </p:txBody>
      </p:sp>
      <p:sp>
        <p:nvSpPr>
          <p:cNvPr id="14" name="Shape 12"/>
          <p:cNvSpPr/>
          <p:nvPr/>
        </p:nvSpPr>
        <p:spPr>
          <a:xfrm>
            <a:off x="640080" y="5266944"/>
            <a:ext cx="502920" cy="502920"/>
          </a:xfrm>
          <a:prstGeom prst="ellipse">
            <a:avLst/>
          </a:prstGeom>
          <a:solidFill>
            <a:srgbClr val="1B7F8C"/>
          </a:solidFill>
          <a:ln/>
        </p:spPr>
        <p:txBody>
          <a:bodyPr/>
          <a:lstStyle/>
          <a:p>
            <a:endParaRPr lang="en-US"/>
          </a:p>
        </p:txBody>
      </p:sp>
      <p:sp>
        <p:nvSpPr>
          <p:cNvPr id="15" name="Text 13"/>
          <p:cNvSpPr/>
          <p:nvPr/>
        </p:nvSpPr>
        <p:spPr>
          <a:xfrm>
            <a:off x="640080" y="5266944"/>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3</a:t>
            </a:r>
            <a:endParaRPr lang="en-US" sz="1800" dirty="0"/>
          </a:p>
        </p:txBody>
      </p:sp>
      <p:sp>
        <p:nvSpPr>
          <p:cNvPr id="16" name="Text 14"/>
          <p:cNvSpPr/>
          <p:nvPr/>
        </p:nvSpPr>
        <p:spPr>
          <a:xfrm>
            <a:off x="1325880" y="5202936"/>
            <a:ext cx="3108960" cy="621792"/>
          </a:xfrm>
          <a:prstGeom prst="rect">
            <a:avLst/>
          </a:prstGeom>
          <a:noFill/>
          <a:ln/>
        </p:spPr>
        <p:txBody>
          <a:bodyPr wrap="square" lIns="0" tIns="0" rIns="0" bIns="0" rtlCol="0" anchor="ctr"/>
          <a:lstStyle/>
          <a:p>
            <a:pPr marL="0" indent="0">
              <a:buNone/>
            </a:pPr>
            <a:r>
              <a:rPr lang="en-US" sz="1450" b="1" dirty="0">
                <a:solidFill>
                  <a:srgbClr val="041E42"/>
                </a:solidFill>
                <a:latin typeface="Calibri" pitchFamily="34" charset="0"/>
                <a:ea typeface="Calibri" pitchFamily="34" charset="-122"/>
                <a:cs typeface="Calibri" pitchFamily="34" charset="-120"/>
              </a:rPr>
              <a:t>Who called it</a:t>
            </a:r>
            <a:endParaRPr lang="en-US" sz="1450" dirty="0"/>
          </a:p>
        </p:txBody>
      </p:sp>
      <p:sp>
        <p:nvSpPr>
          <p:cNvPr id="17" name="Text 15"/>
          <p:cNvSpPr/>
          <p:nvPr/>
        </p:nvSpPr>
        <p:spPr>
          <a:xfrm>
            <a:off x="4572000" y="5202936"/>
            <a:ext cx="6976872" cy="621792"/>
          </a:xfrm>
          <a:prstGeom prst="rect">
            <a:avLst/>
          </a:prstGeom>
          <a:noFill/>
          <a:ln/>
        </p:spPr>
        <p:txBody>
          <a:bodyPr wrap="square" lIns="0" tIns="0" rIns="0" bIns="0" rtlCol="0" anchor="ctr"/>
          <a:lstStyle/>
          <a:p>
            <a:pPr marL="0" indent="0">
              <a:buNone/>
            </a:pPr>
            <a:r>
              <a:rPr lang="en-US" sz="1350" dirty="0">
                <a:solidFill>
                  <a:srgbClr val="6B7280"/>
                </a:solidFill>
                <a:latin typeface="Calibri" pitchFamily="34" charset="0"/>
                <a:ea typeface="Calibri" pitchFamily="34" charset="-122"/>
                <a:cs typeface="Calibri" pitchFamily="34" charset="-120"/>
              </a:rPr>
              <a:t>EnemyAttack.cs triggered the call that failed. Useful context — not the fix location.</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41E42"/>
        </a:solidFill>
        <a:effectLst/>
      </p:bgPr>
    </p:bg>
    <p:spTree>
      <p:nvGrpSpPr>
        <p:cNvPr id="1" name=""/>
        <p:cNvGrpSpPr/>
        <p:nvPr/>
      </p:nvGrpSpPr>
      <p:grpSpPr>
        <a:xfrm>
          <a:off x="0" y="0"/>
          <a:ext cx="0" cy="0"/>
          <a:chOff x="0" y="0"/>
          <a:chExt cx="0" cy="0"/>
        </a:xfrm>
      </p:grpSpPr>
      <p:sp>
        <p:nvSpPr>
          <p:cNvPr id="4" name="Text 1"/>
          <p:cNvSpPr/>
          <p:nvPr/>
        </p:nvSpPr>
        <p:spPr>
          <a:xfrm>
            <a:off x="457200" y="1234440"/>
            <a:ext cx="9966960" cy="320040"/>
          </a:xfrm>
          <a:prstGeom prst="rect">
            <a:avLst/>
          </a:prstGeom>
          <a:noFill/>
          <a:ln/>
        </p:spPr>
        <p:txBody>
          <a:bodyPr wrap="square" lIns="0" tIns="0" rIns="0" bIns="0" rtlCol="0" anchor="ctr"/>
          <a:lstStyle/>
          <a:p>
            <a:pPr marL="0" indent="0">
              <a:buNone/>
            </a:pPr>
            <a:r>
              <a:rPr lang="en-US" sz="1300" b="1" kern="0" spc="200" dirty="0">
                <a:solidFill>
                  <a:srgbClr val="D2AA4B"/>
                </a:solidFill>
                <a:latin typeface="Calibri" pitchFamily="34" charset="0"/>
                <a:ea typeface="Calibri" pitchFamily="34" charset="-122"/>
                <a:cs typeface="Calibri" pitchFamily="34" charset="-120"/>
              </a:rPr>
              <a:t>WATCH FOR THIS</a:t>
            </a:r>
            <a:endParaRPr lang="en-US" sz="1300" dirty="0"/>
          </a:p>
        </p:txBody>
      </p:sp>
      <p:sp>
        <p:nvSpPr>
          <p:cNvPr id="5" name="Text 2"/>
          <p:cNvSpPr/>
          <p:nvPr/>
        </p:nvSpPr>
        <p:spPr>
          <a:xfrm>
            <a:off x="457200" y="1600200"/>
            <a:ext cx="11018520" cy="1188720"/>
          </a:xfrm>
          <a:prstGeom prst="rect">
            <a:avLst/>
          </a:prstGeom>
          <a:noFill/>
          <a:ln/>
        </p:spPr>
        <p:txBody>
          <a:bodyPr wrap="square" lIns="0" tIns="0" rIns="0" bIns="0" rtlCol="0" anchor="ctr"/>
          <a:lstStyle/>
          <a:p>
            <a:pPr marL="0" indent="0">
              <a:lnSpc>
                <a:spcPct val="105000"/>
              </a:lnSpc>
              <a:buNone/>
            </a:pPr>
            <a:r>
              <a:rPr lang="en-US" sz="2800" b="1" dirty="0">
                <a:solidFill>
                  <a:srgbClr val="FFFFFF"/>
                </a:solidFill>
                <a:latin typeface="Georgia" pitchFamily="34" charset="0"/>
                <a:ea typeface="Georgia" pitchFamily="34" charset="-122"/>
                <a:cs typeface="Georgia" pitchFamily="34" charset="-120"/>
              </a:rPr>
              <a:t>“It says null reference, so</a:t>
            </a:r>
            <a:endParaRPr lang="en-US" sz="2800" dirty="0"/>
          </a:p>
          <a:p>
            <a:pPr marL="0" indent="0">
              <a:lnSpc>
                <a:spcPct val="105000"/>
              </a:lnSpc>
              <a:buNone/>
            </a:pPr>
            <a:r>
              <a:rPr lang="en-US" sz="2800" b="1" dirty="0">
                <a:solidFill>
                  <a:srgbClr val="FFFFFF"/>
                </a:solidFill>
                <a:latin typeface="Georgia" pitchFamily="34" charset="0"/>
                <a:ea typeface="Georgia" pitchFamily="34" charset="-122"/>
                <a:cs typeface="Georgia" pitchFamily="34" charset="-120"/>
              </a:rPr>
              <a:t>something is null.”</a:t>
            </a:r>
            <a:endParaRPr lang="en-US" sz="2800" dirty="0"/>
          </a:p>
        </p:txBody>
      </p:sp>
      <p:sp>
        <p:nvSpPr>
          <p:cNvPr id="6" name="Text 3"/>
          <p:cNvSpPr/>
          <p:nvPr/>
        </p:nvSpPr>
        <p:spPr>
          <a:xfrm>
            <a:off x="457200" y="2971800"/>
            <a:ext cx="10972800" cy="1188720"/>
          </a:xfrm>
          <a:prstGeom prst="rect">
            <a:avLst/>
          </a:prstGeom>
          <a:noFill/>
          <a:ln/>
        </p:spPr>
        <p:txBody>
          <a:bodyPr wrap="square" lIns="0" tIns="0" rIns="0" bIns="0" rtlCol="0" anchor="ctr"/>
          <a:lstStyle/>
          <a:p>
            <a:pPr marL="0" indent="0">
              <a:buNone/>
            </a:pPr>
            <a:r>
              <a:rPr lang="en-US" sz="1700" dirty="0">
                <a:solidFill>
                  <a:srgbClr val="D7E1F4"/>
                </a:solidFill>
                <a:latin typeface="Calibri" pitchFamily="34" charset="0"/>
                <a:ea typeface="Calibri" pitchFamily="34" charset="-122"/>
                <a:cs typeface="Calibri" pitchFamily="34" charset="-120"/>
              </a:rPr>
              <a:t>That's the message, not the answer. The message tells you the KIND of problem. Line 24 tells you WHICH variable is unassigned. Reading the message and stopping there is the #1 way students get stuck.</a:t>
            </a:r>
            <a:endParaRPr lang="en-US" sz="1700" dirty="0"/>
          </a:p>
        </p:txBody>
      </p:sp>
      <p:sp>
        <p:nvSpPr>
          <p:cNvPr id="7" name="Shape 4"/>
          <p:cNvSpPr/>
          <p:nvPr/>
        </p:nvSpPr>
        <p:spPr>
          <a:xfrm>
            <a:off x="457200" y="4343400"/>
            <a:ext cx="10927080" cy="1371600"/>
          </a:xfrm>
          <a:prstGeom prst="roundRect">
            <a:avLst>
              <a:gd name="adj" fmla="val 6000"/>
            </a:avLst>
          </a:prstGeom>
          <a:solidFill>
            <a:srgbClr val="0F3672"/>
          </a:solidFill>
          <a:ln/>
          <a:effectLst>
            <a:outerShdw blurRad="127000" dist="38100" dir="5400000" algn="bl" rotWithShape="0">
              <a:srgbClr val="1A2233">
                <a:alpha val="16000"/>
              </a:srgbClr>
            </a:outerShdw>
          </a:effectLst>
        </p:spPr>
        <p:txBody>
          <a:bodyPr/>
          <a:lstStyle/>
          <a:p>
            <a:endParaRPr lang="en-US"/>
          </a:p>
        </p:txBody>
      </p:sp>
      <p:sp>
        <p:nvSpPr>
          <p:cNvPr id="8" name="Text 5"/>
          <p:cNvSpPr/>
          <p:nvPr/>
        </p:nvSpPr>
        <p:spPr>
          <a:xfrm>
            <a:off x="612949" y="4343400"/>
            <a:ext cx="10497011" cy="1371600"/>
          </a:xfrm>
          <a:prstGeom prst="rect">
            <a:avLst/>
          </a:prstGeom>
          <a:noFill/>
          <a:ln/>
        </p:spPr>
        <p:txBody>
          <a:bodyPr wrap="square" lIns="0" tIns="0" rIns="0" bIns="0" rtlCol="0" anchor="ctr"/>
          <a:lstStyle/>
          <a:p>
            <a:pPr marL="0" indent="0">
              <a:buNone/>
            </a:pPr>
            <a:r>
              <a:rPr lang="en-US" sz="1500" i="1" dirty="0">
                <a:solidFill>
                  <a:srgbClr val="D2AA4B"/>
                </a:solidFill>
                <a:latin typeface="Calibri" pitchFamily="34" charset="0"/>
                <a:ea typeface="Calibri" pitchFamily="34" charset="-122"/>
                <a:cs typeface="Calibri" pitchFamily="34" charset="-120"/>
              </a:rPr>
              <a:t>Fix the habit: open the file. Go to the exact line. Ask “what on this line could be unassigned?” before writing any new code.</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7315200" cy="320040"/>
          </a:xfrm>
          <a:prstGeom prst="rect">
            <a:avLst/>
          </a:prstGeom>
          <a:noFill/>
          <a:ln/>
        </p:spPr>
        <p:txBody>
          <a:bodyPr wrap="square" lIns="0" tIns="0" rIns="0" bIns="0" rtlCol="0" anchor="ctr"/>
          <a:lstStyle/>
          <a:p>
            <a:pPr marL="0" indent="0">
              <a:buNone/>
            </a:pPr>
            <a:r>
              <a:rPr lang="en-US" sz="1300" b="1" kern="0" spc="200" dirty="0">
                <a:solidFill>
                  <a:srgbClr val="AD8433"/>
                </a:solidFill>
                <a:latin typeface="Calibri" pitchFamily="34" charset="0"/>
                <a:ea typeface="Calibri" pitchFamily="34" charset="-122"/>
                <a:cs typeface="Calibri" pitchFamily="34" charset="-120"/>
              </a:rPr>
              <a:t>WINDOW → ANALYSIS → PROFILER</a:t>
            </a:r>
            <a:endParaRPr lang="en-US" sz="1300" dirty="0"/>
          </a:p>
        </p:txBody>
      </p:sp>
      <p:sp>
        <p:nvSpPr>
          <p:cNvPr id="3" name="Text 1"/>
          <p:cNvSpPr/>
          <p:nvPr/>
        </p:nvSpPr>
        <p:spPr>
          <a:xfrm>
            <a:off x="621792" y="658368"/>
            <a:ext cx="10908792" cy="777240"/>
          </a:xfrm>
          <a:prstGeom prst="rect">
            <a:avLst/>
          </a:prstGeom>
          <a:noFill/>
          <a:ln/>
        </p:spPr>
        <p:txBody>
          <a:bodyPr wrap="square" lIns="0" tIns="0" rIns="0" bIns="0" rtlCol="0" anchor="ctr"/>
          <a:lstStyle/>
          <a:p>
            <a:pPr marL="0" indent="0">
              <a:buNone/>
            </a:pPr>
            <a:r>
              <a:rPr lang="en-US" sz="3200" b="1" dirty="0">
                <a:solidFill>
                  <a:srgbClr val="041E42"/>
                </a:solidFill>
                <a:latin typeface="Georgia" pitchFamily="34" charset="0"/>
                <a:ea typeface="Georgia" pitchFamily="34" charset="-122"/>
                <a:cs typeface="Georgia" pitchFamily="34" charset="-120"/>
              </a:rPr>
              <a:t>Meet the Profiler</a:t>
            </a:r>
            <a:endParaRPr lang="en-US" sz="3200" dirty="0"/>
          </a:p>
        </p:txBody>
      </p:sp>
      <p:sp>
        <p:nvSpPr>
          <p:cNvPr id="4" name="Text 2"/>
          <p:cNvSpPr/>
          <p:nvPr/>
        </p:nvSpPr>
        <p:spPr>
          <a:xfrm>
            <a:off x="640080" y="1417320"/>
            <a:ext cx="10908792" cy="548640"/>
          </a:xfrm>
          <a:prstGeom prst="rect">
            <a:avLst/>
          </a:prstGeom>
          <a:noFill/>
          <a:ln/>
        </p:spPr>
        <p:txBody>
          <a:bodyPr wrap="square" lIns="0" tIns="0" rIns="0" bIns="0" rtlCol="0" anchor="ctr"/>
          <a:lstStyle/>
          <a:p>
            <a:pPr marL="0" indent="0">
              <a:buNone/>
            </a:pPr>
            <a:r>
              <a:rPr lang="en-US" sz="1600" dirty="0">
                <a:solidFill>
                  <a:srgbClr val="6B7280"/>
                </a:solidFill>
                <a:latin typeface="Calibri" pitchFamily="34" charset="0"/>
                <a:ea typeface="Calibri" pitchFamily="34" charset="-122"/>
                <a:cs typeface="Calibri" pitchFamily="34" charset="-120"/>
              </a:rPr>
              <a:t>A stack trace tells you WHAT crashed. The Profiler tells you what's SLOW — even when nothing technically breaks.</a:t>
            </a:r>
            <a:endParaRPr lang="en-US" sz="1600" dirty="0"/>
          </a:p>
        </p:txBody>
      </p:sp>
      <p:sp>
        <p:nvSpPr>
          <p:cNvPr id="5" name="Shape 3"/>
          <p:cNvSpPr/>
          <p:nvPr/>
        </p:nvSpPr>
        <p:spPr>
          <a:xfrm>
            <a:off x="640080" y="2148840"/>
            <a:ext cx="10908792" cy="2880360"/>
          </a:xfrm>
          <a:prstGeom prst="roundRect">
            <a:avLst>
              <a:gd name="adj" fmla="val 2857"/>
            </a:avLst>
          </a:prstGeom>
          <a:solidFill>
            <a:srgbClr val="16213A"/>
          </a:solidFill>
          <a:ln/>
          <a:effectLst>
            <a:outerShdw blurRad="127000" dist="38100" dir="5400000" algn="bl" rotWithShape="0">
              <a:srgbClr val="1A2233">
                <a:alpha val="16000"/>
              </a:srgbClr>
            </a:outerShdw>
          </a:effectLst>
        </p:spPr>
        <p:txBody>
          <a:bodyPr/>
          <a:lstStyle/>
          <a:p>
            <a:endParaRPr lang="en-US"/>
          </a:p>
        </p:txBody>
      </p:sp>
      <p:sp>
        <p:nvSpPr>
          <p:cNvPr id="6" name="Text 4"/>
          <p:cNvSpPr/>
          <p:nvPr/>
        </p:nvSpPr>
        <p:spPr>
          <a:xfrm>
            <a:off x="914400" y="2286000"/>
            <a:ext cx="5486400" cy="320040"/>
          </a:xfrm>
          <a:prstGeom prst="rect">
            <a:avLst/>
          </a:prstGeom>
          <a:noFill/>
          <a:ln/>
        </p:spPr>
        <p:txBody>
          <a:bodyPr wrap="square" lIns="0" tIns="0" rIns="0" bIns="0" rtlCol="0" anchor="ctr"/>
          <a:lstStyle/>
          <a:p>
            <a:pPr marL="0" indent="0">
              <a:buNone/>
            </a:pPr>
            <a:r>
              <a:rPr lang="en-US" sz="1200" b="1" kern="0" spc="100" dirty="0">
                <a:solidFill>
                  <a:srgbClr val="8CA1CE"/>
                </a:solidFill>
                <a:latin typeface="Calibri" pitchFamily="34" charset="0"/>
                <a:ea typeface="Calibri" pitchFamily="34" charset="-122"/>
                <a:cs typeface="Calibri" pitchFamily="34" charset="-120"/>
              </a:rPr>
              <a:t>CPU USAGE  ·  frame time (ms)</a:t>
            </a:r>
            <a:endParaRPr lang="en-US" sz="1200" dirty="0"/>
          </a:p>
        </p:txBody>
      </p:sp>
      <p:sp>
        <p:nvSpPr>
          <p:cNvPr id="7" name="Shape 5"/>
          <p:cNvSpPr/>
          <p:nvPr/>
        </p:nvSpPr>
        <p:spPr>
          <a:xfrm>
            <a:off x="1005840" y="4305861"/>
            <a:ext cx="347472" cy="403299"/>
          </a:xfrm>
          <a:prstGeom prst="roundRect">
            <a:avLst>
              <a:gd name="adj" fmla="val 7895"/>
            </a:avLst>
          </a:prstGeom>
          <a:solidFill>
            <a:srgbClr val="4C8BF5"/>
          </a:solidFill>
          <a:ln/>
        </p:spPr>
        <p:txBody>
          <a:bodyPr/>
          <a:lstStyle/>
          <a:p>
            <a:endParaRPr lang="en-US"/>
          </a:p>
        </p:txBody>
      </p:sp>
      <p:sp>
        <p:nvSpPr>
          <p:cNvPr id="8" name="Shape 6"/>
          <p:cNvSpPr/>
          <p:nvPr/>
        </p:nvSpPr>
        <p:spPr>
          <a:xfrm>
            <a:off x="1517904" y="4276745"/>
            <a:ext cx="347472" cy="432415"/>
          </a:xfrm>
          <a:prstGeom prst="roundRect">
            <a:avLst>
              <a:gd name="adj" fmla="val 7895"/>
            </a:avLst>
          </a:prstGeom>
          <a:solidFill>
            <a:srgbClr val="4C8BF5"/>
          </a:solidFill>
          <a:ln/>
        </p:spPr>
        <p:txBody>
          <a:bodyPr/>
          <a:lstStyle/>
          <a:p>
            <a:endParaRPr lang="en-US"/>
          </a:p>
        </p:txBody>
      </p:sp>
      <p:sp>
        <p:nvSpPr>
          <p:cNvPr id="9" name="Shape 7"/>
          <p:cNvSpPr/>
          <p:nvPr/>
        </p:nvSpPr>
        <p:spPr>
          <a:xfrm>
            <a:off x="2029968" y="4294215"/>
            <a:ext cx="347472" cy="414945"/>
          </a:xfrm>
          <a:prstGeom prst="roundRect">
            <a:avLst>
              <a:gd name="adj" fmla="val 7895"/>
            </a:avLst>
          </a:prstGeom>
          <a:solidFill>
            <a:srgbClr val="4C8BF5"/>
          </a:solidFill>
          <a:ln/>
        </p:spPr>
        <p:txBody>
          <a:bodyPr/>
          <a:lstStyle/>
          <a:p>
            <a:endParaRPr lang="en-US"/>
          </a:p>
        </p:txBody>
      </p:sp>
      <p:sp>
        <p:nvSpPr>
          <p:cNvPr id="10" name="Shape 8"/>
          <p:cNvSpPr/>
          <p:nvPr/>
        </p:nvSpPr>
        <p:spPr>
          <a:xfrm>
            <a:off x="2542032" y="4305861"/>
            <a:ext cx="347472" cy="403299"/>
          </a:xfrm>
          <a:prstGeom prst="roundRect">
            <a:avLst>
              <a:gd name="adj" fmla="val 7895"/>
            </a:avLst>
          </a:prstGeom>
          <a:solidFill>
            <a:srgbClr val="4C8BF5"/>
          </a:solidFill>
          <a:ln/>
        </p:spPr>
        <p:txBody>
          <a:bodyPr/>
          <a:lstStyle/>
          <a:p>
            <a:endParaRPr lang="en-US"/>
          </a:p>
        </p:txBody>
      </p:sp>
      <p:sp>
        <p:nvSpPr>
          <p:cNvPr id="11" name="Shape 9"/>
          <p:cNvSpPr/>
          <p:nvPr/>
        </p:nvSpPr>
        <p:spPr>
          <a:xfrm>
            <a:off x="3054096" y="3374136"/>
            <a:ext cx="347472" cy="1335024"/>
          </a:xfrm>
          <a:prstGeom prst="roundRect">
            <a:avLst>
              <a:gd name="adj" fmla="val 7895"/>
            </a:avLst>
          </a:prstGeom>
          <a:solidFill>
            <a:srgbClr val="E07A5F"/>
          </a:solidFill>
          <a:ln/>
        </p:spPr>
        <p:txBody>
          <a:bodyPr/>
          <a:lstStyle/>
          <a:p>
            <a:endParaRPr lang="en-US"/>
          </a:p>
        </p:txBody>
      </p:sp>
      <p:sp>
        <p:nvSpPr>
          <p:cNvPr id="12" name="Shape 10"/>
          <p:cNvSpPr/>
          <p:nvPr/>
        </p:nvSpPr>
        <p:spPr>
          <a:xfrm>
            <a:off x="3566160" y="3461485"/>
            <a:ext cx="347472" cy="1247675"/>
          </a:xfrm>
          <a:prstGeom prst="roundRect">
            <a:avLst>
              <a:gd name="adj" fmla="val 7895"/>
            </a:avLst>
          </a:prstGeom>
          <a:solidFill>
            <a:srgbClr val="E07A5F"/>
          </a:solidFill>
          <a:ln/>
        </p:spPr>
        <p:txBody>
          <a:bodyPr/>
          <a:lstStyle/>
          <a:p>
            <a:endParaRPr lang="en-US"/>
          </a:p>
        </p:txBody>
      </p:sp>
      <p:sp>
        <p:nvSpPr>
          <p:cNvPr id="13" name="Shape 11"/>
          <p:cNvSpPr/>
          <p:nvPr/>
        </p:nvSpPr>
        <p:spPr>
          <a:xfrm>
            <a:off x="4078224" y="4282568"/>
            <a:ext cx="347472" cy="426592"/>
          </a:xfrm>
          <a:prstGeom prst="roundRect">
            <a:avLst>
              <a:gd name="adj" fmla="val 7895"/>
            </a:avLst>
          </a:prstGeom>
          <a:solidFill>
            <a:srgbClr val="4C8BF5"/>
          </a:solidFill>
          <a:ln/>
        </p:spPr>
        <p:txBody>
          <a:bodyPr/>
          <a:lstStyle/>
          <a:p>
            <a:endParaRPr lang="en-US"/>
          </a:p>
        </p:txBody>
      </p:sp>
      <p:sp>
        <p:nvSpPr>
          <p:cNvPr id="14" name="Shape 12"/>
          <p:cNvSpPr/>
          <p:nvPr/>
        </p:nvSpPr>
        <p:spPr>
          <a:xfrm>
            <a:off x="4590288" y="4305861"/>
            <a:ext cx="347472" cy="403299"/>
          </a:xfrm>
          <a:prstGeom prst="roundRect">
            <a:avLst>
              <a:gd name="adj" fmla="val 7895"/>
            </a:avLst>
          </a:prstGeom>
          <a:solidFill>
            <a:srgbClr val="4C8BF5"/>
          </a:solidFill>
          <a:ln/>
        </p:spPr>
        <p:txBody>
          <a:bodyPr/>
          <a:lstStyle/>
          <a:p>
            <a:endParaRPr lang="en-US"/>
          </a:p>
        </p:txBody>
      </p:sp>
      <p:sp>
        <p:nvSpPr>
          <p:cNvPr id="15" name="Shape 13"/>
          <p:cNvSpPr/>
          <p:nvPr/>
        </p:nvSpPr>
        <p:spPr>
          <a:xfrm>
            <a:off x="5102352" y="4294215"/>
            <a:ext cx="347472" cy="414945"/>
          </a:xfrm>
          <a:prstGeom prst="roundRect">
            <a:avLst>
              <a:gd name="adj" fmla="val 7895"/>
            </a:avLst>
          </a:prstGeom>
          <a:solidFill>
            <a:srgbClr val="4C8BF5"/>
          </a:solidFill>
          <a:ln/>
        </p:spPr>
        <p:txBody>
          <a:bodyPr/>
          <a:lstStyle/>
          <a:p>
            <a:endParaRPr lang="en-US"/>
          </a:p>
        </p:txBody>
      </p:sp>
      <p:sp>
        <p:nvSpPr>
          <p:cNvPr id="16" name="Text 14"/>
          <p:cNvSpPr/>
          <p:nvPr/>
        </p:nvSpPr>
        <p:spPr>
          <a:xfrm>
            <a:off x="4572000" y="3178293"/>
            <a:ext cx="3840480" cy="548640"/>
          </a:xfrm>
          <a:prstGeom prst="rect">
            <a:avLst/>
          </a:prstGeom>
          <a:noFill/>
          <a:ln/>
        </p:spPr>
        <p:txBody>
          <a:bodyPr wrap="square" lIns="0" tIns="0" rIns="0" bIns="0" rtlCol="0" anchor="ctr"/>
          <a:lstStyle/>
          <a:p>
            <a:pPr marL="0" indent="0">
              <a:buNone/>
            </a:pPr>
            <a:r>
              <a:rPr lang="en-US" sz="1300" i="1" dirty="0">
                <a:solidFill>
                  <a:srgbClr val="F4C08C"/>
                </a:solidFill>
                <a:latin typeface="Calibri" pitchFamily="34" charset="0"/>
                <a:ea typeface="Calibri" pitchFamily="34" charset="-122"/>
                <a:cs typeface="Calibri" pitchFamily="34" charset="-120"/>
              </a:rPr>
              <a:t>← spike: this frame took 46ms instead of ~9ms</a:t>
            </a:r>
            <a:endParaRPr lang="en-US" sz="1300" dirty="0"/>
          </a:p>
        </p:txBody>
      </p:sp>
      <p:sp>
        <p:nvSpPr>
          <p:cNvPr id="17" name="Text 15"/>
          <p:cNvSpPr/>
          <p:nvPr/>
        </p:nvSpPr>
        <p:spPr>
          <a:xfrm>
            <a:off x="914400" y="4642336"/>
            <a:ext cx="10360152" cy="365760"/>
          </a:xfrm>
          <a:prstGeom prst="rect">
            <a:avLst/>
          </a:prstGeom>
          <a:noFill/>
          <a:ln/>
        </p:spPr>
        <p:txBody>
          <a:bodyPr wrap="square" lIns="0" tIns="0" rIns="0" bIns="0" rtlCol="0" anchor="ctr"/>
          <a:lstStyle/>
          <a:p>
            <a:pPr marL="0" indent="0">
              <a:buNone/>
            </a:pPr>
            <a:r>
              <a:rPr lang="en-US" sz="1300" dirty="0">
                <a:solidFill>
                  <a:srgbClr val="AAB4D6"/>
                </a:solidFill>
                <a:latin typeface="Calibri" pitchFamily="34" charset="0"/>
                <a:ea typeface="Calibri" pitchFamily="34" charset="-122"/>
                <a:cs typeface="Calibri" pitchFamily="34" charset="-120"/>
              </a:rPr>
              <a:t>Click any spike in the timeline to see exactly which function ate that frame's time.</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9FB"/>
        </a:solidFill>
        <a:effectLst/>
      </p:bgPr>
    </p:bg>
    <p:spTree>
      <p:nvGrpSpPr>
        <p:cNvPr id="1" name=""/>
        <p:cNvGrpSpPr/>
        <p:nvPr/>
      </p:nvGrpSpPr>
      <p:grpSpPr>
        <a:xfrm>
          <a:off x="0" y="0"/>
          <a:ext cx="0" cy="0"/>
          <a:chOff x="0" y="0"/>
          <a:chExt cx="0" cy="0"/>
        </a:xfrm>
      </p:grpSpPr>
      <p:sp>
        <p:nvSpPr>
          <p:cNvPr id="2" name="Text 0"/>
          <p:cNvSpPr/>
          <p:nvPr/>
        </p:nvSpPr>
        <p:spPr>
          <a:xfrm>
            <a:off x="640080" y="411480"/>
            <a:ext cx="7315200" cy="320040"/>
          </a:xfrm>
          <a:prstGeom prst="rect">
            <a:avLst/>
          </a:prstGeom>
          <a:noFill/>
          <a:ln/>
        </p:spPr>
        <p:txBody>
          <a:bodyPr wrap="square" lIns="0" tIns="0" rIns="0" bIns="0" rtlCol="0" anchor="ctr"/>
          <a:lstStyle/>
          <a:p>
            <a:pPr marL="0" indent="0">
              <a:buNone/>
            </a:pPr>
            <a:r>
              <a:rPr lang="en-US" sz="1300" b="1" kern="0" spc="200" dirty="0">
                <a:solidFill>
                  <a:srgbClr val="AD8433"/>
                </a:solidFill>
                <a:latin typeface="Calibri" pitchFamily="34" charset="0"/>
                <a:ea typeface="Calibri" pitchFamily="34" charset="-122"/>
                <a:cs typeface="Calibri" pitchFamily="34" charset="-120"/>
              </a:rPr>
              <a:t>MATH CONNECTION · A RATE, BOTH DIRECTIONS</a:t>
            </a:r>
            <a:endParaRPr lang="en-US" sz="1300" dirty="0"/>
          </a:p>
        </p:txBody>
      </p:sp>
      <p:sp>
        <p:nvSpPr>
          <p:cNvPr id="3" name="Text 1"/>
          <p:cNvSpPr/>
          <p:nvPr/>
        </p:nvSpPr>
        <p:spPr>
          <a:xfrm>
            <a:off x="621792" y="658368"/>
            <a:ext cx="10908792" cy="777240"/>
          </a:xfrm>
          <a:prstGeom prst="rect">
            <a:avLst/>
          </a:prstGeom>
          <a:noFill/>
          <a:ln/>
        </p:spPr>
        <p:txBody>
          <a:bodyPr wrap="square" lIns="0" tIns="0" rIns="0" bIns="0" rtlCol="0" anchor="ctr"/>
          <a:lstStyle/>
          <a:p>
            <a:pPr marL="0" indent="0">
              <a:buNone/>
            </a:pPr>
            <a:r>
              <a:rPr lang="en-US" sz="3200" b="1" dirty="0">
                <a:solidFill>
                  <a:srgbClr val="041E42"/>
                </a:solidFill>
                <a:latin typeface="Georgia" pitchFamily="34" charset="0"/>
                <a:ea typeface="Georgia" pitchFamily="34" charset="-122"/>
                <a:cs typeface="Georgia" pitchFamily="34" charset="-120"/>
              </a:rPr>
              <a:t>Frame Time FPS</a:t>
            </a:r>
            <a:endParaRPr lang="en-US" sz="3200" dirty="0"/>
          </a:p>
        </p:txBody>
      </p:sp>
      <p:sp>
        <p:nvSpPr>
          <p:cNvPr id="4" name="Shape 2"/>
          <p:cNvSpPr/>
          <p:nvPr/>
        </p:nvSpPr>
        <p:spPr>
          <a:xfrm>
            <a:off x="640080" y="1783080"/>
            <a:ext cx="10908792" cy="1371600"/>
          </a:xfrm>
          <a:prstGeom prst="roundRect">
            <a:avLst>
              <a:gd name="adj" fmla="val 6000"/>
            </a:avLst>
          </a:prstGeom>
          <a:solidFill>
            <a:srgbClr val="041E42"/>
          </a:solidFill>
          <a:ln/>
          <a:effectLst>
            <a:outerShdw blurRad="127000" dist="38100" dir="5400000" algn="bl" rotWithShape="0">
              <a:srgbClr val="1A2233">
                <a:alpha val="16000"/>
              </a:srgbClr>
            </a:outerShdw>
          </a:effectLst>
        </p:spPr>
        <p:txBody>
          <a:bodyPr/>
          <a:lstStyle/>
          <a:p>
            <a:endParaRPr lang="en-US"/>
          </a:p>
        </p:txBody>
      </p:sp>
      <p:sp>
        <p:nvSpPr>
          <p:cNvPr id="5" name="Text 3"/>
          <p:cNvSpPr/>
          <p:nvPr/>
        </p:nvSpPr>
        <p:spPr>
          <a:xfrm>
            <a:off x="640080" y="1783080"/>
            <a:ext cx="10908792" cy="1371600"/>
          </a:xfrm>
          <a:prstGeom prst="rect">
            <a:avLst/>
          </a:prstGeom>
          <a:noFill/>
          <a:ln/>
        </p:spPr>
        <p:txBody>
          <a:bodyPr wrap="square" lIns="0" tIns="0" rIns="0" bIns="0" rtlCol="0" anchor="ctr"/>
          <a:lstStyle/>
          <a:p>
            <a:pPr marL="0" indent="0" algn="ctr">
              <a:buNone/>
            </a:pPr>
            <a:r>
              <a:rPr lang="en-US" sz="3200" b="1" dirty="0">
                <a:solidFill>
                  <a:srgbClr val="D2AA4B"/>
                </a:solidFill>
                <a:latin typeface="Georgia" pitchFamily="34" charset="0"/>
                <a:ea typeface="Georgia" pitchFamily="34" charset="-122"/>
                <a:cs typeface="Georgia" pitchFamily="34" charset="-120"/>
              </a:rPr>
              <a:t>FPS  =  1000 ÷ frame time (ms)</a:t>
            </a:r>
            <a:endParaRPr lang="en-US" sz="3200" dirty="0"/>
          </a:p>
        </p:txBody>
      </p:sp>
      <p:sp>
        <p:nvSpPr>
          <p:cNvPr id="6" name="Shape 4"/>
          <p:cNvSpPr/>
          <p:nvPr/>
        </p:nvSpPr>
        <p:spPr>
          <a:xfrm>
            <a:off x="640080" y="3429000"/>
            <a:ext cx="3422904" cy="1920240"/>
          </a:xfrm>
          <a:prstGeom prst="roundRect">
            <a:avLst>
              <a:gd name="adj" fmla="val 4286"/>
            </a:avLst>
          </a:prstGeom>
          <a:solidFill>
            <a:srgbClr val="FFFFFF"/>
          </a:solidFill>
          <a:ln/>
          <a:effectLst>
            <a:outerShdw blurRad="127000" dist="38100" dir="5400000" algn="bl" rotWithShape="0">
              <a:srgbClr val="1A2233">
                <a:alpha val="16000"/>
              </a:srgbClr>
            </a:outerShdw>
          </a:effectLst>
        </p:spPr>
        <p:txBody>
          <a:bodyPr/>
          <a:lstStyle/>
          <a:p>
            <a:endParaRPr lang="en-US"/>
          </a:p>
        </p:txBody>
      </p:sp>
      <p:sp>
        <p:nvSpPr>
          <p:cNvPr id="7" name="Text 5"/>
          <p:cNvSpPr/>
          <p:nvPr/>
        </p:nvSpPr>
        <p:spPr>
          <a:xfrm>
            <a:off x="822960" y="3611880"/>
            <a:ext cx="3057144" cy="457200"/>
          </a:xfrm>
          <a:prstGeom prst="rect">
            <a:avLst/>
          </a:prstGeom>
          <a:noFill/>
          <a:ln/>
        </p:spPr>
        <p:txBody>
          <a:bodyPr wrap="square" lIns="0" tIns="0" rIns="0" bIns="0" rtlCol="0" anchor="ctr"/>
          <a:lstStyle/>
          <a:p>
            <a:pPr marL="0" indent="0" algn="ctr">
              <a:buNone/>
            </a:pPr>
            <a:r>
              <a:rPr lang="en-US" sz="1500" b="1" dirty="0">
                <a:solidFill>
                  <a:srgbClr val="041E42"/>
                </a:solidFill>
                <a:latin typeface="Calibri" pitchFamily="34" charset="0"/>
                <a:ea typeface="Calibri" pitchFamily="34" charset="-122"/>
                <a:cs typeface="Calibri" pitchFamily="34" charset="-120"/>
              </a:rPr>
              <a:t>8 ms per frame</a:t>
            </a:r>
            <a:endParaRPr lang="en-US" sz="1500" dirty="0"/>
          </a:p>
        </p:txBody>
      </p:sp>
      <p:sp>
        <p:nvSpPr>
          <p:cNvPr id="8" name="Text 6"/>
          <p:cNvSpPr/>
          <p:nvPr/>
        </p:nvSpPr>
        <p:spPr>
          <a:xfrm>
            <a:off x="822960" y="4114800"/>
            <a:ext cx="3057144" cy="411480"/>
          </a:xfrm>
          <a:prstGeom prst="rect">
            <a:avLst/>
          </a:prstGeom>
          <a:noFill/>
          <a:ln/>
        </p:spPr>
        <p:txBody>
          <a:bodyPr wrap="square" lIns="0" tIns="0" rIns="0" bIns="0" rtlCol="0" anchor="ctr"/>
          <a:lstStyle/>
          <a:p>
            <a:pPr marL="0" indent="0" algn="ctr">
              <a:buNone/>
            </a:pPr>
            <a:r>
              <a:rPr lang="en-US" sz="1400" dirty="0">
                <a:solidFill>
                  <a:srgbClr val="6B7280"/>
                </a:solidFill>
                <a:latin typeface="Consolas" pitchFamily="34" charset="0"/>
                <a:ea typeface="Consolas" pitchFamily="34" charset="-122"/>
                <a:cs typeface="Consolas" pitchFamily="34" charset="-120"/>
              </a:rPr>
              <a:t>→  1000 ÷ 8</a:t>
            </a:r>
            <a:endParaRPr lang="en-US" sz="1400" dirty="0"/>
          </a:p>
        </p:txBody>
      </p:sp>
      <p:sp>
        <p:nvSpPr>
          <p:cNvPr id="9" name="Text 7"/>
          <p:cNvSpPr/>
          <p:nvPr/>
        </p:nvSpPr>
        <p:spPr>
          <a:xfrm>
            <a:off x="822960" y="4617720"/>
            <a:ext cx="3057144" cy="548640"/>
          </a:xfrm>
          <a:prstGeom prst="rect">
            <a:avLst/>
          </a:prstGeom>
          <a:noFill/>
          <a:ln/>
        </p:spPr>
        <p:txBody>
          <a:bodyPr wrap="square" lIns="0" tIns="0" rIns="0" bIns="0" rtlCol="0" anchor="ctr"/>
          <a:lstStyle/>
          <a:p>
            <a:pPr marL="0" indent="0" algn="ctr">
              <a:buNone/>
            </a:pPr>
            <a:r>
              <a:rPr lang="en-US" sz="2400" b="1" dirty="0">
                <a:solidFill>
                  <a:srgbClr val="1B7F8C"/>
                </a:solidFill>
                <a:latin typeface="Georgia" pitchFamily="34" charset="0"/>
                <a:ea typeface="Georgia" pitchFamily="34" charset="-122"/>
                <a:cs typeface="Georgia" pitchFamily="34" charset="-120"/>
              </a:rPr>
              <a:t>125 FPS</a:t>
            </a:r>
            <a:endParaRPr lang="en-US" sz="2400" dirty="0"/>
          </a:p>
        </p:txBody>
      </p:sp>
      <p:sp>
        <p:nvSpPr>
          <p:cNvPr id="10" name="Shape 8"/>
          <p:cNvSpPr/>
          <p:nvPr/>
        </p:nvSpPr>
        <p:spPr>
          <a:xfrm>
            <a:off x="4383024" y="3429000"/>
            <a:ext cx="3422904" cy="1920240"/>
          </a:xfrm>
          <a:prstGeom prst="roundRect">
            <a:avLst>
              <a:gd name="adj" fmla="val 4286"/>
            </a:avLst>
          </a:prstGeom>
          <a:solidFill>
            <a:srgbClr val="FFFFFF"/>
          </a:solidFill>
          <a:ln/>
          <a:effectLst>
            <a:outerShdw blurRad="127000" dist="38100" dir="5400000" algn="bl" rotWithShape="0">
              <a:srgbClr val="1A2233">
                <a:alpha val="16000"/>
              </a:srgbClr>
            </a:outerShdw>
          </a:effectLst>
        </p:spPr>
        <p:txBody>
          <a:bodyPr/>
          <a:lstStyle/>
          <a:p>
            <a:endParaRPr lang="en-US"/>
          </a:p>
        </p:txBody>
      </p:sp>
      <p:sp>
        <p:nvSpPr>
          <p:cNvPr id="11" name="Text 9"/>
          <p:cNvSpPr/>
          <p:nvPr/>
        </p:nvSpPr>
        <p:spPr>
          <a:xfrm>
            <a:off x="4565904" y="3611880"/>
            <a:ext cx="3057144" cy="457200"/>
          </a:xfrm>
          <a:prstGeom prst="rect">
            <a:avLst/>
          </a:prstGeom>
          <a:noFill/>
          <a:ln/>
        </p:spPr>
        <p:txBody>
          <a:bodyPr wrap="square" lIns="0" tIns="0" rIns="0" bIns="0" rtlCol="0" anchor="ctr"/>
          <a:lstStyle/>
          <a:p>
            <a:pPr marL="0" indent="0" algn="ctr">
              <a:buNone/>
            </a:pPr>
            <a:r>
              <a:rPr lang="en-US" sz="1500" b="1" dirty="0">
                <a:solidFill>
                  <a:srgbClr val="041E42"/>
                </a:solidFill>
                <a:latin typeface="Calibri" pitchFamily="34" charset="0"/>
                <a:ea typeface="Calibri" pitchFamily="34" charset="-122"/>
                <a:cs typeface="Calibri" pitchFamily="34" charset="-120"/>
              </a:rPr>
              <a:t>40 ms per frame</a:t>
            </a:r>
            <a:endParaRPr lang="en-US" sz="1500" dirty="0"/>
          </a:p>
        </p:txBody>
      </p:sp>
      <p:sp>
        <p:nvSpPr>
          <p:cNvPr id="12" name="Text 10"/>
          <p:cNvSpPr/>
          <p:nvPr/>
        </p:nvSpPr>
        <p:spPr>
          <a:xfrm>
            <a:off x="4565904" y="4114800"/>
            <a:ext cx="3057144" cy="411480"/>
          </a:xfrm>
          <a:prstGeom prst="rect">
            <a:avLst/>
          </a:prstGeom>
          <a:noFill/>
          <a:ln/>
        </p:spPr>
        <p:txBody>
          <a:bodyPr wrap="square" lIns="0" tIns="0" rIns="0" bIns="0" rtlCol="0" anchor="ctr"/>
          <a:lstStyle/>
          <a:p>
            <a:pPr marL="0" indent="0" algn="ctr">
              <a:buNone/>
            </a:pPr>
            <a:r>
              <a:rPr lang="en-US" sz="1400" dirty="0">
                <a:solidFill>
                  <a:srgbClr val="6B7280"/>
                </a:solidFill>
                <a:latin typeface="Consolas" pitchFamily="34" charset="0"/>
                <a:ea typeface="Consolas" pitchFamily="34" charset="-122"/>
                <a:cs typeface="Consolas" pitchFamily="34" charset="-120"/>
              </a:rPr>
              <a:t>→  1000 ÷ 40</a:t>
            </a:r>
            <a:endParaRPr lang="en-US" sz="1400" dirty="0"/>
          </a:p>
        </p:txBody>
      </p:sp>
      <p:sp>
        <p:nvSpPr>
          <p:cNvPr id="13" name="Text 11"/>
          <p:cNvSpPr/>
          <p:nvPr/>
        </p:nvSpPr>
        <p:spPr>
          <a:xfrm>
            <a:off x="4565904" y="4617720"/>
            <a:ext cx="3057144" cy="548640"/>
          </a:xfrm>
          <a:prstGeom prst="rect">
            <a:avLst/>
          </a:prstGeom>
          <a:noFill/>
          <a:ln/>
        </p:spPr>
        <p:txBody>
          <a:bodyPr wrap="square" lIns="0" tIns="0" rIns="0" bIns="0" rtlCol="0" anchor="ctr"/>
          <a:lstStyle/>
          <a:p>
            <a:pPr marL="0" indent="0" algn="ctr">
              <a:buNone/>
            </a:pPr>
            <a:r>
              <a:rPr lang="en-US" sz="2400" b="1" dirty="0">
                <a:solidFill>
                  <a:srgbClr val="1B7F8C"/>
                </a:solidFill>
                <a:latin typeface="Georgia" pitchFamily="34" charset="0"/>
                <a:ea typeface="Georgia" pitchFamily="34" charset="-122"/>
                <a:cs typeface="Georgia" pitchFamily="34" charset="-120"/>
              </a:rPr>
              <a:t>25 FPS</a:t>
            </a:r>
            <a:endParaRPr lang="en-US" sz="2400" dirty="0"/>
          </a:p>
        </p:txBody>
      </p:sp>
      <p:sp>
        <p:nvSpPr>
          <p:cNvPr id="14" name="Shape 12"/>
          <p:cNvSpPr/>
          <p:nvPr/>
        </p:nvSpPr>
        <p:spPr>
          <a:xfrm>
            <a:off x="8125968" y="3429000"/>
            <a:ext cx="3422904" cy="1920240"/>
          </a:xfrm>
          <a:prstGeom prst="roundRect">
            <a:avLst>
              <a:gd name="adj" fmla="val 4286"/>
            </a:avLst>
          </a:prstGeom>
          <a:solidFill>
            <a:srgbClr val="FFFFFF"/>
          </a:solidFill>
          <a:ln/>
          <a:effectLst>
            <a:outerShdw blurRad="127000" dist="38100" dir="5400000" algn="bl" rotWithShape="0">
              <a:srgbClr val="1A2233">
                <a:alpha val="16000"/>
              </a:srgbClr>
            </a:outerShdw>
          </a:effectLst>
        </p:spPr>
        <p:txBody>
          <a:bodyPr/>
          <a:lstStyle/>
          <a:p>
            <a:endParaRPr lang="en-US"/>
          </a:p>
        </p:txBody>
      </p:sp>
      <p:sp>
        <p:nvSpPr>
          <p:cNvPr id="15" name="Text 13"/>
          <p:cNvSpPr/>
          <p:nvPr/>
        </p:nvSpPr>
        <p:spPr>
          <a:xfrm>
            <a:off x="8308848" y="3611880"/>
            <a:ext cx="3057144" cy="457200"/>
          </a:xfrm>
          <a:prstGeom prst="rect">
            <a:avLst/>
          </a:prstGeom>
          <a:noFill/>
          <a:ln/>
        </p:spPr>
        <p:txBody>
          <a:bodyPr wrap="square" lIns="0" tIns="0" rIns="0" bIns="0" rtlCol="0" anchor="ctr"/>
          <a:lstStyle/>
          <a:p>
            <a:pPr marL="0" indent="0" algn="ctr">
              <a:buNone/>
            </a:pPr>
            <a:r>
              <a:rPr lang="en-US" sz="1500" b="1" dirty="0">
                <a:solidFill>
                  <a:srgbClr val="041E42"/>
                </a:solidFill>
                <a:latin typeface="Calibri" pitchFamily="34" charset="0"/>
                <a:ea typeface="Calibri" pitchFamily="34" charset="-122"/>
                <a:cs typeface="Calibri" pitchFamily="34" charset="-120"/>
              </a:rPr>
              <a:t>16.6 ms per frame</a:t>
            </a:r>
            <a:endParaRPr lang="en-US" sz="1500" dirty="0"/>
          </a:p>
        </p:txBody>
      </p:sp>
      <p:sp>
        <p:nvSpPr>
          <p:cNvPr id="16" name="Text 14"/>
          <p:cNvSpPr/>
          <p:nvPr/>
        </p:nvSpPr>
        <p:spPr>
          <a:xfrm>
            <a:off x="8308848" y="4114800"/>
            <a:ext cx="3057144" cy="411480"/>
          </a:xfrm>
          <a:prstGeom prst="rect">
            <a:avLst/>
          </a:prstGeom>
          <a:noFill/>
          <a:ln/>
        </p:spPr>
        <p:txBody>
          <a:bodyPr wrap="square" lIns="0" tIns="0" rIns="0" bIns="0" rtlCol="0" anchor="ctr"/>
          <a:lstStyle/>
          <a:p>
            <a:pPr marL="0" indent="0" algn="ctr">
              <a:buNone/>
            </a:pPr>
            <a:r>
              <a:rPr lang="en-US" sz="1400" dirty="0">
                <a:solidFill>
                  <a:srgbClr val="6B7280"/>
                </a:solidFill>
                <a:latin typeface="Consolas" pitchFamily="34" charset="0"/>
                <a:ea typeface="Consolas" pitchFamily="34" charset="-122"/>
                <a:cs typeface="Consolas" pitchFamily="34" charset="-120"/>
              </a:rPr>
              <a:t>→  1000 ÷ 16.6</a:t>
            </a:r>
            <a:endParaRPr lang="en-US" sz="1400" dirty="0"/>
          </a:p>
        </p:txBody>
      </p:sp>
      <p:sp>
        <p:nvSpPr>
          <p:cNvPr id="17" name="Text 15"/>
          <p:cNvSpPr/>
          <p:nvPr/>
        </p:nvSpPr>
        <p:spPr>
          <a:xfrm>
            <a:off x="8308848" y="4617720"/>
            <a:ext cx="3057144" cy="548640"/>
          </a:xfrm>
          <a:prstGeom prst="rect">
            <a:avLst/>
          </a:prstGeom>
          <a:noFill/>
          <a:ln/>
        </p:spPr>
        <p:txBody>
          <a:bodyPr wrap="square" lIns="0" tIns="0" rIns="0" bIns="0" rtlCol="0" anchor="ctr"/>
          <a:lstStyle/>
          <a:p>
            <a:pPr marL="0" indent="0" algn="ctr">
              <a:buNone/>
            </a:pPr>
            <a:r>
              <a:rPr lang="en-US" sz="2400" b="1" dirty="0">
                <a:solidFill>
                  <a:srgbClr val="1B7F8C"/>
                </a:solidFill>
                <a:latin typeface="Georgia" pitchFamily="34" charset="0"/>
                <a:ea typeface="Georgia" pitchFamily="34" charset="-122"/>
                <a:cs typeface="Georgia" pitchFamily="34" charset="-120"/>
              </a:rPr>
              <a:t>≈ 60 FPS</a:t>
            </a:r>
            <a:endParaRPr lang="en-US" sz="2400" dirty="0"/>
          </a:p>
        </p:txBody>
      </p:sp>
      <p:sp>
        <p:nvSpPr>
          <p:cNvPr id="18" name="Text 16"/>
          <p:cNvSpPr/>
          <p:nvPr/>
        </p:nvSpPr>
        <p:spPr>
          <a:xfrm>
            <a:off x="640080" y="5577840"/>
            <a:ext cx="10908792" cy="411480"/>
          </a:xfrm>
          <a:prstGeom prst="rect">
            <a:avLst/>
          </a:prstGeom>
          <a:noFill/>
          <a:ln/>
        </p:spPr>
        <p:txBody>
          <a:bodyPr wrap="square" lIns="0" tIns="0" rIns="0" bIns="0" rtlCol="0" anchor="ctr"/>
          <a:lstStyle/>
          <a:p>
            <a:pPr marL="0" indent="0" algn="ctr">
              <a:buNone/>
            </a:pPr>
            <a:r>
              <a:rPr lang="en-US" sz="1450" i="1" dirty="0">
                <a:solidFill>
                  <a:srgbClr val="6B7280"/>
                </a:solidFill>
                <a:latin typeface="Calibri" pitchFamily="34" charset="0"/>
                <a:ea typeface="Calibri" pitchFamily="34" charset="-122"/>
                <a:cs typeface="Calibri" pitchFamily="34" charset="-120"/>
              </a:rPr>
              <a:t>Cutting frame time in half doesn't just help a little — it doubles your frame rate.</a:t>
            </a:r>
            <a:endParaRPr lang="en-US" sz="14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7315200" cy="320040"/>
          </a:xfrm>
          <a:prstGeom prst="rect">
            <a:avLst/>
          </a:prstGeom>
          <a:noFill/>
          <a:ln/>
        </p:spPr>
        <p:txBody>
          <a:bodyPr wrap="square" lIns="0" tIns="0" rIns="0" bIns="0" rtlCol="0" anchor="ctr"/>
          <a:lstStyle/>
          <a:p>
            <a:pPr marL="0" indent="0">
              <a:buNone/>
            </a:pPr>
            <a:r>
              <a:rPr lang="en-US" sz="1300" b="1" kern="0" spc="200" dirty="0">
                <a:solidFill>
                  <a:srgbClr val="AD8433"/>
                </a:solidFill>
                <a:latin typeface="Calibri" pitchFamily="34" charset="0"/>
                <a:ea typeface="Calibri" pitchFamily="34" charset="-122"/>
                <a:cs typeface="Calibri" pitchFamily="34" charset="-120"/>
              </a:rPr>
              <a:t>QUICK CHECK · WORK WITH A PARTNER</a:t>
            </a:r>
            <a:endParaRPr lang="en-US" sz="1300" dirty="0"/>
          </a:p>
        </p:txBody>
      </p:sp>
      <p:sp>
        <p:nvSpPr>
          <p:cNvPr id="3" name="Text 1"/>
          <p:cNvSpPr/>
          <p:nvPr/>
        </p:nvSpPr>
        <p:spPr>
          <a:xfrm>
            <a:off x="621792" y="658368"/>
            <a:ext cx="10908792" cy="777240"/>
          </a:xfrm>
          <a:prstGeom prst="rect">
            <a:avLst/>
          </a:prstGeom>
          <a:noFill/>
          <a:ln/>
        </p:spPr>
        <p:txBody>
          <a:bodyPr wrap="square" lIns="0" tIns="0" rIns="0" bIns="0" rtlCol="0" anchor="ctr"/>
          <a:lstStyle/>
          <a:p>
            <a:pPr marL="0" indent="0">
              <a:buNone/>
            </a:pPr>
            <a:r>
              <a:rPr lang="en-US" sz="3200" b="1" dirty="0">
                <a:solidFill>
                  <a:srgbClr val="041E42"/>
                </a:solidFill>
                <a:latin typeface="Georgia" pitchFamily="34" charset="0"/>
                <a:ea typeface="Georgia" pitchFamily="34" charset="-122"/>
                <a:cs typeface="Georgia" pitchFamily="34" charset="-120"/>
              </a:rPr>
              <a:t>Try It: Rate Problems</a:t>
            </a:r>
            <a:endParaRPr lang="en-US" sz="3200" dirty="0"/>
          </a:p>
        </p:txBody>
      </p:sp>
      <p:sp>
        <p:nvSpPr>
          <p:cNvPr id="4" name="Shape 2"/>
          <p:cNvSpPr/>
          <p:nvPr/>
        </p:nvSpPr>
        <p:spPr>
          <a:xfrm>
            <a:off x="640080" y="1783080"/>
            <a:ext cx="10908792" cy="1234440"/>
          </a:xfrm>
          <a:prstGeom prst="roundRect">
            <a:avLst>
              <a:gd name="adj" fmla="val 6667"/>
            </a:avLst>
          </a:prstGeom>
          <a:solidFill>
            <a:srgbClr val="F7F9FB"/>
          </a:solidFill>
          <a:ln/>
          <a:effectLst>
            <a:outerShdw blurRad="127000" dist="38100" dir="5400000" algn="bl" rotWithShape="0">
              <a:srgbClr val="1A2233">
                <a:alpha val="16000"/>
              </a:srgbClr>
            </a:outerShdw>
          </a:effectLst>
        </p:spPr>
        <p:txBody>
          <a:bodyPr/>
          <a:lstStyle/>
          <a:p>
            <a:endParaRPr lang="en-US"/>
          </a:p>
        </p:txBody>
      </p:sp>
      <p:sp>
        <p:nvSpPr>
          <p:cNvPr id="5" name="Shape 3"/>
          <p:cNvSpPr/>
          <p:nvPr/>
        </p:nvSpPr>
        <p:spPr>
          <a:xfrm>
            <a:off x="914400" y="2103120"/>
            <a:ext cx="594360" cy="594360"/>
          </a:xfrm>
          <a:prstGeom prst="ellipse">
            <a:avLst/>
          </a:prstGeom>
          <a:solidFill>
            <a:srgbClr val="D2AA4B"/>
          </a:solidFill>
          <a:ln/>
        </p:spPr>
        <p:txBody>
          <a:bodyPr/>
          <a:lstStyle/>
          <a:p>
            <a:endParaRPr lang="en-US"/>
          </a:p>
        </p:txBody>
      </p:sp>
      <p:sp>
        <p:nvSpPr>
          <p:cNvPr id="6" name="Text 4"/>
          <p:cNvSpPr/>
          <p:nvPr/>
        </p:nvSpPr>
        <p:spPr>
          <a:xfrm>
            <a:off x="914400" y="2103120"/>
            <a:ext cx="594360" cy="594360"/>
          </a:xfrm>
          <a:prstGeom prst="rect">
            <a:avLst/>
          </a:prstGeom>
          <a:noFill/>
          <a:ln/>
        </p:spPr>
        <p:txBody>
          <a:bodyPr wrap="square" lIns="0" tIns="0" rIns="0" bIns="0" rtlCol="0" anchor="ctr"/>
          <a:lstStyle/>
          <a:p>
            <a:pPr marL="0" indent="0" algn="ctr">
              <a:buNone/>
            </a:pPr>
            <a:r>
              <a:rPr lang="en-US" sz="2000" b="1" dirty="0">
                <a:solidFill>
                  <a:srgbClr val="041E42"/>
                </a:solidFill>
                <a:latin typeface="Georgia" pitchFamily="34" charset="0"/>
                <a:ea typeface="Georgia" pitchFamily="34" charset="-122"/>
                <a:cs typeface="Georgia" pitchFamily="34" charset="-120"/>
              </a:rPr>
              <a:t>1</a:t>
            </a:r>
            <a:endParaRPr lang="en-US" sz="2000" dirty="0"/>
          </a:p>
        </p:txBody>
      </p:sp>
      <p:sp>
        <p:nvSpPr>
          <p:cNvPr id="7" name="Text 5"/>
          <p:cNvSpPr/>
          <p:nvPr/>
        </p:nvSpPr>
        <p:spPr>
          <a:xfrm>
            <a:off x="1737360" y="1783080"/>
            <a:ext cx="9537192" cy="1234440"/>
          </a:xfrm>
          <a:prstGeom prst="rect">
            <a:avLst/>
          </a:prstGeom>
          <a:noFill/>
          <a:ln/>
        </p:spPr>
        <p:txBody>
          <a:bodyPr wrap="square" lIns="0" tIns="0" rIns="0" bIns="0" rtlCol="0" anchor="ctr"/>
          <a:lstStyle/>
          <a:p>
            <a:pPr marL="0" indent="0">
              <a:buNone/>
            </a:pPr>
            <a:r>
              <a:rPr lang="en-US" sz="1550" dirty="0">
                <a:solidFill>
                  <a:srgbClr val="222222"/>
                </a:solidFill>
                <a:latin typeface="Calibri" pitchFamily="34" charset="0"/>
                <a:ea typeface="Calibri" pitchFamily="34" charset="-122"/>
                <a:cs typeface="Calibri" pitchFamily="34" charset="-120"/>
              </a:rPr>
              <a:t>A frame takes 8 ms to compute. How many frames could run in one second?</a:t>
            </a:r>
            <a:endParaRPr lang="en-US" sz="1550" dirty="0"/>
          </a:p>
        </p:txBody>
      </p:sp>
      <p:sp>
        <p:nvSpPr>
          <p:cNvPr id="8" name="Shape 6"/>
          <p:cNvSpPr/>
          <p:nvPr/>
        </p:nvSpPr>
        <p:spPr>
          <a:xfrm>
            <a:off x="640080" y="3200400"/>
            <a:ext cx="10908792" cy="1234440"/>
          </a:xfrm>
          <a:prstGeom prst="roundRect">
            <a:avLst>
              <a:gd name="adj" fmla="val 6667"/>
            </a:avLst>
          </a:prstGeom>
          <a:solidFill>
            <a:srgbClr val="F7F9FB"/>
          </a:solidFill>
          <a:ln/>
          <a:effectLst>
            <a:outerShdw blurRad="127000" dist="38100" dir="5400000" algn="bl" rotWithShape="0">
              <a:srgbClr val="1A2233">
                <a:alpha val="16000"/>
              </a:srgbClr>
            </a:outerShdw>
          </a:effectLst>
        </p:spPr>
        <p:txBody>
          <a:bodyPr/>
          <a:lstStyle/>
          <a:p>
            <a:endParaRPr lang="en-US"/>
          </a:p>
        </p:txBody>
      </p:sp>
      <p:sp>
        <p:nvSpPr>
          <p:cNvPr id="9" name="Shape 7"/>
          <p:cNvSpPr/>
          <p:nvPr/>
        </p:nvSpPr>
        <p:spPr>
          <a:xfrm>
            <a:off x="914400" y="3520440"/>
            <a:ext cx="594360" cy="594360"/>
          </a:xfrm>
          <a:prstGeom prst="ellipse">
            <a:avLst/>
          </a:prstGeom>
          <a:solidFill>
            <a:srgbClr val="D2AA4B"/>
          </a:solidFill>
          <a:ln/>
        </p:spPr>
        <p:txBody>
          <a:bodyPr/>
          <a:lstStyle/>
          <a:p>
            <a:endParaRPr lang="en-US"/>
          </a:p>
        </p:txBody>
      </p:sp>
      <p:sp>
        <p:nvSpPr>
          <p:cNvPr id="10" name="Text 8"/>
          <p:cNvSpPr/>
          <p:nvPr/>
        </p:nvSpPr>
        <p:spPr>
          <a:xfrm>
            <a:off x="914400" y="3520440"/>
            <a:ext cx="594360" cy="594360"/>
          </a:xfrm>
          <a:prstGeom prst="rect">
            <a:avLst/>
          </a:prstGeom>
          <a:noFill/>
          <a:ln/>
        </p:spPr>
        <p:txBody>
          <a:bodyPr wrap="square" lIns="0" tIns="0" rIns="0" bIns="0" rtlCol="0" anchor="ctr"/>
          <a:lstStyle/>
          <a:p>
            <a:pPr marL="0" indent="0" algn="ctr">
              <a:buNone/>
            </a:pPr>
            <a:r>
              <a:rPr lang="en-US" sz="2000" b="1" dirty="0">
                <a:solidFill>
                  <a:srgbClr val="041E42"/>
                </a:solidFill>
                <a:latin typeface="Georgia" pitchFamily="34" charset="0"/>
                <a:ea typeface="Georgia" pitchFamily="34" charset="-122"/>
                <a:cs typeface="Georgia" pitchFamily="34" charset="-120"/>
              </a:rPr>
              <a:t>2</a:t>
            </a:r>
            <a:endParaRPr lang="en-US" sz="2000" dirty="0"/>
          </a:p>
        </p:txBody>
      </p:sp>
      <p:sp>
        <p:nvSpPr>
          <p:cNvPr id="11" name="Text 9"/>
          <p:cNvSpPr/>
          <p:nvPr/>
        </p:nvSpPr>
        <p:spPr>
          <a:xfrm>
            <a:off x="1737360" y="3200400"/>
            <a:ext cx="9537192" cy="1234440"/>
          </a:xfrm>
          <a:prstGeom prst="rect">
            <a:avLst/>
          </a:prstGeom>
          <a:noFill/>
          <a:ln/>
        </p:spPr>
        <p:txBody>
          <a:bodyPr wrap="square" lIns="0" tIns="0" rIns="0" bIns="0" rtlCol="0" anchor="ctr"/>
          <a:lstStyle/>
          <a:p>
            <a:pPr marL="0" indent="0">
              <a:buNone/>
            </a:pPr>
            <a:r>
              <a:rPr lang="en-US" sz="1550" dirty="0">
                <a:solidFill>
                  <a:srgbClr val="222222"/>
                </a:solidFill>
                <a:latin typeface="Calibri" pitchFamily="34" charset="0"/>
                <a:ea typeface="Calibri" pitchFamily="34" charset="-122"/>
                <a:cs typeface="Calibri" pitchFamily="34" charset="-120"/>
              </a:rPr>
              <a:t>A game is running at 24 FPS. How many milliseconds does each frame take?</a:t>
            </a:r>
            <a:endParaRPr lang="en-US" sz="1550" dirty="0"/>
          </a:p>
        </p:txBody>
      </p:sp>
      <p:sp>
        <p:nvSpPr>
          <p:cNvPr id="12" name="Shape 10"/>
          <p:cNvSpPr/>
          <p:nvPr/>
        </p:nvSpPr>
        <p:spPr>
          <a:xfrm>
            <a:off x="640080" y="4617720"/>
            <a:ext cx="10908792" cy="1234440"/>
          </a:xfrm>
          <a:prstGeom prst="roundRect">
            <a:avLst>
              <a:gd name="adj" fmla="val 6667"/>
            </a:avLst>
          </a:prstGeom>
          <a:solidFill>
            <a:srgbClr val="F7F9FB"/>
          </a:solidFill>
          <a:ln/>
          <a:effectLst>
            <a:outerShdw blurRad="127000" dist="38100" dir="5400000" algn="bl" rotWithShape="0">
              <a:srgbClr val="1A2233">
                <a:alpha val="16000"/>
              </a:srgbClr>
            </a:outerShdw>
          </a:effectLst>
        </p:spPr>
        <p:txBody>
          <a:bodyPr/>
          <a:lstStyle/>
          <a:p>
            <a:endParaRPr lang="en-US"/>
          </a:p>
        </p:txBody>
      </p:sp>
      <p:sp>
        <p:nvSpPr>
          <p:cNvPr id="13" name="Shape 11"/>
          <p:cNvSpPr/>
          <p:nvPr/>
        </p:nvSpPr>
        <p:spPr>
          <a:xfrm>
            <a:off x="914400" y="4937760"/>
            <a:ext cx="594360" cy="594360"/>
          </a:xfrm>
          <a:prstGeom prst="ellipse">
            <a:avLst/>
          </a:prstGeom>
          <a:solidFill>
            <a:srgbClr val="D2AA4B"/>
          </a:solidFill>
          <a:ln/>
        </p:spPr>
        <p:txBody>
          <a:bodyPr/>
          <a:lstStyle/>
          <a:p>
            <a:endParaRPr lang="en-US"/>
          </a:p>
        </p:txBody>
      </p:sp>
      <p:sp>
        <p:nvSpPr>
          <p:cNvPr id="14" name="Text 12"/>
          <p:cNvSpPr/>
          <p:nvPr/>
        </p:nvSpPr>
        <p:spPr>
          <a:xfrm>
            <a:off x="914400" y="4937760"/>
            <a:ext cx="594360" cy="594360"/>
          </a:xfrm>
          <a:prstGeom prst="rect">
            <a:avLst/>
          </a:prstGeom>
          <a:noFill/>
          <a:ln/>
        </p:spPr>
        <p:txBody>
          <a:bodyPr wrap="square" lIns="0" tIns="0" rIns="0" bIns="0" rtlCol="0" anchor="ctr"/>
          <a:lstStyle/>
          <a:p>
            <a:pPr marL="0" indent="0" algn="ctr">
              <a:buNone/>
            </a:pPr>
            <a:r>
              <a:rPr lang="en-US" sz="2000" b="1" dirty="0">
                <a:solidFill>
                  <a:srgbClr val="041E42"/>
                </a:solidFill>
                <a:latin typeface="Georgia" pitchFamily="34" charset="0"/>
                <a:ea typeface="Georgia" pitchFamily="34" charset="-122"/>
                <a:cs typeface="Georgia" pitchFamily="34" charset="-120"/>
              </a:rPr>
              <a:t>3</a:t>
            </a:r>
            <a:endParaRPr lang="en-US" sz="2000" dirty="0"/>
          </a:p>
        </p:txBody>
      </p:sp>
      <p:sp>
        <p:nvSpPr>
          <p:cNvPr id="15" name="Text 13"/>
          <p:cNvSpPr/>
          <p:nvPr/>
        </p:nvSpPr>
        <p:spPr>
          <a:xfrm>
            <a:off x="1737360" y="4617720"/>
            <a:ext cx="9537192" cy="1234440"/>
          </a:xfrm>
          <a:prstGeom prst="rect">
            <a:avLst/>
          </a:prstGeom>
          <a:noFill/>
          <a:ln/>
        </p:spPr>
        <p:txBody>
          <a:bodyPr wrap="square" lIns="0" tIns="0" rIns="0" bIns="0" rtlCol="0" anchor="ctr"/>
          <a:lstStyle/>
          <a:p>
            <a:pPr marL="0" indent="0">
              <a:buNone/>
            </a:pPr>
            <a:r>
              <a:rPr lang="en-US" sz="1550" dirty="0">
                <a:solidFill>
                  <a:srgbClr val="222222"/>
                </a:solidFill>
                <a:latin typeface="Calibri" pitchFamily="34" charset="0"/>
                <a:ea typeface="Calibri" pitchFamily="34" charset="-122"/>
                <a:cs typeface="Calibri" pitchFamily="34" charset="-120"/>
              </a:rPr>
              <a:t>Optimizing a bottleneck cuts frame time from 40 ms to 20 ms. Did the frame rate double? Why or why not?</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7315200" cy="320040"/>
          </a:xfrm>
          <a:prstGeom prst="rect">
            <a:avLst/>
          </a:prstGeom>
          <a:noFill/>
          <a:ln/>
        </p:spPr>
        <p:txBody>
          <a:bodyPr wrap="square" lIns="0" tIns="0" rIns="0" bIns="0" rtlCol="0" anchor="ctr"/>
          <a:lstStyle/>
          <a:p>
            <a:pPr marL="0" indent="0">
              <a:buNone/>
            </a:pPr>
            <a:r>
              <a:rPr lang="en-US" sz="1300" b="1" kern="0" spc="200" dirty="0">
                <a:solidFill>
                  <a:srgbClr val="AD8433"/>
                </a:solidFill>
                <a:latin typeface="Calibri" pitchFamily="34" charset="0"/>
                <a:ea typeface="Calibri" pitchFamily="34" charset="-122"/>
                <a:cs typeface="Calibri" pitchFamily="34" charset="-120"/>
              </a:rPr>
              <a:t>LIVE DEMO · WHAT'S MAKING THIS SLOW?</a:t>
            </a:r>
            <a:endParaRPr lang="en-US" sz="1300" dirty="0"/>
          </a:p>
        </p:txBody>
      </p:sp>
      <p:sp>
        <p:nvSpPr>
          <p:cNvPr id="3" name="Text 1"/>
          <p:cNvSpPr/>
          <p:nvPr/>
        </p:nvSpPr>
        <p:spPr>
          <a:xfrm>
            <a:off x="621792" y="658368"/>
            <a:ext cx="10908792" cy="777240"/>
          </a:xfrm>
          <a:prstGeom prst="rect">
            <a:avLst/>
          </a:prstGeom>
          <a:noFill/>
          <a:ln/>
        </p:spPr>
        <p:txBody>
          <a:bodyPr wrap="square" lIns="0" tIns="0" rIns="0" bIns="0" rtlCol="0" anchor="ctr"/>
          <a:lstStyle/>
          <a:p>
            <a:pPr marL="0" indent="0">
              <a:buNone/>
            </a:pPr>
            <a:r>
              <a:rPr lang="en-US" sz="3200" b="1" dirty="0">
                <a:solidFill>
                  <a:srgbClr val="041E42"/>
                </a:solidFill>
                <a:latin typeface="Georgia" pitchFamily="34" charset="0"/>
                <a:ea typeface="Georgia" pitchFamily="34" charset="-122"/>
                <a:cs typeface="Georgia" pitchFamily="34" charset="-120"/>
              </a:rPr>
              <a:t>Spot the Bottleneck</a:t>
            </a:r>
            <a:endParaRPr lang="en-US" sz="3200" dirty="0"/>
          </a:p>
        </p:txBody>
      </p:sp>
      <p:sp>
        <p:nvSpPr>
          <p:cNvPr id="4" name="Shape 2"/>
          <p:cNvSpPr/>
          <p:nvPr/>
        </p:nvSpPr>
        <p:spPr>
          <a:xfrm>
            <a:off x="640080" y="1691640"/>
            <a:ext cx="10908792" cy="3566160"/>
          </a:xfrm>
          <a:prstGeom prst="roundRect">
            <a:avLst>
              <a:gd name="adj" fmla="val 2308"/>
            </a:avLst>
          </a:prstGeom>
          <a:solidFill>
            <a:srgbClr val="1E1E1E"/>
          </a:solidFill>
          <a:ln/>
        </p:spPr>
        <p:txBody>
          <a:bodyPr/>
          <a:lstStyle/>
          <a:p>
            <a:endParaRPr lang="en-US"/>
          </a:p>
        </p:txBody>
      </p:sp>
      <p:sp>
        <p:nvSpPr>
          <p:cNvPr id="5" name="Text 3"/>
          <p:cNvSpPr/>
          <p:nvPr/>
        </p:nvSpPr>
        <p:spPr>
          <a:xfrm>
            <a:off x="896112" y="1874520"/>
            <a:ext cx="10396728" cy="3200400"/>
          </a:xfrm>
          <a:prstGeom prst="rect">
            <a:avLst/>
          </a:prstGeom>
          <a:noFill/>
          <a:ln/>
        </p:spPr>
        <p:txBody>
          <a:bodyPr wrap="square" lIns="0" tIns="0" rIns="0" bIns="0" rtlCol="0" anchor="t"/>
          <a:lstStyle/>
          <a:p>
            <a:pPr marL="0" indent="0">
              <a:spcAft>
                <a:spcPts val="300"/>
              </a:spcAft>
              <a:buNone/>
            </a:pPr>
            <a:r>
              <a:rPr lang="en-US" sz="1550" dirty="0">
                <a:solidFill>
                  <a:srgbClr val="D4D4D4"/>
                </a:solidFill>
                <a:latin typeface="Consolas" pitchFamily="34" charset="0"/>
                <a:ea typeface="Consolas" pitchFamily="34" charset="-122"/>
                <a:cs typeface="Consolas" pitchFamily="34" charset="-120"/>
              </a:rPr>
              <a:t>void Update()</a:t>
            </a:r>
            <a:endParaRPr lang="en-US" sz="1550" dirty="0"/>
          </a:p>
          <a:p>
            <a:pPr marL="0" indent="0">
              <a:spcAft>
                <a:spcPts val="300"/>
              </a:spcAft>
              <a:buNone/>
            </a:pPr>
            <a:r>
              <a:rPr lang="en-US" sz="1550" dirty="0">
                <a:solidFill>
                  <a:srgbClr val="D4D4D4"/>
                </a:solidFill>
                <a:latin typeface="Consolas" pitchFamily="34" charset="0"/>
                <a:ea typeface="Consolas" pitchFamily="34" charset="-122"/>
                <a:cs typeface="Consolas" pitchFamily="34" charset="-120"/>
              </a:rPr>
              <a:t>{</a:t>
            </a:r>
            <a:endParaRPr lang="en-US" sz="1550" dirty="0"/>
          </a:p>
          <a:p>
            <a:pPr marL="0" indent="0">
              <a:spcAft>
                <a:spcPts val="300"/>
              </a:spcAft>
              <a:buNone/>
            </a:pPr>
            <a:r>
              <a:rPr lang="en-US" sz="1550" dirty="0">
                <a:solidFill>
                  <a:srgbClr val="6A9955"/>
                </a:solidFill>
                <a:latin typeface="Consolas" pitchFamily="34" charset="0"/>
                <a:ea typeface="Consolas" pitchFamily="34" charset="-122"/>
                <a:cs typeface="Consolas" pitchFamily="34" charset="-120"/>
              </a:rPr>
              <a:t>    // Runs 60+ times per second: expensive scene search every frame</a:t>
            </a:r>
            <a:endParaRPr lang="en-US" sz="1550" dirty="0"/>
          </a:p>
          <a:p>
            <a:pPr marL="0" indent="0">
              <a:spcAft>
                <a:spcPts val="300"/>
              </a:spcAft>
              <a:buNone/>
            </a:pPr>
            <a:r>
              <a:rPr lang="en-US" sz="1550" dirty="0">
                <a:solidFill>
                  <a:srgbClr val="D4D4D4"/>
                </a:solidFill>
                <a:latin typeface="Consolas" pitchFamily="34" charset="0"/>
                <a:ea typeface="Consolas" pitchFamily="34" charset="-122"/>
                <a:cs typeface="Consolas" pitchFamily="34" charset="-120"/>
              </a:rPr>
              <a:t>    GameObject player = GameObject.Find("Player");</a:t>
            </a:r>
            <a:endParaRPr lang="en-US" sz="1550" dirty="0"/>
          </a:p>
          <a:p>
            <a:pPr marL="0" indent="0">
              <a:spcAft>
                <a:spcPts val="300"/>
              </a:spcAft>
              <a:buNone/>
            </a:pPr>
            <a:r>
              <a:rPr lang="en-US" sz="1550" dirty="0">
                <a:solidFill>
                  <a:srgbClr val="D4D4D4"/>
                </a:solidFill>
                <a:latin typeface="Consolas" pitchFamily="34" charset="0"/>
                <a:ea typeface="Consolas" pitchFamily="34" charset="-122"/>
                <a:cs typeface="Consolas" pitchFamily="34" charset="-120"/>
              </a:rPr>
              <a:t>    </a:t>
            </a:r>
            <a:endParaRPr lang="en-US" sz="1550" dirty="0"/>
          </a:p>
          <a:p>
            <a:pPr marL="0" indent="0">
              <a:spcAft>
                <a:spcPts val="300"/>
              </a:spcAft>
              <a:buNone/>
            </a:pPr>
            <a:r>
              <a:rPr lang="en-US" sz="1550" dirty="0">
                <a:solidFill>
                  <a:srgbClr val="D4D4D4"/>
                </a:solidFill>
                <a:latin typeface="Consolas" pitchFamily="34" charset="0"/>
                <a:ea typeface="Consolas" pitchFamily="34" charset="-122"/>
                <a:cs typeface="Consolas" pitchFamily="34" charset="-120"/>
              </a:rPr>
              <a:t>    for (int i = 0; i &lt; 500; i++)</a:t>
            </a:r>
            <a:endParaRPr lang="en-US" sz="1550" dirty="0"/>
          </a:p>
          <a:p>
            <a:pPr marL="0" indent="0">
              <a:spcAft>
                <a:spcPts val="300"/>
              </a:spcAft>
              <a:buNone/>
            </a:pPr>
            <a:r>
              <a:rPr lang="en-US" sz="1550" dirty="0">
                <a:solidFill>
                  <a:srgbClr val="D4D4D4"/>
                </a:solidFill>
                <a:latin typeface="Consolas" pitchFamily="34" charset="0"/>
                <a:ea typeface="Consolas" pitchFamily="34" charset="-122"/>
                <a:cs typeface="Consolas" pitchFamily="34" charset="-120"/>
              </a:rPr>
              <a:t>    {</a:t>
            </a:r>
            <a:endParaRPr lang="en-US" sz="1550" dirty="0"/>
          </a:p>
          <a:p>
            <a:pPr marL="0" indent="0">
              <a:spcAft>
                <a:spcPts val="300"/>
              </a:spcAft>
              <a:buNone/>
            </a:pPr>
            <a:r>
              <a:rPr lang="en-US" sz="1550" dirty="0">
                <a:solidFill>
                  <a:srgbClr val="D4D4D4"/>
                </a:solidFill>
                <a:latin typeface="Consolas" pitchFamily="34" charset="0"/>
                <a:ea typeface="Consolas" pitchFamily="34" charset="-122"/>
                <a:cs typeface="Consolas" pitchFamily="34" charset="-120"/>
              </a:rPr>
              <a:t>        Instantiate(coinPrefab, RandomPosition(), Quaternion.identity);</a:t>
            </a:r>
            <a:endParaRPr lang="en-US" sz="1550" dirty="0"/>
          </a:p>
          <a:p>
            <a:pPr marL="0" indent="0">
              <a:spcAft>
                <a:spcPts val="300"/>
              </a:spcAft>
              <a:buNone/>
            </a:pPr>
            <a:r>
              <a:rPr lang="en-US" sz="1550" dirty="0">
                <a:solidFill>
                  <a:srgbClr val="D4D4D4"/>
                </a:solidFill>
                <a:latin typeface="Consolas" pitchFamily="34" charset="0"/>
                <a:ea typeface="Consolas" pitchFamily="34" charset="-122"/>
                <a:cs typeface="Consolas" pitchFamily="34" charset="-120"/>
              </a:rPr>
              <a:t>    }</a:t>
            </a:r>
            <a:endParaRPr lang="en-US" sz="1550" dirty="0"/>
          </a:p>
          <a:p>
            <a:pPr marL="0" indent="0">
              <a:spcAft>
                <a:spcPts val="300"/>
              </a:spcAft>
              <a:buNone/>
            </a:pPr>
            <a:r>
              <a:rPr lang="en-US" sz="1550" dirty="0">
                <a:solidFill>
                  <a:srgbClr val="D4D4D4"/>
                </a:solidFill>
                <a:latin typeface="Consolas" pitchFamily="34" charset="0"/>
                <a:ea typeface="Consolas" pitchFamily="34" charset="-122"/>
                <a:cs typeface="Consolas" pitchFamily="34" charset="-120"/>
              </a:rPr>
              <a:t>}</a:t>
            </a:r>
            <a:endParaRPr lang="en-US" sz="15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7315200" cy="320040"/>
          </a:xfrm>
          <a:prstGeom prst="rect">
            <a:avLst/>
          </a:prstGeom>
          <a:noFill/>
          <a:ln/>
        </p:spPr>
        <p:txBody>
          <a:bodyPr wrap="square" lIns="0" tIns="0" rIns="0" bIns="0" rtlCol="0" anchor="ctr"/>
          <a:lstStyle/>
          <a:p>
            <a:pPr marL="0" indent="0">
              <a:buNone/>
            </a:pPr>
            <a:r>
              <a:rPr lang="en-US" sz="1300" b="1" kern="0" spc="200" dirty="0">
                <a:solidFill>
                  <a:srgbClr val="AD8433"/>
                </a:solidFill>
                <a:latin typeface="Calibri" pitchFamily="34" charset="0"/>
                <a:ea typeface="Calibri" pitchFamily="34" charset="-122"/>
                <a:cs typeface="Calibri" pitchFamily="34" charset="-120"/>
              </a:rPr>
              <a:t>SAME BUG, TWO INDEPENDENT FIXES</a:t>
            </a:r>
            <a:endParaRPr lang="en-US" sz="1300" dirty="0"/>
          </a:p>
        </p:txBody>
      </p:sp>
      <p:sp>
        <p:nvSpPr>
          <p:cNvPr id="3" name="Text 1"/>
          <p:cNvSpPr/>
          <p:nvPr/>
        </p:nvSpPr>
        <p:spPr>
          <a:xfrm>
            <a:off x="621792" y="658368"/>
            <a:ext cx="10908792" cy="777240"/>
          </a:xfrm>
          <a:prstGeom prst="rect">
            <a:avLst/>
          </a:prstGeom>
          <a:noFill/>
          <a:ln/>
        </p:spPr>
        <p:txBody>
          <a:bodyPr wrap="square" lIns="0" tIns="0" rIns="0" bIns="0" rtlCol="0" anchor="ctr"/>
          <a:lstStyle/>
          <a:p>
            <a:pPr marL="0" indent="0">
              <a:buNone/>
            </a:pPr>
            <a:r>
              <a:rPr lang="en-US" sz="3200" b="1" dirty="0">
                <a:solidFill>
                  <a:srgbClr val="041E42"/>
                </a:solidFill>
                <a:latin typeface="Georgia" pitchFamily="34" charset="0"/>
                <a:ea typeface="Georgia" pitchFamily="34" charset="-122"/>
                <a:cs typeface="Georgia" pitchFamily="34" charset="-120"/>
              </a:rPr>
              <a:t>Fixing It: Two Directions</a:t>
            </a:r>
            <a:endParaRPr lang="en-US" sz="3200" dirty="0"/>
          </a:p>
        </p:txBody>
      </p:sp>
      <p:sp>
        <p:nvSpPr>
          <p:cNvPr id="4" name="Shape 2"/>
          <p:cNvSpPr/>
          <p:nvPr/>
        </p:nvSpPr>
        <p:spPr>
          <a:xfrm>
            <a:off x="640080" y="1828800"/>
            <a:ext cx="5271516" cy="4114800"/>
          </a:xfrm>
          <a:prstGeom prst="roundRect">
            <a:avLst>
              <a:gd name="adj" fmla="val 2000"/>
            </a:avLst>
          </a:prstGeom>
          <a:solidFill>
            <a:srgbClr val="E4F2F3"/>
          </a:solidFill>
          <a:ln/>
          <a:effectLst>
            <a:outerShdw blurRad="127000" dist="38100" dir="5400000" algn="bl" rotWithShape="0">
              <a:srgbClr val="1A2233">
                <a:alpha val="16000"/>
              </a:srgbClr>
            </a:outerShdw>
          </a:effectLst>
        </p:spPr>
        <p:txBody>
          <a:bodyPr/>
          <a:lstStyle/>
          <a:p>
            <a:endParaRPr lang="en-US"/>
          </a:p>
        </p:txBody>
      </p:sp>
      <p:sp>
        <p:nvSpPr>
          <p:cNvPr id="7" name="Text 4"/>
          <p:cNvSpPr/>
          <p:nvPr/>
        </p:nvSpPr>
        <p:spPr>
          <a:xfrm>
            <a:off x="960120" y="2240280"/>
            <a:ext cx="4722876" cy="502920"/>
          </a:xfrm>
          <a:prstGeom prst="rect">
            <a:avLst/>
          </a:prstGeom>
          <a:noFill/>
          <a:ln/>
        </p:spPr>
        <p:txBody>
          <a:bodyPr wrap="square" lIns="0" tIns="0" rIns="0" bIns="0" rtlCol="0" anchor="ctr"/>
          <a:lstStyle/>
          <a:p>
            <a:pPr marL="0" indent="0">
              <a:buNone/>
            </a:pPr>
            <a:r>
              <a:rPr lang="en-US" sz="1700" b="1" dirty="0">
                <a:solidFill>
                  <a:srgbClr val="041E42"/>
                </a:solidFill>
                <a:latin typeface="Calibri" pitchFamily="34" charset="0"/>
                <a:ea typeface="Calibri" pitchFamily="34" charset="-122"/>
                <a:cs typeface="Calibri" pitchFamily="34" charset="-120"/>
              </a:rPr>
              <a:t>Cache the reference</a:t>
            </a:r>
            <a:endParaRPr lang="en-US" sz="1700" dirty="0"/>
          </a:p>
        </p:txBody>
      </p:sp>
      <p:sp>
        <p:nvSpPr>
          <p:cNvPr id="8" name="Shape 5"/>
          <p:cNvSpPr/>
          <p:nvPr/>
        </p:nvSpPr>
        <p:spPr>
          <a:xfrm>
            <a:off x="914400" y="2926080"/>
            <a:ext cx="4722876" cy="1371600"/>
          </a:xfrm>
          <a:prstGeom prst="roundRect">
            <a:avLst>
              <a:gd name="adj" fmla="val 6000"/>
            </a:avLst>
          </a:prstGeom>
          <a:solidFill>
            <a:srgbClr val="1E1E1E"/>
          </a:solidFill>
          <a:ln/>
        </p:spPr>
        <p:txBody>
          <a:bodyPr/>
          <a:lstStyle/>
          <a:p>
            <a:endParaRPr lang="en-US"/>
          </a:p>
        </p:txBody>
      </p:sp>
      <p:sp>
        <p:nvSpPr>
          <p:cNvPr id="9" name="Text 6"/>
          <p:cNvSpPr/>
          <p:nvPr/>
        </p:nvSpPr>
        <p:spPr>
          <a:xfrm>
            <a:off x="1170432" y="3108960"/>
            <a:ext cx="4210812" cy="1005840"/>
          </a:xfrm>
          <a:prstGeom prst="rect">
            <a:avLst/>
          </a:prstGeom>
          <a:noFill/>
          <a:ln/>
        </p:spPr>
        <p:txBody>
          <a:bodyPr wrap="square" lIns="0" tIns="0" rIns="0" bIns="0" rtlCol="0" anchor="t"/>
          <a:lstStyle/>
          <a:p>
            <a:pPr marL="0" indent="0">
              <a:spcAft>
                <a:spcPts val="300"/>
              </a:spcAft>
              <a:buNone/>
            </a:pPr>
            <a:r>
              <a:rPr lang="en-US" sz="1300" dirty="0">
                <a:solidFill>
                  <a:srgbClr val="D4D4D4"/>
                </a:solidFill>
                <a:latin typeface="Consolas" pitchFamily="34" charset="0"/>
                <a:ea typeface="Consolas" pitchFamily="34" charset="-122"/>
                <a:cs typeface="Consolas" pitchFamily="34" charset="-120"/>
              </a:rPr>
              <a:t>void Start()</a:t>
            </a:r>
            <a:endParaRPr lang="en-US" sz="1300" dirty="0"/>
          </a:p>
          <a:p>
            <a:pPr marL="0" indent="0">
              <a:spcAft>
                <a:spcPts val="300"/>
              </a:spcAft>
              <a:buNone/>
            </a:pPr>
            <a:r>
              <a:rPr lang="en-US" sz="1300" dirty="0">
                <a:solidFill>
                  <a:srgbClr val="D4D4D4"/>
                </a:solidFill>
                <a:latin typeface="Consolas" pitchFamily="34" charset="0"/>
                <a:ea typeface="Consolas" pitchFamily="34" charset="-122"/>
                <a:cs typeface="Consolas" pitchFamily="34" charset="-120"/>
              </a:rPr>
              <a:t>    player = GameObject.Find("Player");</a:t>
            </a:r>
            <a:endParaRPr lang="en-US" sz="1300" dirty="0"/>
          </a:p>
          <a:p>
            <a:pPr marL="0" indent="0">
              <a:spcAft>
                <a:spcPts val="300"/>
              </a:spcAft>
              <a:buNone/>
            </a:pPr>
            <a:r>
              <a:rPr lang="en-US" sz="1300" dirty="0">
                <a:solidFill>
                  <a:srgbClr val="D4D4D4"/>
                </a:solidFill>
                <a:latin typeface="Consolas" pitchFamily="34" charset="0"/>
                <a:ea typeface="Consolas" pitchFamily="34" charset="-122"/>
                <a:cs typeface="Consolas" pitchFamily="34" charset="-120"/>
              </a:rPr>
              <a:t> </a:t>
            </a:r>
            <a:endParaRPr lang="en-US" sz="1300" dirty="0"/>
          </a:p>
          <a:p>
            <a:pPr marL="0" indent="0">
              <a:spcAft>
                <a:spcPts val="300"/>
              </a:spcAft>
              <a:buNone/>
            </a:pPr>
            <a:r>
              <a:rPr lang="en-US" sz="1300" dirty="0">
                <a:solidFill>
                  <a:srgbClr val="D4D4D4"/>
                </a:solidFill>
                <a:latin typeface="Consolas" pitchFamily="34" charset="0"/>
                <a:ea typeface="Consolas" pitchFamily="34" charset="-122"/>
                <a:cs typeface="Consolas" pitchFamily="34" charset="-120"/>
              </a:rPr>
              <a:t>void Update() { /* reuse player */ }</a:t>
            </a:r>
            <a:endParaRPr lang="en-US" sz="1300" dirty="0"/>
          </a:p>
        </p:txBody>
      </p:sp>
      <p:sp>
        <p:nvSpPr>
          <p:cNvPr id="10" name="Text 7"/>
          <p:cNvSpPr/>
          <p:nvPr/>
        </p:nvSpPr>
        <p:spPr>
          <a:xfrm>
            <a:off x="960120" y="4434840"/>
            <a:ext cx="4631436" cy="1280160"/>
          </a:xfrm>
          <a:prstGeom prst="rect">
            <a:avLst/>
          </a:prstGeom>
          <a:noFill/>
          <a:ln/>
        </p:spPr>
        <p:txBody>
          <a:bodyPr wrap="square" lIns="0" tIns="0" rIns="0" bIns="0" rtlCol="0" anchor="ctr"/>
          <a:lstStyle/>
          <a:p>
            <a:pPr marL="0" indent="0">
              <a:buNone/>
            </a:pPr>
            <a:r>
              <a:rPr lang="en-US" sz="1350" dirty="0">
                <a:solidFill>
                  <a:srgbClr val="6B7280"/>
                </a:solidFill>
                <a:latin typeface="Calibri" pitchFamily="34" charset="0"/>
                <a:ea typeface="Calibri" pitchFamily="34" charset="-122"/>
                <a:cs typeface="Calibri" pitchFamily="34" charset="-120"/>
              </a:rPr>
              <a:t>Look up the player ONCE, not 60 times a second.</a:t>
            </a:r>
            <a:endParaRPr lang="en-US" sz="1350" dirty="0"/>
          </a:p>
        </p:txBody>
      </p:sp>
      <p:sp>
        <p:nvSpPr>
          <p:cNvPr id="11" name="Shape 8"/>
          <p:cNvSpPr/>
          <p:nvPr/>
        </p:nvSpPr>
        <p:spPr>
          <a:xfrm>
            <a:off x="6277356" y="1828800"/>
            <a:ext cx="5271516" cy="4114800"/>
          </a:xfrm>
          <a:prstGeom prst="roundRect">
            <a:avLst>
              <a:gd name="adj" fmla="val 2000"/>
            </a:avLst>
          </a:prstGeom>
          <a:solidFill>
            <a:srgbClr val="FFF4DC"/>
          </a:solidFill>
          <a:ln/>
          <a:effectLst>
            <a:outerShdw blurRad="127000" dist="38100" dir="5400000" algn="bl" rotWithShape="0">
              <a:srgbClr val="1A2233">
                <a:alpha val="16000"/>
              </a:srgbClr>
            </a:outerShdw>
          </a:effectLst>
        </p:spPr>
        <p:txBody>
          <a:bodyPr/>
          <a:lstStyle/>
          <a:p>
            <a:endParaRPr lang="en-US"/>
          </a:p>
        </p:txBody>
      </p:sp>
      <p:sp>
        <p:nvSpPr>
          <p:cNvPr id="14" name="Text 10"/>
          <p:cNvSpPr/>
          <p:nvPr/>
        </p:nvSpPr>
        <p:spPr>
          <a:xfrm>
            <a:off x="6551676" y="2240280"/>
            <a:ext cx="4768596" cy="502920"/>
          </a:xfrm>
          <a:prstGeom prst="rect">
            <a:avLst/>
          </a:prstGeom>
          <a:noFill/>
          <a:ln/>
        </p:spPr>
        <p:txBody>
          <a:bodyPr wrap="square" lIns="0" tIns="0" rIns="0" bIns="0" rtlCol="0" anchor="ctr"/>
          <a:lstStyle/>
          <a:p>
            <a:pPr marL="0" indent="0">
              <a:buNone/>
            </a:pPr>
            <a:r>
              <a:rPr lang="en-US" sz="1700" b="1" dirty="0">
                <a:solidFill>
                  <a:srgbClr val="041E42"/>
                </a:solidFill>
                <a:latin typeface="Calibri" pitchFamily="34" charset="0"/>
                <a:ea typeface="Calibri" pitchFamily="34" charset="-122"/>
                <a:cs typeface="Calibri" pitchFamily="34" charset="-120"/>
              </a:rPr>
              <a:t>Spread the work out</a:t>
            </a:r>
            <a:endParaRPr lang="en-US" sz="1700" dirty="0"/>
          </a:p>
        </p:txBody>
      </p:sp>
      <p:sp>
        <p:nvSpPr>
          <p:cNvPr id="15" name="Shape 11"/>
          <p:cNvSpPr/>
          <p:nvPr/>
        </p:nvSpPr>
        <p:spPr>
          <a:xfrm>
            <a:off x="6551676" y="2926080"/>
            <a:ext cx="4722876" cy="1371600"/>
          </a:xfrm>
          <a:prstGeom prst="roundRect">
            <a:avLst>
              <a:gd name="adj" fmla="val 6000"/>
            </a:avLst>
          </a:prstGeom>
          <a:solidFill>
            <a:srgbClr val="1E1E1E"/>
          </a:solidFill>
          <a:ln/>
        </p:spPr>
        <p:txBody>
          <a:bodyPr/>
          <a:lstStyle/>
          <a:p>
            <a:endParaRPr lang="en-US"/>
          </a:p>
        </p:txBody>
      </p:sp>
      <p:sp>
        <p:nvSpPr>
          <p:cNvPr id="16" name="Text 12"/>
          <p:cNvSpPr/>
          <p:nvPr/>
        </p:nvSpPr>
        <p:spPr>
          <a:xfrm>
            <a:off x="6807708" y="3108960"/>
            <a:ext cx="4210812" cy="1005840"/>
          </a:xfrm>
          <a:prstGeom prst="rect">
            <a:avLst/>
          </a:prstGeom>
          <a:noFill/>
          <a:ln/>
        </p:spPr>
        <p:txBody>
          <a:bodyPr wrap="square" lIns="0" tIns="0" rIns="0" bIns="0" rtlCol="0" anchor="t"/>
          <a:lstStyle/>
          <a:p>
            <a:pPr marL="0" indent="0">
              <a:spcAft>
                <a:spcPts val="300"/>
              </a:spcAft>
              <a:buNone/>
            </a:pPr>
            <a:r>
              <a:rPr lang="en-US" sz="1300" dirty="0">
                <a:solidFill>
                  <a:srgbClr val="D4D4D4"/>
                </a:solidFill>
                <a:latin typeface="Consolas" pitchFamily="34" charset="0"/>
                <a:ea typeface="Consolas" pitchFamily="34" charset="-122"/>
                <a:cs typeface="Consolas" pitchFamily="34" charset="-120"/>
              </a:rPr>
              <a:t>// spawn a few per frame,</a:t>
            </a:r>
            <a:endParaRPr lang="en-US" sz="1300" dirty="0"/>
          </a:p>
          <a:p>
            <a:pPr marL="0" indent="0">
              <a:spcAft>
                <a:spcPts val="300"/>
              </a:spcAft>
              <a:buNone/>
            </a:pPr>
            <a:r>
              <a:rPr lang="en-US" sz="1300" dirty="0">
                <a:solidFill>
                  <a:srgbClr val="D4D4D4"/>
                </a:solidFill>
                <a:latin typeface="Consolas" pitchFamily="34" charset="0"/>
                <a:ea typeface="Consolas" pitchFamily="34" charset="-122"/>
                <a:cs typeface="Consolas" pitchFamily="34" charset="-120"/>
              </a:rPr>
              <a:t>// not 500 at once</a:t>
            </a:r>
            <a:endParaRPr lang="en-US" sz="1300" dirty="0"/>
          </a:p>
          <a:p>
            <a:pPr marL="0" indent="0">
              <a:spcAft>
                <a:spcPts val="300"/>
              </a:spcAft>
              <a:buNone/>
            </a:pPr>
            <a:r>
              <a:rPr lang="en-US" sz="1300" dirty="0">
                <a:solidFill>
                  <a:srgbClr val="D4D4D4"/>
                </a:solidFill>
                <a:latin typeface="Consolas" pitchFamily="34" charset="0"/>
                <a:ea typeface="Consolas" pitchFamily="34" charset="-122"/>
                <a:cs typeface="Consolas" pitchFamily="34" charset="-120"/>
              </a:rPr>
              <a:t>spawnBudget = 10;</a:t>
            </a:r>
            <a:endParaRPr lang="en-US" sz="1300" dirty="0"/>
          </a:p>
        </p:txBody>
      </p:sp>
      <p:sp>
        <p:nvSpPr>
          <p:cNvPr id="17" name="Text 13"/>
          <p:cNvSpPr/>
          <p:nvPr/>
        </p:nvSpPr>
        <p:spPr>
          <a:xfrm>
            <a:off x="6597396" y="4434840"/>
            <a:ext cx="4631436" cy="1280160"/>
          </a:xfrm>
          <a:prstGeom prst="rect">
            <a:avLst/>
          </a:prstGeom>
          <a:noFill/>
          <a:ln/>
        </p:spPr>
        <p:txBody>
          <a:bodyPr wrap="square" lIns="0" tIns="0" rIns="0" bIns="0" rtlCol="0" anchor="ctr"/>
          <a:lstStyle/>
          <a:p>
            <a:pPr marL="0" indent="0">
              <a:buNone/>
            </a:pPr>
            <a:r>
              <a:rPr lang="en-US" sz="1350" dirty="0">
                <a:solidFill>
                  <a:srgbClr val="6B7280"/>
                </a:solidFill>
                <a:latin typeface="Calibri" pitchFamily="34" charset="0"/>
                <a:ea typeface="Calibri" pitchFamily="34" charset="-122"/>
                <a:cs typeface="Calibri" pitchFamily="34" charset="-120"/>
              </a:rPr>
              <a:t>Instantiate a budget of objects per frame instead of all 500 at once.</a:t>
            </a:r>
            <a:endParaRPr lang="en-US" sz="13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41E42"/>
        </a:solidFill>
        <a:effectLst/>
      </p:bgPr>
    </p:bg>
    <p:spTree>
      <p:nvGrpSpPr>
        <p:cNvPr id="1" name=""/>
        <p:cNvGrpSpPr/>
        <p:nvPr/>
      </p:nvGrpSpPr>
      <p:grpSpPr>
        <a:xfrm>
          <a:off x="0" y="0"/>
          <a:ext cx="0" cy="0"/>
          <a:chOff x="0" y="0"/>
          <a:chExt cx="0" cy="0"/>
        </a:xfrm>
      </p:grpSpPr>
      <p:sp>
        <p:nvSpPr>
          <p:cNvPr id="5" name="Text 2"/>
          <p:cNvSpPr/>
          <p:nvPr/>
        </p:nvSpPr>
        <p:spPr>
          <a:xfrm>
            <a:off x="914400" y="2468880"/>
            <a:ext cx="10360152" cy="1188720"/>
          </a:xfrm>
          <a:prstGeom prst="rect">
            <a:avLst/>
          </a:prstGeom>
          <a:noFill/>
          <a:ln/>
        </p:spPr>
        <p:txBody>
          <a:bodyPr wrap="square" lIns="0" tIns="0" rIns="0" bIns="0" rtlCol="0" anchor="ctr"/>
          <a:lstStyle/>
          <a:p>
            <a:pPr marL="0" indent="0" algn="ctr">
              <a:lnSpc>
                <a:spcPct val="105000"/>
              </a:lnSpc>
              <a:buNone/>
            </a:pPr>
            <a:r>
              <a:rPr lang="en-US" sz="3000" b="1" dirty="0">
                <a:solidFill>
                  <a:srgbClr val="FFFFFF"/>
                </a:solidFill>
                <a:latin typeface="Georgia" pitchFamily="34" charset="0"/>
                <a:ea typeface="Georgia" pitchFamily="34" charset="-122"/>
                <a:cs typeface="Georgia" pitchFamily="34" charset="-120"/>
              </a:rPr>
              <a:t>Find One Real Bug or Bottleneck</a:t>
            </a:r>
            <a:endParaRPr lang="en-US" sz="3000" dirty="0"/>
          </a:p>
          <a:p>
            <a:pPr marL="0" indent="0" algn="ctr">
              <a:lnSpc>
                <a:spcPct val="105000"/>
              </a:lnSpc>
              <a:buNone/>
            </a:pPr>
            <a:r>
              <a:rPr lang="en-US" sz="3000" b="1" dirty="0">
                <a:solidFill>
                  <a:srgbClr val="FFFFFF"/>
                </a:solidFill>
                <a:latin typeface="Georgia" pitchFamily="34" charset="0"/>
                <a:ea typeface="Georgia" pitchFamily="34" charset="-122"/>
                <a:cs typeface="Georgia" pitchFamily="34" charset="-120"/>
              </a:rPr>
              <a:t>in Your Own Project</a:t>
            </a:r>
            <a:endParaRPr lang="en-US" sz="3000" dirty="0"/>
          </a:p>
        </p:txBody>
      </p:sp>
      <p:sp>
        <p:nvSpPr>
          <p:cNvPr id="6" name="Text 3"/>
          <p:cNvSpPr/>
          <p:nvPr/>
        </p:nvSpPr>
        <p:spPr>
          <a:xfrm>
            <a:off x="2011680" y="4023360"/>
            <a:ext cx="8165592" cy="2194560"/>
          </a:xfrm>
          <a:prstGeom prst="rect">
            <a:avLst/>
          </a:prstGeom>
          <a:noFill/>
          <a:ln/>
        </p:spPr>
        <p:txBody>
          <a:bodyPr wrap="square" lIns="0" tIns="0" rIns="0" bIns="0" rtlCol="0" anchor="t"/>
          <a:lstStyle/>
          <a:p>
            <a:pPr marL="228600" indent="-228600">
              <a:spcAft>
                <a:spcPts val="1000"/>
              </a:spcAft>
              <a:buSzPct val="100000"/>
              <a:buChar char="●"/>
            </a:pPr>
            <a:r>
              <a:rPr lang="en-US" sz="1600" dirty="0">
                <a:solidFill>
                  <a:srgbClr val="D7E1F4"/>
                </a:solidFill>
                <a:latin typeface="Calibri" pitchFamily="34" charset="0"/>
                <a:ea typeface="Calibri" pitchFamily="34" charset="-122"/>
                <a:cs typeface="Calibri" pitchFamily="34" charset="-120"/>
              </a:rPr>
              <a:t>Open the Console or Profiler on your own game.</a:t>
            </a:r>
            <a:endParaRPr lang="en-US" sz="1600" dirty="0"/>
          </a:p>
          <a:p>
            <a:pPr marL="228600" indent="-228600">
              <a:spcAft>
                <a:spcPts val="1000"/>
              </a:spcAft>
              <a:buSzPct val="100000"/>
              <a:buChar char="●"/>
            </a:pPr>
            <a:r>
              <a:rPr lang="en-US" sz="1600" dirty="0">
                <a:solidFill>
                  <a:srgbClr val="D7E1F4"/>
                </a:solidFill>
                <a:latin typeface="Calibri" pitchFamily="34" charset="0"/>
                <a:ea typeface="Calibri" pitchFamily="34" charset="-122"/>
                <a:cs typeface="Calibri" pitchFamily="34" charset="-120"/>
              </a:rPr>
              <a:t>Write ONE sentence: your hypothesis about the cause.</a:t>
            </a:r>
            <a:endParaRPr lang="en-US" sz="1600" dirty="0"/>
          </a:p>
          <a:p>
            <a:pPr marL="228600" indent="-228600">
              <a:spcAft>
                <a:spcPts val="1000"/>
              </a:spcAft>
              <a:buSzPct val="100000"/>
              <a:buChar char="●"/>
            </a:pPr>
            <a:r>
              <a:rPr lang="en-US" sz="1600" dirty="0">
                <a:solidFill>
                  <a:srgbClr val="D7E1F4"/>
                </a:solidFill>
                <a:latin typeface="Calibri" pitchFamily="34" charset="0"/>
                <a:ea typeface="Calibri" pitchFamily="34" charset="-122"/>
                <a:cs typeface="Calibri" pitchFamily="34" charset="-120"/>
              </a:rPr>
              <a:t>Test only that. Log what you find before moving on.</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9FB"/>
        </a:solidFill>
        <a:effectLst/>
      </p:bgPr>
    </p:bg>
    <p:spTree>
      <p:nvGrpSpPr>
        <p:cNvPr id="1" name=""/>
        <p:cNvGrpSpPr/>
        <p:nvPr/>
      </p:nvGrpSpPr>
      <p:grpSpPr>
        <a:xfrm>
          <a:off x="0" y="0"/>
          <a:ext cx="0" cy="0"/>
          <a:chOff x="0" y="0"/>
          <a:chExt cx="0" cy="0"/>
        </a:xfrm>
      </p:grpSpPr>
      <p:sp>
        <p:nvSpPr>
          <p:cNvPr id="2" name="Text 0"/>
          <p:cNvSpPr/>
          <p:nvPr/>
        </p:nvSpPr>
        <p:spPr>
          <a:xfrm>
            <a:off x="640080" y="411480"/>
            <a:ext cx="7315200" cy="320040"/>
          </a:xfrm>
          <a:prstGeom prst="rect">
            <a:avLst/>
          </a:prstGeom>
          <a:noFill/>
          <a:ln/>
        </p:spPr>
        <p:txBody>
          <a:bodyPr wrap="square" lIns="0" tIns="0" rIns="0" bIns="0" rtlCol="0" anchor="ctr"/>
          <a:lstStyle/>
          <a:p>
            <a:pPr marL="0" indent="0">
              <a:buNone/>
            </a:pPr>
            <a:r>
              <a:rPr lang="en-US" sz="1300" b="1" kern="0" spc="200" dirty="0">
                <a:solidFill>
                  <a:srgbClr val="AD8433"/>
                </a:solidFill>
                <a:latin typeface="Calibri" pitchFamily="34" charset="0"/>
                <a:ea typeface="Calibri" pitchFamily="34" charset="-122"/>
                <a:cs typeface="Calibri" pitchFamily="34" charset="-120"/>
              </a:rPr>
              <a:t>THREE PARTS · ABOUT 45 MINUTES TOTAL</a:t>
            </a:r>
            <a:endParaRPr lang="en-US" sz="1300" dirty="0"/>
          </a:p>
        </p:txBody>
      </p:sp>
      <p:sp>
        <p:nvSpPr>
          <p:cNvPr id="3" name="Text 1"/>
          <p:cNvSpPr/>
          <p:nvPr/>
        </p:nvSpPr>
        <p:spPr>
          <a:xfrm>
            <a:off x="621792" y="658368"/>
            <a:ext cx="10908792" cy="777240"/>
          </a:xfrm>
          <a:prstGeom prst="rect">
            <a:avLst/>
          </a:prstGeom>
          <a:noFill/>
          <a:ln/>
        </p:spPr>
        <p:txBody>
          <a:bodyPr wrap="square" lIns="0" tIns="0" rIns="0" bIns="0" rtlCol="0" anchor="ctr"/>
          <a:lstStyle/>
          <a:p>
            <a:pPr marL="0" indent="0">
              <a:buNone/>
            </a:pPr>
            <a:r>
              <a:rPr lang="en-US" sz="3200" b="1" dirty="0">
                <a:solidFill>
                  <a:srgbClr val="041E42"/>
                </a:solidFill>
                <a:latin typeface="Georgia" pitchFamily="34" charset="0"/>
                <a:ea typeface="Georgia" pitchFamily="34" charset="-122"/>
                <a:cs typeface="Georgia" pitchFamily="34" charset="-120"/>
              </a:rPr>
              <a:t>The Main Event: Playtest &amp; Triage</a:t>
            </a:r>
            <a:endParaRPr lang="en-US" sz="3200" dirty="0"/>
          </a:p>
        </p:txBody>
      </p:sp>
      <p:sp>
        <p:nvSpPr>
          <p:cNvPr id="4" name="Shape 2"/>
          <p:cNvSpPr/>
          <p:nvPr/>
        </p:nvSpPr>
        <p:spPr>
          <a:xfrm>
            <a:off x="640080" y="3114988"/>
            <a:ext cx="3392424" cy="2737171"/>
          </a:xfrm>
          <a:prstGeom prst="roundRect">
            <a:avLst>
              <a:gd name="adj" fmla="val 2426"/>
            </a:avLst>
          </a:prstGeom>
          <a:solidFill>
            <a:srgbClr val="FFFFFF"/>
          </a:solidFill>
          <a:ln/>
          <a:effectLst>
            <a:outerShdw blurRad="127000" dist="38100" dir="5400000" algn="bl" rotWithShape="0">
              <a:srgbClr val="1A2233">
                <a:alpha val="16000"/>
              </a:srgbClr>
            </a:outerShdw>
          </a:effectLst>
        </p:spPr>
        <p:txBody>
          <a:bodyPr/>
          <a:lstStyle/>
          <a:p>
            <a:endParaRPr lang="en-US"/>
          </a:p>
        </p:txBody>
      </p:sp>
      <p:sp>
        <p:nvSpPr>
          <p:cNvPr id="7" name="Text 4"/>
          <p:cNvSpPr/>
          <p:nvPr/>
        </p:nvSpPr>
        <p:spPr>
          <a:xfrm>
            <a:off x="822960" y="3611880"/>
            <a:ext cx="3026664" cy="411480"/>
          </a:xfrm>
          <a:prstGeom prst="rect">
            <a:avLst/>
          </a:prstGeom>
          <a:noFill/>
          <a:ln/>
        </p:spPr>
        <p:txBody>
          <a:bodyPr wrap="square" lIns="0" tIns="0" rIns="0" bIns="0" rtlCol="0" anchor="ctr"/>
          <a:lstStyle/>
          <a:p>
            <a:pPr marL="0" indent="0" algn="ctr">
              <a:buNone/>
            </a:pPr>
            <a:r>
              <a:rPr lang="en-US" sz="1400" b="1" kern="0" spc="100" dirty="0">
                <a:solidFill>
                  <a:srgbClr val="6B7280"/>
                </a:solidFill>
                <a:latin typeface="Calibri" pitchFamily="34" charset="0"/>
                <a:ea typeface="Calibri" pitchFamily="34" charset="-122"/>
                <a:cs typeface="Calibri" pitchFamily="34" charset="-120"/>
              </a:rPr>
              <a:t>Part 1</a:t>
            </a:r>
            <a:endParaRPr lang="en-US" sz="1400" dirty="0"/>
          </a:p>
        </p:txBody>
      </p:sp>
      <p:sp>
        <p:nvSpPr>
          <p:cNvPr id="8" name="Text 5"/>
          <p:cNvSpPr/>
          <p:nvPr/>
        </p:nvSpPr>
        <p:spPr>
          <a:xfrm>
            <a:off x="868680" y="4023360"/>
            <a:ext cx="2935224" cy="1554480"/>
          </a:xfrm>
          <a:prstGeom prst="rect">
            <a:avLst/>
          </a:prstGeom>
          <a:noFill/>
          <a:ln/>
        </p:spPr>
        <p:txBody>
          <a:bodyPr wrap="square" lIns="0" tIns="0" rIns="0" bIns="0" rtlCol="0" anchor="ctr"/>
          <a:lstStyle/>
          <a:p>
            <a:pPr marL="0" indent="0" algn="ctr">
              <a:buNone/>
            </a:pPr>
            <a:r>
              <a:rPr lang="en-US" sz="1800" b="1" dirty="0">
                <a:solidFill>
                  <a:srgbClr val="222222"/>
                </a:solidFill>
                <a:latin typeface="Georgia" pitchFamily="34" charset="0"/>
                <a:ea typeface="Georgia" pitchFamily="34" charset="-122"/>
                <a:cs typeface="Georgia" pitchFamily="34" charset="-120"/>
              </a:rPr>
              <a:t>Find &amp; hypothesize your own bug</a:t>
            </a:r>
            <a:endParaRPr lang="en-US" sz="1800" dirty="0"/>
          </a:p>
        </p:txBody>
      </p:sp>
      <p:sp>
        <p:nvSpPr>
          <p:cNvPr id="9" name="Shape 6"/>
          <p:cNvSpPr/>
          <p:nvPr/>
        </p:nvSpPr>
        <p:spPr>
          <a:xfrm>
            <a:off x="3995928" y="3666744"/>
            <a:ext cx="438912" cy="438912"/>
          </a:xfrm>
          <a:prstGeom prst="ellipse">
            <a:avLst/>
          </a:prstGeom>
          <a:solidFill>
            <a:srgbClr val="C7CEDB"/>
          </a:solidFill>
          <a:ln/>
        </p:spPr>
        <p:txBody>
          <a:bodyPr/>
          <a:lstStyle/>
          <a:p>
            <a:endParaRPr lang="en-US"/>
          </a:p>
        </p:txBody>
      </p:sp>
      <p:pic>
        <p:nvPicPr>
          <p:cNvPr id="10" name="Image 1" descr="preencoded.png"/>
          <p:cNvPicPr>
            <a:picLocks noChangeAspect="1"/>
          </p:cNvPicPr>
          <p:nvPr/>
        </p:nvPicPr>
        <p:blipFill>
          <a:blip r:embed="rId3"/>
          <a:stretch>
            <a:fillRect/>
          </a:stretch>
        </p:blipFill>
        <p:spPr>
          <a:xfrm>
            <a:off x="4094683" y="3765499"/>
            <a:ext cx="241402" cy="241402"/>
          </a:xfrm>
          <a:prstGeom prst="rect">
            <a:avLst/>
          </a:prstGeom>
        </p:spPr>
      </p:pic>
      <p:sp>
        <p:nvSpPr>
          <p:cNvPr id="11" name="Shape 7"/>
          <p:cNvSpPr/>
          <p:nvPr/>
        </p:nvSpPr>
        <p:spPr>
          <a:xfrm>
            <a:off x="4398264" y="3114988"/>
            <a:ext cx="3392424" cy="2737171"/>
          </a:xfrm>
          <a:prstGeom prst="roundRect">
            <a:avLst>
              <a:gd name="adj" fmla="val 2426"/>
            </a:avLst>
          </a:prstGeom>
          <a:solidFill>
            <a:srgbClr val="FFFFFF"/>
          </a:solidFill>
          <a:ln/>
          <a:effectLst>
            <a:outerShdw blurRad="127000" dist="38100" dir="5400000" algn="bl" rotWithShape="0">
              <a:srgbClr val="1A2233">
                <a:alpha val="16000"/>
              </a:srgbClr>
            </a:outerShdw>
          </a:effectLst>
        </p:spPr>
        <p:txBody>
          <a:bodyPr/>
          <a:lstStyle/>
          <a:p>
            <a:endParaRPr lang="en-US"/>
          </a:p>
        </p:txBody>
      </p:sp>
      <p:sp>
        <p:nvSpPr>
          <p:cNvPr id="14" name="Text 9"/>
          <p:cNvSpPr/>
          <p:nvPr/>
        </p:nvSpPr>
        <p:spPr>
          <a:xfrm>
            <a:off x="4581144" y="3611880"/>
            <a:ext cx="3026664" cy="411480"/>
          </a:xfrm>
          <a:prstGeom prst="rect">
            <a:avLst/>
          </a:prstGeom>
          <a:noFill/>
          <a:ln/>
        </p:spPr>
        <p:txBody>
          <a:bodyPr wrap="square" lIns="0" tIns="0" rIns="0" bIns="0" rtlCol="0" anchor="ctr"/>
          <a:lstStyle/>
          <a:p>
            <a:pPr marL="0" indent="0" algn="ctr">
              <a:buNone/>
            </a:pPr>
            <a:r>
              <a:rPr lang="en-US" sz="1400" b="1" kern="0" spc="100" dirty="0">
                <a:solidFill>
                  <a:srgbClr val="6B7280"/>
                </a:solidFill>
                <a:latin typeface="Calibri" pitchFamily="34" charset="0"/>
                <a:ea typeface="Calibri" pitchFamily="34" charset="-122"/>
                <a:cs typeface="Calibri" pitchFamily="34" charset="-120"/>
              </a:rPr>
              <a:t>Part 2</a:t>
            </a:r>
            <a:endParaRPr lang="en-US" sz="1400" dirty="0"/>
          </a:p>
        </p:txBody>
      </p:sp>
      <p:sp>
        <p:nvSpPr>
          <p:cNvPr id="15" name="Text 10"/>
          <p:cNvSpPr/>
          <p:nvPr/>
        </p:nvSpPr>
        <p:spPr>
          <a:xfrm>
            <a:off x="4626864" y="4023360"/>
            <a:ext cx="2935224" cy="1554480"/>
          </a:xfrm>
          <a:prstGeom prst="rect">
            <a:avLst/>
          </a:prstGeom>
          <a:noFill/>
          <a:ln/>
        </p:spPr>
        <p:txBody>
          <a:bodyPr wrap="square" lIns="0" tIns="0" rIns="0" bIns="0" rtlCol="0" anchor="ctr"/>
          <a:lstStyle/>
          <a:p>
            <a:pPr marL="0" indent="0" algn="ctr">
              <a:buNone/>
            </a:pPr>
            <a:r>
              <a:rPr lang="en-US" sz="1800" b="1" dirty="0">
                <a:solidFill>
                  <a:srgbClr val="222222"/>
                </a:solidFill>
                <a:latin typeface="Georgia" pitchFamily="34" charset="0"/>
                <a:ea typeface="Georgia" pitchFamily="34" charset="-122"/>
                <a:cs typeface="Georgia" pitchFamily="34" charset="-120"/>
              </a:rPr>
              <a:t>Swap builds — structured cross-team playtest</a:t>
            </a:r>
            <a:endParaRPr lang="en-US" sz="1800" dirty="0"/>
          </a:p>
        </p:txBody>
      </p:sp>
      <p:sp>
        <p:nvSpPr>
          <p:cNvPr id="16" name="Shape 11"/>
          <p:cNvSpPr/>
          <p:nvPr/>
        </p:nvSpPr>
        <p:spPr>
          <a:xfrm>
            <a:off x="7754112" y="3666744"/>
            <a:ext cx="438912" cy="438912"/>
          </a:xfrm>
          <a:prstGeom prst="ellipse">
            <a:avLst/>
          </a:prstGeom>
          <a:solidFill>
            <a:srgbClr val="C7CEDB"/>
          </a:solidFill>
          <a:ln/>
        </p:spPr>
        <p:txBody>
          <a:bodyPr/>
          <a:lstStyle/>
          <a:p>
            <a:endParaRPr lang="en-US"/>
          </a:p>
        </p:txBody>
      </p:sp>
      <p:pic>
        <p:nvPicPr>
          <p:cNvPr id="17" name="Image 3" descr="preencoded.png"/>
          <p:cNvPicPr>
            <a:picLocks noChangeAspect="1"/>
          </p:cNvPicPr>
          <p:nvPr/>
        </p:nvPicPr>
        <p:blipFill>
          <a:blip r:embed="rId3"/>
          <a:stretch>
            <a:fillRect/>
          </a:stretch>
        </p:blipFill>
        <p:spPr>
          <a:xfrm>
            <a:off x="7852867" y="3765499"/>
            <a:ext cx="241402" cy="241402"/>
          </a:xfrm>
          <a:prstGeom prst="rect">
            <a:avLst/>
          </a:prstGeom>
        </p:spPr>
      </p:pic>
      <p:sp>
        <p:nvSpPr>
          <p:cNvPr id="18" name="Shape 12"/>
          <p:cNvSpPr/>
          <p:nvPr/>
        </p:nvSpPr>
        <p:spPr>
          <a:xfrm>
            <a:off x="8156448" y="3114988"/>
            <a:ext cx="3392424" cy="2737171"/>
          </a:xfrm>
          <a:prstGeom prst="roundRect">
            <a:avLst>
              <a:gd name="adj" fmla="val 2426"/>
            </a:avLst>
          </a:prstGeom>
          <a:solidFill>
            <a:srgbClr val="FFFFFF"/>
          </a:solidFill>
          <a:ln/>
          <a:effectLst>
            <a:outerShdw blurRad="127000" dist="38100" dir="5400000" algn="bl" rotWithShape="0">
              <a:srgbClr val="1A2233">
                <a:alpha val="16000"/>
              </a:srgbClr>
            </a:outerShdw>
          </a:effectLst>
        </p:spPr>
        <p:txBody>
          <a:bodyPr/>
          <a:lstStyle/>
          <a:p>
            <a:endParaRPr lang="en-US"/>
          </a:p>
        </p:txBody>
      </p:sp>
      <p:sp>
        <p:nvSpPr>
          <p:cNvPr id="21" name="Text 14"/>
          <p:cNvSpPr/>
          <p:nvPr/>
        </p:nvSpPr>
        <p:spPr>
          <a:xfrm>
            <a:off x="8339328" y="3611880"/>
            <a:ext cx="3026664" cy="411480"/>
          </a:xfrm>
          <a:prstGeom prst="rect">
            <a:avLst/>
          </a:prstGeom>
          <a:noFill/>
          <a:ln/>
        </p:spPr>
        <p:txBody>
          <a:bodyPr wrap="square" lIns="0" tIns="0" rIns="0" bIns="0" rtlCol="0" anchor="ctr"/>
          <a:lstStyle/>
          <a:p>
            <a:pPr marL="0" indent="0" algn="ctr">
              <a:buNone/>
            </a:pPr>
            <a:r>
              <a:rPr lang="en-US" sz="1400" b="1" kern="0" spc="100" dirty="0">
                <a:solidFill>
                  <a:srgbClr val="6B7280"/>
                </a:solidFill>
                <a:latin typeface="Calibri" pitchFamily="34" charset="0"/>
                <a:ea typeface="Calibri" pitchFamily="34" charset="-122"/>
                <a:cs typeface="Calibri" pitchFamily="34" charset="-120"/>
              </a:rPr>
              <a:t>Part 3</a:t>
            </a:r>
            <a:endParaRPr lang="en-US" sz="1400" dirty="0"/>
          </a:p>
        </p:txBody>
      </p:sp>
      <p:sp>
        <p:nvSpPr>
          <p:cNvPr id="22" name="Text 15"/>
          <p:cNvSpPr/>
          <p:nvPr/>
        </p:nvSpPr>
        <p:spPr>
          <a:xfrm>
            <a:off x="8385048" y="4023360"/>
            <a:ext cx="2935224" cy="1554480"/>
          </a:xfrm>
          <a:prstGeom prst="rect">
            <a:avLst/>
          </a:prstGeom>
          <a:noFill/>
          <a:ln/>
        </p:spPr>
        <p:txBody>
          <a:bodyPr wrap="square" lIns="0" tIns="0" rIns="0" bIns="0" rtlCol="0" anchor="ctr"/>
          <a:lstStyle/>
          <a:p>
            <a:pPr marL="0" indent="0" algn="ctr">
              <a:buNone/>
            </a:pPr>
            <a:r>
              <a:rPr lang="en-US" sz="1800" b="1" dirty="0">
                <a:solidFill>
                  <a:srgbClr val="222222"/>
                </a:solidFill>
                <a:latin typeface="Georgia" pitchFamily="34" charset="0"/>
                <a:ea typeface="Georgia" pitchFamily="34" charset="-122"/>
                <a:cs typeface="Georgia" pitchFamily="34" charset="-120"/>
              </a:rPr>
              <a:t>Triage: must-fix, nice-to-fix, won't-fix</a:t>
            </a:r>
            <a:endParaRPr lang="en-US" sz="1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7315200" cy="320040"/>
          </a:xfrm>
          <a:prstGeom prst="rect">
            <a:avLst/>
          </a:prstGeom>
          <a:noFill/>
          <a:ln/>
        </p:spPr>
        <p:txBody>
          <a:bodyPr wrap="square" lIns="0" tIns="0" rIns="0" bIns="0" rtlCol="0" anchor="ctr"/>
          <a:lstStyle/>
          <a:p>
            <a:pPr marL="0" indent="0">
              <a:buNone/>
            </a:pPr>
            <a:r>
              <a:rPr lang="en-US" sz="1300" b="1" kern="0" spc="200" dirty="0">
                <a:solidFill>
                  <a:srgbClr val="AD8433"/>
                </a:solidFill>
                <a:latin typeface="Calibri" pitchFamily="34" charset="0"/>
                <a:ea typeface="Calibri" pitchFamily="34" charset="-122"/>
                <a:cs typeface="Calibri" pitchFamily="34" charset="-120"/>
              </a:rPr>
              <a:t>PART 2 · WHY STRUCTURE BEATS “JUST TRY MY GAME”</a:t>
            </a:r>
            <a:endParaRPr lang="en-US" sz="1300" dirty="0"/>
          </a:p>
        </p:txBody>
      </p:sp>
      <p:sp>
        <p:nvSpPr>
          <p:cNvPr id="3" name="Text 1"/>
          <p:cNvSpPr/>
          <p:nvPr/>
        </p:nvSpPr>
        <p:spPr>
          <a:xfrm>
            <a:off x="621792" y="658368"/>
            <a:ext cx="10908792" cy="777240"/>
          </a:xfrm>
          <a:prstGeom prst="rect">
            <a:avLst/>
          </a:prstGeom>
          <a:noFill/>
          <a:ln/>
        </p:spPr>
        <p:txBody>
          <a:bodyPr wrap="square" lIns="0" tIns="0" rIns="0" bIns="0" rtlCol="0" anchor="ctr"/>
          <a:lstStyle/>
          <a:p>
            <a:pPr marL="0" indent="0">
              <a:buNone/>
            </a:pPr>
            <a:r>
              <a:rPr lang="en-US" sz="3200" b="1" dirty="0">
                <a:solidFill>
                  <a:srgbClr val="041E42"/>
                </a:solidFill>
                <a:latin typeface="Georgia" pitchFamily="34" charset="0"/>
                <a:ea typeface="Georgia" pitchFamily="34" charset="-122"/>
                <a:cs typeface="Georgia" pitchFamily="34" charset="-120"/>
              </a:rPr>
              <a:t>Structured Playtest Rules</a:t>
            </a:r>
            <a:endParaRPr lang="en-US" sz="3200" dirty="0"/>
          </a:p>
        </p:txBody>
      </p:sp>
      <p:sp>
        <p:nvSpPr>
          <p:cNvPr id="4" name="Text 2"/>
          <p:cNvSpPr/>
          <p:nvPr/>
        </p:nvSpPr>
        <p:spPr>
          <a:xfrm>
            <a:off x="640080" y="1417320"/>
            <a:ext cx="10908792" cy="640080"/>
          </a:xfrm>
          <a:prstGeom prst="rect">
            <a:avLst/>
          </a:prstGeom>
          <a:noFill/>
          <a:ln/>
        </p:spPr>
        <p:txBody>
          <a:bodyPr wrap="square" lIns="0" tIns="0" rIns="0" bIns="0" rtlCol="0" anchor="ctr"/>
          <a:lstStyle/>
          <a:p>
            <a:pPr marL="0" indent="0">
              <a:buNone/>
            </a:pPr>
            <a:r>
              <a:rPr lang="en-US" sz="1600" dirty="0">
                <a:solidFill>
                  <a:srgbClr val="6B7280"/>
                </a:solidFill>
                <a:latin typeface="Calibri" pitchFamily="34" charset="0"/>
                <a:ea typeface="Calibri" pitchFamily="34" charset="-122"/>
                <a:cs typeface="Calibri" pitchFamily="34" charset="-120"/>
              </a:rPr>
              <a:t>Unstructured feedback sounds like “it's kind of fun” or “it's a little glitchy.” That's not actionable. Your job as playtester is more specific:</a:t>
            </a:r>
            <a:endParaRPr lang="en-US" sz="1600" dirty="0"/>
          </a:p>
        </p:txBody>
      </p:sp>
      <p:sp>
        <p:nvSpPr>
          <p:cNvPr id="5" name="Shape 3"/>
          <p:cNvSpPr/>
          <p:nvPr/>
        </p:nvSpPr>
        <p:spPr>
          <a:xfrm>
            <a:off x="640080" y="2331720"/>
            <a:ext cx="5317236" cy="1463040"/>
          </a:xfrm>
          <a:prstGeom prst="roundRect">
            <a:avLst>
              <a:gd name="adj" fmla="val 5625"/>
            </a:avLst>
          </a:prstGeom>
          <a:solidFill>
            <a:srgbClr val="F7F9FB"/>
          </a:solidFill>
          <a:ln/>
          <a:effectLst>
            <a:outerShdw blurRad="127000" dist="38100" dir="5400000" algn="bl" rotWithShape="0">
              <a:srgbClr val="1A2233">
                <a:alpha val="16000"/>
              </a:srgbClr>
            </a:outerShdw>
          </a:effectLst>
        </p:spPr>
        <p:txBody>
          <a:bodyPr/>
          <a:lstStyle/>
          <a:p>
            <a:endParaRPr lang="en-US"/>
          </a:p>
        </p:txBody>
      </p:sp>
      <p:sp>
        <p:nvSpPr>
          <p:cNvPr id="8" name="Text 5"/>
          <p:cNvSpPr/>
          <p:nvPr/>
        </p:nvSpPr>
        <p:spPr>
          <a:xfrm>
            <a:off x="869534" y="2496312"/>
            <a:ext cx="4859182" cy="457200"/>
          </a:xfrm>
          <a:prstGeom prst="rect">
            <a:avLst/>
          </a:prstGeom>
          <a:noFill/>
          <a:ln/>
        </p:spPr>
        <p:txBody>
          <a:bodyPr wrap="square" lIns="0" tIns="0" rIns="0" bIns="0" rtlCol="0" anchor="ctr"/>
          <a:lstStyle/>
          <a:p>
            <a:pPr marL="0" indent="0">
              <a:buNone/>
            </a:pPr>
            <a:r>
              <a:rPr lang="en-US" sz="1500" b="1" dirty="0">
                <a:solidFill>
                  <a:srgbClr val="041E42"/>
                </a:solidFill>
                <a:latin typeface="Calibri" pitchFamily="34" charset="0"/>
                <a:ea typeface="Calibri" pitchFamily="34" charset="-122"/>
                <a:cs typeface="Calibri" pitchFamily="34" charset="-120"/>
              </a:rPr>
              <a:t>Play for 8–10 minutes</a:t>
            </a:r>
            <a:endParaRPr lang="en-US" sz="1500" dirty="0"/>
          </a:p>
        </p:txBody>
      </p:sp>
      <p:sp>
        <p:nvSpPr>
          <p:cNvPr id="9" name="Text 6"/>
          <p:cNvSpPr/>
          <p:nvPr/>
        </p:nvSpPr>
        <p:spPr>
          <a:xfrm>
            <a:off x="869534" y="2953512"/>
            <a:ext cx="4859182" cy="777240"/>
          </a:xfrm>
          <a:prstGeom prst="rect">
            <a:avLst/>
          </a:prstGeom>
          <a:noFill/>
          <a:ln/>
        </p:spPr>
        <p:txBody>
          <a:bodyPr wrap="square" lIns="0" tIns="0" rIns="0" bIns="0" rtlCol="0" anchor="ctr"/>
          <a:lstStyle/>
          <a:p>
            <a:pPr marL="0" indent="0">
              <a:buNone/>
            </a:pPr>
            <a:r>
              <a:rPr lang="en-US" sz="1250" dirty="0">
                <a:solidFill>
                  <a:srgbClr val="6B7280"/>
                </a:solidFill>
                <a:latin typeface="Calibri" pitchFamily="34" charset="0"/>
                <a:ea typeface="Calibri" pitchFamily="34" charset="-122"/>
                <a:cs typeface="Calibri" pitchFamily="34" charset="-120"/>
              </a:rPr>
              <a:t>Set a timer. No longer — every team needs to get tested.</a:t>
            </a:r>
            <a:endParaRPr lang="en-US" sz="1250" dirty="0"/>
          </a:p>
        </p:txBody>
      </p:sp>
      <p:sp>
        <p:nvSpPr>
          <p:cNvPr id="10" name="Shape 7"/>
          <p:cNvSpPr/>
          <p:nvPr/>
        </p:nvSpPr>
        <p:spPr>
          <a:xfrm>
            <a:off x="6231636" y="2331720"/>
            <a:ext cx="5317236" cy="1463040"/>
          </a:xfrm>
          <a:prstGeom prst="roundRect">
            <a:avLst>
              <a:gd name="adj" fmla="val 5625"/>
            </a:avLst>
          </a:prstGeom>
          <a:solidFill>
            <a:srgbClr val="F7F9FB"/>
          </a:solidFill>
          <a:ln/>
          <a:effectLst>
            <a:outerShdw blurRad="127000" dist="38100" dir="5400000" algn="bl" rotWithShape="0">
              <a:srgbClr val="1A2233">
                <a:alpha val="16000"/>
              </a:srgbClr>
            </a:outerShdw>
          </a:effectLst>
        </p:spPr>
        <p:txBody>
          <a:bodyPr/>
          <a:lstStyle/>
          <a:p>
            <a:endParaRPr lang="en-US"/>
          </a:p>
        </p:txBody>
      </p:sp>
      <p:sp>
        <p:nvSpPr>
          <p:cNvPr id="13" name="Text 9"/>
          <p:cNvSpPr/>
          <p:nvPr/>
        </p:nvSpPr>
        <p:spPr>
          <a:xfrm>
            <a:off x="6461090" y="2496312"/>
            <a:ext cx="4859182" cy="457200"/>
          </a:xfrm>
          <a:prstGeom prst="rect">
            <a:avLst/>
          </a:prstGeom>
          <a:noFill/>
          <a:ln/>
        </p:spPr>
        <p:txBody>
          <a:bodyPr wrap="square" lIns="0" tIns="0" rIns="0" bIns="0" rtlCol="0" anchor="ctr"/>
          <a:lstStyle/>
          <a:p>
            <a:pPr marL="0" indent="0">
              <a:buNone/>
            </a:pPr>
            <a:r>
              <a:rPr lang="en-US" sz="1500" b="1" dirty="0">
                <a:solidFill>
                  <a:srgbClr val="041E42"/>
                </a:solidFill>
                <a:latin typeface="Calibri" pitchFamily="34" charset="0"/>
                <a:ea typeface="Calibri" pitchFamily="34" charset="-122"/>
                <a:cs typeface="Calibri" pitchFamily="34" charset="-120"/>
              </a:rPr>
              <a:t>Log 5+ entries</a:t>
            </a:r>
            <a:endParaRPr lang="en-US" sz="1500" dirty="0"/>
          </a:p>
        </p:txBody>
      </p:sp>
      <p:sp>
        <p:nvSpPr>
          <p:cNvPr id="14" name="Text 10"/>
          <p:cNvSpPr/>
          <p:nvPr/>
        </p:nvSpPr>
        <p:spPr>
          <a:xfrm>
            <a:off x="6461090" y="2953512"/>
            <a:ext cx="4859182" cy="777240"/>
          </a:xfrm>
          <a:prstGeom prst="rect">
            <a:avLst/>
          </a:prstGeom>
          <a:noFill/>
          <a:ln/>
        </p:spPr>
        <p:txBody>
          <a:bodyPr wrap="square" lIns="0" tIns="0" rIns="0" bIns="0" rtlCol="0" anchor="ctr"/>
          <a:lstStyle/>
          <a:p>
            <a:pPr marL="0" indent="0">
              <a:buNone/>
            </a:pPr>
            <a:r>
              <a:rPr lang="en-US" sz="1250" dirty="0">
                <a:solidFill>
                  <a:srgbClr val="6B7280"/>
                </a:solidFill>
                <a:latin typeface="Calibri" pitchFamily="34" charset="0"/>
                <a:ea typeface="Calibri" pitchFamily="34" charset="-122"/>
                <a:cs typeface="Calibri" pitchFamily="34" charset="-120"/>
              </a:rPr>
              <a:t>What happened, where, and how it felt: confusing, broken, or great.</a:t>
            </a:r>
            <a:endParaRPr lang="en-US" sz="1250" dirty="0"/>
          </a:p>
        </p:txBody>
      </p:sp>
      <p:sp>
        <p:nvSpPr>
          <p:cNvPr id="15" name="Shape 11"/>
          <p:cNvSpPr/>
          <p:nvPr/>
        </p:nvSpPr>
        <p:spPr>
          <a:xfrm>
            <a:off x="640080" y="4023360"/>
            <a:ext cx="5317236" cy="1463040"/>
          </a:xfrm>
          <a:prstGeom prst="roundRect">
            <a:avLst>
              <a:gd name="adj" fmla="val 5625"/>
            </a:avLst>
          </a:prstGeom>
          <a:solidFill>
            <a:srgbClr val="F7F9FB"/>
          </a:solidFill>
          <a:ln/>
          <a:effectLst>
            <a:outerShdw blurRad="127000" dist="38100" dir="5400000" algn="bl" rotWithShape="0">
              <a:srgbClr val="1A2233">
                <a:alpha val="16000"/>
              </a:srgbClr>
            </a:outerShdw>
          </a:effectLst>
        </p:spPr>
        <p:txBody>
          <a:bodyPr/>
          <a:lstStyle/>
          <a:p>
            <a:endParaRPr lang="en-US"/>
          </a:p>
        </p:txBody>
      </p:sp>
      <p:sp>
        <p:nvSpPr>
          <p:cNvPr id="18" name="Text 13"/>
          <p:cNvSpPr/>
          <p:nvPr/>
        </p:nvSpPr>
        <p:spPr>
          <a:xfrm>
            <a:off x="869534" y="4187952"/>
            <a:ext cx="4859182" cy="457200"/>
          </a:xfrm>
          <a:prstGeom prst="rect">
            <a:avLst/>
          </a:prstGeom>
          <a:noFill/>
          <a:ln/>
        </p:spPr>
        <p:txBody>
          <a:bodyPr wrap="square" lIns="0" tIns="0" rIns="0" bIns="0" rtlCol="0" anchor="ctr"/>
          <a:lstStyle/>
          <a:p>
            <a:pPr marL="0" indent="0">
              <a:buNone/>
            </a:pPr>
            <a:r>
              <a:rPr lang="en-US" sz="1500" b="1" dirty="0">
                <a:solidFill>
                  <a:srgbClr val="041E42"/>
                </a:solidFill>
                <a:latin typeface="Calibri" pitchFamily="34" charset="0"/>
                <a:ea typeface="Calibri" pitchFamily="34" charset="-122"/>
                <a:cs typeface="Calibri" pitchFamily="34" charset="-120"/>
              </a:rPr>
              <a:t>Describe symptoms, not fixes</a:t>
            </a:r>
            <a:endParaRPr lang="en-US" sz="1500" dirty="0"/>
          </a:p>
        </p:txBody>
      </p:sp>
      <p:sp>
        <p:nvSpPr>
          <p:cNvPr id="19" name="Text 14"/>
          <p:cNvSpPr/>
          <p:nvPr/>
        </p:nvSpPr>
        <p:spPr>
          <a:xfrm>
            <a:off x="869534" y="4645152"/>
            <a:ext cx="4859182" cy="777240"/>
          </a:xfrm>
          <a:prstGeom prst="rect">
            <a:avLst/>
          </a:prstGeom>
          <a:noFill/>
          <a:ln/>
        </p:spPr>
        <p:txBody>
          <a:bodyPr wrap="square" lIns="0" tIns="0" rIns="0" bIns="0" rtlCol="0" anchor="ctr"/>
          <a:lstStyle/>
          <a:p>
            <a:pPr marL="0" indent="0">
              <a:buNone/>
            </a:pPr>
            <a:r>
              <a:rPr lang="en-US" sz="1250" dirty="0">
                <a:solidFill>
                  <a:srgbClr val="6B7280"/>
                </a:solidFill>
                <a:latin typeface="Calibri" pitchFamily="34" charset="0"/>
                <a:ea typeface="Calibri" pitchFamily="34" charset="-122"/>
                <a:cs typeface="Calibri" pitchFamily="34" charset="-120"/>
              </a:rPr>
              <a:t>“I walked through the wall at the ramp” beats “fix collisions.”</a:t>
            </a:r>
            <a:endParaRPr lang="en-US" sz="1250" dirty="0"/>
          </a:p>
        </p:txBody>
      </p:sp>
      <p:sp>
        <p:nvSpPr>
          <p:cNvPr id="20" name="Shape 15"/>
          <p:cNvSpPr/>
          <p:nvPr/>
        </p:nvSpPr>
        <p:spPr>
          <a:xfrm>
            <a:off x="6231636" y="4023360"/>
            <a:ext cx="5317236" cy="1463040"/>
          </a:xfrm>
          <a:prstGeom prst="roundRect">
            <a:avLst>
              <a:gd name="adj" fmla="val 5625"/>
            </a:avLst>
          </a:prstGeom>
          <a:solidFill>
            <a:srgbClr val="F7F9FB"/>
          </a:solidFill>
          <a:ln/>
          <a:effectLst>
            <a:outerShdw blurRad="127000" dist="38100" dir="5400000" algn="bl" rotWithShape="0">
              <a:srgbClr val="1A2233">
                <a:alpha val="16000"/>
              </a:srgbClr>
            </a:outerShdw>
          </a:effectLst>
        </p:spPr>
        <p:txBody>
          <a:bodyPr/>
          <a:lstStyle/>
          <a:p>
            <a:endParaRPr lang="en-US"/>
          </a:p>
        </p:txBody>
      </p:sp>
      <p:sp>
        <p:nvSpPr>
          <p:cNvPr id="23" name="Text 17"/>
          <p:cNvSpPr/>
          <p:nvPr/>
        </p:nvSpPr>
        <p:spPr>
          <a:xfrm>
            <a:off x="6461090" y="4187952"/>
            <a:ext cx="4859182" cy="457200"/>
          </a:xfrm>
          <a:prstGeom prst="rect">
            <a:avLst/>
          </a:prstGeom>
          <a:noFill/>
          <a:ln/>
        </p:spPr>
        <p:txBody>
          <a:bodyPr wrap="square" lIns="0" tIns="0" rIns="0" bIns="0" rtlCol="0" anchor="ctr"/>
          <a:lstStyle/>
          <a:p>
            <a:pPr marL="0" indent="0">
              <a:buNone/>
            </a:pPr>
            <a:r>
              <a:rPr lang="en-US" sz="1500" b="1" dirty="0">
                <a:solidFill>
                  <a:srgbClr val="041E42"/>
                </a:solidFill>
                <a:latin typeface="Calibri" pitchFamily="34" charset="0"/>
                <a:ea typeface="Calibri" pitchFamily="34" charset="-122"/>
                <a:cs typeface="Calibri" pitchFamily="34" charset="-120"/>
              </a:rPr>
              <a:t>Original team stays silent</a:t>
            </a:r>
            <a:endParaRPr lang="en-US" sz="1500" dirty="0"/>
          </a:p>
        </p:txBody>
      </p:sp>
      <p:sp>
        <p:nvSpPr>
          <p:cNvPr id="24" name="Text 18"/>
          <p:cNvSpPr/>
          <p:nvPr/>
        </p:nvSpPr>
        <p:spPr>
          <a:xfrm>
            <a:off x="6461090" y="4645152"/>
            <a:ext cx="4859182" cy="777240"/>
          </a:xfrm>
          <a:prstGeom prst="rect">
            <a:avLst/>
          </a:prstGeom>
          <a:noFill/>
          <a:ln/>
        </p:spPr>
        <p:txBody>
          <a:bodyPr wrap="square" lIns="0" tIns="0" rIns="0" bIns="0" rtlCol="0" anchor="ctr"/>
          <a:lstStyle/>
          <a:p>
            <a:pPr marL="0" indent="0">
              <a:buNone/>
            </a:pPr>
            <a:r>
              <a:rPr lang="en-US" sz="1250" dirty="0">
                <a:solidFill>
                  <a:srgbClr val="6B7280"/>
                </a:solidFill>
                <a:latin typeface="Calibri" pitchFamily="34" charset="0"/>
                <a:ea typeface="Calibri" pitchFamily="34" charset="-122"/>
                <a:cs typeface="Calibri" pitchFamily="34" charset="-120"/>
              </a:rPr>
              <a:t>No hinting, no defending the design. Confused silence IS data.</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9FB"/>
        </a:solidFill>
        <a:effectLst/>
      </p:bgPr>
    </p:bg>
    <p:spTree>
      <p:nvGrpSpPr>
        <p:cNvPr id="1" name=""/>
        <p:cNvGrpSpPr/>
        <p:nvPr/>
      </p:nvGrpSpPr>
      <p:grpSpPr>
        <a:xfrm>
          <a:off x="0" y="0"/>
          <a:ext cx="0" cy="0"/>
          <a:chOff x="0" y="0"/>
          <a:chExt cx="0" cy="0"/>
        </a:xfrm>
      </p:grpSpPr>
      <p:sp>
        <p:nvSpPr>
          <p:cNvPr id="2" name="Text 0"/>
          <p:cNvSpPr/>
          <p:nvPr/>
        </p:nvSpPr>
        <p:spPr>
          <a:xfrm>
            <a:off x="640080" y="411480"/>
            <a:ext cx="7315200" cy="320040"/>
          </a:xfrm>
          <a:prstGeom prst="rect">
            <a:avLst/>
          </a:prstGeom>
          <a:noFill/>
          <a:ln/>
        </p:spPr>
        <p:txBody>
          <a:bodyPr wrap="square" lIns="0" tIns="0" rIns="0" bIns="0" rtlCol="0" anchor="ctr"/>
          <a:lstStyle/>
          <a:p>
            <a:pPr marL="0" indent="0">
              <a:buNone/>
            </a:pPr>
            <a:r>
              <a:rPr lang="en-US" sz="1300" b="1" kern="0" spc="200" dirty="0">
                <a:solidFill>
                  <a:srgbClr val="AD8433"/>
                </a:solidFill>
                <a:latin typeface="Calibri" pitchFamily="34" charset="0"/>
                <a:ea typeface="Calibri" pitchFamily="34" charset="-122"/>
                <a:cs typeface="Calibri" pitchFamily="34" charset="-120"/>
              </a:rPr>
              <a:t>THE SHARED TEMPLATE · FILL THIS IN AS YOU PLAY</a:t>
            </a:r>
            <a:endParaRPr lang="en-US" sz="1300" dirty="0"/>
          </a:p>
        </p:txBody>
      </p:sp>
      <p:sp>
        <p:nvSpPr>
          <p:cNvPr id="3" name="Text 1"/>
          <p:cNvSpPr/>
          <p:nvPr/>
        </p:nvSpPr>
        <p:spPr>
          <a:xfrm>
            <a:off x="621792" y="658368"/>
            <a:ext cx="10908792" cy="777240"/>
          </a:xfrm>
          <a:prstGeom prst="rect">
            <a:avLst/>
          </a:prstGeom>
          <a:noFill/>
          <a:ln/>
        </p:spPr>
        <p:txBody>
          <a:bodyPr wrap="square" lIns="0" tIns="0" rIns="0" bIns="0" rtlCol="0" anchor="ctr"/>
          <a:lstStyle/>
          <a:p>
            <a:pPr marL="0" indent="0">
              <a:buNone/>
            </a:pPr>
            <a:r>
              <a:rPr lang="en-US" sz="3200" b="1" dirty="0">
                <a:solidFill>
                  <a:srgbClr val="041E42"/>
                </a:solidFill>
                <a:latin typeface="Georgia" pitchFamily="34" charset="0"/>
                <a:ea typeface="Georgia" pitchFamily="34" charset="-122"/>
                <a:cs typeface="Georgia" pitchFamily="34" charset="-120"/>
              </a:rPr>
              <a:t>Your Bug/Feedback Log</a:t>
            </a:r>
            <a:endParaRPr lang="en-US" sz="3200" dirty="0"/>
          </a:p>
        </p:txBody>
      </p:sp>
      <p:sp>
        <p:nvSpPr>
          <p:cNvPr id="4" name="Shape 2"/>
          <p:cNvSpPr/>
          <p:nvPr/>
        </p:nvSpPr>
        <p:spPr>
          <a:xfrm>
            <a:off x="640080" y="1920240"/>
            <a:ext cx="3108960" cy="502920"/>
          </a:xfrm>
          <a:prstGeom prst="rect">
            <a:avLst/>
          </a:prstGeom>
          <a:solidFill>
            <a:srgbClr val="041E42"/>
          </a:solidFill>
          <a:ln w="9525">
            <a:solidFill>
              <a:srgbClr val="FFFFFF"/>
            </a:solidFill>
            <a:prstDash val="solid"/>
          </a:ln>
        </p:spPr>
        <p:txBody>
          <a:bodyPr/>
          <a:lstStyle/>
          <a:p>
            <a:endParaRPr lang="en-US"/>
          </a:p>
        </p:txBody>
      </p:sp>
      <p:sp>
        <p:nvSpPr>
          <p:cNvPr id="5" name="Text 3"/>
          <p:cNvSpPr/>
          <p:nvPr/>
        </p:nvSpPr>
        <p:spPr>
          <a:xfrm>
            <a:off x="640080" y="1920240"/>
            <a:ext cx="310896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Description</a:t>
            </a:r>
            <a:endParaRPr lang="en-US" sz="1300" dirty="0"/>
          </a:p>
        </p:txBody>
      </p:sp>
      <p:sp>
        <p:nvSpPr>
          <p:cNvPr id="6" name="Shape 4"/>
          <p:cNvSpPr/>
          <p:nvPr/>
        </p:nvSpPr>
        <p:spPr>
          <a:xfrm>
            <a:off x="3749040" y="1920240"/>
            <a:ext cx="1554480" cy="502920"/>
          </a:xfrm>
          <a:prstGeom prst="rect">
            <a:avLst/>
          </a:prstGeom>
          <a:solidFill>
            <a:srgbClr val="041E42"/>
          </a:solidFill>
          <a:ln w="9525">
            <a:solidFill>
              <a:srgbClr val="FFFFFF"/>
            </a:solidFill>
            <a:prstDash val="solid"/>
          </a:ln>
        </p:spPr>
        <p:txBody>
          <a:bodyPr/>
          <a:lstStyle/>
          <a:p>
            <a:endParaRPr lang="en-US"/>
          </a:p>
        </p:txBody>
      </p:sp>
      <p:sp>
        <p:nvSpPr>
          <p:cNvPr id="7" name="Text 5"/>
          <p:cNvSpPr/>
          <p:nvPr/>
        </p:nvSpPr>
        <p:spPr>
          <a:xfrm>
            <a:off x="3749040" y="1920240"/>
            <a:ext cx="155448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Severity</a:t>
            </a:r>
            <a:endParaRPr lang="en-US" sz="1300" dirty="0"/>
          </a:p>
        </p:txBody>
      </p:sp>
      <p:sp>
        <p:nvSpPr>
          <p:cNvPr id="8" name="Shape 6"/>
          <p:cNvSpPr/>
          <p:nvPr/>
        </p:nvSpPr>
        <p:spPr>
          <a:xfrm>
            <a:off x="5303520" y="1920240"/>
            <a:ext cx="1554480" cy="502920"/>
          </a:xfrm>
          <a:prstGeom prst="rect">
            <a:avLst/>
          </a:prstGeom>
          <a:solidFill>
            <a:srgbClr val="041E42"/>
          </a:solidFill>
          <a:ln w="9525">
            <a:solidFill>
              <a:srgbClr val="FFFFFF"/>
            </a:solidFill>
            <a:prstDash val="solid"/>
          </a:ln>
        </p:spPr>
        <p:txBody>
          <a:bodyPr/>
          <a:lstStyle/>
          <a:p>
            <a:endParaRPr lang="en-US"/>
          </a:p>
        </p:txBody>
      </p:sp>
      <p:sp>
        <p:nvSpPr>
          <p:cNvPr id="9" name="Text 7"/>
          <p:cNvSpPr/>
          <p:nvPr/>
        </p:nvSpPr>
        <p:spPr>
          <a:xfrm>
            <a:off x="5303520" y="1920240"/>
            <a:ext cx="155448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Reporter</a:t>
            </a:r>
            <a:endParaRPr lang="en-US" sz="1300" dirty="0"/>
          </a:p>
        </p:txBody>
      </p:sp>
      <p:sp>
        <p:nvSpPr>
          <p:cNvPr id="10" name="Shape 8"/>
          <p:cNvSpPr/>
          <p:nvPr/>
        </p:nvSpPr>
        <p:spPr>
          <a:xfrm>
            <a:off x="6858000" y="1920240"/>
            <a:ext cx="1554480" cy="502920"/>
          </a:xfrm>
          <a:prstGeom prst="rect">
            <a:avLst/>
          </a:prstGeom>
          <a:solidFill>
            <a:srgbClr val="041E42"/>
          </a:solidFill>
          <a:ln w="9525">
            <a:solidFill>
              <a:srgbClr val="FFFFFF"/>
            </a:solidFill>
            <a:prstDash val="solid"/>
          </a:ln>
        </p:spPr>
        <p:txBody>
          <a:bodyPr/>
          <a:lstStyle/>
          <a:p>
            <a:endParaRPr lang="en-US"/>
          </a:p>
        </p:txBody>
      </p:sp>
      <p:sp>
        <p:nvSpPr>
          <p:cNvPr id="11" name="Text 9"/>
          <p:cNvSpPr/>
          <p:nvPr/>
        </p:nvSpPr>
        <p:spPr>
          <a:xfrm>
            <a:off x="6858000" y="1920240"/>
            <a:ext cx="155448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Status</a:t>
            </a:r>
            <a:endParaRPr lang="en-US" sz="1300" dirty="0"/>
          </a:p>
        </p:txBody>
      </p:sp>
      <p:sp>
        <p:nvSpPr>
          <p:cNvPr id="12" name="Shape 10"/>
          <p:cNvSpPr/>
          <p:nvPr/>
        </p:nvSpPr>
        <p:spPr>
          <a:xfrm>
            <a:off x="8412480" y="1920240"/>
            <a:ext cx="3136392" cy="502920"/>
          </a:xfrm>
          <a:prstGeom prst="rect">
            <a:avLst/>
          </a:prstGeom>
          <a:solidFill>
            <a:srgbClr val="041E42"/>
          </a:solidFill>
          <a:ln w="9525">
            <a:solidFill>
              <a:srgbClr val="FFFFFF"/>
            </a:solidFill>
            <a:prstDash val="solid"/>
          </a:ln>
        </p:spPr>
        <p:txBody>
          <a:bodyPr/>
          <a:lstStyle/>
          <a:p>
            <a:endParaRPr lang="en-US"/>
          </a:p>
        </p:txBody>
      </p:sp>
      <p:sp>
        <p:nvSpPr>
          <p:cNvPr id="13" name="Text 11"/>
          <p:cNvSpPr/>
          <p:nvPr/>
        </p:nvSpPr>
        <p:spPr>
          <a:xfrm>
            <a:off x="8412480" y="1920240"/>
            <a:ext cx="3136392"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Fix Priority</a:t>
            </a:r>
            <a:endParaRPr lang="en-US" sz="1300" dirty="0"/>
          </a:p>
        </p:txBody>
      </p:sp>
      <p:sp>
        <p:nvSpPr>
          <p:cNvPr id="14" name="Shape 12"/>
          <p:cNvSpPr/>
          <p:nvPr/>
        </p:nvSpPr>
        <p:spPr>
          <a:xfrm>
            <a:off x="640080" y="2423160"/>
            <a:ext cx="3108960" cy="640080"/>
          </a:xfrm>
          <a:prstGeom prst="rect">
            <a:avLst/>
          </a:prstGeom>
          <a:solidFill>
            <a:srgbClr val="FFFFFF"/>
          </a:solidFill>
          <a:ln w="9525">
            <a:solidFill>
              <a:srgbClr val="D8DEE9"/>
            </a:solidFill>
            <a:prstDash val="solid"/>
          </a:ln>
        </p:spPr>
        <p:txBody>
          <a:bodyPr/>
          <a:lstStyle/>
          <a:p>
            <a:endParaRPr lang="en-US"/>
          </a:p>
        </p:txBody>
      </p:sp>
      <p:sp>
        <p:nvSpPr>
          <p:cNvPr id="15" name="Text 13"/>
          <p:cNvSpPr/>
          <p:nvPr/>
        </p:nvSpPr>
        <p:spPr>
          <a:xfrm>
            <a:off x="713232" y="2423160"/>
            <a:ext cx="2962656" cy="640080"/>
          </a:xfrm>
          <a:prstGeom prst="rect">
            <a:avLst/>
          </a:prstGeom>
          <a:noFill/>
          <a:ln/>
        </p:spPr>
        <p:txBody>
          <a:bodyPr wrap="square" lIns="0" tIns="0" rIns="0" bIns="0" rtlCol="0" anchor="ctr"/>
          <a:lstStyle/>
          <a:p>
            <a:pPr marL="0" indent="0">
              <a:buNone/>
            </a:pPr>
            <a:r>
              <a:rPr lang="en-US" sz="1200" dirty="0">
                <a:solidFill>
                  <a:srgbClr val="222222"/>
                </a:solidFill>
                <a:latin typeface="Calibri" pitchFamily="34" charset="0"/>
                <a:ea typeface="Calibri" pitchFamily="34" charset="-122"/>
                <a:cs typeface="Calibri" pitchFamily="34" charset="-120"/>
              </a:rPr>
              <a:t>Fell through floor near ramp</a:t>
            </a:r>
            <a:endParaRPr lang="en-US" sz="1200" dirty="0"/>
          </a:p>
        </p:txBody>
      </p:sp>
      <p:sp>
        <p:nvSpPr>
          <p:cNvPr id="16" name="Shape 14"/>
          <p:cNvSpPr/>
          <p:nvPr/>
        </p:nvSpPr>
        <p:spPr>
          <a:xfrm>
            <a:off x="3749040" y="2423160"/>
            <a:ext cx="1554480" cy="640080"/>
          </a:xfrm>
          <a:prstGeom prst="rect">
            <a:avLst/>
          </a:prstGeom>
          <a:solidFill>
            <a:srgbClr val="FFFFFF"/>
          </a:solidFill>
          <a:ln w="9525">
            <a:solidFill>
              <a:srgbClr val="D8DEE9"/>
            </a:solidFill>
            <a:prstDash val="solid"/>
          </a:ln>
        </p:spPr>
        <p:txBody>
          <a:bodyPr/>
          <a:lstStyle/>
          <a:p>
            <a:endParaRPr lang="en-US"/>
          </a:p>
        </p:txBody>
      </p:sp>
      <p:sp>
        <p:nvSpPr>
          <p:cNvPr id="17" name="Text 15"/>
          <p:cNvSpPr/>
          <p:nvPr/>
        </p:nvSpPr>
        <p:spPr>
          <a:xfrm>
            <a:off x="3822192" y="2423160"/>
            <a:ext cx="1408176" cy="640080"/>
          </a:xfrm>
          <a:prstGeom prst="rect">
            <a:avLst/>
          </a:prstGeom>
          <a:noFill/>
          <a:ln/>
        </p:spPr>
        <p:txBody>
          <a:bodyPr wrap="square" lIns="0" tIns="0" rIns="0" bIns="0" rtlCol="0" anchor="ctr"/>
          <a:lstStyle/>
          <a:p>
            <a:pPr marL="0" indent="0">
              <a:buNone/>
            </a:pPr>
            <a:r>
              <a:rPr lang="en-US" sz="1200" dirty="0">
                <a:solidFill>
                  <a:srgbClr val="222222"/>
                </a:solidFill>
                <a:latin typeface="Calibri" pitchFamily="34" charset="0"/>
                <a:ea typeface="Calibri" pitchFamily="34" charset="-122"/>
                <a:cs typeface="Calibri" pitchFamily="34" charset="-120"/>
              </a:rPr>
              <a:t>High</a:t>
            </a:r>
            <a:endParaRPr lang="en-US" sz="1200" dirty="0"/>
          </a:p>
        </p:txBody>
      </p:sp>
      <p:sp>
        <p:nvSpPr>
          <p:cNvPr id="18" name="Shape 16"/>
          <p:cNvSpPr/>
          <p:nvPr/>
        </p:nvSpPr>
        <p:spPr>
          <a:xfrm>
            <a:off x="5303520" y="2423160"/>
            <a:ext cx="1554480" cy="640080"/>
          </a:xfrm>
          <a:prstGeom prst="rect">
            <a:avLst/>
          </a:prstGeom>
          <a:solidFill>
            <a:srgbClr val="FFFFFF"/>
          </a:solidFill>
          <a:ln w="9525">
            <a:solidFill>
              <a:srgbClr val="D8DEE9"/>
            </a:solidFill>
            <a:prstDash val="solid"/>
          </a:ln>
        </p:spPr>
        <p:txBody>
          <a:bodyPr/>
          <a:lstStyle/>
          <a:p>
            <a:endParaRPr lang="en-US"/>
          </a:p>
        </p:txBody>
      </p:sp>
      <p:sp>
        <p:nvSpPr>
          <p:cNvPr id="19" name="Text 17"/>
          <p:cNvSpPr/>
          <p:nvPr/>
        </p:nvSpPr>
        <p:spPr>
          <a:xfrm>
            <a:off x="5376672" y="2423160"/>
            <a:ext cx="1408176" cy="640080"/>
          </a:xfrm>
          <a:prstGeom prst="rect">
            <a:avLst/>
          </a:prstGeom>
          <a:noFill/>
          <a:ln/>
        </p:spPr>
        <p:txBody>
          <a:bodyPr wrap="square" lIns="0" tIns="0" rIns="0" bIns="0" rtlCol="0" anchor="ctr"/>
          <a:lstStyle/>
          <a:p>
            <a:pPr marL="0" indent="0">
              <a:buNone/>
            </a:pPr>
            <a:r>
              <a:rPr lang="en-US" sz="1200" dirty="0">
                <a:solidFill>
                  <a:srgbClr val="222222"/>
                </a:solidFill>
                <a:latin typeface="Calibri" pitchFamily="34" charset="0"/>
                <a:ea typeface="Calibri" pitchFamily="34" charset="-122"/>
                <a:cs typeface="Calibri" pitchFamily="34" charset="-120"/>
              </a:rPr>
              <a:t>Team B</a:t>
            </a:r>
            <a:endParaRPr lang="en-US" sz="1200" dirty="0"/>
          </a:p>
        </p:txBody>
      </p:sp>
      <p:sp>
        <p:nvSpPr>
          <p:cNvPr id="20" name="Shape 18"/>
          <p:cNvSpPr/>
          <p:nvPr/>
        </p:nvSpPr>
        <p:spPr>
          <a:xfrm>
            <a:off x="6858000" y="2423160"/>
            <a:ext cx="1554480" cy="640080"/>
          </a:xfrm>
          <a:prstGeom prst="rect">
            <a:avLst/>
          </a:prstGeom>
          <a:solidFill>
            <a:srgbClr val="FFFFFF"/>
          </a:solidFill>
          <a:ln w="9525">
            <a:solidFill>
              <a:srgbClr val="D8DEE9"/>
            </a:solidFill>
            <a:prstDash val="solid"/>
          </a:ln>
        </p:spPr>
        <p:txBody>
          <a:bodyPr/>
          <a:lstStyle/>
          <a:p>
            <a:endParaRPr lang="en-US"/>
          </a:p>
        </p:txBody>
      </p:sp>
      <p:sp>
        <p:nvSpPr>
          <p:cNvPr id="21" name="Text 19"/>
          <p:cNvSpPr/>
          <p:nvPr/>
        </p:nvSpPr>
        <p:spPr>
          <a:xfrm>
            <a:off x="6931152" y="2423160"/>
            <a:ext cx="1408176" cy="640080"/>
          </a:xfrm>
          <a:prstGeom prst="rect">
            <a:avLst/>
          </a:prstGeom>
          <a:noFill/>
          <a:ln/>
        </p:spPr>
        <p:txBody>
          <a:bodyPr wrap="square" lIns="0" tIns="0" rIns="0" bIns="0" rtlCol="0" anchor="ctr"/>
          <a:lstStyle/>
          <a:p>
            <a:pPr marL="0" indent="0">
              <a:buNone/>
            </a:pPr>
            <a:r>
              <a:rPr lang="en-US" sz="1200" dirty="0">
                <a:solidFill>
                  <a:srgbClr val="222222"/>
                </a:solidFill>
                <a:latin typeface="Calibri" pitchFamily="34" charset="0"/>
                <a:ea typeface="Calibri" pitchFamily="34" charset="-122"/>
                <a:cs typeface="Calibri" pitchFamily="34" charset="-120"/>
              </a:rPr>
              <a:t>Open</a:t>
            </a:r>
            <a:endParaRPr lang="en-US" sz="1200" dirty="0"/>
          </a:p>
        </p:txBody>
      </p:sp>
      <p:sp>
        <p:nvSpPr>
          <p:cNvPr id="22" name="Shape 20"/>
          <p:cNvSpPr/>
          <p:nvPr/>
        </p:nvSpPr>
        <p:spPr>
          <a:xfrm>
            <a:off x="8412480" y="2423160"/>
            <a:ext cx="3136392" cy="640080"/>
          </a:xfrm>
          <a:prstGeom prst="rect">
            <a:avLst/>
          </a:prstGeom>
          <a:solidFill>
            <a:srgbClr val="FFFFFF"/>
          </a:solidFill>
          <a:ln w="9525">
            <a:solidFill>
              <a:srgbClr val="D8DEE9"/>
            </a:solidFill>
            <a:prstDash val="solid"/>
          </a:ln>
        </p:spPr>
        <p:txBody>
          <a:bodyPr/>
          <a:lstStyle/>
          <a:p>
            <a:endParaRPr lang="en-US"/>
          </a:p>
        </p:txBody>
      </p:sp>
      <p:sp>
        <p:nvSpPr>
          <p:cNvPr id="23" name="Text 21"/>
          <p:cNvSpPr/>
          <p:nvPr/>
        </p:nvSpPr>
        <p:spPr>
          <a:xfrm>
            <a:off x="8485632" y="2423160"/>
            <a:ext cx="2990088" cy="640080"/>
          </a:xfrm>
          <a:prstGeom prst="rect">
            <a:avLst/>
          </a:prstGeom>
          <a:noFill/>
          <a:ln/>
        </p:spPr>
        <p:txBody>
          <a:bodyPr wrap="square" lIns="0" tIns="0" rIns="0" bIns="0" rtlCol="0" anchor="ctr"/>
          <a:lstStyle/>
          <a:p>
            <a:pPr marL="0" indent="0">
              <a:buNone/>
            </a:pPr>
            <a:r>
              <a:rPr lang="en-US" sz="1200" i="1" dirty="0">
                <a:solidFill>
                  <a:srgbClr val="6B7280"/>
                </a:solidFill>
                <a:latin typeface="Calibri" pitchFamily="34" charset="0"/>
                <a:ea typeface="Calibri" pitchFamily="34" charset="-122"/>
                <a:cs typeface="Calibri" pitchFamily="34" charset="-120"/>
              </a:rPr>
              <a:t>— fill in during triage —</a:t>
            </a:r>
            <a:endParaRPr lang="en-US" sz="1200" dirty="0"/>
          </a:p>
        </p:txBody>
      </p:sp>
      <p:sp>
        <p:nvSpPr>
          <p:cNvPr id="24" name="Shape 22"/>
          <p:cNvSpPr/>
          <p:nvPr/>
        </p:nvSpPr>
        <p:spPr>
          <a:xfrm>
            <a:off x="640080" y="3063240"/>
            <a:ext cx="3108960" cy="640080"/>
          </a:xfrm>
          <a:prstGeom prst="rect">
            <a:avLst/>
          </a:prstGeom>
          <a:solidFill>
            <a:srgbClr val="FFFFFF"/>
          </a:solidFill>
          <a:ln w="9525">
            <a:solidFill>
              <a:srgbClr val="D8DEE9"/>
            </a:solidFill>
            <a:prstDash val="solid"/>
          </a:ln>
        </p:spPr>
        <p:txBody>
          <a:bodyPr/>
          <a:lstStyle/>
          <a:p>
            <a:endParaRPr lang="en-US"/>
          </a:p>
        </p:txBody>
      </p:sp>
      <p:sp>
        <p:nvSpPr>
          <p:cNvPr id="25" name="Shape 23"/>
          <p:cNvSpPr/>
          <p:nvPr/>
        </p:nvSpPr>
        <p:spPr>
          <a:xfrm>
            <a:off x="3749040" y="3063240"/>
            <a:ext cx="1554480" cy="640080"/>
          </a:xfrm>
          <a:prstGeom prst="rect">
            <a:avLst/>
          </a:prstGeom>
          <a:solidFill>
            <a:srgbClr val="FFFFFF"/>
          </a:solidFill>
          <a:ln w="9525">
            <a:solidFill>
              <a:srgbClr val="D8DEE9"/>
            </a:solidFill>
            <a:prstDash val="solid"/>
          </a:ln>
        </p:spPr>
        <p:txBody>
          <a:bodyPr/>
          <a:lstStyle/>
          <a:p>
            <a:endParaRPr lang="en-US"/>
          </a:p>
        </p:txBody>
      </p:sp>
      <p:sp>
        <p:nvSpPr>
          <p:cNvPr id="26" name="Shape 24"/>
          <p:cNvSpPr/>
          <p:nvPr/>
        </p:nvSpPr>
        <p:spPr>
          <a:xfrm>
            <a:off x="5303520" y="3063240"/>
            <a:ext cx="1554480" cy="640080"/>
          </a:xfrm>
          <a:prstGeom prst="rect">
            <a:avLst/>
          </a:prstGeom>
          <a:solidFill>
            <a:srgbClr val="FFFFFF"/>
          </a:solidFill>
          <a:ln w="9525">
            <a:solidFill>
              <a:srgbClr val="D8DEE9"/>
            </a:solidFill>
            <a:prstDash val="solid"/>
          </a:ln>
        </p:spPr>
        <p:txBody>
          <a:bodyPr/>
          <a:lstStyle/>
          <a:p>
            <a:endParaRPr lang="en-US"/>
          </a:p>
        </p:txBody>
      </p:sp>
      <p:sp>
        <p:nvSpPr>
          <p:cNvPr id="27" name="Shape 25"/>
          <p:cNvSpPr/>
          <p:nvPr/>
        </p:nvSpPr>
        <p:spPr>
          <a:xfrm>
            <a:off x="6858000" y="3063240"/>
            <a:ext cx="1554480" cy="640080"/>
          </a:xfrm>
          <a:prstGeom prst="rect">
            <a:avLst/>
          </a:prstGeom>
          <a:solidFill>
            <a:srgbClr val="FFFFFF"/>
          </a:solidFill>
          <a:ln w="9525">
            <a:solidFill>
              <a:srgbClr val="D8DEE9"/>
            </a:solidFill>
            <a:prstDash val="solid"/>
          </a:ln>
        </p:spPr>
        <p:txBody>
          <a:bodyPr/>
          <a:lstStyle/>
          <a:p>
            <a:endParaRPr lang="en-US"/>
          </a:p>
        </p:txBody>
      </p:sp>
      <p:sp>
        <p:nvSpPr>
          <p:cNvPr id="28" name="Shape 26"/>
          <p:cNvSpPr/>
          <p:nvPr/>
        </p:nvSpPr>
        <p:spPr>
          <a:xfrm>
            <a:off x="8412480" y="3063240"/>
            <a:ext cx="3136392" cy="640080"/>
          </a:xfrm>
          <a:prstGeom prst="rect">
            <a:avLst/>
          </a:prstGeom>
          <a:solidFill>
            <a:srgbClr val="FFFFFF"/>
          </a:solidFill>
          <a:ln w="9525">
            <a:solidFill>
              <a:srgbClr val="D8DEE9"/>
            </a:solidFill>
            <a:prstDash val="solid"/>
          </a:ln>
        </p:spPr>
        <p:txBody>
          <a:bodyPr/>
          <a:lstStyle/>
          <a:p>
            <a:endParaRPr lang="en-US"/>
          </a:p>
        </p:txBody>
      </p:sp>
      <p:sp>
        <p:nvSpPr>
          <p:cNvPr id="29" name="Shape 27"/>
          <p:cNvSpPr/>
          <p:nvPr/>
        </p:nvSpPr>
        <p:spPr>
          <a:xfrm>
            <a:off x="640080" y="3703320"/>
            <a:ext cx="3108960" cy="640080"/>
          </a:xfrm>
          <a:prstGeom prst="rect">
            <a:avLst/>
          </a:prstGeom>
          <a:solidFill>
            <a:srgbClr val="FFFFFF"/>
          </a:solidFill>
          <a:ln w="9525">
            <a:solidFill>
              <a:srgbClr val="D8DEE9"/>
            </a:solidFill>
            <a:prstDash val="solid"/>
          </a:ln>
        </p:spPr>
        <p:txBody>
          <a:bodyPr/>
          <a:lstStyle/>
          <a:p>
            <a:endParaRPr lang="en-US"/>
          </a:p>
        </p:txBody>
      </p:sp>
      <p:sp>
        <p:nvSpPr>
          <p:cNvPr id="30" name="Shape 28"/>
          <p:cNvSpPr/>
          <p:nvPr/>
        </p:nvSpPr>
        <p:spPr>
          <a:xfrm>
            <a:off x="3749040" y="3703320"/>
            <a:ext cx="1554480" cy="640080"/>
          </a:xfrm>
          <a:prstGeom prst="rect">
            <a:avLst/>
          </a:prstGeom>
          <a:solidFill>
            <a:srgbClr val="FFFFFF"/>
          </a:solidFill>
          <a:ln w="9525">
            <a:solidFill>
              <a:srgbClr val="D8DEE9"/>
            </a:solidFill>
            <a:prstDash val="solid"/>
          </a:ln>
        </p:spPr>
        <p:txBody>
          <a:bodyPr/>
          <a:lstStyle/>
          <a:p>
            <a:endParaRPr lang="en-US"/>
          </a:p>
        </p:txBody>
      </p:sp>
      <p:sp>
        <p:nvSpPr>
          <p:cNvPr id="31" name="Shape 29"/>
          <p:cNvSpPr/>
          <p:nvPr/>
        </p:nvSpPr>
        <p:spPr>
          <a:xfrm>
            <a:off x="5303520" y="3703320"/>
            <a:ext cx="1554480" cy="640080"/>
          </a:xfrm>
          <a:prstGeom prst="rect">
            <a:avLst/>
          </a:prstGeom>
          <a:solidFill>
            <a:srgbClr val="FFFFFF"/>
          </a:solidFill>
          <a:ln w="9525">
            <a:solidFill>
              <a:srgbClr val="D8DEE9"/>
            </a:solidFill>
            <a:prstDash val="solid"/>
          </a:ln>
        </p:spPr>
        <p:txBody>
          <a:bodyPr/>
          <a:lstStyle/>
          <a:p>
            <a:endParaRPr lang="en-US"/>
          </a:p>
        </p:txBody>
      </p:sp>
      <p:sp>
        <p:nvSpPr>
          <p:cNvPr id="32" name="Shape 30"/>
          <p:cNvSpPr/>
          <p:nvPr/>
        </p:nvSpPr>
        <p:spPr>
          <a:xfrm>
            <a:off x="6858000" y="3703320"/>
            <a:ext cx="1554480" cy="640080"/>
          </a:xfrm>
          <a:prstGeom prst="rect">
            <a:avLst/>
          </a:prstGeom>
          <a:solidFill>
            <a:srgbClr val="FFFFFF"/>
          </a:solidFill>
          <a:ln w="9525">
            <a:solidFill>
              <a:srgbClr val="D8DEE9"/>
            </a:solidFill>
            <a:prstDash val="solid"/>
          </a:ln>
        </p:spPr>
        <p:txBody>
          <a:bodyPr/>
          <a:lstStyle/>
          <a:p>
            <a:endParaRPr lang="en-US"/>
          </a:p>
        </p:txBody>
      </p:sp>
      <p:sp>
        <p:nvSpPr>
          <p:cNvPr id="33" name="Shape 31"/>
          <p:cNvSpPr/>
          <p:nvPr/>
        </p:nvSpPr>
        <p:spPr>
          <a:xfrm>
            <a:off x="8412480" y="3703320"/>
            <a:ext cx="3136392" cy="640080"/>
          </a:xfrm>
          <a:prstGeom prst="rect">
            <a:avLst/>
          </a:prstGeom>
          <a:solidFill>
            <a:srgbClr val="FFFFFF"/>
          </a:solidFill>
          <a:ln w="9525">
            <a:solidFill>
              <a:srgbClr val="D8DEE9"/>
            </a:solidFill>
            <a:prstDash val="solid"/>
          </a:ln>
        </p:spPr>
        <p:txBody>
          <a:bodyPr/>
          <a:lstStyle/>
          <a:p>
            <a:endParaRPr lang="en-US"/>
          </a:p>
        </p:txBody>
      </p:sp>
      <p:sp>
        <p:nvSpPr>
          <p:cNvPr id="34" name="Shape 32"/>
          <p:cNvSpPr/>
          <p:nvPr/>
        </p:nvSpPr>
        <p:spPr>
          <a:xfrm>
            <a:off x="640080" y="4343400"/>
            <a:ext cx="3108960" cy="640080"/>
          </a:xfrm>
          <a:prstGeom prst="rect">
            <a:avLst/>
          </a:prstGeom>
          <a:solidFill>
            <a:srgbClr val="FFFFFF"/>
          </a:solidFill>
          <a:ln w="9525">
            <a:solidFill>
              <a:srgbClr val="D8DEE9"/>
            </a:solidFill>
            <a:prstDash val="solid"/>
          </a:ln>
        </p:spPr>
        <p:txBody>
          <a:bodyPr/>
          <a:lstStyle/>
          <a:p>
            <a:endParaRPr lang="en-US"/>
          </a:p>
        </p:txBody>
      </p:sp>
      <p:sp>
        <p:nvSpPr>
          <p:cNvPr id="35" name="Shape 33"/>
          <p:cNvSpPr/>
          <p:nvPr/>
        </p:nvSpPr>
        <p:spPr>
          <a:xfrm>
            <a:off x="3749040" y="4343400"/>
            <a:ext cx="1554480" cy="640080"/>
          </a:xfrm>
          <a:prstGeom prst="rect">
            <a:avLst/>
          </a:prstGeom>
          <a:solidFill>
            <a:srgbClr val="FFFFFF"/>
          </a:solidFill>
          <a:ln w="9525">
            <a:solidFill>
              <a:srgbClr val="D8DEE9"/>
            </a:solidFill>
            <a:prstDash val="solid"/>
          </a:ln>
        </p:spPr>
        <p:txBody>
          <a:bodyPr/>
          <a:lstStyle/>
          <a:p>
            <a:endParaRPr lang="en-US"/>
          </a:p>
        </p:txBody>
      </p:sp>
      <p:sp>
        <p:nvSpPr>
          <p:cNvPr id="36" name="Shape 34"/>
          <p:cNvSpPr/>
          <p:nvPr/>
        </p:nvSpPr>
        <p:spPr>
          <a:xfrm>
            <a:off x="5303520" y="4343400"/>
            <a:ext cx="1554480" cy="640080"/>
          </a:xfrm>
          <a:prstGeom prst="rect">
            <a:avLst/>
          </a:prstGeom>
          <a:solidFill>
            <a:srgbClr val="FFFFFF"/>
          </a:solidFill>
          <a:ln w="9525">
            <a:solidFill>
              <a:srgbClr val="D8DEE9"/>
            </a:solidFill>
            <a:prstDash val="solid"/>
          </a:ln>
        </p:spPr>
        <p:txBody>
          <a:bodyPr/>
          <a:lstStyle/>
          <a:p>
            <a:endParaRPr lang="en-US"/>
          </a:p>
        </p:txBody>
      </p:sp>
      <p:sp>
        <p:nvSpPr>
          <p:cNvPr id="37" name="Shape 35"/>
          <p:cNvSpPr/>
          <p:nvPr/>
        </p:nvSpPr>
        <p:spPr>
          <a:xfrm>
            <a:off x="6858000" y="4343400"/>
            <a:ext cx="1554480" cy="640080"/>
          </a:xfrm>
          <a:prstGeom prst="rect">
            <a:avLst/>
          </a:prstGeom>
          <a:solidFill>
            <a:srgbClr val="FFFFFF"/>
          </a:solidFill>
          <a:ln w="9525">
            <a:solidFill>
              <a:srgbClr val="D8DEE9"/>
            </a:solidFill>
            <a:prstDash val="solid"/>
          </a:ln>
        </p:spPr>
        <p:txBody>
          <a:bodyPr/>
          <a:lstStyle/>
          <a:p>
            <a:endParaRPr lang="en-US"/>
          </a:p>
        </p:txBody>
      </p:sp>
      <p:sp>
        <p:nvSpPr>
          <p:cNvPr id="38" name="Shape 36"/>
          <p:cNvSpPr/>
          <p:nvPr/>
        </p:nvSpPr>
        <p:spPr>
          <a:xfrm>
            <a:off x="8412480" y="4343400"/>
            <a:ext cx="3136392" cy="640080"/>
          </a:xfrm>
          <a:prstGeom prst="rect">
            <a:avLst/>
          </a:prstGeom>
          <a:solidFill>
            <a:srgbClr val="FFFFFF"/>
          </a:solidFill>
          <a:ln w="9525">
            <a:solidFill>
              <a:srgbClr val="D8DEE9"/>
            </a:solidFill>
            <a:prstDash val="solid"/>
          </a:ln>
        </p:spPr>
        <p:txBody>
          <a:bodyPr/>
          <a:lstStyle/>
          <a:p>
            <a:endParaRPr lang="en-US"/>
          </a:p>
        </p:txBody>
      </p:sp>
      <p:sp>
        <p:nvSpPr>
          <p:cNvPr id="39" name="Text 37"/>
          <p:cNvSpPr/>
          <p:nvPr/>
        </p:nvSpPr>
        <p:spPr>
          <a:xfrm>
            <a:off x="640080" y="5212080"/>
            <a:ext cx="10908792" cy="457200"/>
          </a:xfrm>
          <a:prstGeom prst="rect">
            <a:avLst/>
          </a:prstGeom>
          <a:noFill/>
          <a:ln/>
        </p:spPr>
        <p:txBody>
          <a:bodyPr wrap="square" lIns="0" tIns="0" rIns="0" bIns="0" rtlCol="0" anchor="ctr"/>
          <a:lstStyle/>
          <a:p>
            <a:pPr marL="0" indent="0">
              <a:buNone/>
            </a:pPr>
            <a:r>
              <a:rPr lang="en-US" sz="1350" i="1" dirty="0">
                <a:solidFill>
                  <a:srgbClr val="6B7280"/>
                </a:solidFill>
                <a:latin typeface="Calibri" pitchFamily="34" charset="0"/>
                <a:ea typeface="Calibri" pitchFamily="34" charset="-122"/>
                <a:cs typeface="Calibri" pitchFamily="34" charset="-120"/>
              </a:rPr>
              <a:t>Five real rows minimum, filled out by the visiting team during the playtest window.</a:t>
            </a:r>
            <a:endParaRPr lang="en-US" sz="13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7315200" cy="320040"/>
          </a:xfrm>
          <a:prstGeom prst="rect">
            <a:avLst/>
          </a:prstGeom>
          <a:noFill/>
          <a:ln/>
        </p:spPr>
        <p:txBody>
          <a:bodyPr wrap="square" lIns="0" tIns="0" rIns="0" bIns="0" rtlCol="0" anchor="ctr"/>
          <a:lstStyle/>
          <a:p>
            <a:pPr marL="0" indent="0">
              <a:buNone/>
            </a:pPr>
            <a:r>
              <a:rPr lang="en-US" sz="1300" b="1" kern="0" spc="200" dirty="0">
                <a:solidFill>
                  <a:srgbClr val="AD8433"/>
                </a:solidFill>
                <a:latin typeface="Calibri" pitchFamily="34" charset="0"/>
                <a:ea typeface="Calibri" pitchFamily="34" charset="-122"/>
                <a:cs typeface="Calibri" pitchFamily="34" charset="-120"/>
              </a:rPr>
              <a:t>PART 3 · SORT EVERY ENTRY INTO ONE PILE</a:t>
            </a:r>
            <a:endParaRPr lang="en-US" sz="1300" dirty="0"/>
          </a:p>
        </p:txBody>
      </p:sp>
      <p:sp>
        <p:nvSpPr>
          <p:cNvPr id="3" name="Text 1"/>
          <p:cNvSpPr/>
          <p:nvPr/>
        </p:nvSpPr>
        <p:spPr>
          <a:xfrm>
            <a:off x="621792" y="658368"/>
            <a:ext cx="10908792" cy="777240"/>
          </a:xfrm>
          <a:prstGeom prst="rect">
            <a:avLst/>
          </a:prstGeom>
          <a:noFill/>
          <a:ln/>
        </p:spPr>
        <p:txBody>
          <a:bodyPr wrap="square" lIns="0" tIns="0" rIns="0" bIns="0" rtlCol="0" anchor="ctr"/>
          <a:lstStyle/>
          <a:p>
            <a:pPr marL="0" indent="0">
              <a:buNone/>
            </a:pPr>
            <a:r>
              <a:rPr lang="en-US" sz="3200" b="1" dirty="0">
                <a:solidFill>
                  <a:srgbClr val="041E42"/>
                </a:solidFill>
                <a:latin typeface="Georgia" pitchFamily="34" charset="0"/>
                <a:ea typeface="Georgia" pitchFamily="34" charset="-122"/>
                <a:cs typeface="Georgia" pitchFamily="34" charset="-120"/>
              </a:rPr>
              <a:t>Triage Time</a:t>
            </a:r>
            <a:endParaRPr lang="en-US" sz="3200" dirty="0"/>
          </a:p>
        </p:txBody>
      </p:sp>
      <p:sp>
        <p:nvSpPr>
          <p:cNvPr id="4" name="Shape 2"/>
          <p:cNvSpPr/>
          <p:nvPr/>
        </p:nvSpPr>
        <p:spPr>
          <a:xfrm>
            <a:off x="640080" y="2873828"/>
            <a:ext cx="3422904" cy="3115491"/>
          </a:xfrm>
          <a:prstGeom prst="roundRect">
            <a:avLst>
              <a:gd name="adj" fmla="val 2404"/>
            </a:avLst>
          </a:prstGeom>
          <a:solidFill>
            <a:srgbClr val="FBE7E7"/>
          </a:solidFill>
          <a:ln/>
          <a:effectLst>
            <a:outerShdw blurRad="127000" dist="38100" dir="5400000" algn="bl" rotWithShape="0">
              <a:srgbClr val="1A2233">
                <a:alpha val="16000"/>
              </a:srgbClr>
            </a:outerShdw>
          </a:effectLst>
        </p:spPr>
        <p:txBody>
          <a:bodyPr/>
          <a:lstStyle/>
          <a:p>
            <a:endParaRPr lang="en-US"/>
          </a:p>
        </p:txBody>
      </p:sp>
      <p:sp>
        <p:nvSpPr>
          <p:cNvPr id="7" name="Text 4"/>
          <p:cNvSpPr/>
          <p:nvPr/>
        </p:nvSpPr>
        <p:spPr>
          <a:xfrm>
            <a:off x="822960" y="3337560"/>
            <a:ext cx="3057144" cy="457200"/>
          </a:xfrm>
          <a:prstGeom prst="rect">
            <a:avLst/>
          </a:prstGeom>
          <a:noFill/>
          <a:ln/>
        </p:spPr>
        <p:txBody>
          <a:bodyPr wrap="square" lIns="0" tIns="0" rIns="0" bIns="0" rtlCol="0" anchor="ctr"/>
          <a:lstStyle/>
          <a:p>
            <a:pPr marL="0" indent="0" algn="ctr">
              <a:buNone/>
            </a:pPr>
            <a:r>
              <a:rPr lang="en-US" sz="2000" b="1" dirty="0">
                <a:solidFill>
                  <a:srgbClr val="041E42"/>
                </a:solidFill>
                <a:latin typeface="Georgia" pitchFamily="34" charset="0"/>
                <a:ea typeface="Georgia" pitchFamily="34" charset="-122"/>
                <a:cs typeface="Georgia" pitchFamily="34" charset="-120"/>
              </a:rPr>
              <a:t>Must-Fix</a:t>
            </a:r>
            <a:endParaRPr lang="en-US" sz="2000" dirty="0"/>
          </a:p>
        </p:txBody>
      </p:sp>
      <p:sp>
        <p:nvSpPr>
          <p:cNvPr id="8" name="Text 5"/>
          <p:cNvSpPr/>
          <p:nvPr/>
        </p:nvSpPr>
        <p:spPr>
          <a:xfrm>
            <a:off x="914400" y="3886200"/>
            <a:ext cx="2874264" cy="1920240"/>
          </a:xfrm>
          <a:prstGeom prst="rect">
            <a:avLst/>
          </a:prstGeom>
          <a:noFill/>
          <a:ln/>
        </p:spPr>
        <p:txBody>
          <a:bodyPr wrap="square" lIns="0" tIns="0" rIns="0" bIns="0" rtlCol="0" anchor="ctr"/>
          <a:lstStyle/>
          <a:p>
            <a:pPr marL="0" indent="0" algn="ctr">
              <a:buNone/>
            </a:pPr>
            <a:r>
              <a:rPr lang="en-US" sz="1400" dirty="0">
                <a:solidFill>
                  <a:srgbClr val="222222"/>
                </a:solidFill>
                <a:latin typeface="Calibri" pitchFamily="34" charset="0"/>
                <a:ea typeface="Calibri" pitchFamily="34" charset="-122"/>
                <a:cs typeface="Calibri" pitchFamily="34" charset="-120"/>
              </a:rPr>
              <a:t>Blocks play or breaks the core loop. This has to get done.</a:t>
            </a:r>
            <a:endParaRPr lang="en-US" sz="1400" dirty="0"/>
          </a:p>
        </p:txBody>
      </p:sp>
      <p:sp>
        <p:nvSpPr>
          <p:cNvPr id="9" name="Shape 6"/>
          <p:cNvSpPr/>
          <p:nvPr/>
        </p:nvSpPr>
        <p:spPr>
          <a:xfrm>
            <a:off x="4383024" y="2873828"/>
            <a:ext cx="3422904" cy="3115491"/>
          </a:xfrm>
          <a:prstGeom prst="roundRect">
            <a:avLst>
              <a:gd name="adj" fmla="val 2404"/>
            </a:avLst>
          </a:prstGeom>
          <a:solidFill>
            <a:srgbClr val="FDF1DE"/>
          </a:solidFill>
          <a:ln/>
          <a:effectLst>
            <a:outerShdw blurRad="127000" dist="38100" dir="5400000" algn="bl" rotWithShape="0">
              <a:srgbClr val="1A2233">
                <a:alpha val="16000"/>
              </a:srgbClr>
            </a:outerShdw>
          </a:effectLst>
        </p:spPr>
        <p:txBody>
          <a:bodyPr/>
          <a:lstStyle/>
          <a:p>
            <a:endParaRPr lang="en-US"/>
          </a:p>
        </p:txBody>
      </p:sp>
      <p:sp>
        <p:nvSpPr>
          <p:cNvPr id="12" name="Text 8"/>
          <p:cNvSpPr/>
          <p:nvPr/>
        </p:nvSpPr>
        <p:spPr>
          <a:xfrm>
            <a:off x="4565904" y="3337560"/>
            <a:ext cx="3057144" cy="457200"/>
          </a:xfrm>
          <a:prstGeom prst="rect">
            <a:avLst/>
          </a:prstGeom>
          <a:noFill/>
          <a:ln/>
        </p:spPr>
        <p:txBody>
          <a:bodyPr wrap="square" lIns="0" tIns="0" rIns="0" bIns="0" rtlCol="0" anchor="ctr"/>
          <a:lstStyle/>
          <a:p>
            <a:pPr marL="0" indent="0" algn="ctr">
              <a:buNone/>
            </a:pPr>
            <a:r>
              <a:rPr lang="en-US" sz="2000" b="1" dirty="0">
                <a:solidFill>
                  <a:srgbClr val="041E42"/>
                </a:solidFill>
                <a:latin typeface="Georgia" pitchFamily="34" charset="0"/>
                <a:ea typeface="Georgia" pitchFamily="34" charset="-122"/>
                <a:cs typeface="Georgia" pitchFamily="34" charset="-120"/>
              </a:rPr>
              <a:t>Nice-to-Fix</a:t>
            </a:r>
            <a:endParaRPr lang="en-US" sz="2000" dirty="0"/>
          </a:p>
        </p:txBody>
      </p:sp>
      <p:sp>
        <p:nvSpPr>
          <p:cNvPr id="13" name="Text 9"/>
          <p:cNvSpPr/>
          <p:nvPr/>
        </p:nvSpPr>
        <p:spPr>
          <a:xfrm>
            <a:off x="4657344" y="3886200"/>
            <a:ext cx="2874264" cy="1920240"/>
          </a:xfrm>
          <a:prstGeom prst="rect">
            <a:avLst/>
          </a:prstGeom>
          <a:noFill/>
          <a:ln/>
        </p:spPr>
        <p:txBody>
          <a:bodyPr wrap="square" lIns="0" tIns="0" rIns="0" bIns="0" rtlCol="0" anchor="ctr"/>
          <a:lstStyle/>
          <a:p>
            <a:pPr marL="0" indent="0" algn="ctr">
              <a:buNone/>
            </a:pPr>
            <a:r>
              <a:rPr lang="en-US" sz="1400" dirty="0">
                <a:solidFill>
                  <a:srgbClr val="222222"/>
                </a:solidFill>
                <a:latin typeface="Calibri" pitchFamily="34" charset="0"/>
                <a:ea typeface="Calibri" pitchFamily="34" charset="-122"/>
                <a:cs typeface="Calibri" pitchFamily="34" charset="-120"/>
              </a:rPr>
              <a:t>A real improvement — but not essential to a working showcase.</a:t>
            </a:r>
            <a:endParaRPr lang="en-US" sz="1400" dirty="0"/>
          </a:p>
        </p:txBody>
      </p:sp>
      <p:sp>
        <p:nvSpPr>
          <p:cNvPr id="14" name="Shape 10"/>
          <p:cNvSpPr/>
          <p:nvPr/>
        </p:nvSpPr>
        <p:spPr>
          <a:xfrm>
            <a:off x="8125968" y="2873828"/>
            <a:ext cx="3422904" cy="3115491"/>
          </a:xfrm>
          <a:prstGeom prst="roundRect">
            <a:avLst>
              <a:gd name="adj" fmla="val 2404"/>
            </a:avLst>
          </a:prstGeom>
          <a:solidFill>
            <a:srgbClr val="E5F3EA"/>
          </a:solidFill>
          <a:ln/>
          <a:effectLst>
            <a:outerShdw blurRad="127000" dist="38100" dir="5400000" algn="bl" rotWithShape="0">
              <a:srgbClr val="1A2233">
                <a:alpha val="16000"/>
              </a:srgbClr>
            </a:outerShdw>
          </a:effectLst>
        </p:spPr>
        <p:txBody>
          <a:bodyPr/>
          <a:lstStyle/>
          <a:p>
            <a:endParaRPr lang="en-US"/>
          </a:p>
        </p:txBody>
      </p:sp>
      <p:sp>
        <p:nvSpPr>
          <p:cNvPr id="17" name="Text 12"/>
          <p:cNvSpPr/>
          <p:nvPr/>
        </p:nvSpPr>
        <p:spPr>
          <a:xfrm>
            <a:off x="8308848" y="3337560"/>
            <a:ext cx="3057144" cy="457200"/>
          </a:xfrm>
          <a:prstGeom prst="rect">
            <a:avLst/>
          </a:prstGeom>
          <a:noFill/>
          <a:ln/>
        </p:spPr>
        <p:txBody>
          <a:bodyPr wrap="square" lIns="0" tIns="0" rIns="0" bIns="0" rtlCol="0" anchor="ctr"/>
          <a:lstStyle/>
          <a:p>
            <a:pPr marL="0" indent="0" algn="ctr">
              <a:buNone/>
            </a:pPr>
            <a:r>
              <a:rPr lang="en-US" sz="2000" b="1" dirty="0">
                <a:solidFill>
                  <a:srgbClr val="041E42"/>
                </a:solidFill>
                <a:latin typeface="Georgia" pitchFamily="34" charset="0"/>
                <a:ea typeface="Georgia" pitchFamily="34" charset="-122"/>
                <a:cs typeface="Georgia" pitchFamily="34" charset="-120"/>
              </a:rPr>
              <a:t>Won't-Fix</a:t>
            </a:r>
            <a:endParaRPr lang="en-US" sz="2000" dirty="0"/>
          </a:p>
        </p:txBody>
      </p:sp>
      <p:sp>
        <p:nvSpPr>
          <p:cNvPr id="18" name="Text 13"/>
          <p:cNvSpPr/>
          <p:nvPr/>
        </p:nvSpPr>
        <p:spPr>
          <a:xfrm>
            <a:off x="8400288" y="3886200"/>
            <a:ext cx="2874264" cy="1920240"/>
          </a:xfrm>
          <a:prstGeom prst="rect">
            <a:avLst/>
          </a:prstGeom>
          <a:noFill/>
          <a:ln/>
        </p:spPr>
        <p:txBody>
          <a:bodyPr wrap="square" lIns="0" tIns="0" rIns="0" bIns="0" rtlCol="0" anchor="ctr"/>
          <a:lstStyle/>
          <a:p>
            <a:pPr marL="0" indent="0" algn="ctr">
              <a:buNone/>
            </a:pPr>
            <a:r>
              <a:rPr lang="en-US" sz="1400" dirty="0">
                <a:solidFill>
                  <a:srgbClr val="222222"/>
                </a:solidFill>
                <a:latin typeface="Calibri" pitchFamily="34" charset="0"/>
                <a:ea typeface="Calibri" pitchFamily="34" charset="-122"/>
                <a:cs typeface="Calibri" pitchFamily="34" charset="-120"/>
              </a:rPr>
              <a:t>Out of scope for the time left. A real, defensible decision.</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41E42"/>
        </a:solidFill>
        <a:effectLst/>
      </p:bgPr>
    </p:bg>
    <p:spTree>
      <p:nvGrpSpPr>
        <p:cNvPr id="1" name=""/>
        <p:cNvGrpSpPr/>
        <p:nvPr/>
      </p:nvGrpSpPr>
      <p:grpSpPr>
        <a:xfrm>
          <a:off x="0" y="0"/>
          <a:ext cx="0" cy="0"/>
          <a:chOff x="0" y="0"/>
          <a:chExt cx="0" cy="0"/>
        </a:xfrm>
      </p:grpSpPr>
      <p:sp>
        <p:nvSpPr>
          <p:cNvPr id="2" name="Text 0"/>
          <p:cNvSpPr/>
          <p:nvPr/>
        </p:nvSpPr>
        <p:spPr>
          <a:xfrm>
            <a:off x="640080" y="502920"/>
            <a:ext cx="7315200" cy="320040"/>
          </a:xfrm>
          <a:prstGeom prst="rect">
            <a:avLst/>
          </a:prstGeom>
          <a:noFill/>
          <a:ln/>
        </p:spPr>
        <p:txBody>
          <a:bodyPr wrap="square" lIns="0" tIns="0" rIns="0" bIns="0" rtlCol="0" anchor="ctr"/>
          <a:lstStyle/>
          <a:p>
            <a:pPr marL="0" indent="0">
              <a:buNone/>
            </a:pPr>
            <a:r>
              <a:rPr lang="en-US" sz="1300" b="1" kern="0" spc="200" dirty="0">
                <a:solidFill>
                  <a:srgbClr val="D2AA4B"/>
                </a:solidFill>
                <a:latin typeface="Calibri" pitchFamily="34" charset="0"/>
                <a:ea typeface="Calibri" pitchFamily="34" charset="-122"/>
                <a:cs typeface="Calibri" pitchFamily="34" charset="-120"/>
              </a:rPr>
              <a:t>THE REAL ASSESSMENT TARGET</a:t>
            </a:r>
            <a:endParaRPr lang="en-US" sz="1300" dirty="0"/>
          </a:p>
        </p:txBody>
      </p:sp>
      <p:sp>
        <p:nvSpPr>
          <p:cNvPr id="3" name="Text 1"/>
          <p:cNvSpPr/>
          <p:nvPr/>
        </p:nvSpPr>
        <p:spPr>
          <a:xfrm>
            <a:off x="621792" y="777240"/>
            <a:ext cx="10908792" cy="685800"/>
          </a:xfrm>
          <a:prstGeom prst="rect">
            <a:avLst/>
          </a:prstGeom>
          <a:noFill/>
          <a:ln/>
        </p:spPr>
        <p:txBody>
          <a:bodyPr wrap="square" lIns="0" tIns="0" rIns="0" bIns="0" rtlCol="0" anchor="ctr"/>
          <a:lstStyle/>
          <a:p>
            <a:pPr marL="0" indent="0">
              <a:buNone/>
            </a:pPr>
            <a:r>
              <a:rPr lang="en-US" sz="3000" b="1" dirty="0">
                <a:solidFill>
                  <a:srgbClr val="FFFFFF"/>
                </a:solidFill>
                <a:latin typeface="Georgia" pitchFamily="34" charset="0"/>
                <a:ea typeface="Georgia" pitchFamily="34" charset="-122"/>
                <a:cs typeface="Georgia" pitchFamily="34" charset="-120"/>
              </a:rPr>
              <a:t>Justifying a Won't-Fix</a:t>
            </a:r>
            <a:endParaRPr lang="en-US" sz="3000" dirty="0"/>
          </a:p>
        </p:txBody>
      </p:sp>
      <p:sp>
        <p:nvSpPr>
          <p:cNvPr id="4" name="Text 2"/>
          <p:cNvSpPr/>
          <p:nvPr/>
        </p:nvSpPr>
        <p:spPr>
          <a:xfrm>
            <a:off x="640080" y="1554480"/>
            <a:ext cx="10908792" cy="594360"/>
          </a:xfrm>
          <a:prstGeom prst="rect">
            <a:avLst/>
          </a:prstGeom>
          <a:noFill/>
          <a:ln/>
        </p:spPr>
        <p:txBody>
          <a:bodyPr wrap="square" lIns="0" tIns="0" rIns="0" bIns="0" rtlCol="0" anchor="ctr"/>
          <a:lstStyle/>
          <a:p>
            <a:pPr marL="0" indent="0">
              <a:buNone/>
            </a:pPr>
            <a:r>
              <a:rPr lang="en-US" sz="1600" dirty="0">
                <a:solidFill>
                  <a:srgbClr val="C9D6EE"/>
                </a:solidFill>
                <a:latin typeface="Calibri" pitchFamily="34" charset="0"/>
                <a:ea typeface="Calibri" pitchFamily="34" charset="-122"/>
                <a:cs typeface="Calibri" pitchFamily="34" charset="-120"/>
              </a:rPr>
              <a:t>Anyone can put a bug in the won't-fix pile. The skill is explaining WHY that's an acceptable tradeoff — in one honest sentence.</a:t>
            </a:r>
            <a:endParaRPr lang="en-US" sz="1600" dirty="0"/>
          </a:p>
        </p:txBody>
      </p:sp>
      <p:sp>
        <p:nvSpPr>
          <p:cNvPr id="5" name="Shape 3"/>
          <p:cNvSpPr/>
          <p:nvPr/>
        </p:nvSpPr>
        <p:spPr>
          <a:xfrm>
            <a:off x="640080" y="2377440"/>
            <a:ext cx="10908792" cy="1463040"/>
          </a:xfrm>
          <a:prstGeom prst="roundRect">
            <a:avLst>
              <a:gd name="adj" fmla="val 5625"/>
            </a:avLst>
          </a:prstGeom>
          <a:solidFill>
            <a:srgbClr val="0F3672"/>
          </a:solidFill>
          <a:ln/>
          <a:effectLst>
            <a:outerShdw blurRad="127000" dist="38100" dir="5400000" algn="bl" rotWithShape="0">
              <a:srgbClr val="1A2233">
                <a:alpha val="16000"/>
              </a:srgbClr>
            </a:outerShdw>
          </a:effectLst>
        </p:spPr>
        <p:txBody>
          <a:bodyPr/>
          <a:lstStyle/>
          <a:p>
            <a:endParaRPr lang="en-US"/>
          </a:p>
        </p:txBody>
      </p:sp>
      <p:sp>
        <p:nvSpPr>
          <p:cNvPr id="6" name="Text 4"/>
          <p:cNvSpPr/>
          <p:nvPr/>
        </p:nvSpPr>
        <p:spPr>
          <a:xfrm>
            <a:off x="960120" y="2560320"/>
            <a:ext cx="5486400" cy="320040"/>
          </a:xfrm>
          <a:prstGeom prst="rect">
            <a:avLst/>
          </a:prstGeom>
          <a:noFill/>
          <a:ln/>
        </p:spPr>
        <p:txBody>
          <a:bodyPr wrap="square" lIns="0" tIns="0" rIns="0" bIns="0" rtlCol="0" anchor="ctr"/>
          <a:lstStyle/>
          <a:p>
            <a:pPr marL="0" indent="0">
              <a:buNone/>
            </a:pPr>
            <a:r>
              <a:rPr lang="en-US" sz="1200" b="1" kern="0" spc="150" dirty="0">
                <a:solidFill>
                  <a:srgbClr val="D2AA4B"/>
                </a:solidFill>
                <a:latin typeface="Calibri" pitchFamily="34" charset="0"/>
                <a:ea typeface="Calibri" pitchFamily="34" charset="-122"/>
                <a:cs typeface="Calibri" pitchFamily="34" charset="-120"/>
              </a:rPr>
              <a:t>SENTENCE STARTER</a:t>
            </a:r>
            <a:endParaRPr lang="en-US" sz="1200" dirty="0"/>
          </a:p>
        </p:txBody>
      </p:sp>
      <p:sp>
        <p:nvSpPr>
          <p:cNvPr id="7" name="Text 5"/>
          <p:cNvSpPr/>
          <p:nvPr/>
        </p:nvSpPr>
        <p:spPr>
          <a:xfrm>
            <a:off x="960120" y="2926080"/>
            <a:ext cx="10268712" cy="822960"/>
          </a:xfrm>
          <a:prstGeom prst="rect">
            <a:avLst/>
          </a:prstGeom>
          <a:noFill/>
          <a:ln/>
        </p:spPr>
        <p:txBody>
          <a:bodyPr wrap="square" lIns="0" tIns="0" rIns="0" bIns="0" rtlCol="0" anchor="ctr"/>
          <a:lstStyle/>
          <a:p>
            <a:pPr marL="0" indent="0">
              <a:buNone/>
            </a:pPr>
            <a:r>
              <a:rPr lang="en-US" sz="1600" i="1" dirty="0">
                <a:solidFill>
                  <a:srgbClr val="FFFFFF"/>
                </a:solidFill>
                <a:latin typeface="Calibri" pitchFamily="34" charset="0"/>
                <a:ea typeface="Calibri" pitchFamily="34" charset="-122"/>
                <a:cs typeface="Calibri" pitchFamily="34" charset="-120"/>
              </a:rPr>
              <a:t>“We're leaving ___ broken because fixing it would require ___, and we don't have time to also risk ___ before the showcase.”</a:t>
            </a:r>
            <a:endParaRPr lang="en-US" sz="1600" dirty="0"/>
          </a:p>
        </p:txBody>
      </p:sp>
      <p:sp>
        <p:nvSpPr>
          <p:cNvPr id="8" name="Shape 6"/>
          <p:cNvSpPr/>
          <p:nvPr/>
        </p:nvSpPr>
        <p:spPr>
          <a:xfrm>
            <a:off x="640080" y="4114800"/>
            <a:ext cx="10908792" cy="1874520"/>
          </a:xfrm>
          <a:prstGeom prst="roundRect">
            <a:avLst>
              <a:gd name="adj" fmla="val 4390"/>
            </a:avLst>
          </a:prstGeom>
          <a:solidFill>
            <a:srgbClr val="16457A"/>
          </a:solidFill>
          <a:ln/>
          <a:effectLst>
            <a:outerShdw blurRad="127000" dist="38100" dir="5400000" algn="bl" rotWithShape="0">
              <a:srgbClr val="1A2233">
                <a:alpha val="16000"/>
              </a:srgbClr>
            </a:outerShdw>
          </a:effectLst>
        </p:spPr>
        <p:txBody>
          <a:bodyPr/>
          <a:lstStyle/>
          <a:p>
            <a:endParaRPr lang="en-US"/>
          </a:p>
        </p:txBody>
      </p:sp>
      <p:sp>
        <p:nvSpPr>
          <p:cNvPr id="9" name="Text 7"/>
          <p:cNvSpPr/>
          <p:nvPr/>
        </p:nvSpPr>
        <p:spPr>
          <a:xfrm>
            <a:off x="960120" y="4279392"/>
            <a:ext cx="5486400" cy="320040"/>
          </a:xfrm>
          <a:prstGeom prst="rect">
            <a:avLst/>
          </a:prstGeom>
          <a:noFill/>
          <a:ln/>
        </p:spPr>
        <p:txBody>
          <a:bodyPr wrap="square" lIns="0" tIns="0" rIns="0" bIns="0" rtlCol="0" anchor="ctr"/>
          <a:lstStyle/>
          <a:p>
            <a:pPr marL="0" indent="0">
              <a:buNone/>
            </a:pPr>
            <a:r>
              <a:rPr lang="en-US" sz="1200" b="1" kern="0" spc="150" dirty="0">
                <a:solidFill>
                  <a:srgbClr val="D2AA4B"/>
                </a:solidFill>
                <a:latin typeface="Calibri" pitchFamily="34" charset="0"/>
                <a:ea typeface="Calibri" pitchFamily="34" charset="-122"/>
                <a:cs typeface="Calibri" pitchFamily="34" charset="-120"/>
              </a:rPr>
              <a:t>EXAMPLE</a:t>
            </a:r>
            <a:endParaRPr lang="en-US" sz="1200" dirty="0"/>
          </a:p>
        </p:txBody>
      </p:sp>
      <p:sp>
        <p:nvSpPr>
          <p:cNvPr id="10" name="Text 8"/>
          <p:cNvSpPr/>
          <p:nvPr/>
        </p:nvSpPr>
        <p:spPr>
          <a:xfrm>
            <a:off x="960120" y="4617720"/>
            <a:ext cx="10268712" cy="1188720"/>
          </a:xfrm>
          <a:prstGeom prst="rect">
            <a:avLst/>
          </a:prstGeom>
          <a:noFill/>
          <a:ln/>
        </p:spPr>
        <p:txBody>
          <a:bodyPr wrap="square" lIns="0" tIns="0" rIns="0" bIns="0" rtlCol="0" anchor="ctr"/>
          <a:lstStyle/>
          <a:p>
            <a:pPr marL="0" indent="0">
              <a:buNone/>
            </a:pPr>
            <a:r>
              <a:rPr lang="en-US" sz="1550" dirty="0">
                <a:solidFill>
                  <a:srgbClr val="D7E1F4"/>
                </a:solidFill>
                <a:latin typeface="Calibri" pitchFamily="34" charset="0"/>
                <a:ea typeface="Calibri" pitchFamily="34" charset="-122"/>
                <a:cs typeface="Calibri" pitchFamily="34" charset="-120"/>
              </a:rPr>
              <a:t>“We're leaving the flickering torch particle effect broken because fixing the timing curve would take at least 20 minutes, and we'd rather use that time confirming our score UI doesn't break the build.”</a:t>
            </a:r>
            <a:endParaRPr lang="en-US" sz="15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9FB"/>
        </a:solidFill>
        <a:effectLst/>
      </p:bgPr>
    </p:bg>
    <p:spTree>
      <p:nvGrpSpPr>
        <p:cNvPr id="1" name=""/>
        <p:cNvGrpSpPr/>
        <p:nvPr/>
      </p:nvGrpSpPr>
      <p:grpSpPr>
        <a:xfrm>
          <a:off x="0" y="0"/>
          <a:ext cx="0" cy="0"/>
          <a:chOff x="0" y="0"/>
          <a:chExt cx="0" cy="0"/>
        </a:xfrm>
      </p:grpSpPr>
      <p:sp>
        <p:nvSpPr>
          <p:cNvPr id="2" name="Text 0"/>
          <p:cNvSpPr/>
          <p:nvPr/>
        </p:nvSpPr>
        <p:spPr>
          <a:xfrm>
            <a:off x="640080" y="411480"/>
            <a:ext cx="7315200" cy="320040"/>
          </a:xfrm>
          <a:prstGeom prst="rect">
            <a:avLst/>
          </a:prstGeom>
          <a:noFill/>
          <a:ln/>
        </p:spPr>
        <p:txBody>
          <a:bodyPr wrap="square" lIns="0" tIns="0" rIns="0" bIns="0" rtlCol="0" anchor="ctr"/>
          <a:lstStyle/>
          <a:p>
            <a:pPr marL="0" indent="0">
              <a:buNone/>
            </a:pPr>
            <a:r>
              <a:rPr lang="en-US" sz="1300" b="1" kern="0" spc="200" dirty="0">
                <a:solidFill>
                  <a:srgbClr val="AD8433"/>
                </a:solidFill>
                <a:latin typeface="Calibri" pitchFamily="34" charset="0"/>
                <a:ea typeface="Calibri" pitchFamily="34" charset="-122"/>
                <a:cs typeface="Calibri" pitchFamily="34" charset="-120"/>
              </a:rPr>
              <a:t>BEFORE YOU GO · SUBMIT WITH YOUR LOG</a:t>
            </a:r>
            <a:endParaRPr lang="en-US" sz="1300" dirty="0"/>
          </a:p>
        </p:txBody>
      </p:sp>
      <p:sp>
        <p:nvSpPr>
          <p:cNvPr id="3" name="Text 1"/>
          <p:cNvSpPr/>
          <p:nvPr/>
        </p:nvSpPr>
        <p:spPr>
          <a:xfrm>
            <a:off x="621792" y="658368"/>
            <a:ext cx="10908792" cy="777240"/>
          </a:xfrm>
          <a:prstGeom prst="rect">
            <a:avLst/>
          </a:prstGeom>
          <a:noFill/>
          <a:ln/>
        </p:spPr>
        <p:txBody>
          <a:bodyPr wrap="square" lIns="0" tIns="0" rIns="0" bIns="0" rtlCol="0" anchor="ctr"/>
          <a:lstStyle/>
          <a:p>
            <a:pPr marL="0" indent="0">
              <a:buNone/>
            </a:pPr>
            <a:r>
              <a:rPr lang="en-US" sz="3200" b="1" dirty="0">
                <a:solidFill>
                  <a:srgbClr val="041E42"/>
                </a:solidFill>
                <a:latin typeface="Georgia" pitchFamily="34" charset="0"/>
                <a:ea typeface="Georgia" pitchFamily="34" charset="-122"/>
                <a:cs typeface="Georgia" pitchFamily="34" charset="-120"/>
              </a:rPr>
              <a:t>Exit Ticket</a:t>
            </a:r>
            <a:endParaRPr lang="en-US" sz="3200" dirty="0"/>
          </a:p>
        </p:txBody>
      </p:sp>
      <p:sp>
        <p:nvSpPr>
          <p:cNvPr id="4" name="Shape 2"/>
          <p:cNvSpPr/>
          <p:nvPr/>
        </p:nvSpPr>
        <p:spPr>
          <a:xfrm>
            <a:off x="640080" y="1920240"/>
            <a:ext cx="10908792" cy="1554480"/>
          </a:xfrm>
          <a:prstGeom prst="roundRect">
            <a:avLst>
              <a:gd name="adj" fmla="val 5294"/>
            </a:avLst>
          </a:prstGeom>
          <a:solidFill>
            <a:srgbClr val="FFFFFF"/>
          </a:solidFill>
          <a:ln/>
          <a:effectLst>
            <a:outerShdw blurRad="127000" dist="38100" dir="5400000" algn="bl" rotWithShape="0">
              <a:srgbClr val="1A2233">
                <a:alpha val="16000"/>
              </a:srgbClr>
            </a:outerShdw>
          </a:effectLst>
        </p:spPr>
        <p:txBody>
          <a:bodyPr/>
          <a:lstStyle/>
          <a:p>
            <a:endParaRPr lang="en-US"/>
          </a:p>
        </p:txBody>
      </p:sp>
      <p:sp>
        <p:nvSpPr>
          <p:cNvPr id="5" name="Shape 3"/>
          <p:cNvSpPr/>
          <p:nvPr/>
        </p:nvSpPr>
        <p:spPr>
          <a:xfrm>
            <a:off x="914400" y="2377440"/>
            <a:ext cx="640080" cy="640080"/>
          </a:xfrm>
          <a:prstGeom prst="ellipse">
            <a:avLst/>
          </a:prstGeom>
          <a:solidFill>
            <a:srgbClr val="041E42"/>
          </a:solidFill>
          <a:ln/>
        </p:spPr>
        <p:txBody>
          <a:bodyPr/>
          <a:lstStyle/>
          <a:p>
            <a:endParaRPr lang="en-US"/>
          </a:p>
        </p:txBody>
      </p:sp>
      <p:sp>
        <p:nvSpPr>
          <p:cNvPr id="6" name="Text 4"/>
          <p:cNvSpPr/>
          <p:nvPr/>
        </p:nvSpPr>
        <p:spPr>
          <a:xfrm>
            <a:off x="914400" y="2377440"/>
            <a:ext cx="640080" cy="640080"/>
          </a:xfrm>
          <a:prstGeom prst="rect">
            <a:avLst/>
          </a:prstGeom>
          <a:noFill/>
          <a:ln/>
        </p:spPr>
        <p:txBody>
          <a:bodyPr wrap="square" lIns="0" tIns="0" rIns="0" bIns="0" rtlCol="0" anchor="ctr"/>
          <a:lstStyle/>
          <a:p>
            <a:pPr marL="0" indent="0" algn="ctr">
              <a:buNone/>
            </a:pPr>
            <a:r>
              <a:rPr lang="en-US" sz="2200" b="1" dirty="0">
                <a:solidFill>
                  <a:srgbClr val="FFFFFF"/>
                </a:solidFill>
                <a:latin typeface="Georgia" pitchFamily="34" charset="0"/>
                <a:ea typeface="Georgia" pitchFamily="34" charset="-122"/>
                <a:cs typeface="Georgia" pitchFamily="34" charset="-120"/>
              </a:rPr>
              <a:t>1</a:t>
            </a:r>
            <a:endParaRPr lang="en-US" sz="2200" dirty="0"/>
          </a:p>
        </p:txBody>
      </p:sp>
      <p:sp>
        <p:nvSpPr>
          <p:cNvPr id="7" name="Text 5"/>
          <p:cNvSpPr/>
          <p:nvPr/>
        </p:nvSpPr>
        <p:spPr>
          <a:xfrm>
            <a:off x="1828800" y="1920240"/>
            <a:ext cx="9445752" cy="1554480"/>
          </a:xfrm>
          <a:prstGeom prst="rect">
            <a:avLst/>
          </a:prstGeom>
          <a:noFill/>
          <a:ln/>
        </p:spPr>
        <p:txBody>
          <a:bodyPr wrap="square" lIns="0" tIns="0" rIns="0" bIns="0" rtlCol="0" anchor="ctr"/>
          <a:lstStyle/>
          <a:p>
            <a:pPr marL="0" indent="0">
              <a:buNone/>
            </a:pPr>
            <a:r>
              <a:rPr lang="en-US" sz="1700" dirty="0">
                <a:solidFill>
                  <a:srgbClr val="222222"/>
                </a:solidFill>
                <a:latin typeface="Calibri" pitchFamily="34" charset="0"/>
                <a:ea typeface="Calibri" pitchFamily="34" charset="-122"/>
                <a:cs typeface="Calibri" pitchFamily="34" charset="-120"/>
              </a:rPr>
              <a:t>Name one hypothesis you tested today — right or wrong. What did the test actually tell you?</a:t>
            </a:r>
            <a:endParaRPr lang="en-US" sz="1700" dirty="0"/>
          </a:p>
        </p:txBody>
      </p:sp>
      <p:sp>
        <p:nvSpPr>
          <p:cNvPr id="8" name="Shape 6"/>
          <p:cNvSpPr/>
          <p:nvPr/>
        </p:nvSpPr>
        <p:spPr>
          <a:xfrm>
            <a:off x="640080" y="3749040"/>
            <a:ext cx="10908792" cy="1554480"/>
          </a:xfrm>
          <a:prstGeom prst="roundRect">
            <a:avLst>
              <a:gd name="adj" fmla="val 5294"/>
            </a:avLst>
          </a:prstGeom>
          <a:solidFill>
            <a:srgbClr val="FFFFFF"/>
          </a:solidFill>
          <a:ln/>
          <a:effectLst>
            <a:outerShdw blurRad="127000" dist="38100" dir="5400000" algn="bl" rotWithShape="0">
              <a:srgbClr val="1A2233">
                <a:alpha val="16000"/>
              </a:srgbClr>
            </a:outerShdw>
          </a:effectLst>
        </p:spPr>
        <p:txBody>
          <a:bodyPr/>
          <a:lstStyle/>
          <a:p>
            <a:endParaRPr lang="en-US"/>
          </a:p>
        </p:txBody>
      </p:sp>
      <p:sp>
        <p:nvSpPr>
          <p:cNvPr id="9" name="Shape 7"/>
          <p:cNvSpPr/>
          <p:nvPr/>
        </p:nvSpPr>
        <p:spPr>
          <a:xfrm>
            <a:off x="914400" y="4206240"/>
            <a:ext cx="640080" cy="640080"/>
          </a:xfrm>
          <a:prstGeom prst="ellipse">
            <a:avLst/>
          </a:prstGeom>
          <a:solidFill>
            <a:srgbClr val="1B7F8C"/>
          </a:solidFill>
          <a:ln/>
        </p:spPr>
        <p:txBody>
          <a:bodyPr/>
          <a:lstStyle/>
          <a:p>
            <a:endParaRPr lang="en-US"/>
          </a:p>
        </p:txBody>
      </p:sp>
      <p:sp>
        <p:nvSpPr>
          <p:cNvPr id="10" name="Text 8"/>
          <p:cNvSpPr/>
          <p:nvPr/>
        </p:nvSpPr>
        <p:spPr>
          <a:xfrm>
            <a:off x="914400" y="4206240"/>
            <a:ext cx="640080" cy="640080"/>
          </a:xfrm>
          <a:prstGeom prst="rect">
            <a:avLst/>
          </a:prstGeom>
          <a:noFill/>
          <a:ln/>
        </p:spPr>
        <p:txBody>
          <a:bodyPr wrap="square" lIns="0" tIns="0" rIns="0" bIns="0" rtlCol="0" anchor="ctr"/>
          <a:lstStyle/>
          <a:p>
            <a:pPr marL="0" indent="0" algn="ctr">
              <a:buNone/>
            </a:pPr>
            <a:r>
              <a:rPr lang="en-US" sz="2200" b="1" dirty="0">
                <a:solidFill>
                  <a:srgbClr val="FFFFFF"/>
                </a:solidFill>
                <a:latin typeface="Georgia" pitchFamily="34" charset="0"/>
                <a:ea typeface="Georgia" pitchFamily="34" charset="-122"/>
                <a:cs typeface="Georgia" pitchFamily="34" charset="-120"/>
              </a:rPr>
              <a:t>2</a:t>
            </a:r>
            <a:endParaRPr lang="en-US" sz="2200" dirty="0"/>
          </a:p>
        </p:txBody>
      </p:sp>
      <p:sp>
        <p:nvSpPr>
          <p:cNvPr id="11" name="Text 9"/>
          <p:cNvSpPr/>
          <p:nvPr/>
        </p:nvSpPr>
        <p:spPr>
          <a:xfrm>
            <a:off x="1828800" y="3749040"/>
            <a:ext cx="9445752" cy="1554480"/>
          </a:xfrm>
          <a:prstGeom prst="rect">
            <a:avLst/>
          </a:prstGeom>
          <a:noFill/>
          <a:ln/>
        </p:spPr>
        <p:txBody>
          <a:bodyPr wrap="square" lIns="0" tIns="0" rIns="0" bIns="0" rtlCol="0" anchor="ctr"/>
          <a:lstStyle/>
          <a:p>
            <a:pPr marL="0" indent="0">
              <a:buNone/>
            </a:pPr>
            <a:r>
              <a:rPr lang="en-US" sz="1700" dirty="0">
                <a:solidFill>
                  <a:srgbClr val="222222"/>
                </a:solidFill>
                <a:latin typeface="Calibri" pitchFamily="34" charset="0"/>
                <a:ea typeface="Calibri" pitchFamily="34" charset="-122"/>
                <a:cs typeface="Calibri" pitchFamily="34" charset="-120"/>
              </a:rPr>
              <a:t>What's the one won't-fix item you're most confident about, and why is it safe to leave broken?</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TotalTime>
  <Words>1357</Words>
  <Application>Microsoft Macintosh PowerPoint</Application>
  <PresentationFormat>Widescreen</PresentationFormat>
  <Paragraphs>190</Paragraphs>
  <Slides>19</Slides>
  <Notes>19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Arial</vt:lpstr>
      <vt:lpstr>Calibri</vt:lpstr>
      <vt:lpstr>Consolas</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STEM Through Games — Week 11: Debugging, Optimization &amp; Playtesting</dc:title>
  <dc:subject>PptxGenJS Presentation</dc:subject>
  <dc:creator>PptxGenJS</dc:creator>
  <cp:lastModifiedBy>Babichenko, Dmitriy</cp:lastModifiedBy>
  <cp:revision>3</cp:revision>
  <dcterms:created xsi:type="dcterms:W3CDTF">2026-07-18T00:19:00Z</dcterms:created>
  <dcterms:modified xsi:type="dcterms:W3CDTF">2026-07-20T14:59:57Z</dcterms:modified>
</cp:coreProperties>
</file>