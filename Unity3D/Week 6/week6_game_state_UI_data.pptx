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7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4286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14173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Telling the Truth?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one script your whole game can trust for score, health, and time.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93292" cy="365760"/>
          </a:xfrm>
          <a:prstGeom prst="roundRect">
            <a:avLst>
              <a:gd name="adj" fmla="val 20000"/>
            </a:avLst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93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This Scene Break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instructor is going to collect an item in a demo scene. Watch three numbers at once: the on-screen score, the score printed to the Console, and the “best score” saved from last time.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3566160" cy="2011680"/>
          </a:xfrm>
          <a:prstGeom prst="roundRect">
            <a:avLst>
              <a:gd name="adj" fmla="val 4091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UI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player sees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2606040"/>
            <a:ext cx="3566160" cy="2011680"/>
          </a:xfrm>
          <a:prstGeom prst="roundRect">
            <a:avLst>
              <a:gd name="adj" fmla="val 4091"/>
            </a:avLst>
          </a:prstGeom>
          <a:solidFill>
            <a:srgbClr val="FFF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17720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A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log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collectible script thinks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2606040"/>
            <a:ext cx="3566160" cy="2011680"/>
          </a:xfrm>
          <a:prstGeom prst="roundRect">
            <a:avLst>
              <a:gd name="adj" fmla="val 4091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12480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high score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2480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got written to disk last time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89204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FCEB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" y="5029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to a partner: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5349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three numbers, all claiming to be “the score,” disagree with each other?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298448" cy="365760"/>
          </a:xfrm>
          <a:prstGeom prst="roundRect">
            <a:avLst>
              <a:gd name="adj" fmla="val 20000"/>
            </a:avLst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Scoreboard, Not Five Notebooks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 basketball game where the scorekeeper, both coaches, and two fans in the stands are each keeping their own written tally of the score — nobody is looking at a shared scoreboard.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tally will drift apart the moment someone makes a scoring mistake or simply misses a basket.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way to know which tally is “correct” — they're all just opinions.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shared scoreboard fixes this: everyone reads from it, and only the scorekeeper is allowed to change it.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94960" cy="4297680"/>
          </a:xfrm>
          <a:prstGeom prst="roundRect">
            <a:avLst>
              <a:gd name="adj" fmla="val 1915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37960" y="1874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3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GAME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37960" y="2331720"/>
            <a:ext cx="4846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66560" y="24688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3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GameManager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script that owns score, health, and time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 rot="5400000">
            <a:off x="6766560" y="3474720"/>
            <a:ext cx="365760" cy="320040"/>
          </a:xfrm>
          <a:prstGeom prst="bentUpArrow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0" y="3520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Collectible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 rot="5400000">
            <a:off x="6766560" y="4041648"/>
            <a:ext cx="365760" cy="320040"/>
          </a:xfrm>
          <a:prstGeom prst="bentUpArrow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0" y="40873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 rot="5400000">
            <a:off x="6766560" y="4608576"/>
            <a:ext cx="365760" cy="320040"/>
          </a:xfrm>
          <a:prstGeom prst="bentUpArrow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0" y="465429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UI text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 rot="5400000">
            <a:off x="6766560" y="5175504"/>
            <a:ext cx="365760" cy="320040"/>
          </a:xfrm>
          <a:prstGeom prst="bentUpArrow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0" y="522122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UI text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37960" y="3182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from ↓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93292" cy="365760"/>
          </a:xfrm>
          <a:prstGeom prst="roundRect">
            <a:avLst>
              <a:gd name="adj" fmla="val 20000"/>
            </a:avLst>
          </a:prstGeom>
          <a:solidFill>
            <a:srgbClr val="041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93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New Tools This Week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084832" cy="3749040"/>
          </a:xfrm>
          <a:prstGeom prst="roundRect">
            <a:avLst>
              <a:gd name="adj" fmla="val 3947"/>
            </a:avLst>
          </a:prstGeom>
          <a:solidFill>
            <a:srgbClr val="F6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79576" y="2194560"/>
            <a:ext cx="822960" cy="822960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79576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58368" y="32461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Canvas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" y="397764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all on-screen UI lives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816352" y="1920240"/>
            <a:ext cx="2084832" cy="3749040"/>
          </a:xfrm>
          <a:prstGeom prst="roundRect">
            <a:avLst>
              <a:gd name="adj" fmla="val 3947"/>
            </a:avLst>
          </a:prstGeom>
          <a:solidFill>
            <a:srgbClr val="F6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47288" y="2194560"/>
            <a:ext cx="822960" cy="822960"/>
          </a:xfrm>
          <a:prstGeom prst="ellipse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47288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926080" y="32461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TextMeshPro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80944" y="397764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Sharp, flexible text for score/health/timer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84064" y="1920240"/>
            <a:ext cx="2084832" cy="3749040"/>
          </a:xfrm>
          <a:prstGeom prst="roundRect">
            <a:avLst>
              <a:gd name="adj" fmla="val 3947"/>
            </a:avLst>
          </a:prstGeom>
          <a:solidFill>
            <a:srgbClr val="F6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715000" y="2194560"/>
            <a:ext cx="822960" cy="822960"/>
          </a:xfrm>
          <a:prstGeom prst="ellipse">
            <a:avLst/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71500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193792" y="32461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GameManager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48656" y="397764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single source of truth script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51776" y="1920240"/>
            <a:ext cx="2084832" cy="3749040"/>
          </a:xfrm>
          <a:prstGeom prst="roundRect">
            <a:avLst>
              <a:gd name="adj" fmla="val 3947"/>
            </a:avLst>
          </a:prstGeom>
          <a:solidFill>
            <a:srgbClr val="F6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982712" y="2194560"/>
            <a:ext cx="822960" cy="822960"/>
          </a:xfrm>
          <a:prstGeom prst="ellipse">
            <a:avLst/>
          </a:prstGeom>
          <a:solidFill>
            <a:srgbClr val="041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982712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461504" y="32461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UnityEvent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16368" y="397764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way to broadcast “this changed!”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619488" y="1920240"/>
            <a:ext cx="2084832" cy="3749040"/>
          </a:xfrm>
          <a:prstGeom prst="roundRect">
            <a:avLst>
              <a:gd name="adj" fmla="val 3947"/>
            </a:avLst>
          </a:prstGeom>
          <a:solidFill>
            <a:srgbClr val="F6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250424" y="2194560"/>
            <a:ext cx="822960" cy="82296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250424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729216" y="32461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PlayerPrefs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784080" y="397764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small data between play sessions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13916" cy="365760"/>
          </a:xfrm>
          <a:prstGeom prst="roundRect">
            <a:avLst>
              <a:gd name="adj" fmla="val 20000"/>
            </a:avLst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613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“Game State,” Exactly?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state is every value that describes the current condition of your game right now, this instant. Anything that can change while you play is part of the state.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606040" cy="1645920"/>
          </a:xfrm>
          <a:prstGeom prst="roundRect">
            <a:avLst>
              <a:gd name="adj" fmla="val 5000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383280" y="2606040"/>
            <a:ext cx="2606040" cy="1645920"/>
          </a:xfrm>
          <a:prstGeom prst="roundRect">
            <a:avLst>
              <a:gd name="adj" fmla="val 5000"/>
            </a:avLst>
          </a:prstGeom>
          <a:solidFill>
            <a:srgbClr val="E7F5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11880" y="2788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11880" y="32004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217920" y="2606040"/>
            <a:ext cx="2606040" cy="1645920"/>
          </a:xfrm>
          <a:prstGeom prst="roundRect">
            <a:avLst>
              <a:gd name="adj" fmla="val 5000"/>
            </a:avLst>
          </a:prstGeom>
          <a:solidFill>
            <a:srgbClr val="FFF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46520" y="2788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2A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left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32004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0:32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9052560" y="2606040"/>
            <a:ext cx="2606040" cy="1645920"/>
          </a:xfrm>
          <a:prstGeom prst="roundRect">
            <a:avLst>
              <a:gd name="adj" fmla="val 5000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281160" y="2788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paused?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281160" y="32004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48640" y="452628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F6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" y="468172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isn't having these values — it's where they live.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22960" y="5120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“score” lives inside Collectible.cs, then Hazard.cs, your UI text, and your save system each need their own separate copy — and copies drift apart, exactly like the warm-up demo.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13916" cy="365760"/>
          </a:xfrm>
          <a:prstGeom prst="roundRect">
            <a:avLst>
              <a:gd name="adj" fmla="val 20000"/>
            </a:avLst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613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Singleton: Exactly One, Guaranteed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school has exactly one principal's office — not because it's a rule of nature, but because the building was designed that way. GameManager works the same way: the code itself guarantees only one exists.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486400" cy="3383280"/>
          </a:xfrm>
          <a:prstGeom prst="roundRect">
            <a:avLst>
              <a:gd name="adj" fmla="val 1892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2889504"/>
            <a:ext cx="5084064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4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GameManager</a:t>
            </a: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MonoBehaviour {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GameManager Instance;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</a:t>
            </a:r>
            <a:r>
              <a:rPr lang="en-US" sz="14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Awake</a:t>
            </a: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(Instance == </a:t>
            </a:r>
            <a:r>
              <a:rPr lang="en-US" sz="14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Instance = </a:t>
            </a:r>
            <a:r>
              <a:rPr lang="en-US" sz="14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{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Destroy(gameObject);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a second copy snuck in — remove it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09360" y="2743200"/>
            <a:ext cx="5349240" cy="3383280"/>
          </a:xfrm>
          <a:prstGeom prst="roundRect">
            <a:avLst>
              <a:gd name="adj" fmla="val 2432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37960" y="2926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3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LIKE THIS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37960" y="333756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is a shortcut every other script can use to find the one true GameManager — no dragging references into the Inspector.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Awake() runs before Start(), so the check happens before anything else tries to use GameManager.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second GameManager ever appears in the scene, it deletes itself instead of causing a conflict.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13916" cy="365760"/>
          </a:xfrm>
          <a:prstGeom prst="roundRect">
            <a:avLst>
              <a:gd name="adj" fmla="val 20000"/>
            </a:avLst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613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Give the Player Something to Read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 on the projector, then repeat it in your own scene.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502920" cy="502920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71600" y="2205595"/>
            <a:ext cx="9326880" cy="731520"/>
          </a:xfrm>
          <a:prstGeom prst="roundRect">
            <a:avLst>
              <a:gd name="adj" fmla="val 11250"/>
            </a:avLst>
          </a:prstGeom>
          <a:solidFill>
            <a:srgbClr val="F6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45920" y="2205595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GameObject → UI → Canvas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227832"/>
            <a:ext cx="502920" cy="502920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71600" y="3101707"/>
            <a:ext cx="9326880" cy="731520"/>
          </a:xfrm>
          <a:prstGeom prst="roundRect">
            <a:avLst>
              <a:gd name="adj" fmla="val 11250"/>
            </a:avLst>
          </a:prstGeom>
          <a:solidFill>
            <a:srgbClr val="F6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645920" y="3101707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Render Mode to Screen Space – Overlay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4123944"/>
            <a:ext cx="502920" cy="502920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4123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371600" y="3997819"/>
            <a:ext cx="9326880" cy="731520"/>
          </a:xfrm>
          <a:prstGeom prst="roundRect">
            <a:avLst>
              <a:gd name="adj" fmla="val 11250"/>
            </a:avLst>
          </a:prstGeom>
          <a:solidFill>
            <a:srgbClr val="F6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645920" y="3997819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Canvas → UI → Text – TextMeshPro (import TMP Essentials if prompted)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40080" y="5020056"/>
            <a:ext cx="502920" cy="502920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5020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71600" y="4893931"/>
            <a:ext cx="9326880" cy="731520"/>
          </a:xfrm>
          <a:prstGeom prst="roundRect">
            <a:avLst>
              <a:gd name="adj" fmla="val 11250"/>
            </a:avLst>
          </a:prstGeom>
          <a:solidFill>
            <a:srgbClr val="F6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645920" y="4893931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three TMP labels: ScoreText, HealthText, TimerText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403604" cy="36576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4036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Your UI Objects Clearly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FCEB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GameManager has to find these text objects by name in the Inspector. A vague name like “Text (2)” will cost you ten minutes of confused debugging later.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5394960" cy="2743200"/>
          </a:xfrm>
          <a:prstGeom prst="roundRect">
            <a:avLst>
              <a:gd name="adj" fmla="val 3000"/>
            </a:avLst>
          </a:prstGeom>
          <a:solidFill>
            <a:srgbClr val="FCEB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34015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(1)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4348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(2)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50749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TextMeshPro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63640" y="3246120"/>
            <a:ext cx="5394960" cy="2743200"/>
          </a:xfrm>
          <a:prstGeom prst="roundRect">
            <a:avLst>
              <a:gd name="adj" fmla="val 3000"/>
            </a:avLst>
          </a:prstGeom>
          <a:solidFill>
            <a:srgbClr val="E7F5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37960" y="34015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INSTEAD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7960" y="37947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2E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ScoreText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44348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2E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HealthText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37960" y="50749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2E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TimerText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13916" cy="365760"/>
          </a:xfrm>
          <a:prstGeom prst="roundRect">
            <a:avLst>
              <a:gd name="adj" fmla="val 20000"/>
            </a:avLst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613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Give GameManager a Front Door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and health live here. AddScore() and TakeDamage() are the only way other scripts are allowed to change them.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1091672" cy="4160520"/>
          </a:xfrm>
          <a:prstGeom prst="roundRect">
            <a:avLst>
              <a:gd name="adj" fmla="val 1538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2386584"/>
            <a:ext cx="10689336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r>
              <a:rPr lang="en-US" sz="13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score = 0;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r>
              <a:rPr lang="en-US" sz="13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health = 100;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TMP_Text scoreText, healthText;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r>
              <a:rPr lang="en-US" sz="13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AddScore(</a:t>
            </a:r>
            <a:r>
              <a:rPr lang="en-US" sz="13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amount)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score += amount;  UpdateUI();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r>
              <a:rPr lang="en-US" sz="13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TakeDamage(</a:t>
            </a:r>
            <a:r>
              <a:rPr lang="en-US" sz="13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amount)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health -= amount;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health = Mathf.Max(health, 0);</a:t>
            </a:r>
            <a:r>
              <a:rPr lang="en-US" sz="13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never negative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UpdateUI();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r>
              <a:rPr lang="en-US" sz="13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UpdateUI</a:t>
            </a: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scoreText.text = </a:t>
            </a:r>
            <a:r>
              <a:rPr lang="en-US" sz="13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"Score: "</a:t>
            </a: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score;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healthText.text = </a:t>
            </a:r>
            <a:r>
              <a:rPr lang="en-US" sz="13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"Health: "</a:t>
            </a: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health;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13916" cy="365760"/>
          </a:xfrm>
          <a:prstGeom prst="roundRect">
            <a:avLst>
              <a:gd name="adj" fmla="val 20000"/>
            </a:avLst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613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Rewire Last Week's Collectible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your local score variable. Call GameManager instead. If the game still works, the source of truth is real.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WEEK 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5394960" cy="2011680"/>
          </a:xfrm>
          <a:prstGeom prst="roundRect">
            <a:avLst>
              <a:gd name="adj" fmla="val 3182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2798064"/>
            <a:ext cx="499262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(!collected &amp;&amp; other.CompareTag(</a:t>
            </a:r>
            <a:r>
              <a:rPr lang="en-US" sz="13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"Player"</a:t>
            </a: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collected = </a:t>
            </a:r>
            <a:r>
              <a:rPr lang="en-US" sz="13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score += pointValue;</a:t>
            </a:r>
            <a:r>
              <a:rPr lang="en-US" sz="13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whose score??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gameObject.SetActive(</a:t>
            </a:r>
            <a:r>
              <a:rPr lang="en-US" sz="13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63640" y="22860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WEEK 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2651760"/>
            <a:ext cx="5394960" cy="2011680"/>
          </a:xfrm>
          <a:prstGeom prst="roundRect">
            <a:avLst>
              <a:gd name="adj" fmla="val 3182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64808" y="2798064"/>
            <a:ext cx="499262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(!collected &amp;&amp; other.CompareTag(</a:t>
            </a:r>
            <a:r>
              <a:rPr lang="en-US" sz="13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"Player"</a:t>
            </a: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collected = </a:t>
            </a:r>
            <a:r>
              <a:rPr lang="en-US" sz="13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GameManager.Instance.AddScore(pointValue);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gameObject.SetActive(</a:t>
            </a:r>
            <a:r>
              <a:rPr lang="en-US" sz="13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533095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rewiring, delete your old local score variable completely. Press Play. If your score still updates correctly, you've proven GameManager is the only place score lives.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+ CT CONNECTION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Timer Is Just a Rate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countdown loses 1 second of time for every 1 second of real time — a rate of change you've already studied in math class.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120640" cy="1371600"/>
          </a:xfrm>
          <a:prstGeom prst="roundRect">
            <a:avLst>
              <a:gd name="adj" fmla="val 6000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41E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timeRemaining = startTime − elapsedTime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0" y="2514600"/>
            <a:ext cx="5669280" cy="1371600"/>
          </a:xfrm>
          <a:prstGeom prst="roundRect">
            <a:avLst>
              <a:gd name="adj" fmla="val 6000"/>
            </a:avLst>
          </a:prstGeom>
          <a:solidFill>
            <a:srgbClr val="FFF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0" y="2651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2A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Time.deltaTime, not “−1 per frame”?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2999232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 doesn't always take the same amount of time. Subtracting Time.deltaTime keeps the countdown accurate no matter the frame rate — the same deltaTime idea from Week 2.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11091672" cy="2148840"/>
          </a:xfrm>
          <a:prstGeom prst="roundRect">
            <a:avLst>
              <a:gd name="adj" fmla="val 2979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" y="4215384"/>
            <a:ext cx="10689336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r>
              <a:rPr lang="en-US" sz="14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timeRemaining = </a:t>
            </a:r>
            <a:r>
              <a:rPr lang="en-US" sz="14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60f</a:t>
            </a: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r>
              <a:rPr lang="en-US" sz="14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timeRemaining -= Time.deltaTime;</a:t>
            </a:r>
            <a:r>
              <a:rPr lang="en-US" sz="14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rate: 1 sec per sec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timeRemaining = Mathf.Max(timeRemaining, </a:t>
            </a:r>
            <a:r>
              <a:rPr lang="en-US" sz="14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0f</a:t>
            </a: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timerText.text = </a:t>
            </a:r>
            <a:r>
              <a:rPr lang="en-US" sz="14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"Time: "</a:t>
            </a: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Mathf.CeilToInt(timeRemaining);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980944" cy="365760"/>
          </a:xfrm>
          <a:prstGeom prst="roundRect">
            <a:avLst>
              <a:gd name="adj" fmla="val 20000"/>
            </a:avLst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Before You Press Play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timeRemaining starts at 60. The game runs for exactly 12.5 real seconds.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1091672" cy="1554480"/>
          </a:xfrm>
          <a:prstGeom prst="roundRect">
            <a:avLst>
              <a:gd name="adj" fmla="val 5294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timerText display, and why?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prediction and the reasoning behind it before your instructor runs the scene.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11091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Mathf.CeilToInt rounds up to the next whole number, even for a value like 47.5.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what would the display show one frame after it should have hit exactly 0?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13916" cy="365760"/>
          </a:xfrm>
          <a:prstGeom prst="roundRect">
            <a:avLst>
              <a:gd name="adj" fmla="val 20000"/>
            </a:avLst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613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UnityEvent: Announce, Don't Dictate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 GameManager calls UpdateUI() directly — which means GameManager has to personally know the UI exists. A UnityEvent lets it make an announcement instead, like a school intercom.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616550"/>
            <a:ext cx="5212080" cy="3520440"/>
          </a:xfrm>
          <a:prstGeom prst="roundRect">
            <a:avLst>
              <a:gd name="adj" fmla="val 2338"/>
            </a:avLst>
          </a:prstGeom>
          <a:solidFill>
            <a:srgbClr val="F6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BROADCAST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31720" y="3246120"/>
            <a:ext cx="1463040" cy="1463040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331720" y="324612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926080" y="4709159"/>
            <a:ext cx="274320" cy="861323"/>
          </a:xfrm>
          <a:prstGeom prst="downArrow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76177" y="5485347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personally know</a:t>
            </a:r>
            <a:r>
              <a:rPr lang="en-US" sz="1250" dirty="0"/>
              <a:t> </a:t>
            </a: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UI text”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2606040"/>
            <a:ext cx="5486400" cy="3520440"/>
          </a:xfrm>
          <a:prstGeom prst="roundRect">
            <a:avLst>
              <a:gd name="adj" fmla="val 2338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4652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UNITYEVENT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3200400"/>
            <a:ext cx="1280160" cy="1280160"/>
          </a:xfrm>
          <a:prstGeom prst="ellipse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38160" y="32004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 flipV="1">
            <a:off x="9418320" y="3502143"/>
            <a:ext cx="960120" cy="292617"/>
          </a:xfrm>
          <a:prstGeom prst="line">
            <a:avLst/>
          </a:prstGeom>
          <a:noFill/>
          <a:ln w="1905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378440" y="324612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378440" y="32461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text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418320" y="3794759"/>
            <a:ext cx="960120" cy="393185"/>
          </a:xfrm>
          <a:prstGeom prst="line">
            <a:avLst/>
          </a:prstGeom>
          <a:noFill/>
          <a:ln w="1905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378440" y="393192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378440" y="39319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effect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418320" y="3794760"/>
            <a:ext cx="960120" cy="1005840"/>
          </a:xfrm>
          <a:prstGeom prst="line">
            <a:avLst/>
          </a:prstGeom>
          <a:noFill/>
          <a:ln w="1905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378440" y="461772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378440" y="46177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burst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46520" y="54864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“Score changed! Anyone</a:t>
            </a:r>
            <a:r>
              <a:rPr lang="en-US" sz="1250" dirty="0"/>
              <a:t> </a:t>
            </a:r>
            <a:r>
              <a:rPr lang="en-US" sz="1250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cares can listen.”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13916" cy="365760"/>
          </a:xfrm>
          <a:prstGeom prst="roundRect">
            <a:avLst>
              <a:gd name="adj" fmla="val 20000"/>
            </a:avLst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613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Optional Stretch — Broadcasting a Score Change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finishers: try this instead of (or alongside) a direct UpdateUI() call.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091672" cy="2743200"/>
          </a:xfrm>
          <a:prstGeom prst="roundRect">
            <a:avLst>
              <a:gd name="adj" fmla="val 2333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2340864"/>
            <a:ext cx="10689336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UnityEngine.Events;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UnityEvent&lt;</a:t>
            </a: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OnScoreChanged = </a:t>
            </a:r>
            <a:r>
              <a:rPr lang="en-US" sz="15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UnityEvent&lt;</a:t>
            </a: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&gt;();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AddScore(</a:t>
            </a: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amount) {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score += amount;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OnScoreChanged.Invoke(score);</a:t>
            </a:r>
            <a:r>
              <a:rPr lang="en-US" sz="15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broadcast, don't dictate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512064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FFF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5303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Inspector, drag any object with a listener method onto the OnScoreChanged event list — no code change to GameManager required to add a new listener later.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13916" cy="365760"/>
          </a:xfrm>
          <a:prstGeom prst="roundRect">
            <a:avLst>
              <a:gd name="adj" fmla="val 20000"/>
            </a:avLst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613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a High Score Survive Quitting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variable in your game normally resets to its starting value the moment you stop Play mode — or close the game entirely. PlayerPrefs is a small storage box on the player's computer that survives that reset.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6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mode running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7033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80, highScore = 80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87368" y="3657600"/>
            <a:ext cx="237744" cy="274320"/>
          </a:xfrm>
          <a:prstGeom prst="rightArrow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43400" y="288036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6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31089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quits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0" y="37033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resets to 0 next time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82128" y="3657600"/>
            <a:ext cx="237744" cy="274320"/>
          </a:xfrm>
          <a:prstGeom prst="rightArrow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138160" y="288036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7F5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66760" y="31089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highScore was saved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366760" y="37033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PlayerPrefs still remembers 80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12064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5303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PlayerPrefs is small key-value storage — great for a high score or a volume setting, not for saving an entire level's worth of data. That's a problem for a later, bigger tool.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13916" cy="365760"/>
          </a:xfrm>
          <a:prstGeom prst="roundRect">
            <a:avLst>
              <a:gd name="adj" fmla="val 20000"/>
            </a:avLst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613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— Save and Load the High Score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1672" cy="4480560"/>
          </a:xfrm>
          <a:prstGeom prst="roundRect">
            <a:avLst>
              <a:gd name="adj" fmla="val 1429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1929384"/>
            <a:ext cx="10689336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r>
              <a:rPr lang="en-US" sz="15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highScore = 0;</a:t>
            </a:r>
            <a:endParaRPr lang="en-US" sz="1550" dirty="0"/>
          </a:p>
          <a:p>
            <a:pPr marL="0" indent="0">
              <a:lnSpc>
                <a:spcPct val="118000"/>
              </a:lnSpc>
              <a:buNone/>
            </a:pPr>
            <a:endParaRPr lang="en-US" sz="15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r>
              <a:rPr lang="en-US" sz="15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r>
              <a:rPr lang="en-US" sz="15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5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highScore = PlayerPrefs.GetInt(</a:t>
            </a:r>
            <a:r>
              <a:rPr lang="en-US" sz="15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"HighScore"</a:t>
            </a:r>
            <a:r>
              <a:rPr lang="en-US" sz="15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5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5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5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0 is a default, used only if nothing was ever saved</a:t>
            </a:r>
            <a:endParaRPr lang="en-US" sz="15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50" dirty="0"/>
          </a:p>
          <a:p>
            <a:pPr marL="0" indent="0">
              <a:lnSpc>
                <a:spcPct val="118000"/>
              </a:lnSpc>
              <a:buNone/>
            </a:pPr>
            <a:endParaRPr lang="en-US" sz="15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r>
              <a:rPr lang="en-US" sz="15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5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CheckAndSaveHighScore() {</a:t>
            </a:r>
            <a:endParaRPr lang="en-US" sz="15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(score &gt; highScore) {</a:t>
            </a:r>
            <a:endParaRPr lang="en-US" sz="15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highScore = score;</a:t>
            </a:r>
            <a:endParaRPr lang="en-US" sz="15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PlayerPrefs.SetInt(</a:t>
            </a:r>
            <a:r>
              <a:rPr lang="en-US" sz="15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"HighScore"</a:t>
            </a:r>
            <a:r>
              <a:rPr lang="en-US" sz="15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highScore);</a:t>
            </a:r>
            <a:endParaRPr lang="en-US" sz="15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PlayerPrefs.Save();</a:t>
            </a:r>
            <a:r>
              <a:rPr lang="en-US" sz="15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write to disk right now</a:t>
            </a:r>
            <a:endParaRPr lang="en-US" sz="15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5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980944" cy="365760"/>
          </a:xfrm>
          <a:prstGeom prst="roundRect">
            <a:avLst>
              <a:gd name="adj" fmla="val 20000"/>
            </a:avLst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the Bug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classmate wrote this version of CheckAndSaveHighScore(). Something is wrong.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1091672" cy="1737360"/>
          </a:xfrm>
          <a:prstGeom prst="roundRect">
            <a:avLst>
              <a:gd name="adj" fmla="val 3684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2432304"/>
            <a:ext cx="1068933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CheckAndSaveHighScore() {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highScore = score;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PlayerPrefs.SetInt(</a:t>
            </a:r>
            <a:r>
              <a:rPr lang="en-US" sz="15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"HighScore"</a:t>
            </a: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highScore);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PlayerPrefs.Save();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11091672" cy="2103120"/>
          </a:xfrm>
          <a:prstGeom prst="roundRect">
            <a:avLst>
              <a:gd name="adj" fmla="val 3913"/>
            </a:avLst>
          </a:prstGeom>
          <a:solidFill>
            <a:srgbClr val="FFF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43708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2A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your table: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7548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happen to the saved high score if the player scores lower than their previous best?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single missing piece of logic would fix it?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139696" cy="365760"/>
          </a:xfrm>
          <a:prstGeom prst="roundRect">
            <a:avLst>
              <a:gd name="adj" fmla="val 20000"/>
            </a:avLst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ACTIVITY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 Seats, Trade Code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seats with a partner once your score/health UI is wired up and working.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asking them anything, try to find where score actually lives in their project.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break it: can you find a leftover local score variable they forgot to delete?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back and compare notes — did you each find something the other missed?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35040" y="1783080"/>
            <a:ext cx="5623560" cy="4206240"/>
          </a:xfrm>
          <a:prstGeom prst="roundRect">
            <a:avLst>
              <a:gd name="adj" fmla="val 1957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309360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PRACTICING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09360" y="237744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code review — a real skill professional developers use every day. Reading someone else's code for a single source of truth is much easier when you know exactly what pattern to look for.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397764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can't find where a value lives in 60 seconds, that's useful information too — it usually means the code needs clearer naming or better organization.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980944" cy="365760"/>
          </a:xfrm>
          <a:prstGeom prst="roundRect">
            <a:avLst>
              <a:gd name="adj" fmla="val 20000"/>
            </a:avLst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Your Demo Actually Done?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your instructor comes by, run through this yourself.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35095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88720" y="2331720"/>
            <a:ext cx="10332720" cy="777240"/>
          </a:xfrm>
          <a:prstGeom prst="roundRect">
            <a:avLst>
              <a:gd name="adj" fmla="val 10588"/>
            </a:avLst>
          </a:prstGeom>
          <a:solidFill>
            <a:srgbClr val="F6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1732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an item updates the on-screen score label immediately.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3495215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8720" y="3291840"/>
            <a:ext cx="10332720" cy="777240"/>
          </a:xfrm>
          <a:prstGeom prst="roundRect">
            <a:avLst>
              <a:gd name="adj" fmla="val 10588"/>
            </a:avLst>
          </a:prstGeom>
          <a:solidFill>
            <a:srgbClr val="F6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17320" y="32918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and health only exist inside GameManager — not duplicated anywhere else.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40080" y="4455335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88720" y="4251960"/>
            <a:ext cx="10332720" cy="777240"/>
          </a:xfrm>
          <a:prstGeom prst="roundRect">
            <a:avLst>
              <a:gd name="adj" fmla="val 10588"/>
            </a:avLst>
          </a:prstGeom>
          <a:solidFill>
            <a:srgbClr val="F6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417320" y="42519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 Play mode, re-enter it: your saved high score is still correct.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40080" y="5415455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88720" y="5212080"/>
            <a:ext cx="10332720" cy="777240"/>
          </a:xfrm>
          <a:prstGeom prst="roundRect">
            <a:avLst>
              <a:gd name="adj" fmla="val 10588"/>
            </a:avLst>
          </a:prstGeom>
          <a:solidFill>
            <a:srgbClr val="F6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417320" y="521208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score only changes when the new score actually beats it.</a:t>
            </a:r>
            <a:endParaRPr lang="en-US" sz="1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93292" cy="365760"/>
          </a:xfrm>
          <a:prstGeom prst="roundRect">
            <a:avLst>
              <a:gd name="adj" fmla="val 20000"/>
            </a:avLst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93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Reflection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10515600" cy="2743200"/>
          </a:xfrm>
          <a:prstGeom prst="roundRect">
            <a:avLst>
              <a:gd name="adj" fmla="val 3000"/>
            </a:avLst>
          </a:prstGeom>
          <a:solidFill>
            <a:srgbClr val="0B2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233172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value in your game that used to be stored in more than one script.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88720" y="3246120"/>
            <a:ext cx="9784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it live now, and what would have gone wrong if you'd left it duplicated?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4983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2A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3–5 sentences. This is part of today's checkpoint.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93292" cy="365760"/>
          </a:xfrm>
          <a:prstGeom prst="roundRect">
            <a:avLst>
              <a:gd name="adj" fmla="val 20000"/>
            </a:avLst>
          </a:prstGeom>
          <a:solidFill>
            <a:srgbClr val="041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93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Just Hit the Midpoint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39" y="1828800"/>
            <a:ext cx="111858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 a single script your whole game can trust for score and health.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made that state visible with a UI Canvas and TextMeshPro.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made progress survive quitting the game, using PlayerPrefs.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got a first look at UnityEvent — broadcasting instead of dictating.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1963</Words>
  <Application>Microsoft Macintosh PowerPoint</Application>
  <PresentationFormat>Widescreen</PresentationFormat>
  <Paragraphs>264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Babichenko, Dmitriy</cp:lastModifiedBy>
  <cp:revision>14</cp:revision>
  <dcterms:created xsi:type="dcterms:W3CDTF">2026-07-17T21:52:34Z</dcterms:created>
  <dcterms:modified xsi:type="dcterms:W3CDTF">2026-07-19T19:48:41Z</dcterms:modified>
</cp:coreProperties>
</file>