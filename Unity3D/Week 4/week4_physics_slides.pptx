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87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4173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Forces, Gravity, and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Engine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stop moving objects yourself, and hand the job to Unity's physics engine instead?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central equation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Balls. Same Drop. Different Reasons.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both objects fall in the same scene. They look almost identical for the first second — but only one of them is obeying physics.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3965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3965" y="28712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Moved by a script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frame, code tells it exactly where to go: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transform.Translate(Vector3.down * speed * Time.deltaTime)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at a constant rate. Stops exactly at the height the script says. Ignores anything in its path.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228600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041E42"/>
          </a:solidFill>
          <a:ln w="12700">
            <a:solidFill>
              <a:srgbClr val="041E4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94869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B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94869" y="28712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Moved by physics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00800" y="33832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 a Rigidbody component. No movement code at all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gravity, turned 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as it falls. Reacts if something is in its way. Its path is calculated, not scripted.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question: what happens when you hand motion over to the physics engine — and what do you gain and lose by doing it?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Motion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in your Unity scene moves one of these two ways. There's no third option.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90953"/>
            <a:ext cx="5212080" cy="313471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973903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MOTION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339663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“Scripted” motion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934023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set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position or rotation in code, frame by frame.</a:t>
            </a:r>
            <a:endParaRPr lang="en-US" sz="1600" dirty="0"/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goes exactly where you tell it — always.</a:t>
            </a:r>
            <a:endParaRPr lang="en-US" sz="1600" dirty="0"/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(gravity, collisions, forces) is ignored.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26480" y="2490953"/>
            <a:ext cx="5212080" cy="3134710"/>
          </a:xfrm>
          <a:prstGeom prst="roundRect">
            <a:avLst>
              <a:gd name="adj" fmla="val 2273"/>
            </a:avLst>
          </a:prstGeom>
          <a:solidFill>
            <a:srgbClr val="041E42"/>
          </a:solidFill>
          <a:ln w="127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126480" y="2774207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126480" y="3139967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“Physics-driven” motion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46520" y="37868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apply a </a:t>
            </a:r>
            <a:r>
              <a:rPr lang="en-US" sz="16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push), and the Rigidbody component figures out the motion.</a:t>
            </a:r>
            <a:endParaRPr lang="en-US" sz="1600" dirty="0"/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emerges from mass, drag, and gravity — you don't set it directly.</a:t>
            </a:r>
            <a:endParaRPr lang="en-US" sz="1600" dirty="0"/>
          </a:p>
          <a:p>
            <a:pPr marL="285750" indent="-2857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real-world motion actually works.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Every Physics Engine Runs 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Unity's Rigidbody doesn't invent new physics. It runs the same law your science class already covers — over and over, every fraction of a second.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 a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699516" y="37490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76956" y="3931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28116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28116" y="5074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push or pull you apply — in Unity, this is what AddForce() sends.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02836" y="37490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780276" y="3931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631436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31436" y="5074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“stuff” the object has — set on the Rigidbody's Mass field.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06156" y="37490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483596" y="3931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334756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34756" y="5074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velocity changes — the result the engine calculates for you.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Push. Different Mass. What Happens?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the formula to see what the engine actually computes each step: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F / 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005840" cy="1005840"/>
          </a:xfrm>
          <a:prstGeom prst="roundRect">
            <a:avLst/>
          </a:prstGeom>
          <a:solidFill>
            <a:srgbClr val="CFE8EA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BOX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187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= 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3337560"/>
            <a:ext cx="2377440" cy="0"/>
          </a:xfrm>
          <a:prstGeom prst="line">
            <a:avLst/>
          </a:prstGeom>
          <a:noFill/>
          <a:ln w="38100">
            <a:solidFill>
              <a:srgbClr val="D2AA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acceleration → flies far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4526280"/>
            <a:ext cx="1371600" cy="1371600"/>
          </a:xfrm>
          <a:prstGeom prst="roundRect">
            <a:avLst/>
          </a:prstGeom>
          <a:solidFill>
            <a:srgbClr val="041E42"/>
          </a:solidFill>
          <a:ln w="127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5943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BOX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6199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= 5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651760" y="5257800"/>
            <a:ext cx="822960" cy="0"/>
          </a:xfrm>
          <a:prstGeom prst="line">
            <a:avLst/>
          </a:prstGeom>
          <a:noFill/>
          <a:ln w="38100">
            <a:solidFill>
              <a:srgbClr val="D2AA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029200" y="4983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acceleration → barely moves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03920" y="2651760"/>
            <a:ext cx="3108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732520" y="2911366"/>
            <a:ext cx="2651760" cy="2666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AddForce() call.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Rigidbody masses.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completely different trajectories:  that's F = ma running under the hood, every single physics step.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Rigidbody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one component and Unity's physics engine takes over. Three fields matter most today: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9050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502920"/>
          </a:xfrm>
          <a:prstGeom prst="rect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Rigidbody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937760" cy="45720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852928"/>
            <a:ext cx="2103120" cy="329184"/>
          </a:xfrm>
          <a:prstGeom prst="rect">
            <a:avLst/>
          </a:prstGeom>
          <a:solidFill>
            <a:srgbClr val="F4F6F8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28529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19272"/>
            <a:ext cx="4937760" cy="45720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649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3383280"/>
            <a:ext cx="2103120" cy="329184"/>
          </a:xfrm>
          <a:prstGeom prst="rect">
            <a:avLst/>
          </a:prstGeom>
          <a:solidFill>
            <a:srgbClr val="F4F6F8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3383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953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Drag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913632"/>
            <a:ext cx="2103120" cy="329184"/>
          </a:xfrm>
          <a:prstGeom prst="rect">
            <a:avLst/>
          </a:prstGeom>
          <a:solidFill>
            <a:srgbClr val="F4F6F8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3913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79976"/>
            <a:ext cx="4937760" cy="457200"/>
          </a:xfrm>
          <a:prstGeom prst="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425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Gravity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4443984"/>
            <a:ext cx="2103120" cy="329184"/>
          </a:xfrm>
          <a:prstGeom prst="rect">
            <a:avLst/>
          </a:prstGeom>
          <a:solidFill>
            <a:srgbClr val="F4F6F8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44439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Kinematic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4974336"/>
            <a:ext cx="2103120" cy="329184"/>
          </a:xfrm>
          <a:prstGeom prst="rect">
            <a:avLst/>
          </a:prstGeom>
          <a:solidFill>
            <a:srgbClr val="F4F6F8"/>
          </a:solidFill>
          <a:ln w="9525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29000" y="4974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66560" y="2130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66560" y="24688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objects need more force to reach the same acceleration (a = F/m).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766560" y="3364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766560" y="3703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air resistance — higher drag slows an object down over time, even with no other forces.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6766560" y="45994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Gravity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76656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 this and Physics.gravity no longer pulls the object down — useful for the gravity-scale trick later today.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AddForce(): Handing Off the Push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float launchForce = 500f;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Rigidbody rb;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Start()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 = GetComponent&lt;Rigidbody&gt;();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Launch(Vector3 direction)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rb.AddForce(direction * launchForce);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0" y="1709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float launchForce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0" y="21031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you can tune live in the Inspector — no code changes needed to test a different force.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32004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3310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rb.AddForce( ... 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37033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move the object. It hands the engine a push — the Rigidbody's own mass decides the resulting acceleration.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48006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0" y="4910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* launchForce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0" y="5303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(direction) scaled by a number (force) — the same vector × scalar pattern from Week 3, applied to a push instead of a position.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Physics Lives in FixedUpdate()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runs once per rendered frame — and frame rate isn't the same on every computer. Physics can't work that 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0A2A5C"/>
          </a:solidFill>
          <a:ln w="19050">
            <a:solidFill>
              <a:srgbClr val="B04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18979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Update()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18979" y="3154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rendered frame.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A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fps computer  →  30 calls/sec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2A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 fps computer → 144 calls/sec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6634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reading input. Bad for: physics — forces would land differently on every machine.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33172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512738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FixedUpdate()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12738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fixed timestep, no matter the frame rate.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37033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machine  →  same physics step, every time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92240" y="46634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AddForce(), gravity, collisions — anything that must feel identical on every computer.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Simulation Is a Model, Not Magic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isn't solving one perfect equation for your trajectory. It's taking thousands of tiny, simplified steps — and that's exactly what “simulation” means.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3796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68196" y="2194560"/>
            <a:ext cx="548640" cy="548640"/>
          </a:xfrm>
          <a:prstGeom prst="ellipse">
            <a:avLst/>
          </a:prstGeom>
          <a:solidFill>
            <a:srgbClr val="D2AA4B"/>
          </a:solidFill>
          <a:ln w="1270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6819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0956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forces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right now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076956" y="3520440"/>
            <a:ext cx="365760" cy="0"/>
          </a:xfrm>
          <a:prstGeom prst="line">
            <a:avLst/>
          </a:prstGeom>
          <a:noFill/>
          <a:ln w="3175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88436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02836" y="2194560"/>
            <a:ext cx="548640" cy="548640"/>
          </a:xfrm>
          <a:prstGeom prst="ellipse">
            <a:avLst/>
          </a:prstGeom>
          <a:solidFill>
            <a:srgbClr val="D2AA4B"/>
          </a:solidFill>
          <a:ln w="1270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0283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25596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change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velocity (a = F/m)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11596" y="3520440"/>
            <a:ext cx="365760" cy="0"/>
          </a:xfrm>
          <a:prstGeom prst="line">
            <a:avLst/>
          </a:prstGeom>
          <a:noFill/>
          <a:ln w="3175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23076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237476" y="2194560"/>
            <a:ext cx="548640" cy="548640"/>
          </a:xfrm>
          <a:prstGeom prst="ellipse">
            <a:avLst/>
          </a:prstGeom>
          <a:solidFill>
            <a:srgbClr val="D2AA4B"/>
          </a:solidFill>
          <a:ln w="1270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23747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60236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position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that velocity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746236" y="3520440"/>
            <a:ext cx="365760" cy="0"/>
          </a:xfrm>
          <a:prstGeom prst="line">
            <a:avLst/>
          </a:prstGeom>
          <a:noFill/>
          <a:ln w="3175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157716" y="24688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10072116" y="2194560"/>
            <a:ext cx="548640" cy="548640"/>
          </a:xfrm>
          <a:prstGeom prst="ellipse">
            <a:avLst/>
          </a:prstGeom>
          <a:solidFill>
            <a:srgbClr val="D2AA4B"/>
          </a:solidFill>
          <a:ln w="1270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007211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294876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next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FixedUpdate() tick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48640" y="4892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This loop repeats dozens of times per second — the curve you see is thousands of tiny straight-line guesses, not one smooth calculus formula.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Build: Choose Your Launcher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needs the same thing underneath: a projectile with a Rigidbody, launched with AddForce().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3796" y="23774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3796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Catapult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28116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 rotates and flings the projectile forward on release.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2836" y="23774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02836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77156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barrel fires the projectile along one aimed direction.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1876" y="23774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151876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 Pad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26196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projectile bounces upward the instant it touches the pad.</a:t>
            </a:r>
            <a:endParaRPr lang="en-US" sz="1300" dirty="0"/>
          </a:p>
        </p:txBody>
      </p:sp>
      <p:pic>
        <p:nvPicPr>
          <p:cNvPr id="22" name="Picture 21" descr="Catapult for Kids: Story, Facts &amp; Activities | Storypie">
            <a:extLst>
              <a:ext uri="{FF2B5EF4-FFF2-40B4-BE49-F238E27FC236}">
                <a16:creationId xmlns:a16="http://schemas.microsoft.com/office/drawing/2014/main" id="{9F2259E0-F0AB-06F2-50BF-B974874E6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0" y="2521248"/>
            <a:ext cx="1456392" cy="1456392"/>
          </a:xfrm>
          <a:prstGeom prst="rect">
            <a:avLst/>
          </a:prstGeom>
        </p:spPr>
      </p:pic>
      <p:pic>
        <p:nvPicPr>
          <p:cNvPr id="24" name="Picture 23" descr="Cannon Picture HQ Image Free PNG Transparent HQ PNG Download | FreePNGimg">
            <a:extLst>
              <a:ext uri="{FF2B5EF4-FFF2-40B4-BE49-F238E27FC236}">
                <a16:creationId xmlns:a16="http://schemas.microsoft.com/office/drawing/2014/main" id="{43D53053-F054-95DE-FE21-91AE21DEC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520" y="2625589"/>
            <a:ext cx="2035218" cy="14246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DB854C6-2FCE-28FA-A961-C53DBA77A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316" y="2993892"/>
            <a:ext cx="1676400" cy="853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Thing at a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scientists (and engineers) actually test ideas — and it's the difference between a real experiment and a random guess.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DEDEA"/>
          </a:solidFill>
          <a:ln w="19050">
            <a:solidFill>
              <a:srgbClr val="B04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1636" y="2788920"/>
            <a:ext cx="45762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4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everything at once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2: force 500→800, mass 1→3, gravity scale 1→0.5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changed — but WHY? You can't tell which variable caused what. The data is useless.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26480" y="23774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E4F2F3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79476" y="2788920"/>
            <a:ext cx="45762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one variable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4922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2: force 500 (same), mass 1→3 (changed), gravity scale 1 (same)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92240" y="42062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any change in the trajectory can only be explained by mass — that's a real, defensible result.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VARIABLE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Variables. Pick One Per Trial.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7257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7257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launchForce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81857" y="1691640"/>
            <a:ext cx="7040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push, same mass → more acceleration, farther/higher trajectory.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4E8EC"/>
          </a:solidFill>
          <a:ln w="9525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67257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7257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rb.mass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81857" y="3337560"/>
            <a:ext cx="7040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object, same force → less acceleration, shorter/flatter trajectory.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67257" y="5148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Scale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67257" y="5605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multiplier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281857" y="4983480"/>
            <a:ext cx="7040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gravity → object hangs in the air longer and travels farther before landing.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“Gravity Scale” Field in 3D? Make 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Unity's 2D Rigidbody has a Gravity Scale slider built in. The 3D Rigidbody doesn't — so we build the same idea ourselves.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675120" cy="4125310"/>
          </a:xfrm>
          <a:prstGeom prst="roundRect">
            <a:avLst>
              <a:gd name="adj" fmla="val 1860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6217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float gravityScale = 1f;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Rigidbody rb;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Start()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 = GetComponent&lt;Rigidbody&gt;();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turn off built-in gravity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rb.useGravity = false;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FixedUpdate()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rb.AddForce(Physics.gravity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 gravityScale * rb.mass);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2286000"/>
            <a:ext cx="4206240" cy="4125310"/>
          </a:xfrm>
          <a:prstGeom prst="roundRect">
            <a:avLst>
              <a:gd name="adj" fmla="val 2326"/>
            </a:avLst>
          </a:prstGeom>
          <a:solidFill>
            <a:srgbClr val="041E42"/>
          </a:solidFill>
          <a:ln w="127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0" y="255979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turn gravity off first?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2925559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useGravity stays on, the object gets pulled down by Unity's built-in gravity AND your custom force — doubling up. Turning it off lets your gravityScale variable be the only source of ‘down.’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388599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set gravityScale to 0.5 and predict the trajectory before you press Play.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Mini-Lab Report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your three trials, capture these four things — in order: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19293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press Play: what do you predict will happen, and why?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27249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Changed Variable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76148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field you changed, and its old vs. new value.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5570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3520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Result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80560" y="355701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Sketch, screenshot, or describe the trajectory shape you actually got.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548640" cy="54864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352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43159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ma Explanation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435254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connecting what you saw back to force, mass, or acceleration.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31266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4DC"/>
          </a:solidFill>
          <a:ln w="12700">
            <a:solidFill>
              <a:srgbClr val="D2A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312664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“I kept ___ the same and changed ___. Since a = F / m, the object should accelerate ___, which matches / doesn't match what I observed.”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Out: The Rocket-Off-Screen Bug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launcher calls AddForce() every single frame instead of once, the force keeps stacking — and your projectile leaves the map.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5A1F1A"/>
          </a:solidFill>
          <a:ln w="19050">
            <a:solidFill>
              <a:srgbClr val="B04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2751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154680"/>
            <a:ext cx="4480560" cy="2240280"/>
          </a:xfrm>
          <a:prstGeom prst="roundRect">
            <a:avLst>
              <a:gd name="adj" fmla="val 3265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3337560"/>
            <a:ext cx="4023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FixedUpdate()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rb.AddForce(Vector3.forward * launchForce);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applies force EVERY tick, forever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237744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40591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92240" y="3154680"/>
            <a:ext cx="4480560" cy="2240280"/>
          </a:xfrm>
          <a:prstGeom prst="roundRect">
            <a:avLst>
              <a:gd name="adj" fmla="val 3265"/>
            </a:avLst>
          </a:prstGeom>
          <a:solidFill>
            <a:srgbClr val="10151C"/>
          </a:solidFill>
          <a:ln w="12700">
            <a:solidFill>
              <a:srgbClr val="101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720840" y="3337560"/>
            <a:ext cx="4023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OnLaunchButtonPressed()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rb.AddForce(Vector3.forward * launchForce);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applies force ONCE, on trigger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5760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it: gate the call behind an input check or a one-time Launch() method — never leave AddForce() unconditional inside Update() or FixedUpdate().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Go...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2000" y="1874520"/>
            <a:ext cx="1048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blank: If I keep force the same but double an object's mass, its acceleration will ___ (increase / decrease / stay the same) — because a = F / 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A2A5C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62000" y="3611880"/>
            <a:ext cx="1048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If Unity calculated position with one giant calculus formula instead of tiny FixedUpdate() steps, would the ball's landing spot change? Why do simulations use small steps instead?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1648</Words>
  <Application>Microsoft Macintosh PowerPoint</Application>
  <PresentationFormat>Widescreen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21</cp:revision>
  <dcterms:created xsi:type="dcterms:W3CDTF">2026-07-17T21:19:37Z</dcterms:created>
  <dcterms:modified xsi:type="dcterms:W3CDTF">2026-07-19T02:29:28Z</dcterms:modified>
</cp:coreProperties>
</file>