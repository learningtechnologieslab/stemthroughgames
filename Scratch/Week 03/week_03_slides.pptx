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17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2711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777240" y="187452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Loops, Pen &amp; Angles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9FE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repeated steps into a Shape Machine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GET MOVING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Warm-Up: Human Turtle Square Walk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out the same two steps, four times in a row: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77240" y="2011680"/>
            <a:ext cx="2286000" cy="1737360"/>
          </a:xfrm>
          <a:prstGeom prst="roundRect">
            <a:avLst>
              <a:gd name="adj" fmla="val 6316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FE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forward</a:t>
            </a:r>
            <a:endParaRPr lang="en-US" sz="14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steps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246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FE7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90°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081528" y="2651760"/>
            <a:ext cx="27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383280" y="2011680"/>
            <a:ext cx="2286000" cy="1737360"/>
          </a:xfrm>
          <a:prstGeom prst="roundRect">
            <a:avLst>
              <a:gd name="adj" fmla="val 6316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8328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FE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20440" y="25146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forward</a:t>
            </a:r>
            <a:endParaRPr lang="en-US" sz="14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steps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0440" y="3246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FE7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90°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687568" y="2651760"/>
            <a:ext cx="27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5989320" y="2011680"/>
            <a:ext cx="2286000" cy="1737360"/>
          </a:xfrm>
          <a:prstGeom prst="roundRect">
            <a:avLst>
              <a:gd name="adj" fmla="val 6316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8932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FE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0" y="25146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forward</a:t>
            </a:r>
            <a:endParaRPr lang="en-US" sz="14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steps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26480" y="3246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FE7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90°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93608" y="2651760"/>
            <a:ext cx="27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8595360" y="2011680"/>
            <a:ext cx="2286000" cy="1737360"/>
          </a:xfrm>
          <a:prstGeom prst="roundRect">
            <a:avLst>
              <a:gd name="adj" fmla="val 6316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59536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FE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732520" y="25146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forward</a:t>
            </a:r>
            <a:endParaRPr lang="en-US" sz="14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steps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732520" y="3246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FE7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90°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0080" y="4160520"/>
            <a:ext cx="10881360" cy="1417320"/>
          </a:xfrm>
          <a:prstGeom prst="roundRect">
            <a:avLst>
              <a:gd name="adj" fmla="val 7742"/>
            </a:avLst>
          </a:prstGeom>
          <a:solidFill>
            <a:srgbClr val="F7F7F9"/>
          </a:solidFill>
          <a:ln w="12700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14400" y="4160520"/>
            <a:ext cx="10332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shape did we just walk? </a:t>
            </a:r>
            <a:r>
              <a:rPr lang="en-US" sz="15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square! Instead of writing the same two steps four separate times, we can use a </a:t>
            </a:r>
            <a:r>
              <a:rPr lang="en-US" sz="155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</a:t>
            </a:r>
            <a:r>
              <a:rPr lang="en-US" sz="15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says "repeat these steps 4 times." Noticing a repeated pattern and replacing it with a loop is called </a:t>
            </a:r>
            <a:r>
              <a:rPr lang="en-US" sz="155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abstraction.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second round: walk a triangle — 3 reps of "walk forward, turn 120°."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MINI-LESSON · PART 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Use a Loop?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120640" cy="4343400"/>
          </a:xfrm>
          <a:prstGeom prst="roundRect">
            <a:avLst>
              <a:gd name="adj" fmla="val 2526"/>
            </a:avLst>
          </a:prstGeom>
          <a:solidFill>
            <a:srgbClr val="F7F7F9"/>
          </a:solidFill>
          <a:ln w="12700">
            <a:solidFill>
              <a:srgbClr val="E3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75564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a Loop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14400" y="2286000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FFBF00"/>
          </a:solidFill>
          <a:ln/>
          <a:effectLst>
            <a:outerShdw blurRad="38100" dist="127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51560" y="228600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🏳 green flag clicked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2798064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4C97FF"/>
          </a:solidFill>
          <a:ln/>
          <a:effectLst>
            <a:outerShdw blurRad="38100" dist="127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51560" y="2798064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(100) steps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3310128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4C97FF"/>
          </a:solidFill>
          <a:ln/>
          <a:effectLst>
            <a:outerShdw blurRad="38100" dist="127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51560" y="3310128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↻ (90) degrees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3822192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4C97FF"/>
          </a:solidFill>
          <a:ln/>
          <a:effectLst>
            <a:outerShdw blurRad="38100" dist="127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51560" y="3822192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(100) steps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4334256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4C97FF"/>
          </a:solidFill>
          <a:ln/>
          <a:effectLst>
            <a:outerShdw blurRad="38100" dist="127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51560" y="4334256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↻ (90) degrees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4400" y="4846320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4C97FF"/>
          </a:solidFill>
          <a:ln/>
          <a:effectLst>
            <a:outerShdw blurRad="38100" dist="127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51560" y="484632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…(same 2 blocks, 2 more times)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546811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a square, but the script is long and repetitive — 8 motion blocks in a row.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1554480"/>
            <a:ext cx="5120640" cy="4343400"/>
          </a:xfrm>
          <a:prstGeom prst="roundRect">
            <a:avLst>
              <a:gd name="adj" fmla="val 2526"/>
            </a:avLst>
          </a:prstGeom>
          <a:solidFill>
            <a:srgbClr val="F7F7F9"/>
          </a:solidFill>
          <a:ln w="12700">
            <a:solidFill>
              <a:srgbClr val="E3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92240" y="175564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a Loop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6492240" y="2286000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FFBF00"/>
          </a:solidFill>
          <a:ln/>
          <a:effectLst>
            <a:outerShdw blurRad="38100" dist="127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629400" y="228600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🏳 green flag clicked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92240" y="2798064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FFAB19"/>
          </a:solidFill>
          <a:ln/>
          <a:effectLst>
            <a:outerShdw blurRad="38100" dist="127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629400" y="2798064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(4)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12280" y="3310128"/>
            <a:ext cx="4251960" cy="457200"/>
          </a:xfrm>
          <a:prstGeom prst="roundRect">
            <a:avLst>
              <a:gd name="adj" fmla="val 16000"/>
            </a:avLst>
          </a:prstGeom>
          <a:solidFill>
            <a:srgbClr val="4C97FF"/>
          </a:solidFill>
          <a:ln/>
          <a:effectLst>
            <a:outerShdw blurRad="38100" dist="127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949440" y="331012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(100) steps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812280" y="3822192"/>
            <a:ext cx="4251960" cy="457200"/>
          </a:xfrm>
          <a:prstGeom prst="roundRect">
            <a:avLst>
              <a:gd name="adj" fmla="val 16000"/>
            </a:avLst>
          </a:prstGeom>
          <a:solidFill>
            <a:srgbClr val="4C97FF"/>
          </a:solidFill>
          <a:ln/>
          <a:effectLst>
            <a:outerShdw blurRad="38100" dist="127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949440" y="382219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↻ (90) degrees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92240" y="4443984"/>
            <a:ext cx="4572000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square, far fewer blocks. "forever" repeats endlessly instead of a set number of times.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40080" y="60807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recognition + abstraction: noticing repeated steps and replacing them with one loop.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MINI-LESSON · PART 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Math: 360° ÷ Sides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walk all the way around and end facing the original direction, a shape's turns must add up to a full 360° turn. Divide 360 by the number of sides to find the turn angle.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520440"/>
            <a:ext cx="4846320" cy="13716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4480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360 ÷ sides =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angle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852160" y="1554480"/>
            <a:ext cx="5669280" cy="566928"/>
          </a:xfrm>
          <a:prstGeom prst="roundRect">
            <a:avLst>
              <a:gd name="adj" fmla="val 9677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852160" y="1554480"/>
            <a:ext cx="1889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41920" y="1554480"/>
            <a:ext cx="1889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31680" y="1554480"/>
            <a:ext cx="1889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 ÷ Turns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852160" y="2121408"/>
            <a:ext cx="5669280" cy="566928"/>
          </a:xfrm>
          <a:prstGeom prst="rect">
            <a:avLst/>
          </a:prstGeom>
          <a:solidFill>
            <a:srgbClr val="F7F7F9"/>
          </a:solidFill>
          <a:ln w="6350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852160" y="2121408"/>
            <a:ext cx="1889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41920" y="2121408"/>
            <a:ext cx="1889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31680" y="2121408"/>
            <a:ext cx="1889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90°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852160" y="2688336"/>
            <a:ext cx="56692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852160" y="2688336"/>
            <a:ext cx="1889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41920" y="2688336"/>
            <a:ext cx="1889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31680" y="2688336"/>
            <a:ext cx="1889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120°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852160" y="3255264"/>
            <a:ext cx="5669280" cy="566928"/>
          </a:xfrm>
          <a:prstGeom prst="rect">
            <a:avLst/>
          </a:prstGeom>
          <a:solidFill>
            <a:srgbClr val="F7F7F9"/>
          </a:solidFill>
          <a:ln w="6350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852160" y="3255264"/>
            <a:ext cx="1889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Pentagon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41920" y="3255264"/>
            <a:ext cx="1889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31680" y="3255264"/>
            <a:ext cx="1889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72°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852160" y="3822192"/>
            <a:ext cx="56692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852160" y="3822192"/>
            <a:ext cx="1889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Hexagon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41920" y="3822192"/>
            <a:ext cx="1889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631680" y="3822192"/>
            <a:ext cx="1889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60°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MINI-LESSON · PART 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the Pen Tool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41248" y="1851504"/>
            <a:ext cx="1234440" cy="402336"/>
          </a:xfrm>
          <a:prstGeom prst="roundRect">
            <a:avLst>
              <a:gd name="adj" fmla="val 18182"/>
            </a:avLst>
          </a:prstGeom>
          <a:solidFill>
            <a:srgbClr val="0FBD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41248" y="1851504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240280" y="1719072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 down / pen up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2240280" y="2075688"/>
            <a:ext cx="3429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"Pen down" starts drawing a trail as the sprite moves; "pen up" stops drawing.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64808" y="1851504"/>
            <a:ext cx="1234440" cy="402336"/>
          </a:xfrm>
          <a:prstGeom prst="roundRect">
            <a:avLst>
              <a:gd name="adj" fmla="val 18182"/>
            </a:avLst>
          </a:prstGeom>
          <a:solidFill>
            <a:srgbClr val="0FBD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64808" y="1851504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863840" y="1719072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erase all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863840" y="2075688"/>
            <a:ext cx="3429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Clears the stage — use at the start of every script so old drawings don't stack up.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41248" y="4228944"/>
            <a:ext cx="1234440" cy="402336"/>
          </a:xfrm>
          <a:prstGeom prst="roundRect">
            <a:avLst>
              <a:gd name="adj" fmla="val 18182"/>
            </a:avLst>
          </a:prstGeom>
          <a:solidFill>
            <a:srgbClr val="0FBD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41248" y="4228944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240280" y="4096512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stamp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2240280" y="4453128"/>
            <a:ext cx="3429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 a copy of the sprite's current look on the stage.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97764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64808" y="4228944"/>
            <a:ext cx="1234440" cy="402336"/>
          </a:xfrm>
          <a:prstGeom prst="roundRect">
            <a:avLst>
              <a:gd name="adj" fmla="val 18182"/>
            </a:avLst>
          </a:prstGeom>
          <a:solidFill>
            <a:srgbClr val="0FBD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64808" y="4228944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863840" y="4096512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pen color by ( )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863840" y="4453128"/>
            <a:ext cx="3429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 the drawing color — great for making each side of a shape a different color.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Guided Build: Draw a Square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15568" y="1563624"/>
            <a:ext cx="510235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Pen extension (Extensions button, bottom-left) if it isn't loaded yet.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350008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3500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15568" y="2313432"/>
            <a:ext cx="510235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"when green flag clicked," then "erase all" so each run starts clean.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099816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30998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15568" y="3063240"/>
            <a:ext cx="510235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"pen down," then snap on a "repeat (4)" loop from Control.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666744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6667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15568" y="3630168"/>
            <a:ext cx="510235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loop: "move (100) steps," then "turn ↻ (90) degrees."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416552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44165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15568" y="4379976"/>
            <a:ext cx="510235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"pen up" after the loop (outside it) so drawing stops when the shape is done.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5166360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51663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15568" y="5129784"/>
            <a:ext cx="510235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green flag. If the shape doesn't close, check repeat = 4 and turn = 90.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537960" y="1600200"/>
            <a:ext cx="5029200" cy="4297680"/>
          </a:xfrm>
          <a:prstGeom prst="roundRect">
            <a:avLst>
              <a:gd name="adj" fmla="val 2553"/>
            </a:avLst>
          </a:prstGeom>
          <a:solidFill>
            <a:srgbClr val="2B2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12280" y="17830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F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script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812280" y="2194560"/>
            <a:ext cx="4480560" cy="402336"/>
          </a:xfrm>
          <a:prstGeom prst="roundRect">
            <a:avLst>
              <a:gd name="adj" fmla="val 18182"/>
            </a:avLst>
          </a:prstGeom>
          <a:solidFill>
            <a:srgbClr val="FFBF00"/>
          </a:solidFill>
          <a:ln/>
          <a:effectLst>
            <a:outerShdw blurRad="38100" dist="127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949440" y="2194560"/>
            <a:ext cx="4251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🏳 green flag clicked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812280" y="2651760"/>
            <a:ext cx="4480560" cy="402336"/>
          </a:xfrm>
          <a:prstGeom prst="roundRect">
            <a:avLst>
              <a:gd name="adj" fmla="val 18182"/>
            </a:avLst>
          </a:prstGeom>
          <a:solidFill>
            <a:srgbClr val="0FBD8C"/>
          </a:solidFill>
          <a:ln/>
          <a:effectLst>
            <a:outerShdw blurRad="38100" dist="127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949440" y="2651760"/>
            <a:ext cx="4251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erase all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812280" y="3108960"/>
            <a:ext cx="4480560" cy="402336"/>
          </a:xfrm>
          <a:prstGeom prst="roundRect">
            <a:avLst>
              <a:gd name="adj" fmla="val 18182"/>
            </a:avLst>
          </a:prstGeom>
          <a:solidFill>
            <a:srgbClr val="0FBD8C"/>
          </a:solidFill>
          <a:ln/>
          <a:effectLst>
            <a:outerShdw blurRad="38100" dist="127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949440" y="3108960"/>
            <a:ext cx="4251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 down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812280" y="3566160"/>
            <a:ext cx="4480560" cy="402336"/>
          </a:xfrm>
          <a:prstGeom prst="roundRect">
            <a:avLst>
              <a:gd name="adj" fmla="val 18182"/>
            </a:avLst>
          </a:prstGeom>
          <a:solidFill>
            <a:srgbClr val="FFAB19"/>
          </a:solidFill>
          <a:ln/>
          <a:effectLst>
            <a:outerShdw blurRad="38100" dist="127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949440" y="3566160"/>
            <a:ext cx="4251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(4)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132320" y="4023360"/>
            <a:ext cx="4160520" cy="402336"/>
          </a:xfrm>
          <a:prstGeom prst="roundRect">
            <a:avLst>
              <a:gd name="adj" fmla="val 18182"/>
            </a:avLst>
          </a:prstGeom>
          <a:solidFill>
            <a:srgbClr val="4C97FF"/>
          </a:solidFill>
          <a:ln/>
          <a:effectLst>
            <a:outerShdw blurRad="38100" dist="127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269480" y="4023360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(100) steps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7132320" y="4480560"/>
            <a:ext cx="4160520" cy="402336"/>
          </a:xfrm>
          <a:prstGeom prst="roundRect">
            <a:avLst>
              <a:gd name="adj" fmla="val 18182"/>
            </a:avLst>
          </a:prstGeom>
          <a:solidFill>
            <a:srgbClr val="4C97FF"/>
          </a:solidFill>
          <a:ln/>
          <a:effectLst>
            <a:outerShdw blurRad="38100" dist="127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269480" y="4480560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↻ (90) degrees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812280" y="4937760"/>
            <a:ext cx="4480560" cy="402336"/>
          </a:xfrm>
          <a:prstGeom prst="roundRect">
            <a:avLst>
              <a:gd name="adj" fmla="val 18182"/>
            </a:avLst>
          </a:prstGeom>
          <a:solidFill>
            <a:srgbClr val="0FBD8C"/>
          </a:solidFill>
          <a:ln/>
          <a:effectLst>
            <a:outerShdw blurRad="38100" dist="127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949440" y="4937760"/>
            <a:ext cx="4251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 up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COLLECTION OF SHAPES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Activity: The Shape Machine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7373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Triangle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9FE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(3)
</a:t>
            </a:r>
            <a:r>
              <a:rPr lang="en-US" sz="1350" dirty="0">
                <a:solidFill>
                  <a:srgbClr val="E5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(steps)
</a:t>
            </a:r>
            <a:r>
              <a:rPr lang="en-US" sz="1350" b="1" dirty="0">
                <a:solidFill>
                  <a:srgbClr val="9FE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↻ (120°)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35661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E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360÷3 = 120°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160020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26280" y="17373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Pentagon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526280" y="224028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9FE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(5)
</a:t>
            </a:r>
            <a:r>
              <a:rPr lang="en-US" sz="1350" dirty="0">
                <a:solidFill>
                  <a:srgbClr val="E5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(steps)
</a:t>
            </a:r>
            <a:r>
              <a:rPr lang="en-US" sz="1350" b="1" dirty="0">
                <a:solidFill>
                  <a:srgbClr val="9FE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↻ (72°)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26280" y="35661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E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360÷5 = 72°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55280" y="160020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183880" y="17373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Hexagon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183880" y="224028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9FE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(6)
</a:t>
            </a:r>
            <a:r>
              <a:rPr lang="en-US" sz="1350" dirty="0">
                <a:solidFill>
                  <a:srgbClr val="E5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(steps)
</a:t>
            </a:r>
            <a:r>
              <a:rPr lang="en-US" sz="1350" b="1" dirty="0">
                <a:solidFill>
                  <a:srgbClr val="9FE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↻ (60°)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183880" y="35661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E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360÷6 = 60°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480560"/>
            <a:ext cx="10881360" cy="1600200"/>
          </a:xfrm>
          <a:prstGeom prst="roundRect">
            <a:avLst>
              <a:gd name="adj" fmla="val 6857"/>
            </a:avLst>
          </a:prstGeom>
          <a:solidFill>
            <a:srgbClr val="F7F7F9"/>
          </a:solidFill>
          <a:ln w="12700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4480560"/>
            <a:ext cx="103327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— the Spiral: </a:t>
            </a: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(50), move (50) steps, turn ↻ (91) degrees. Since 91° doesn't divide evenly into 360, the turtle never returns to its starting direction — each pass rotates a little further, creating a spiral instead of a closed shape. A visual example of symmetry (angles that divide evenly into 360) versus its absence.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· EXPERIMENT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Spirals: When Angles Don't Divide Evenly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120640" cy="4343400"/>
          </a:xfrm>
          <a:prstGeom prst="roundRect">
            <a:avLst>
              <a:gd name="adj" fmla="val 2526"/>
            </a:avLst>
          </a:prstGeom>
          <a:solidFill>
            <a:srgbClr val="F7F7F9"/>
          </a:solidFill>
          <a:ln w="12700">
            <a:solidFill>
              <a:srgbClr val="E3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75564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Spiral Script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14400" y="2286000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FFBF00"/>
          </a:solidFill>
          <a:ln/>
          <a:effectLst>
            <a:outerShdw blurRad="38100" dist="127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51560" y="228600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🏳 green flag clicked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2798064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0FBD8C"/>
          </a:solidFill>
          <a:ln/>
          <a:effectLst>
            <a:outerShdw blurRad="38100" dist="127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51560" y="2798064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erase all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3310128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0FBD8C"/>
          </a:solidFill>
          <a:ln/>
          <a:effectLst>
            <a:outerShdw blurRad="38100" dist="127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51560" y="3310128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 down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3822192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FFAB19"/>
          </a:solidFill>
          <a:ln/>
          <a:effectLst>
            <a:outerShdw blurRad="38100" dist="127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51560" y="3822192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(50)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234440" y="4334256"/>
            <a:ext cx="4251960" cy="457200"/>
          </a:xfrm>
          <a:prstGeom prst="roundRect">
            <a:avLst>
              <a:gd name="adj" fmla="val 16000"/>
            </a:avLst>
          </a:prstGeom>
          <a:solidFill>
            <a:srgbClr val="4C97FF"/>
          </a:solidFill>
          <a:ln/>
          <a:effectLst>
            <a:outerShdw blurRad="38100" dist="127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371600" y="4334256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(50) steps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234440" y="4846320"/>
            <a:ext cx="4251960" cy="457200"/>
          </a:xfrm>
          <a:prstGeom prst="roundRect">
            <a:avLst>
              <a:gd name="adj" fmla="val 16000"/>
            </a:avLst>
          </a:prstGeom>
          <a:solidFill>
            <a:srgbClr val="4C97FF"/>
          </a:solidFill>
          <a:ln/>
          <a:effectLst>
            <a:outerShdw blurRad="38100" dist="127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371600" y="48463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↻ (91) degrees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546811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 × ... never lands cleanly on a multiple of 360 — the shape spirals outward.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1554480"/>
            <a:ext cx="5120640" cy="4343400"/>
          </a:xfrm>
          <a:prstGeom prst="roundRect">
            <a:avLst>
              <a:gd name="adj" fmla="val 2526"/>
            </a:avLst>
          </a:prstGeom>
          <a:solidFill>
            <a:srgbClr val="F7F7F9"/>
          </a:solidFill>
          <a:ln w="12700">
            <a:solidFill>
              <a:srgbClr val="E3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92240" y="175564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Changing the Angle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6492240" y="2286000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4C97FF"/>
          </a:solidFill>
          <a:ln/>
          <a:effectLst>
            <a:outerShdw blurRad="38100" dist="127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629400" y="228600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↻ (89) degrees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92240" y="2798064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4C97FF"/>
          </a:solidFill>
          <a:ln/>
          <a:effectLst>
            <a:outerShdw blurRad="38100" dist="127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629400" y="2798064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↻ (145) degrees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92240" y="3310128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0FBD8C"/>
          </a:solidFill>
          <a:ln/>
          <a:effectLst>
            <a:outerShdw blurRad="38100" dist="127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629400" y="3310128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pen size to ( 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92240" y="3822192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0FBD8C"/>
          </a:solidFill>
          <a:ln/>
          <a:effectLst>
            <a:outerShdw blurRad="38100" dist="127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629400" y="3822192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pen color by (10)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92240" y="4443984"/>
            <a:ext cx="4572000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 angle creates a different spiral or star pattern — experiment and compare!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40080" y="60807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Personalize: combine two shape scripts with different "when key [ ] pressed" triggers so a key press draws a chosen shape.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GROUP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Gallery Walk &amp; Predict Challenge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7F7F9"/>
          </a:solidFill>
          <a:ln w="12700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202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691640"/>
            <a:ext cx="9784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your favorite finished shape on your screen and step away from your station.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29718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08760" y="2743200"/>
            <a:ext cx="9784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around in small groups to view classmates' shapes.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79476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7F7F9"/>
          </a:solidFill>
          <a:ln w="12700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8680" y="40233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08760" y="3794760"/>
            <a:ext cx="9784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station, write a guess on a "detective slip": how many times did the loop repeat, and roughly what angle was used — based only on looking at the shape?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84632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8680" y="50749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68680" y="5074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08760" y="4846320"/>
            <a:ext cx="9784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creator reveals the actual repeat count and turn angle. Check your guess!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Troubleshooting Quick Reference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5257800" cy="1737360"/>
          </a:xfrm>
          <a:prstGeom prst="roundRect">
            <a:avLst>
              <a:gd name="adj" fmla="val 5263"/>
            </a:avLst>
          </a:prstGeom>
          <a:solidFill>
            <a:srgbClr val="FFF8EC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68680" y="1709928"/>
            <a:ext cx="4800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doesn't close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2039112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that repeat count × turn angle = 360 (e.g., 4×90, 3×120, 5×72).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263640" y="1600200"/>
            <a:ext cx="5257800" cy="1737360"/>
          </a:xfrm>
          <a:prstGeom prst="roundRect">
            <a:avLst>
              <a:gd name="adj" fmla="val 5263"/>
            </a:avLst>
          </a:prstGeom>
          <a:solidFill>
            <a:srgbClr val="FFF8EC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92240" y="1709928"/>
            <a:ext cx="4800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draws on the stage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92240" y="2039112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"pen down" was added before the loop, and the Pen extension has been added.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3611880"/>
            <a:ext cx="5257800" cy="1737360"/>
          </a:xfrm>
          <a:prstGeom prst="roundRect">
            <a:avLst>
              <a:gd name="adj" fmla="val 5263"/>
            </a:avLst>
          </a:prstGeom>
          <a:solidFill>
            <a:srgbClr val="FFF8EC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3721608"/>
            <a:ext cx="4800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Sprite disappears off-stage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4050792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the "move ( ) steps" value, or add "go to x:(0) y:(0)" before the loop.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3611880"/>
            <a:ext cx="5257800" cy="1737360"/>
          </a:xfrm>
          <a:prstGeom prst="roundRect">
            <a:avLst>
              <a:gd name="adj" fmla="val 5263"/>
            </a:avLst>
          </a:prstGeom>
          <a:solidFill>
            <a:srgbClr val="FFF8EC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92240" y="3721608"/>
            <a:ext cx="4800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looks tangled or messy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4050792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"erase all" at the very start so old drawings don't stack up between runs.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Vocabulary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5257800" cy="2011680"/>
          </a:xfrm>
          <a:prstGeom prst="roundRect">
            <a:avLst>
              <a:gd name="adj" fmla="val 5455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68680" y="173736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FE7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8680" y="2167128"/>
            <a:ext cx="48006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block that repeats its contents — "repeat ( )" a set number of times, or "forever" endlessly.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17920" y="1600200"/>
            <a:ext cx="5257800" cy="2011680"/>
          </a:xfrm>
          <a:prstGeom prst="roundRect">
            <a:avLst>
              <a:gd name="adj" fmla="val 5455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46520" y="173736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FE7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46520" y="2167128"/>
            <a:ext cx="48006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repeated steps with one general rule (a loop).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886200"/>
            <a:ext cx="5257800" cy="2011680"/>
          </a:xfrm>
          <a:prstGeom prst="roundRect">
            <a:avLst>
              <a:gd name="adj" fmla="val 5455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402336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FE7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360° ÷ sides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68680" y="4453128"/>
            <a:ext cx="48006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 for finding a regular polygon's turn angle.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62636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and multiplication are doing the same kind of repeating — 4 × 90 = 360, just like repeat(4) with turn(90).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-914400" y="-914400"/>
            <a:ext cx="3657600" cy="3657600"/>
          </a:xfrm>
          <a:prstGeom prst="roundRect">
            <a:avLst/>
          </a:prstGeom>
          <a:solidFill>
            <a:srgbClr val="9FE7D8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594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9FE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the Shape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10515600" cy="868680"/>
          </a:xfrm>
          <a:prstGeom prst="roundRect">
            <a:avLst>
              <a:gd name="adj" fmla="val 10526"/>
            </a:avLst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" y="214884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This script uses repeat (6), move (60) steps, turn ↻ (60) degrees — how many times will the loop run?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200400"/>
            <a:ext cx="10515600" cy="868680"/>
          </a:xfrm>
          <a:prstGeom prst="roundRect">
            <a:avLst>
              <a:gd name="adj" fmla="val 10526"/>
            </a:avLst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97280" y="320040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shape do you predict it will draw, and why? Name one way a loop made your code more efficient today.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443484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E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event-driven programming — we'll make sprites respond to key presses and clicks in real time!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1217</Words>
  <Application>Microsoft Macintosh PowerPoint</Application>
  <PresentationFormat>Widescreen</PresentationFormat>
  <Paragraphs>172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Babichenko, Dmitriy</cp:lastModifiedBy>
  <cp:revision>3</cp:revision>
  <dcterms:created xsi:type="dcterms:W3CDTF">2026-07-15T01:45:02Z</dcterms:created>
  <dcterms:modified xsi:type="dcterms:W3CDTF">2026-07-15T02:05:28Z</dcterms:modified>
</cp:coreProperties>
</file>