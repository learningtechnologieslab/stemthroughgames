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714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789652" y="1404226"/>
            <a:ext cx="197510" cy="197510"/>
          </a:xfrm>
          <a:prstGeom prst="ellipse">
            <a:avLst/>
          </a:prstGeom>
          <a:solidFill>
            <a:srgbClr val="24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65871" y="1404226"/>
            <a:ext cx="197510" cy="197510"/>
          </a:xfrm>
          <a:prstGeom prst="ellipse">
            <a:avLst/>
          </a:prstGeom>
          <a:solidFill>
            <a:srgbClr val="24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76045" y="1485863"/>
            <a:ext cx="625889" cy="462613"/>
          </a:xfrm>
          <a:prstGeom prst="arc">
            <a:avLst>
              <a:gd name="adj1" fmla="val 0"/>
              <a:gd name="adj2" fmla="val 10800000"/>
            </a:avLst>
          </a:prstGeom>
          <a:ln w="22225">
            <a:solidFill>
              <a:srgbClr val="241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28803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Game Design!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Scratch, Meet Your Sprite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About to Become a Game Designer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F4F3FA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17830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 12 weeks, you're going to design and build your very own video games — and pick up real coding, math, and physics skills along the way. The same skills professional game designers use every day.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real games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93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today, everything you make actually runs and plays.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51960" y="37033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80560" y="4709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big ideas into small pieces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5193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trick professional programmers use every day.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55280" y="37033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83880" y="4709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math you'll actually see again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83880" y="5193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Coordinates, angles, and more — now with a purpose.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 #1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Big Things Into Small Pieces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scientists call this decomposition. It sounds fancy, but you already do it all the time.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4F3FA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Pizza Is Made of…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6517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crust (the base)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sauce (a layer on top)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toppings (lots of small choices)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oven that bakes it all together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241F47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Video Game Is Made of…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65176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backdrop (the world it happens in)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Sprites (the characters and objects)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 (what each sprite does)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Scratch, snapping it all together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WORKSPACE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Tour of Scratch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20040"/>
            <a:ext cx="481889" cy="481889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63761" y="493520"/>
            <a:ext cx="69952" cy="69952"/>
          </a:xfrm>
          <a:prstGeom prst="ellipse">
            <a:avLst/>
          </a:prstGeom>
          <a:solidFill>
            <a:srgbClr val="24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532422" y="493520"/>
            <a:ext cx="69952" cy="69952"/>
          </a:xfrm>
          <a:prstGeom prst="ellipse">
            <a:avLst/>
          </a:prstGeom>
          <a:solidFill>
            <a:srgbClr val="24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358942" y="522433"/>
            <a:ext cx="221669" cy="163842"/>
          </a:xfrm>
          <a:prstGeom prst="arc">
            <a:avLst>
              <a:gd name="adj1" fmla="val 0"/>
              <a:gd name="adj2" fmla="val 10800000"/>
            </a:avLst>
          </a:prstGeom>
          <a:ln w="22225">
            <a:solidFill>
              <a:srgbClr val="241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69776" y="252576"/>
            <a:ext cx="0" cy="77102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31225" y="214024"/>
            <a:ext cx="77102" cy="77102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11064240" cy="4846320"/>
          </a:xfrm>
          <a:prstGeom prst="roundRect">
            <a:avLst>
              <a:gd name="adj" fmla="val 1887"/>
            </a:avLst>
          </a:prstGeom>
          <a:solidFill>
            <a:srgbClr val="F4F3FA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1737360"/>
            <a:ext cx="4663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4C97FF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18470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274320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931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action happens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4663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709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SPRITE LIST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1560" y="516636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DDE9FF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0" y="516636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DDE9FF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6040" y="516636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DDE9FF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7424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in your game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173736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9966FF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0" y="1847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BLOCK PALETTE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2514600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0" y="3081528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996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0" y="3648456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0" y="4215384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5216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“Lego bricks,”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category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95360" y="1737360"/>
            <a:ext cx="2743200" cy="43891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AB19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78240" y="195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SCRIPT AREA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869680" y="2436824"/>
            <a:ext cx="2103120" cy="438912"/>
          </a:xfrm>
          <a:prstGeom prst="roundRect">
            <a:avLst>
              <a:gd name="adj" fmla="val 14583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69680" y="24368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⌘ clicked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69680" y="3031184"/>
            <a:ext cx="2103120" cy="438912"/>
          </a:xfrm>
          <a:prstGeom prst="roundRect">
            <a:avLst>
              <a:gd name="adj" fmla="val 14583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869680" y="303118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to x/y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69680" y="3625544"/>
            <a:ext cx="2103120" cy="438912"/>
          </a:xfrm>
          <a:prstGeom prst="roundRect">
            <a:avLst>
              <a:gd name="adj" fmla="val 14583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869680" y="36255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 [Hi!]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0" y="5559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snap blocks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to build a script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 #2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Stage Is a Coordinate 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spot on the Stage has an address — two numbers called x and 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182880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F4F3FA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86100" y="2103120"/>
            <a:ext cx="0" cy="393192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94860" y="2103120"/>
            <a:ext cx="0" cy="393192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3541014"/>
            <a:ext cx="548640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7280" y="4597146"/>
            <a:ext cx="548640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31720" y="2103120"/>
            <a:ext cx="0" cy="393192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49240" y="2103120"/>
            <a:ext cx="0" cy="393192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97280" y="3012948"/>
            <a:ext cx="548640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7280" y="5125212"/>
            <a:ext cx="548640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77340" y="2103120"/>
            <a:ext cx="0" cy="393192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3620" y="2103120"/>
            <a:ext cx="0" cy="393192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97280" y="2484882"/>
            <a:ext cx="548640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97280" y="5653278"/>
            <a:ext cx="548640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97280" y="4069080"/>
            <a:ext cx="5486400" cy="0"/>
          </a:xfrm>
          <a:prstGeom prst="line">
            <a:avLst/>
          </a:prstGeom>
          <a:noFill/>
          <a:ln w="25400">
            <a:solidFill>
              <a:srgbClr val="241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40480" y="2103120"/>
            <a:ext cx="0" cy="3931920"/>
          </a:xfrm>
          <a:prstGeom prst="line">
            <a:avLst/>
          </a:prstGeom>
          <a:noFill/>
          <a:ln w="25400">
            <a:solidFill>
              <a:srgbClr val="241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85616" y="4014216"/>
            <a:ext cx="109728" cy="109728"/>
          </a:xfrm>
          <a:prstGeom prst="ellipse">
            <a:avLst/>
          </a:prstGeom>
          <a:solidFill>
            <a:srgbClr val="24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37560" y="4142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03597" y="3097987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45229" y="275965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at (100, 60)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-240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240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180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0" y="5897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-180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86600" y="1828800"/>
            <a:ext cx="4526280" cy="4480560"/>
          </a:xfrm>
          <a:prstGeom prst="roundRect">
            <a:avLst>
              <a:gd name="adj" fmla="val 2041"/>
            </a:avLst>
          </a:prstGeom>
          <a:solidFill>
            <a:srgbClr val="241F47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6092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360920" y="25603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E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tells you left/right.</a:t>
            </a:r>
            <a:endParaRPr lang="en-US" sz="1400" dirty="0"/>
          </a:p>
          <a:p>
            <a:pPr marL="254000" indent="-2540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E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is positive, left is negative.</a:t>
            </a:r>
            <a:endParaRPr lang="en-US" sz="1400" dirty="0"/>
          </a:p>
          <a:p>
            <a:pPr marL="254000" indent="-2540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E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tells you up/down.</a:t>
            </a:r>
            <a:endParaRPr lang="en-US" sz="1400" dirty="0"/>
          </a:p>
          <a:p>
            <a:pPr marL="254000" indent="-2540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E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is positive, down is negative.</a:t>
            </a:r>
            <a:endParaRPr lang="en-US" sz="1400" dirty="0"/>
          </a:p>
          <a:p>
            <a:pPr marL="254000" indent="-2540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E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0) is dead center of the Stage.</a:t>
            </a:r>
            <a:endParaRPr lang="en-US" sz="1400" dirty="0"/>
          </a:p>
          <a:p>
            <a:pPr marL="254000" indent="-2540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E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too far in any direction and your sprite disappears off-stage!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Guess the Coordinates?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22960" y="1554480"/>
            <a:ext cx="6583680" cy="4754880"/>
          </a:xfrm>
          <a:prstGeom prst="roundRect">
            <a:avLst>
              <a:gd name="adj" fmla="val 1923"/>
            </a:avLst>
          </a:prstGeom>
          <a:solidFill>
            <a:srgbClr val="F4F3FA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0" cy="420624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828800"/>
            <a:ext cx="0" cy="420624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" y="3355848"/>
            <a:ext cx="603504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4507992"/>
            <a:ext cx="603504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68880" y="1828800"/>
            <a:ext cx="0" cy="420624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0" y="1828800"/>
            <a:ext cx="0" cy="420624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7280" y="2779776"/>
            <a:ext cx="603504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97280" y="5084064"/>
            <a:ext cx="603504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45920" y="1828800"/>
            <a:ext cx="0" cy="420624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0" y="1828800"/>
            <a:ext cx="0" cy="420624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7280" y="2203704"/>
            <a:ext cx="603504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97280" y="5660136"/>
            <a:ext cx="6035040" cy="0"/>
          </a:xfrm>
          <a:prstGeom prst="line">
            <a:avLst/>
          </a:prstGeom>
          <a:noFill/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97280" y="3931920"/>
            <a:ext cx="6035040" cy="0"/>
          </a:xfrm>
          <a:prstGeom prst="line">
            <a:avLst/>
          </a:prstGeom>
          <a:noFill/>
          <a:ln w="25400">
            <a:solidFill>
              <a:srgbClr val="241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0" y="1828800"/>
            <a:ext cx="0" cy="4206240"/>
          </a:xfrm>
          <a:prstGeom prst="line">
            <a:avLst/>
          </a:prstGeom>
          <a:noFill/>
          <a:ln w="25400">
            <a:solidFill>
              <a:srgbClr val="241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87906" y="2602382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46645" y="2806476"/>
            <a:ext cx="82296" cy="82296"/>
          </a:xfrm>
          <a:prstGeom prst="ellipse">
            <a:avLst/>
          </a:prstGeom>
          <a:solidFill>
            <a:srgbClr val="24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345070" y="2806476"/>
            <a:ext cx="82296" cy="82296"/>
          </a:xfrm>
          <a:prstGeom prst="ellipse">
            <a:avLst/>
          </a:prstGeom>
          <a:solidFill>
            <a:srgbClr val="24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140976" y="2840492"/>
            <a:ext cx="260787" cy="192756"/>
          </a:xfrm>
          <a:prstGeom prst="arc">
            <a:avLst>
              <a:gd name="adj1" fmla="val 0"/>
              <a:gd name="adj2" fmla="val 10800000"/>
            </a:avLst>
          </a:prstGeom>
          <a:ln w="22225">
            <a:solidFill>
              <a:srgbClr val="241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71370" y="2523012"/>
            <a:ext cx="0" cy="90708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26015" y="2477658"/>
            <a:ext cx="90708" cy="90708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635240" y="1554480"/>
            <a:ext cx="3977640" cy="475488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095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my (x, y)?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909560" y="2331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a partner — how far left/right, and how far up/down, does it look like I moved from the center?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0" y="12344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“Meet My Sprite”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463040" y="2697480"/>
            <a:ext cx="9262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character who introduces itself to the world — where it starts, what it says, and how it moves.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414344"/>
            <a:ext cx="2606040" cy="1712135"/>
          </a:xfrm>
          <a:prstGeom prst="roundRect">
            <a:avLst>
              <a:gd name="adj" fmla="val 3704"/>
            </a:avLst>
          </a:prstGeom>
          <a:solidFill>
            <a:srgbClr val="2E2860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character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sprite and a backdrop that fit its world.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0440" y="4414344"/>
            <a:ext cx="2606040" cy="1712136"/>
          </a:xfrm>
          <a:prstGeom prst="roundRect">
            <a:avLst>
              <a:gd name="adj" fmla="val 3704"/>
            </a:avLst>
          </a:prstGeom>
          <a:solidFill>
            <a:srgbClr val="2E2860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0332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starting spot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5166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its (x, y) on purpose — not randomly.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4414344"/>
            <a:ext cx="2606040" cy="1712136"/>
          </a:xfrm>
          <a:prstGeom prst="roundRect">
            <a:avLst>
              <a:gd name="adj" fmla="val 3704"/>
            </a:avLst>
          </a:prstGeom>
          <a:solidFill>
            <a:srgbClr val="2E2860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talk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5166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it say hello and introduce itself.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98280" y="4414344"/>
            <a:ext cx="2606040" cy="1712136"/>
          </a:xfrm>
          <a:prstGeom prst="roundRect">
            <a:avLst>
              <a:gd name="adj" fmla="val 3704"/>
            </a:avLst>
          </a:prstGeom>
          <a:solidFill>
            <a:srgbClr val="2E2860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8116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move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81160" y="5166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motion so it walks, turns, or changes look.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 WITH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Toolbox for Today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192024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19202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⌘ clicked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4963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your script when the green flag is clicked.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2240" y="192024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19202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to x: ( ) y: ( 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4963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Teleports your sprite to an exact spot.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347472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996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4747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 [ ] for ( ) secs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0507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Pops up a speech bubble for a few seconds.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315468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92240" y="347472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34747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 ) steps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0507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your sprite forward.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2960" y="5029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50292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↻ ( ) degrees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56052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your sprite a little.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17920" y="470916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92240" y="5029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996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92240" y="50292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costume to [ ]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56052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how your sprite looks.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Action: Meet Mia!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F4F3FA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1920240"/>
            <a:ext cx="2194560" cy="219456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14600" y="2514600"/>
            <a:ext cx="256032" cy="256032"/>
          </a:xfrm>
          <a:prstGeom prst="ellipse">
            <a:avLst/>
          </a:prstGeom>
          <a:solidFill>
            <a:srgbClr val="24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2514600"/>
            <a:ext cx="256032" cy="256032"/>
          </a:xfrm>
          <a:prstGeom prst="ellipse">
            <a:avLst/>
          </a:prstGeom>
          <a:solidFill>
            <a:srgbClr val="24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68880" y="2651760"/>
            <a:ext cx="1097280" cy="822960"/>
          </a:xfrm>
          <a:prstGeom prst="arc">
            <a:avLst>
              <a:gd name="adj1" fmla="val 0"/>
              <a:gd name="adj2" fmla="val 10800000"/>
            </a:avLst>
          </a:prstGeom>
          <a:ln w="31750">
            <a:solidFill>
              <a:srgbClr val="241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7280" y="429768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A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80160" y="4297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“Hi! I'm Mia, and I love soccer!”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1508760"/>
            <a:ext cx="5806440" cy="4709160"/>
          </a:xfrm>
          <a:prstGeom prst="roundRect">
            <a:avLst>
              <a:gd name="adj" fmla="val 1942"/>
            </a:avLst>
          </a:prstGeom>
          <a:solidFill>
            <a:srgbClr val="241F47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Mia's Script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⌘ green flag clicked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5786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to x: (-150) y: (0)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96265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 [Hi! I'm Mia, and 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34670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love soccer!] for (2) secs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7307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(10) steps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114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↻ (15) degrees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449884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costume to [costume2]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497433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doesn't have to look anything like this — make it yours!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LOOKS 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Helpful Tips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182422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18242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16824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sprite disappeared!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20665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probably wandered off-stage. Try smaller x/y numbers (between −240 and 240).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301294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0129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28712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Clicking the green flag does nothing.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600200" y="32552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“when green flag clicked” is snapped to the very top — check for gaps.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420166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2016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0200" y="40599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can't read what it says!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600200" y="44439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number in “say [ ] for ( ) seconds.”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120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539038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53903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00200" y="52486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costume didn't change.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600200" y="56327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at the Costumes tab — make sure the name you typed matches exactly.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DIVE 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Quick Surveys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Thinking Puzzles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puzzles about how computers follow instructions. Just try your best — it's totally fine not to know every answer yet.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7E4F5"/>
            </a:solidFill>
            <a:prstDash val="solid"/>
          </a:ln>
          <a:effectLst>
            <a:outerShdw blurRad="101600" dist="25400" dir="5400000" algn="bl" rotWithShape="0">
              <a:srgbClr val="B9B4D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Interested 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questions about your interests. Answer honestly — there's no right answer, and neither of these is graded.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4F3FA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survey affects your grade in this program — they just help your teachers understand where to focus.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0" y="2057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Quick Questions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194560" y="3520440"/>
            <a:ext cx="7772400" cy="1005840"/>
          </a:xfrm>
          <a:prstGeom prst="roundRect">
            <a:avLst>
              <a:gd name="adj" fmla="val 9091"/>
            </a:avLst>
          </a:prstGeom>
          <a:solidFill>
            <a:srgbClr val="2E2860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35204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your own words, what do x and y control on the Scratch stage?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2194560" y="4663440"/>
            <a:ext cx="7772400" cy="1005840"/>
          </a:xfrm>
          <a:prstGeom prst="roundRect">
            <a:avLst>
              <a:gd name="adj" fmla="val 9091"/>
            </a:avLst>
          </a:prstGeom>
          <a:solidFill>
            <a:srgbClr val="2E2860"/>
          </a:solidFill>
          <a:ln w="12700">
            <a:solidFill>
              <a:srgbClr val="E7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68880" y="46634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What's one block you used today, and what did it do?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912</Words>
  <Application>Microsoft Macintosh PowerPoint</Application>
  <PresentationFormat>Widescreen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11</cp:revision>
  <dcterms:created xsi:type="dcterms:W3CDTF">2026-07-15T01:23:59Z</dcterms:created>
  <dcterms:modified xsi:type="dcterms:W3CDTF">2026-07-15T01:29:05Z</dcterms:modified>
</cp:coreProperties>
</file>