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64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5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02920" y="2880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4B8A6"/>
                </a:solidFill>
              </a:rPr>
              <a:t>Focus: Problem-Solving Mindset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02920" y="374307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4A3B8"/>
                </a:solidFill>
              </a:rPr>
              <a:t>"Bugs are not failures.</a:t>
            </a:r>
            <a:r>
              <a:rPr lang="en-US" sz="1200" dirty="0"/>
              <a:t> </a:t>
            </a:r>
            <a:r>
              <a:rPr lang="en-US" sz="1200" i="1" dirty="0">
                <a:solidFill>
                  <a:srgbClr val="94A3B8"/>
                </a:solidFill>
              </a:rPr>
              <a:t>They are information."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746504" cy="237744"/>
          </a:xfrm>
          <a:prstGeom prst="roundRect">
            <a:avLst>
              <a:gd name="adj" fmla="val 3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83464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TODAY'S LESSON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321040" cy="749808"/>
          </a:xfrm>
          <a:prstGeom prst="roundRect">
            <a:avLst>
              <a:gd name="adj" fmla="val 975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5923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Warm-Up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5923" y="16733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"Bugs are normal" — famous real-world bug stories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8321040" cy="749808"/>
          </a:xfrm>
          <a:prstGeom prst="roundRect">
            <a:avLst>
              <a:gd name="adj" fmla="val 975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176272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5923" y="2267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Intro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5923" y="256946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3 error types + the 5-step debugging process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72384"/>
            <a:ext cx="8321040" cy="749808"/>
          </a:xfrm>
          <a:prstGeom prst="roundRect">
            <a:avLst>
              <a:gd name="adj" fmla="val 975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072384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5923" y="31638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Lab Activity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5923" y="346557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Debug 5 broken Python programs collaboratively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968496"/>
            <a:ext cx="8321040" cy="749808"/>
          </a:xfrm>
          <a:prstGeom prst="roundRect">
            <a:avLst>
              <a:gd name="adj" fmla="val 975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3968496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5923" y="4059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Reflection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5923" y="436168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The programmer mindset &amp; exit ticket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956816" cy="237744"/>
          </a:xfrm>
          <a:prstGeom prst="roundRect">
            <a:avLst>
              <a:gd name="adj" fmla="val 3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8346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WARM-UP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Are Normal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1947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First Bug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Grace Hopper's team found a real moth in Harvard's Mark II relay — taped it into the logbook.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46304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1962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$18M Rocket Destroyed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A single '-' typed as '+' in the guidance code caused the rocket to be remotely detonated.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4630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1999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Mars Orbiter Lost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377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$327M spacecraft lost — one team used metric units, the other used imperial. No one checked.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617720"/>
            <a:ext cx="832104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Discussion: "Has anyone made a mistake doing something they thought they knew?"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536192" cy="237744"/>
          </a:xfrm>
          <a:prstGeom prst="roundRect">
            <a:avLst>
              <a:gd name="adj" fmla="val 3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83464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KEY CONCEPTS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of Python Errors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974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616499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Syntax Error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009691"/>
            <a:ext cx="1965960" cy="237744"/>
          </a:xfrm>
          <a:prstGeom prst="roundRect">
            <a:avLst>
              <a:gd name="adj" fmla="val 23077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00969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code runs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944368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bg1"/>
                </a:solidFill>
              </a:rPr>
              <a:t>Python can't understand the code — like a grammar mistake.</a:t>
            </a:r>
          </a:p>
        </p:txBody>
      </p:sp>
      <p:sp>
        <p:nvSpPr>
          <p:cNvPr id="13" name="Text 11"/>
          <p:cNvSpPr/>
          <p:nvPr/>
        </p:nvSpPr>
        <p:spPr>
          <a:xfrm>
            <a:off x="475488" y="354787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chemeClr val="bg1"/>
                </a:solidFill>
              </a:rPr>
              <a:t>Missing colon, unclosed parenthesis, misspelled keyword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0" y="1298448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1298448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10128" y="1616499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Runtime Error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66160" y="2009691"/>
            <a:ext cx="1965960" cy="237744"/>
          </a:xfrm>
          <a:prstGeom prst="roundRect">
            <a:avLst>
              <a:gd name="adj" fmla="val 23077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66160" y="200969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While code runs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0128" y="2944368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bg1"/>
                </a:solidFill>
              </a:rPr>
              <a:t>Code starts but crashes mid-execution.</a:t>
            </a:r>
          </a:p>
        </p:txBody>
      </p:sp>
      <p:sp>
        <p:nvSpPr>
          <p:cNvPr id="22" name="Text 20"/>
          <p:cNvSpPr/>
          <p:nvPr/>
        </p:nvSpPr>
        <p:spPr>
          <a:xfrm>
            <a:off x="3310128" y="354787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chemeClr val="bg1"/>
                </a:solidFill>
              </a:rPr>
              <a:t>Division by zero, undefined variable, wrong data type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35040" y="1298448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1298448"/>
            <a:ext cx="26974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44768" y="1616499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Logic Error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2009691"/>
            <a:ext cx="1965960" cy="237744"/>
          </a:xfrm>
          <a:prstGeom prst="roundRect">
            <a:avLst>
              <a:gd name="adj" fmla="val 23077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0" y="200969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Output is wrong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44768" y="2944368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bg1"/>
                </a:solidFill>
              </a:rPr>
              <a:t>Code runs fine but produces incorrect results.</a:t>
            </a:r>
          </a:p>
        </p:txBody>
      </p:sp>
      <p:sp>
        <p:nvSpPr>
          <p:cNvPr id="31" name="Text 29"/>
          <p:cNvSpPr/>
          <p:nvPr/>
        </p:nvSpPr>
        <p:spPr>
          <a:xfrm>
            <a:off x="6144768" y="354787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chemeClr val="bg1"/>
                </a:solidFill>
              </a:rPr>
              <a:t>Off-by-one loop, wrong operator, flipped condition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D9488"/>
                </a:solidFill>
              </a:rPr>
              <a:t>Every error message is Python telling you exactly what it needs.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431036" cy="237744"/>
          </a:xfrm>
          <a:prstGeom prst="roundRect">
            <a:avLst>
              <a:gd name="adj" fmla="val 3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83464"/>
            <a:ext cx="14310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Debugging Loop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8074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80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898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B8A6"/>
                </a:solidFill>
              </a:rPr>
              <a:t>READ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64592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Read the error message top to bottom. What line does it point to?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320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002536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0939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B8A6"/>
                </a:solidFill>
              </a:rPr>
              <a:t>UNDERSTAND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35000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What does the message say in plain English? Which error type is this?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6072" y="2624328"/>
            <a:ext cx="320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706624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7889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7980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B8A6"/>
                </a:solidFill>
              </a:rPr>
              <a:t>HYPOTHESIZE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054096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Form a guess. "I think the bug is on line X because…"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6072" y="3328416"/>
            <a:ext cx="320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410712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49300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5021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B8A6"/>
                </a:solidFill>
              </a:rPr>
              <a:t>TEST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758184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Make ONE change at a time and run. Never change multiple things at once.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6072" y="4032504"/>
            <a:ext cx="320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114800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419709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4206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B8A6"/>
                </a:solidFill>
              </a:rPr>
              <a:t>VERIFY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446227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No error ≠ correct output. Check your results (watch for logic bugs!).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482596" cy="237744"/>
          </a:xfrm>
          <a:prstGeom prst="roundRect">
            <a:avLst>
              <a:gd name="adj" fmla="val 3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83464"/>
            <a:ext cx="2482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LAB ACTIVITY · 25 MIN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Debugging Lab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Instructions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92938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9293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2688" y="1874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Work in pairs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43230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4323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2688" y="2377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You have 5 broken programs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293522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93522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2880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~5 minutes per program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43814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4381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2688" y="3383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Document every bug you find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94106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9410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3886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Be ready to explain your steps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17720" y="128016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The 5 Challenges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938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19293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74920" y="1929384"/>
            <a:ext cx="685800" cy="219456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74920" y="192938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Syntax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70448" y="1874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Missing Colon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47802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247802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74920" y="2478024"/>
            <a:ext cx="685800" cy="21945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74920" y="247802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Runtime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70448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Typo in Variable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02666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30266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74920" y="3026664"/>
            <a:ext cx="685800" cy="21945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5074920" y="302666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Runtime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5870448" y="2971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Wrong Data Type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57530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54880" y="35753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74920" y="3575304"/>
            <a:ext cx="685800" cy="219456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74920" y="357530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Logic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5870448" y="3520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Broken Accumulator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412394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54880" y="41239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74920" y="4123944"/>
            <a:ext cx="685800" cy="219456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74920" y="412394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Logic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5870448" y="4069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Off-by-One Loop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11480" y="4736592"/>
            <a:ext cx="8321040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2920" y="47640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! Change one thing at a time — then run. No random guessing allowed!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Challenge 1 of 5  ·  SYNTAX ERROR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Colon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Intended: Ask the user for their age and print whether they are a teenager.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8321040" cy="2415606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0817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&gt;&gt; Broken Code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652281"/>
            <a:ext cx="7955280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(input(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'How old are you? '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
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&gt;=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&lt;=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r>
              <a:rPr lang="en-US" sz="11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← </a:t>
            </a:r>
            <a:r>
              <a:rPr lang="en-US" sz="1150" i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colon missing here!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'You are a teenager!'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'You are not a teenager.'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382656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Guiding Questions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963725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1.  What line does Python's error message point to?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2.  What punctuation is Python expecting that it did not find?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3.  After fixing, test with ages 12, 16, and 20. Are all results correct?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172A"/>
                </a:solidFill>
              </a:rPr>
              <a:t>Challenge 2 of 5  ·  RUNTIME ERROR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in Variable Name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Intended: Calculate the area of a rectangle.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8321040" cy="2200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0817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&gt;&gt; Broken Code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7955280" cy="1695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(input(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'Enter the length: '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(input(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'Enter the width: '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
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lenght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50" b="1" i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typo!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'The area is:'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area)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361784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Guiding Questions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18825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1.  Which line causes the NameError? Read the error message carefully.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2.  Compare the variable name in the error to where it was assigned on line 1.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3.  This is one of the most common real-world bugs. How can you guard against it?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172A"/>
                </a:solidFill>
              </a:rPr>
              <a:t>Challenge 3 of 5  ·  RUNTIME ERROR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Type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Intended: Accept a user's name and age, then print a greeting.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832104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0817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&gt;&gt; Broken Code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7955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'What is your name? '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'How old are you? '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100" b="1" i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should this be int(input(...))?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next_year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'Hi'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 +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'! Next year you will be'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next_year)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566159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Guiding Questions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30752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1.  What does the TypeError message say? What two types is Python complaining about?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2.  input() always returns a string. What function converts a string to an integer?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3.  Where in the code should the conversion happen?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172A"/>
                </a:solidFill>
              </a:rPr>
              <a:t>Challenge 4 of 5  ·  LOGIC ERROR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Accumulator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Intended: Add up the numbers 1 through 5 and print the total.  Expected output: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8074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&gt;&gt; Broken Code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655064"/>
            <a:ext cx="4480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50" b="1" i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should be +=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'Sum:'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total)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40680" y="132588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Loop Trace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867513"/>
              </p:ext>
            </p:extLst>
          </p:nvPr>
        </p:nvGraphicFramePr>
        <p:xfrm>
          <a:off x="5532120" y="1737360"/>
          <a:ext cx="3063240" cy="150876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 = i (BUG)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 += i (FIX)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 </a:t>
                      </a:r>
                      <a:endParaRPr lang="en-US" sz="9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11480" y="358365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Guiding Questions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379476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1.  Run the code. What does it print? Is that the correct answer?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2.  There is no error message — this is a logic bug. Trace through the loop by hand for each value of i.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3.  Line 4 assigns total to i. What should it do instead?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172A"/>
                </a:solidFill>
              </a:rPr>
              <a:t>Challenge 5 of 5  ·  LOGIC ERROR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 Loop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</a:rPr>
              <a:t>Intended: Print the numbers 1 through 10, one per line.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1115568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8074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&gt;&gt; Broken Code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  </a:t>
            </a:r>
            <a:r>
              <a:rPr lang="en-US" sz="1300" b="1" i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prints 0-9, not 1-10!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788920"/>
            <a:ext cx="3931920" cy="1271016"/>
          </a:xfrm>
          <a:prstGeom prst="roundRect">
            <a:avLst>
              <a:gd name="adj" fmla="val 4444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3931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" y="29077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range(10)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0, 1, 2, … 9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76072" y="3639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</a:rPr>
              <a:t>Bug: starts at 0, misses 10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788920"/>
            <a:ext cx="3931920" cy="1271016"/>
          </a:xfrm>
          <a:prstGeom prst="roundRect">
            <a:avLst>
              <a:gd name="adj" fmla="val 4444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39319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28032" y="29077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range(1, 11)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28032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1, 2, 3, … 10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28032" y="3639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C55E"/>
                </a:solidFill>
              </a:rPr>
              <a:t>Fix: explicit start and stop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25951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Guiding Questions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552121"/>
            <a:ext cx="8321040" cy="4890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AutoNum type="arabicPeriod"/>
            </a:pPr>
            <a:r>
              <a:rPr lang="en-US" sz="1000" dirty="0">
                <a:solidFill>
                  <a:schemeClr val="bg1"/>
                </a:solidFill>
              </a:rPr>
              <a:t>Run the code. What numbers does it actually print?   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chemeClr val="bg1"/>
                </a:solidFill>
              </a:rPr>
              <a:t>What are the default start/stop values for range()?   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chemeClr val="bg1"/>
                </a:solidFill>
              </a:rPr>
              <a:t>How many arguments does range() need to print 1 through 10 inclusive?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25880" cy="237744"/>
          </a:xfrm>
          <a:prstGeom prst="roundRect">
            <a:avLst>
              <a:gd name="adj" fmla="val 3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834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REFLECTION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Programmer Mindset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1208" y="138988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389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3272" y="140817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Bugs are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1828800"/>
            <a:ext cx="23865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 crashing program is a precise report. Read it like a detective reads evidence.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82112" y="1261872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38988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389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03904" y="140817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One change at a 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3865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Multiple simultaneous changes make it impossible to know what fixed (or broke) what.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52744" y="1261872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62472" y="138988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62472" y="1389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74536" y="140817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Explain it out loud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62472" y="1828800"/>
            <a:ext cx="23865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"Rubber duck debugging" — explaining each line forces you to spot the flaw.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880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1208" y="300837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" y="3008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33272" y="302666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Take a break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" y="3447288"/>
            <a:ext cx="23865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Walking away for 5 minutes genuinely helps the brain find a fresh angle.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82112" y="2880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0" y="300837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0" y="3008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03904" y="302666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Search smarter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447288"/>
            <a:ext cx="23865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Paste your exact error message into a search engine. Others have hit the same bug.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52744" y="2880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62472" y="300837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62472" y="3008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74536" y="302666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Ask for help early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62472" y="3447288"/>
            <a:ext cx="23865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Stuck for 20 minutes? Ask a peer, a teacher, a forum. Stubbornness costs time.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431036" cy="237744"/>
          </a:xfrm>
          <a:prstGeom prst="roundRect">
            <a:avLst>
              <a:gd name="adj" fmla="val 3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83464"/>
            <a:ext cx="14310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EXIT TICKET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— Before You Leave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9961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99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414141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</a:rPr>
              <a:t>Which of the 5 challenges was hardest for you? What made it difficult?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39572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2310253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</a:rPr>
              <a:t>Describe the exact steps you took to find the bug in ONE challenge.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090672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3206365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</a:rPr>
              <a:t>Before today, how did you feel when your code had an error? How do you feel now?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986784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418795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187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4102477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</a:rPr>
              <a:t>Name one mindset principle you want to remember. Why does it matter to you?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Write on the slip of paper and hand it to your teacher before leaving.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1283</Words>
  <Application>Microsoft Macintosh PowerPoint</Application>
  <PresentationFormat>On-screen Show (16:9)</PresentationFormat>
  <Paragraphs>234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5</cp:revision>
  <dcterms:created xsi:type="dcterms:W3CDTF">2026-05-19T17:36:09Z</dcterms:created>
  <dcterms:modified xsi:type="dcterms:W3CDTF">2026-07-14T16:22:09Z</dcterms:modified>
</cp:coreProperties>
</file>