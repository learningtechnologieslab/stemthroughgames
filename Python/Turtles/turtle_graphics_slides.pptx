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93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548640"/>
            <a:ext cx="1742166" cy="100584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40246" y="1554480"/>
            <a:ext cx="0" cy="201168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40246" y="3566160"/>
            <a:ext cx="0" cy="100584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55914" y="356616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55914" y="1554480"/>
            <a:ext cx="1742166" cy="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1188720"/>
            <a:ext cx="1187840" cy="685800"/>
          </a:xfrm>
          <a:prstGeom prst="line">
            <a:avLst/>
          </a:prstGeom>
          <a:noFill/>
          <a:ln w="15240">
            <a:solidFill>
              <a:srgbClr val="5EEA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5920" y="1874520"/>
            <a:ext cx="0" cy="1371600"/>
          </a:xfrm>
          <a:prstGeom prst="line">
            <a:avLst/>
          </a:prstGeom>
          <a:noFill/>
          <a:ln w="15240">
            <a:solidFill>
              <a:srgbClr val="5EEA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5920" y="3246120"/>
            <a:ext cx="0" cy="685800"/>
          </a:xfrm>
          <a:prstGeom prst="line">
            <a:avLst/>
          </a:prstGeom>
          <a:noFill/>
          <a:ln w="15240">
            <a:solidFill>
              <a:srgbClr val="5EEA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0" y="3931920"/>
            <a:ext cx="0" cy="0"/>
          </a:xfrm>
          <a:prstGeom prst="line">
            <a:avLst/>
          </a:prstGeom>
          <a:noFill/>
          <a:ln w="15240">
            <a:solidFill>
              <a:srgbClr val="5EEA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10240" y="3246120"/>
            <a:ext cx="0" cy="0"/>
          </a:xfrm>
          <a:prstGeom prst="line">
            <a:avLst/>
          </a:prstGeom>
          <a:noFill/>
          <a:ln w="15240">
            <a:solidFill>
              <a:srgbClr val="5EEA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10240" y="1874520"/>
            <a:ext cx="1187840" cy="0"/>
          </a:xfrm>
          <a:prstGeom prst="line">
            <a:avLst/>
          </a:prstGeom>
          <a:noFill/>
          <a:ln w="15240">
            <a:solidFill>
              <a:srgbClr val="5EEA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457200" cy="457200"/>
          </a:xfrm>
          <a:prstGeom prst="line">
            <a:avLst/>
          </a:prstGeom>
          <a:noFill/>
          <a:ln w="1524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0" y="4389120"/>
            <a:ext cx="0" cy="457200"/>
          </a:xfrm>
          <a:prstGeom prst="line">
            <a:avLst/>
          </a:prstGeom>
          <a:noFill/>
          <a:ln w="1524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484632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457200" cy="0"/>
          </a:xfrm>
          <a:prstGeom prst="line">
            <a:avLst/>
          </a:prstGeom>
          <a:noFill/>
          <a:ln w="1524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 Graphics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54864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Programming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</a:rPr>
              <a:t>Connect Code to Movement — See Python Draw!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438912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457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566160"/>
            <a:ext cx="41605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turtle
t = turtle.</a:t>
            </a: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t.</a:t>
            </a: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draw!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914400"/>
            <a:ext cx="1993392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3776" y="14813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</a:rPr>
              <a:t>Warm-Up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" y="177393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Graph-paper prediction challenge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32888" y="914400"/>
            <a:ext cx="1993392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32888" y="914400"/>
            <a:ext cx="19933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24328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642616" y="14813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</a:rPr>
              <a:t>Concept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642616" y="177393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Turtle anatomy &amp; coordinate system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81728" y="914400"/>
            <a:ext cx="1993392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81728" y="914400"/>
            <a:ext cx="19933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773168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791456" y="14813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</a:rPr>
              <a:t>Live Demo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91456" y="177393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Drawing a square, step by step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099048" y="21762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 min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830568" y="914400"/>
            <a:ext cx="1993392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830568" y="914400"/>
            <a:ext cx="19933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922008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940296" y="14813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</a:rPr>
              <a:t>Guided Practice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40296" y="177393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Line → square → triangle → polygon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1463040" y="2606040"/>
            <a:ext cx="1993392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1463040" y="2606040"/>
            <a:ext cx="199339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155448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1572768" y="31729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</a:rPr>
              <a:t>Free-Draw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1572768" y="346557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Design your own drawing with loops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3611880" y="2606040"/>
            <a:ext cx="1993392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3611880" y="2606040"/>
            <a:ext cx="19933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370332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3721608" y="31729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</a:rPr>
              <a:t>Gallery Walk</a:t>
            </a:r>
            <a:endParaRPr lang="en-US" sz="1200" dirty="0"/>
          </a:p>
        </p:txBody>
      </p:sp>
      <p:sp>
        <p:nvSpPr>
          <p:cNvPr id="54" name="Text 46"/>
          <p:cNvSpPr/>
          <p:nvPr/>
        </p:nvSpPr>
        <p:spPr>
          <a:xfrm>
            <a:off x="3721608" y="346557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View + share creative techniques</a:t>
            </a:r>
            <a:endParaRPr lang="en-US" sz="950" dirty="0"/>
          </a:p>
        </p:txBody>
      </p:sp>
      <p:sp>
        <p:nvSpPr>
          <p:cNvPr id="57" name="Shape 49"/>
          <p:cNvSpPr/>
          <p:nvPr/>
        </p:nvSpPr>
        <p:spPr>
          <a:xfrm>
            <a:off x="5760720" y="2606040"/>
            <a:ext cx="1993392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0"/>
          <p:cNvSpPr/>
          <p:nvPr/>
        </p:nvSpPr>
        <p:spPr>
          <a:xfrm>
            <a:off x="5760720" y="2606040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/>
          <p:nvPr/>
        </p:nvSpPr>
        <p:spPr>
          <a:xfrm>
            <a:off x="585216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62" name="Text 53"/>
          <p:cNvSpPr/>
          <p:nvPr/>
        </p:nvSpPr>
        <p:spPr>
          <a:xfrm>
            <a:off x="5870448" y="31729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</a:rPr>
              <a:t>Reflection</a:t>
            </a:r>
            <a:endParaRPr lang="en-US" sz="1200" dirty="0"/>
          </a:p>
        </p:txBody>
      </p:sp>
      <p:sp>
        <p:nvSpPr>
          <p:cNvPr id="63" name="Text 54"/>
          <p:cNvSpPr/>
          <p:nvPr/>
        </p:nvSpPr>
        <p:spPr>
          <a:xfrm>
            <a:off x="5870448" y="346557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How does code control space?</a:t>
            </a:r>
            <a:endParaRPr lang="en-US" sz="950" dirty="0"/>
          </a:p>
        </p:txBody>
      </p:sp>
      <p:sp>
        <p:nvSpPr>
          <p:cNvPr id="65" name="Text 56"/>
          <p:cNvSpPr/>
          <p:nvPr/>
        </p:nvSpPr>
        <p:spPr>
          <a:xfrm>
            <a:off x="7178040" y="38679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min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640080" cy="640080"/>
          </a:xfrm>
          <a:prstGeom prst="line">
            <a:avLst/>
          </a:prstGeom>
          <a:noFill/>
          <a:ln w="1524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731520"/>
            <a:ext cx="0" cy="640080"/>
          </a:xfrm>
          <a:prstGeom prst="line">
            <a:avLst/>
          </a:prstGeom>
          <a:noFill/>
          <a:ln w="1524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137160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731520"/>
            <a:ext cx="640080" cy="0"/>
          </a:xfrm>
          <a:prstGeom prst="line">
            <a:avLst/>
          </a:prstGeom>
          <a:noFill/>
          <a:ln w="1524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</a:rPr>
              <a:t>WARM-UP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Challenge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8138160" cy="475488"/>
          </a:xfrm>
          <a:prstGeom prst="rect">
            <a:avLst/>
          </a:prstGeom>
          <a:solidFill>
            <a:srgbClr val="0F294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" y="1234440"/>
            <a:ext cx="7982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Using graph paper, trace where the turtle ends up after these commands: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1828800"/>
            <a:ext cx="3840480" cy="24688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" y="1828800"/>
            <a:ext cx="54864" cy="2468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7784" y="1828800"/>
            <a:ext cx="347472" cy="2468880"/>
          </a:xfrm>
          <a:prstGeom prst="rect">
            <a:avLst/>
          </a:prstGeom>
          <a:solidFill>
            <a:srgbClr val="172032"/>
          </a:solidFill>
          <a:ln w="12700">
            <a:solidFill>
              <a:srgbClr val="17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78408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78408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78408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66928" y="3291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8408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3749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78408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63440" y="1828800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63440" y="2029968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63440" y="2231136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63440" y="2432304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63440" y="2633472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63440" y="2834640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663440" y="3035808"/>
            <a:ext cx="281635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663440" y="3236976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663440" y="3438144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63440" y="3639312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663440" y="3840480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663440" y="4041648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663440" y="4242816"/>
            <a:ext cx="281635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663440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864608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065776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266944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5468112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669280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5870448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071616" y="1828800"/>
            <a:ext cx="0" cy="2414016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272784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6473952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6675120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876288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7077456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7278624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7479792" y="1828800"/>
            <a:ext cx="0" cy="2414016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007608" y="2971800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126480" y="29077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</a:rPr>
              <a:t>(0,0)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solidFill>
            <a:srgbClr val="17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566928" y="44531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</a:rPr>
              <a:t>Draw the path with a pencil — then we'll run the code to check your answer!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Lines You Always Need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36676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26187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987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Load the module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37360" y="1316736"/>
            <a:ext cx="374904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874520" y="1316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turtle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737360" y="17373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Tells Python to open the turtle toolbox — do this first, always.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212848"/>
            <a:ext cx="836676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212848"/>
            <a:ext cx="73152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8368" y="2560320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737360" y="2286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Create your turtle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737360" y="2615184"/>
            <a:ext cx="374904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874520" y="26151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turtle.Turtle()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737360" y="30358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Creates a turtle object named t. You could call it pen or bob — t is just short.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" y="3511296"/>
            <a:ext cx="836676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57200" y="3511296"/>
            <a:ext cx="73152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58368" y="385876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58368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737360" y="3584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Keep window open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1737360" y="3913632"/>
            <a:ext cx="374904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874520" y="3913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turtle.done()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737360" y="433425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Without this line the window flashes and disappears before you can see your drawing!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7200" y="4773168"/>
            <a:ext cx="8366760" cy="2468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594360" y="4773168"/>
            <a:ext cx="8092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942"/>
                </a:solidFill>
              </a:rPr>
              <a:t>Analogy: turtle is the toolbox. turtle.Turtle() picks up the pen. t is the name you give 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365760"/>
            <a:ext cx="782681" cy="568651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69481" y="202891"/>
            <a:ext cx="0" cy="920097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70524" y="1122989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03076" y="1122989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04119" y="202891"/>
            <a:ext cx="782681" cy="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Coordinate System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655064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002536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350008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38221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3044952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392424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739896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087368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3822192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0392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97864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545336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92808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40280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87752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35224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82696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30168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77640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25112" y="960120"/>
            <a:ext cx="0" cy="34747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76472" y="244144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+x 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87168" y="96012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↑ +y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" y="244144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-x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87168" y="41788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-y 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22576" y="26060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42032" y="27340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(0,0) Start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40864" y="2624328"/>
            <a:ext cx="146304" cy="14630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14016" y="2697480"/>
            <a:ext cx="502920" cy="0"/>
          </a:xfrm>
          <a:prstGeom prst="line">
            <a:avLst/>
          </a:prstGeom>
          <a:noFill/>
          <a:ln w="317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15184" y="22402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</a:rPr>
              <a:t>turtle starts here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</a:rPr>
              <a:t>facing East 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960120"/>
            <a:ext cx="4114800" cy="82296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9601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99996" y="1033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Center = (0, 0)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4899996" y="1344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turtle always starts at the center, facing right (East).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663440" y="1947672"/>
            <a:ext cx="4114800" cy="82296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663440" y="1947672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899996" y="2020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Right → positive x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4899996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Moving right increases x.  Moving up increases y.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4663440" y="2935224"/>
            <a:ext cx="4114800" cy="82296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4663440" y="2935224"/>
            <a:ext cx="64008" cy="82296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4899996" y="30083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t.goto(x, y)</a:t>
            </a:r>
            <a:endParaRPr lang="en-US" sz="1200" dirty="0"/>
          </a:p>
        </p:txBody>
      </p:sp>
      <p:sp>
        <p:nvSpPr>
          <p:cNvPr id="54" name="Text 49"/>
          <p:cNvSpPr/>
          <p:nvPr/>
        </p:nvSpPr>
        <p:spPr>
          <a:xfrm>
            <a:off x="4899996" y="3319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Jump to any exact position on the canvas instantly.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4663440" y="3922776"/>
            <a:ext cx="4114800" cy="82296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4663440" y="3922776"/>
            <a:ext cx="64008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/>
          <p:nvPr/>
        </p:nvSpPr>
        <p:spPr>
          <a:xfrm>
            <a:off x="4899996" y="3995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t.home()</a:t>
            </a:r>
            <a:endParaRPr lang="en-US" sz="1200" dirty="0"/>
          </a:p>
        </p:txBody>
      </p:sp>
      <p:sp>
        <p:nvSpPr>
          <p:cNvPr id="59" name="Text 53"/>
          <p:cNvSpPr/>
          <p:nvPr/>
        </p:nvSpPr>
        <p:spPr>
          <a:xfrm>
            <a:off x="4899996" y="4306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Snap back to (0, 0) facing East at any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Commands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941832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41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Move forward n pixels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563624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563624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1636776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6367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t.backward(n)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19293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Move backward n pixels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58568"/>
            <a:ext cx="54864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2331720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t.left(deg)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6243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Rotate left (CCW) by degrees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53512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953512"/>
            <a:ext cx="54864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" y="3026664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026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t.right(deg)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3319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Rotate right (CW) by degrees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648456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648456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3721608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t.goto(x,y)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40142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Jump to exact screen position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6928" y="4416552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4416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t.home()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" y="4709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Return to (0,0) facing East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868680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868680"/>
            <a:ext cx="54864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18888" y="941832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941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t.penup()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1234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Lift pen — move without drawing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1563624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09160" y="1563624"/>
            <a:ext cx="54864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18888" y="1636776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92040" y="16367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t.pendown()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46320" y="19293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Lower pen — resume drawing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2258568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09160" y="2258568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18888" y="2331720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t.color('red')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46320" y="26243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Set pen color by name or hex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2953512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09160" y="295351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18888" y="3026664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3026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t.width(n)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846320" y="3319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Set pen thickness in pixels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3648456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09160" y="3648456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18888" y="3721608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9204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t.speed(n)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846320" y="40142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Speed 1 (slow) to 10 (fast), 0=instant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4343400"/>
            <a:ext cx="39776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709160" y="4343400"/>
            <a:ext cx="54864" cy="5943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818888" y="4416552"/>
            <a:ext cx="292608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92040" y="4416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t.hideturtle()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4846320" y="4709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Hide the arrow icon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1097280" cy="1097280"/>
          </a:xfrm>
          <a:prstGeom prst="line">
            <a:avLst/>
          </a:prstGeom>
          <a:noFill/>
          <a:ln w="1524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1371600"/>
            <a:ext cx="0" cy="1097280"/>
          </a:xfrm>
          <a:prstGeom prst="line">
            <a:avLst/>
          </a:prstGeom>
          <a:noFill/>
          <a:ln w="1524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246888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1097280" cy="0"/>
          </a:xfrm>
          <a:prstGeom prst="line">
            <a:avLst/>
          </a:prstGeom>
          <a:noFill/>
          <a:ln w="1524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4592"/>
            <a:ext cx="219456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120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a Square — Step by Step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— One 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527048"/>
            <a:ext cx="2743200" cy="18653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527048"/>
            <a:ext cx="54864" cy="18653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4904" y="1527048"/>
            <a:ext cx="347472" cy="1865376"/>
          </a:xfrm>
          <a:prstGeom prst="rect">
            <a:avLst/>
          </a:prstGeom>
          <a:solidFill>
            <a:srgbClr val="172032"/>
          </a:solidFill>
          <a:ln w="12700">
            <a:solidFill>
              <a:srgbClr val="17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61848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1618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turtle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2039112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203911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turtle.Turtle()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245973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" y="24597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2880360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" y="28803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turtle.done()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502152"/>
            <a:ext cx="2743200" cy="658368"/>
          </a:xfrm>
          <a:prstGeom prst="rect">
            <a:avLst/>
          </a:prstGeom>
          <a:solidFill>
            <a:srgbClr val="17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71726" y="35021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</a:rPr>
              <a:t>Where is the turtle now? Which way is it facing?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00400" y="1234440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0040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 — Add a corner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00400" y="1527048"/>
            <a:ext cx="2743200" cy="18653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200399" y="1527048"/>
            <a:ext cx="70837" cy="18653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255264" y="1527048"/>
            <a:ext cx="347472" cy="1865376"/>
          </a:xfrm>
          <a:prstGeom prst="rect">
            <a:avLst/>
          </a:prstGeom>
          <a:solidFill>
            <a:srgbClr val="172032"/>
          </a:solidFill>
          <a:ln w="12700">
            <a:solidFill>
              <a:srgbClr val="17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264408" y="161848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675888" y="1618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3264408" y="2039112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675888" y="203911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264408" y="245973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675888" y="24597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3200400" y="3523223"/>
            <a:ext cx="2743200" cy="658368"/>
          </a:xfrm>
          <a:prstGeom prst="rect">
            <a:avLst/>
          </a:prstGeom>
          <a:solidFill>
            <a:srgbClr val="17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3252086" y="3523223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</a:rPr>
              <a:t>How many more times do we repeat this?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080760" y="1234440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08076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— Full square with a loop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080760" y="1527047"/>
            <a:ext cx="2743200" cy="186537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6080760" y="1527047"/>
            <a:ext cx="54864" cy="186537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6135624" y="1527047"/>
            <a:ext cx="347472" cy="1865375"/>
          </a:xfrm>
          <a:prstGeom prst="rect">
            <a:avLst/>
          </a:prstGeom>
          <a:solidFill>
            <a:srgbClr val="172032"/>
          </a:solidFill>
          <a:ln w="12700">
            <a:solidFill>
              <a:srgbClr val="17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6144768" y="161848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556248" y="1618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sides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6144768" y="2039112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6556248" y="203911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6144768" y="245973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6556248" y="24597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50" name="Shape 46"/>
          <p:cNvSpPr/>
          <p:nvPr/>
        </p:nvSpPr>
        <p:spPr>
          <a:xfrm>
            <a:off x="6080760" y="3523223"/>
            <a:ext cx="2743200" cy="658368"/>
          </a:xfrm>
          <a:prstGeom prst="rect">
            <a:avLst/>
          </a:prstGeom>
          <a:solidFill>
            <a:srgbClr val="17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6132446" y="3523223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</a:rPr>
              <a:t>Why does range(4) with left(90) draw a perfect square?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320040" y="4224528"/>
            <a:ext cx="8503920" cy="685800"/>
          </a:xfrm>
          <a:prstGeom prst="rect">
            <a:avLst/>
          </a:prstGeom>
          <a:solidFill>
            <a:srgbClr val="0D2A1A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Key Insight: </a:t>
            </a:r>
            <a:r>
              <a:rPr lang="en-US" sz="1300" dirty="0">
                <a:solidFill>
                  <a:srgbClr val="FFFFFF"/>
                </a:solidFill>
              </a:rPr>
              <a:t>4 sides × 90° turn = 360° total (one full rotation). This is the </a:t>
            </a:r>
            <a:r>
              <a:rPr lang="en-US" sz="1300" b="1" i="1" dirty="0">
                <a:solidFill>
                  <a:srgbClr val="FDE68A"/>
                </a:solidFill>
              </a:rPr>
              <a:t>Exterior Angle Theorem</a:t>
            </a:r>
            <a:r>
              <a:rPr lang="en-US" sz="1300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Polygon Formula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645920" y="896112"/>
            <a:ext cx="5852160" cy="822960"/>
          </a:xfrm>
          <a:prstGeom prst="rect">
            <a:avLst/>
          </a:prstGeom>
          <a:solidFill>
            <a:srgbClr val="0F2942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896112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turn angle  =  </a:t>
            </a:r>
            <a:r>
              <a:rPr lang="en-US" sz="3600" b="1" dirty="0">
                <a:solidFill>
                  <a:srgbClr val="5EEAD4"/>
                </a:solidFill>
              </a:rPr>
              <a:t>360</a:t>
            </a:r>
            <a:r>
              <a:rPr lang="en-US" sz="2600" dirty="0">
                <a:solidFill>
                  <a:srgbClr val="FFFFFF"/>
                </a:solidFill>
              </a:rPr>
              <a:t>  ÷  number of sides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920240"/>
            <a:ext cx="1261872" cy="1389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920240"/>
            <a:ext cx="12618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4984" y="2066544"/>
            <a:ext cx="285082" cy="493776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00066" y="256032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9902" y="2560320"/>
            <a:ext cx="285082" cy="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7432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942"/>
                </a:solidFill>
              </a:rPr>
              <a:t>Triangle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98094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3 sides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" y="3182112"/>
            <a:ext cx="9144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120°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92224" y="1920240"/>
            <a:ext cx="1261872" cy="1389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92224" y="1920240"/>
            <a:ext cx="126187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23160" y="2066544"/>
            <a:ext cx="329184" cy="329184"/>
          </a:xfrm>
          <a:prstGeom prst="line">
            <a:avLst/>
          </a:prstGeom>
          <a:noFill/>
          <a:ln w="15240">
            <a:solidFill>
              <a:srgbClr val="05966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52344" y="2395728"/>
            <a:ext cx="0" cy="329184"/>
          </a:xfrm>
          <a:prstGeom prst="line">
            <a:avLst/>
          </a:prstGeom>
          <a:noFill/>
          <a:ln w="15240">
            <a:solidFill>
              <a:srgbClr val="05966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23160" y="2724912"/>
            <a:ext cx="0" cy="0"/>
          </a:xfrm>
          <a:prstGeom prst="line">
            <a:avLst/>
          </a:prstGeom>
          <a:noFill/>
          <a:ln w="15240">
            <a:solidFill>
              <a:srgbClr val="05966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93976" y="2395728"/>
            <a:ext cx="329184" cy="0"/>
          </a:xfrm>
          <a:prstGeom prst="line">
            <a:avLst/>
          </a:prstGeom>
          <a:noFill/>
          <a:ln w="15240">
            <a:solidFill>
              <a:srgbClr val="05966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92224" y="27432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942"/>
                </a:solidFill>
              </a:rPr>
              <a:t>Square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92224" y="298094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4 sides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65960" y="3182112"/>
            <a:ext cx="91440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65960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90°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1920240"/>
            <a:ext cx="1261872" cy="1389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1920240"/>
            <a:ext cx="12618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31336" y="2066544"/>
            <a:ext cx="313073" cy="227461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44409" y="2294005"/>
            <a:ext cx="0" cy="368039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24826" y="2662043"/>
            <a:ext cx="0" cy="0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37846" y="2662043"/>
            <a:ext cx="0" cy="0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18263" y="2294005"/>
            <a:ext cx="313073" cy="0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0" y="27432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942"/>
                </a:solidFill>
              </a:rPr>
              <a:t>Pentagon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298094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5 sides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3182112"/>
            <a:ext cx="9144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74136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72°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08576" y="1920240"/>
            <a:ext cx="1261872" cy="1389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08576" y="1920240"/>
            <a:ext cx="126187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239512" y="2066544"/>
            <a:ext cx="285082" cy="164592"/>
          </a:xfrm>
          <a:prstGeom prst="line">
            <a:avLst/>
          </a:prstGeom>
          <a:noFill/>
          <a:ln w="1524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524594" y="2231136"/>
            <a:ext cx="0" cy="329184"/>
          </a:xfrm>
          <a:prstGeom prst="line">
            <a:avLst/>
          </a:prstGeom>
          <a:noFill/>
          <a:ln w="1524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524594" y="2560320"/>
            <a:ext cx="0" cy="164592"/>
          </a:xfrm>
          <a:prstGeom prst="line">
            <a:avLst/>
          </a:prstGeom>
          <a:noFill/>
          <a:ln w="1524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39512" y="2724912"/>
            <a:ext cx="0" cy="0"/>
          </a:xfrm>
          <a:prstGeom prst="line">
            <a:avLst/>
          </a:prstGeom>
          <a:noFill/>
          <a:ln w="1524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54430" y="2560320"/>
            <a:ext cx="0" cy="0"/>
          </a:xfrm>
          <a:prstGeom prst="line">
            <a:avLst/>
          </a:prstGeom>
          <a:noFill/>
          <a:ln w="1524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54430" y="2231136"/>
            <a:ext cx="285082" cy="0"/>
          </a:xfrm>
          <a:prstGeom prst="line">
            <a:avLst/>
          </a:prstGeom>
          <a:noFill/>
          <a:ln w="1524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08576" y="27432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942"/>
                </a:solidFill>
              </a:rPr>
              <a:t>Hexagon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08576" y="298094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6 sides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82312" y="3182112"/>
            <a:ext cx="9144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82312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60°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016752" y="1920240"/>
            <a:ext cx="1261872" cy="1389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016752" y="1920240"/>
            <a:ext cx="126187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47688" y="2066544"/>
            <a:ext cx="232768" cy="96416"/>
          </a:xfrm>
          <a:prstGeom prst="line">
            <a:avLst/>
          </a:prstGeom>
          <a:noFill/>
          <a:ln w="1524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880456" y="2162960"/>
            <a:ext cx="96416" cy="232768"/>
          </a:xfrm>
          <a:prstGeom prst="line">
            <a:avLst/>
          </a:prstGeom>
          <a:noFill/>
          <a:ln w="1524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76872" y="2395728"/>
            <a:ext cx="0" cy="232768"/>
          </a:xfrm>
          <a:prstGeom prst="line">
            <a:avLst/>
          </a:prstGeom>
          <a:noFill/>
          <a:ln w="1524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880456" y="2628496"/>
            <a:ext cx="0" cy="96416"/>
          </a:xfrm>
          <a:prstGeom prst="line">
            <a:avLst/>
          </a:prstGeom>
          <a:noFill/>
          <a:ln w="1524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647688" y="2724912"/>
            <a:ext cx="0" cy="0"/>
          </a:xfrm>
          <a:prstGeom prst="line">
            <a:avLst/>
          </a:prstGeom>
          <a:noFill/>
          <a:ln w="1524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414920" y="2628496"/>
            <a:ext cx="0" cy="0"/>
          </a:xfrm>
          <a:prstGeom prst="line">
            <a:avLst/>
          </a:prstGeom>
          <a:noFill/>
          <a:ln w="1524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318504" y="2395728"/>
            <a:ext cx="96416" cy="0"/>
          </a:xfrm>
          <a:prstGeom prst="line">
            <a:avLst/>
          </a:prstGeom>
          <a:noFill/>
          <a:ln w="1524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14920" y="2162960"/>
            <a:ext cx="232768" cy="0"/>
          </a:xfrm>
          <a:prstGeom prst="line">
            <a:avLst/>
          </a:prstGeom>
          <a:noFill/>
          <a:ln w="1524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016752" y="27432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942"/>
                </a:solidFill>
              </a:rPr>
              <a:t>Octagon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016752" y="298094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8 sides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90488" y="3182112"/>
            <a:ext cx="91440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190488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45°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424928" y="1920240"/>
            <a:ext cx="1261872" cy="1389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424928" y="1920240"/>
            <a:ext cx="12618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055864" y="2066544"/>
            <a:ext cx="164592" cy="44102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220456" y="2110646"/>
            <a:ext cx="120490" cy="12049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340946" y="2231136"/>
            <a:ext cx="44102" cy="164592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385048" y="2395728"/>
            <a:ext cx="0" cy="164592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340946" y="2560320"/>
            <a:ext cx="0" cy="12049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220456" y="2680810"/>
            <a:ext cx="0" cy="44102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055864" y="2724912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891272" y="268081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770782" y="256032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726680" y="2395728"/>
            <a:ext cx="44102" cy="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770782" y="2231136"/>
            <a:ext cx="120490" cy="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891272" y="2110646"/>
            <a:ext cx="164592" cy="0"/>
          </a:xfrm>
          <a:prstGeom prst="line">
            <a:avLst/>
          </a:prstGeom>
          <a:noFill/>
          <a:ln w="1524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424928" y="27432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942"/>
                </a:solidFill>
              </a:rPr>
              <a:t>"Circle"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424928" y="2980944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36 sides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598664" y="3182112"/>
            <a:ext cx="9144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598664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10°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457200" y="3639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Universal Polygon Template: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57200" y="3950208"/>
            <a:ext cx="49377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57200" y="3950208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12064" y="3950208"/>
            <a:ext cx="347472" cy="914400"/>
          </a:xfrm>
          <a:prstGeom prst="rect">
            <a:avLst/>
          </a:prstGeom>
          <a:solidFill>
            <a:srgbClr val="172032"/>
          </a:solidFill>
          <a:ln w="12700">
            <a:solidFill>
              <a:srgbClr val="17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21208" y="404164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32688" y="404164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 =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me!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521208" y="4187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32688" y="4187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=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me!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521208" y="433425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32688" y="433425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angle =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sides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521208" y="44805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4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32688" y="448056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range(sides):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521208" y="46268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5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32688" y="462686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t.forward(length)  t.left(angle)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5577840" y="3639312"/>
            <a:ext cx="3246120" cy="1225296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2"/>
          <p:cNvSpPr/>
          <p:nvPr/>
        </p:nvSpPr>
        <p:spPr>
          <a:xfrm>
            <a:off x="5696712" y="37124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Discovery!</a:t>
            </a:r>
            <a:endParaRPr lang="en-US" sz="1300" dirty="0"/>
          </a:p>
        </p:txBody>
      </p:sp>
      <p:sp>
        <p:nvSpPr>
          <p:cNvPr id="96" name="Text 93"/>
          <p:cNvSpPr/>
          <p:nvPr/>
        </p:nvSpPr>
        <p:spPr>
          <a:xfrm>
            <a:off x="5650992" y="404164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942"/>
                </a:solidFill>
              </a:rPr>
              <a:t>Try sides = 36. What shape does it look like? The more sides, the closer to a circle!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82880"/>
            <a:ext cx="791894" cy="457200"/>
          </a:xfrm>
          <a:prstGeom prst="line">
            <a:avLst/>
          </a:prstGeom>
          <a:noFill/>
          <a:ln w="1524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04374" y="640080"/>
            <a:ext cx="0" cy="914400"/>
          </a:xfrm>
          <a:prstGeom prst="line">
            <a:avLst/>
          </a:prstGeom>
          <a:noFill/>
          <a:ln w="1524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04374" y="1554480"/>
            <a:ext cx="0" cy="457200"/>
          </a:xfrm>
          <a:prstGeom prst="line">
            <a:avLst/>
          </a:prstGeom>
          <a:noFill/>
          <a:ln w="1524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0" y="201168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586" y="155448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20586" y="640080"/>
            <a:ext cx="791894" cy="0"/>
          </a:xfrm>
          <a:prstGeom prst="line">
            <a:avLst/>
          </a:prstGeom>
          <a:noFill/>
          <a:ln w="1524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64592"/>
            <a:ext cx="219456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120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Color &amp; Style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5029200" cy="2834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234440"/>
            <a:ext cx="54864" cy="2834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7784" y="1234440"/>
            <a:ext cx="347472" cy="2834640"/>
          </a:xfrm>
          <a:prstGeom prst="rect">
            <a:avLst/>
          </a:prstGeom>
          <a:solidFill>
            <a:srgbClr val="172032"/>
          </a:solidFill>
          <a:ln w="12700">
            <a:solidFill>
              <a:srgbClr val="17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132588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" y="132588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turtle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154686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8408" y="154686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turtle.Turtle()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176784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8408" y="176784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t.speed(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198882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8408" y="198882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t.color(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'steelblue'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220980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8408" y="220980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t.width(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243078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8408" y="243078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265176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" y="265176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287274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8408" y="287274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309372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8408" y="309372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331470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8408" y="331470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353568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8408" y="353568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t.hideturtle()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3756660"/>
            <a:ext cx="3200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78408" y="3756660"/>
            <a:ext cx="44805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turtle.done()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15000" y="1234440"/>
            <a:ext cx="3090672" cy="530352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715000" y="1234440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97880" y="1289304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speed(5) — slows down so students can watch the drawing happen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1874520"/>
            <a:ext cx="3090672" cy="530352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15000" y="187452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97880" y="1929384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color('steelblue') — use any CSS color name or '#hex' string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15000" y="2514600"/>
            <a:ext cx="3090672" cy="530352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715000" y="2514600"/>
            <a:ext cx="6400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97880" y="2569464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width(3) — thicker line is easier to see on screen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15000" y="3154680"/>
            <a:ext cx="3090672" cy="530352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715000" y="3154680"/>
            <a:ext cx="64008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97880" y="3209544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hideturtle() — removes the arrow for a clean final drawing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4206240"/>
            <a:ext cx="8321040" cy="749808"/>
          </a:xfrm>
          <a:prstGeom prst="rect">
            <a:avLst/>
          </a:prstGeom>
          <a:solidFill>
            <a:srgbClr val="0D203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66928" y="425196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Named colors: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66928" y="4517136"/>
            <a:ext cx="7644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'red'   'steelblue'   'forestgreen'   'gold'   'crimson'   'chartreuse'   'coral'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Up &amp; Pen Down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3931920" cy="146304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t.pendown()    Drawing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942"/>
                </a:solidFill>
              </a:rPr>
              <a:t>The default state. Every t.forward() draws a line on the canvas.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96112"/>
            <a:ext cx="3931920" cy="1463040"/>
          </a:xfrm>
          <a:prstGeom prst="rect">
            <a:avLst/>
          </a:prstGeom>
          <a:solidFill>
            <a:srgbClr val="F1F5F9"/>
          </a:solidFill>
          <a:ln w="1905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896112"/>
            <a:ext cx="39319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896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t.penup()    Flying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2984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942"/>
                </a:solidFill>
              </a:rPr>
              <a:t>Lifts the pen. The turtle moves but draws nothing — useful to reposition!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36676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54864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" y="2505456"/>
            <a:ext cx="347472" cy="1828800"/>
          </a:xfrm>
          <a:prstGeom prst="rect">
            <a:avLst/>
          </a:prstGeom>
          <a:solidFill>
            <a:srgbClr val="172032"/>
          </a:solidFill>
          <a:ln w="12700">
            <a:solidFill>
              <a:srgbClr val="17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2596896"/>
            <a:ext cx="320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2596896"/>
            <a:ext cx="781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two separate squares without a connecting 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1208" y="2802636"/>
            <a:ext cx="320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2802636"/>
            <a:ext cx="781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partial square 1...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" y="3008376"/>
            <a:ext cx="320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3008376"/>
            <a:ext cx="781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1208" y="3214116"/>
            <a:ext cx="320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3214116"/>
            <a:ext cx="781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t.penup()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lift the pen!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08" y="3419856"/>
            <a:ext cx="320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3419856"/>
            <a:ext cx="781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t.goto(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jump to new position — no line drawn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" y="3625596"/>
            <a:ext cx="320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625596"/>
            <a:ext cx="781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t.pendown()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put pen back down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1208" y="3831336"/>
            <a:ext cx="320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688" y="3831336"/>
            <a:ext cx="781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1208" y="4037076"/>
            <a:ext cx="320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" y="4037076"/>
            <a:ext cx="781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second square here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462272"/>
            <a:ext cx="8366760" cy="5212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462272"/>
            <a:ext cx="80924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942"/>
                </a:solidFill>
              </a:rPr>
              <a:t>Think of it like lifting a real pencil off the page to reposition it — the pencil moves but doesn't leave a mark.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GUIDED PRACTICE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Up — Four Challenges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73152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898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06212" y="1280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A Single 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06212" y="15910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Draw a horizontal line 150 px long.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t.forward(150)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" y="2542032"/>
            <a:ext cx="3749040" cy="292608"/>
          </a:xfrm>
          <a:prstGeom prst="rect">
            <a:avLst/>
          </a:prstGeom>
          <a:solidFill>
            <a:srgbClr val="E8F9F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4944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942"/>
                </a:solidFill>
              </a:rPr>
              <a:t>Make it longer / shorter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127248"/>
            <a:ext cx="4069080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3127248"/>
            <a:ext cx="73152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206212" y="3218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A Square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206212" y="3529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4 sides, 90° turns.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Use a for loop!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21792" y="4480560"/>
            <a:ext cx="3749040" cy="292608"/>
          </a:xfrm>
          <a:prstGeom prst="rect">
            <a:avLst/>
          </a:prstGeom>
          <a:solidFill>
            <a:srgbClr val="E8F9F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94944" y="4480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942"/>
                </a:solidFill>
              </a:rPr>
              <a:t>Change side length to 80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663440" y="1188720"/>
            <a:ext cx="4069080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663440" y="1188720"/>
            <a:ext cx="73152" cy="1737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846320" y="1389888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84632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412452" y="1280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A Triangle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412452" y="15910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Figure out the turn angle!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Hint: 360 ÷ 3 = ?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828032" y="2542032"/>
            <a:ext cx="3749040" cy="292608"/>
          </a:xfrm>
          <a:prstGeom prst="rect">
            <a:avLst/>
          </a:prstGeom>
          <a:solidFill>
            <a:srgbClr val="E8F9F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901184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942"/>
                </a:solidFill>
              </a:rPr>
              <a:t>Add t.color('orange')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663440" y="3127248"/>
            <a:ext cx="4069080" cy="1737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663440" y="3127248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846320" y="332841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484632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5412452" y="3218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</a:rPr>
              <a:t>Any Polygon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5412452" y="3529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Change sides &amp; length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the template below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828032" y="4480560"/>
            <a:ext cx="3749040" cy="292608"/>
          </a:xfrm>
          <a:prstGeom prst="rect">
            <a:avLst/>
          </a:prstGeom>
          <a:solidFill>
            <a:srgbClr val="E8F9F5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4901184" y="4480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942"/>
                </a:solidFill>
              </a:rPr>
              <a:t>Try sides = 36!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"/>
            <a:ext cx="1304469" cy="947752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16949" y="673432"/>
            <a:ext cx="0" cy="1533495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18686" y="2206928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06274" y="2206928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08011" y="673432"/>
            <a:ext cx="1304469" cy="0"/>
          </a:xfrm>
          <a:prstGeom prst="line">
            <a:avLst/>
          </a:prstGeom>
          <a:noFill/>
          <a:ln w="1524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0" y="274320"/>
            <a:ext cx="782681" cy="568651"/>
          </a:xfrm>
          <a:prstGeom prst="line">
            <a:avLst/>
          </a:prstGeom>
          <a:noFill/>
          <a:ln w="15240">
            <a:solidFill>
              <a:srgbClr val="5EEA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95161" y="842971"/>
            <a:ext cx="0" cy="920097"/>
          </a:xfrm>
          <a:prstGeom prst="line">
            <a:avLst/>
          </a:prstGeom>
          <a:noFill/>
          <a:ln w="15240">
            <a:solidFill>
              <a:srgbClr val="5EEA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96204" y="1763069"/>
            <a:ext cx="0" cy="0"/>
          </a:xfrm>
          <a:prstGeom prst="line">
            <a:avLst/>
          </a:prstGeom>
          <a:noFill/>
          <a:ln w="15240">
            <a:solidFill>
              <a:srgbClr val="5EEA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28756" y="1763069"/>
            <a:ext cx="0" cy="0"/>
          </a:xfrm>
          <a:prstGeom prst="line">
            <a:avLst/>
          </a:prstGeom>
          <a:noFill/>
          <a:ln w="15240">
            <a:solidFill>
              <a:srgbClr val="5EEA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9799" y="842971"/>
            <a:ext cx="782681" cy="0"/>
          </a:xfrm>
          <a:prstGeom prst="line">
            <a:avLst/>
          </a:prstGeom>
          <a:noFill/>
          <a:ln w="15240">
            <a:solidFill>
              <a:srgbClr val="5EEA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182880"/>
            <a:ext cx="7909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Free-Draw Project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502920" y="841248"/>
            <a:ext cx="4937760" cy="2395728"/>
          </a:xfrm>
          <a:prstGeom prst="rect">
            <a:avLst/>
          </a:prstGeom>
          <a:solidFill>
            <a:srgbClr val="0F2942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2920" y="841248"/>
            <a:ext cx="4937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8412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12618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At least one for loop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17190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At least two different colors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21762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 named shape or recognizable object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26334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At least two comments explaining your code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3364992"/>
            <a:ext cx="4937760" cy="1536192"/>
          </a:xfrm>
          <a:prstGeom prst="rect">
            <a:avLst/>
          </a:prstGeom>
          <a:solidFill>
            <a:srgbClr val="0A1F3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3152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Ideas for Inspiration: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8368" y="374904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2E8F0"/>
                </a:solidFill>
              </a:rPr>
              <a:t>House (square + triangle roof)  ·  Star (144° turns)  ·  Spiral  ·  Robot face  ·  Your initials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623560" y="841248"/>
            <a:ext cx="3200400" cy="2212848"/>
          </a:xfrm>
          <a:prstGeom prst="rect">
            <a:avLst/>
          </a:prstGeom>
          <a:solidFill>
            <a:srgbClr val="0F2942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623560" y="841248"/>
            <a:ext cx="3200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687568" y="8412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Extension: Spiral!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687568" y="1261872"/>
            <a:ext cx="3063240" cy="166420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687568" y="1261872"/>
            <a:ext cx="54864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5742432" y="1261872"/>
            <a:ext cx="347472" cy="1664208"/>
          </a:xfrm>
          <a:prstGeom prst="rect">
            <a:avLst/>
          </a:prstGeom>
          <a:solidFill>
            <a:srgbClr val="172032"/>
          </a:solidFill>
          <a:ln w="12700">
            <a:solidFill>
              <a:srgbClr val="17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5751576" y="135331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163056" y="135331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t.speed(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751576" y="160020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163056" y="160020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5751576" y="1847088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163056" y="184708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t.color(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'teal'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5751576" y="209397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163056" y="209397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t.forward(i *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5751576" y="2340864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163056" y="234086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5751576" y="258775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</a:rPr>
              <a:t>6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163056" y="258775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turtle.done()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5623560" y="3200400"/>
            <a:ext cx="3200400" cy="1700784"/>
          </a:xfrm>
          <a:prstGeom prst="rect">
            <a:avLst/>
          </a:prstGeom>
          <a:solidFill>
            <a:srgbClr val="0A1A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5715000" y="3246120"/>
            <a:ext cx="3017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You have 12 minutes.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Ask for help if you get stuck!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Be ready to show the class.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4069080" cy="19019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64008" cy="19019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1792" y="941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</a:rPr>
              <a:t>Window disappears instantly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325880"/>
            <a:ext cx="3840480" cy="566928"/>
          </a:xfrm>
          <a:prstGeom prst="rect">
            <a:avLst/>
          </a:prstGeom>
          <a:solidFill>
            <a:srgbClr val="FFF1F0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542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forgetting turtle.done()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1965960"/>
            <a:ext cx="384048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542" y="1965960"/>
            <a:ext cx="3429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turtle.done()  as the LAST line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953512"/>
            <a:ext cx="4069080" cy="19019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953512"/>
            <a:ext cx="64008" cy="19019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" y="30266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580C"/>
                </a:solidFill>
              </a:rPr>
              <a:t>AttributeError: use t.forward, not turtle.forward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410712"/>
            <a:ext cx="3840480" cy="566928"/>
          </a:xfrm>
          <a:prstGeom prst="rect">
            <a:avLst/>
          </a:prstGeom>
          <a:solidFill>
            <a:srgbClr val="FFF1F0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0542" y="3410712"/>
            <a:ext cx="3429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turtle.forward(100)   # wrong!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" y="4050792"/>
            <a:ext cx="384048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0542" y="4050792"/>
            <a:ext cx="3429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t.forward(100)   # t is the object you created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868680"/>
            <a:ext cx="4069080" cy="19019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63440" y="868680"/>
            <a:ext cx="64008" cy="19019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28032" y="941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Left/right confusion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73168" y="1325880"/>
            <a:ext cx="3840480" cy="566928"/>
          </a:xfrm>
          <a:prstGeom prst="rect">
            <a:avLst/>
          </a:prstGeom>
          <a:solidFill>
            <a:srgbClr val="FFF1F0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36782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t.left(90) rotates counterclockwise!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73168" y="1965960"/>
            <a:ext cx="384048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36782" y="1965960"/>
            <a:ext cx="3429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= CCW (counterclockwise).  right = CW.  Post a compass rose!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663440" y="2953512"/>
            <a:ext cx="4069080" cy="19019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663440" y="2953512"/>
            <a:ext cx="64008" cy="1901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28032" y="30266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Indent error inside the for loop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773168" y="3410712"/>
            <a:ext cx="3840480" cy="566928"/>
          </a:xfrm>
          <a:prstGeom prst="rect">
            <a:avLst/>
          </a:prstGeom>
          <a:solidFill>
            <a:srgbClr val="FFF1F0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36782" y="3410712"/>
            <a:ext cx="3429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t.forward(100)   # NOT indented!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773168" y="4050792"/>
            <a:ext cx="384048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36782" y="4050792"/>
            <a:ext cx="3429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t.forward(100)   # indented 4 spaces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474720"/>
            <a:ext cx="950272" cy="54864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79872" y="4023360"/>
            <a:ext cx="0" cy="109728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79872" y="5120640"/>
            <a:ext cx="0" cy="54864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0" y="566928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79328" y="512064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79328" y="4023360"/>
            <a:ext cx="950272" cy="0"/>
          </a:xfrm>
          <a:prstGeom prst="line">
            <a:avLst/>
          </a:prstGeom>
          <a:noFill/>
          <a:ln w="1524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82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</a:rPr>
              <a:t>EXIT TICKET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02920" y="1170432"/>
            <a:ext cx="8138160" cy="1078992"/>
          </a:xfrm>
          <a:prstGeom prst="rect">
            <a:avLst/>
          </a:prstGeom>
          <a:solidFill>
            <a:srgbClr val="0F2942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170432"/>
            <a:ext cx="782726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</a:rPr>
              <a:t>❝ </a:t>
            </a:r>
            <a:r>
              <a:rPr lang="en-US" sz="1800" b="1" i="1" dirty="0">
                <a:solidFill>
                  <a:srgbClr val="FFFFFF"/>
                </a:solidFill>
              </a:rPr>
              <a:t>How does code control space?</a:t>
            </a:r>
            <a:r>
              <a:rPr lang="en-US" sz="1500" dirty="0">
                <a:solidFill>
                  <a:srgbClr val="94A3B8"/>
                </a:solidFill>
              </a:rPr>
              <a:t> Use at least one specific command from today to explain your thinking.</a:t>
            </a:r>
            <a:r>
              <a:rPr lang="en-US" sz="2200" dirty="0">
                <a:solidFill>
                  <a:srgbClr val="0D9488"/>
                </a:solidFill>
              </a:rPr>
              <a:t> ❞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3977640" cy="111556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4712" y="249631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Predict: What does this draw?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81528" y="2514600"/>
            <a:ext cx="1298448" cy="91440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2514600"/>
            <a:ext cx="1225296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t.forward(100)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t.right(120)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t.forward(100)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t.right(120)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t.forward(100)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3977640" cy="111556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40233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" y="377647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Explain: Why write t.forward()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instead of just forward()?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423160"/>
            <a:ext cx="3977640" cy="111556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423160"/>
            <a:ext cx="64008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743200"/>
            <a:ext cx="329184" cy="3291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249631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Fix it: This stops after 3 sides of a square. What's wrong?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42048" y="2514600"/>
            <a:ext cx="1298448" cy="91440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0" y="2514600"/>
            <a:ext cx="1225296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t.forward(100)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t.left(90)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703320"/>
            <a:ext cx="3977640" cy="111556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3703320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402336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85232" y="377647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Connect: How does a for loop help when drawing polygons?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82880"/>
            <a:ext cx="2217302" cy="1280160"/>
          </a:xfrm>
          <a:prstGeom prst="line">
            <a:avLst/>
          </a:prstGeom>
          <a:noFill/>
          <a:ln w="1524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75302" y="1463040"/>
            <a:ext cx="0" cy="2560320"/>
          </a:xfrm>
          <a:prstGeom prst="line">
            <a:avLst/>
          </a:prstGeom>
          <a:noFill/>
          <a:ln w="1524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5302" y="4023360"/>
            <a:ext cx="0" cy="1280160"/>
          </a:xfrm>
          <a:prstGeom prst="line">
            <a:avLst/>
          </a:prstGeom>
          <a:noFill/>
          <a:ln w="1524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530352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40698" y="4023360"/>
            <a:ext cx="0" cy="0"/>
          </a:xfrm>
          <a:prstGeom prst="line">
            <a:avLst/>
          </a:prstGeom>
          <a:noFill/>
          <a:ln w="1524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40698" y="1463040"/>
            <a:ext cx="2217302" cy="0"/>
          </a:xfrm>
          <a:prstGeom prst="line">
            <a:avLst/>
          </a:prstGeom>
          <a:noFill/>
          <a:ln w="1524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0" y="914400"/>
            <a:ext cx="1583787" cy="914400"/>
          </a:xfrm>
          <a:prstGeom prst="line">
            <a:avLst/>
          </a:prstGeom>
          <a:noFill/>
          <a:ln w="15240">
            <a:solidFill>
              <a:srgbClr val="5EEA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41787" y="1828800"/>
            <a:ext cx="0" cy="1828800"/>
          </a:xfrm>
          <a:prstGeom prst="line">
            <a:avLst/>
          </a:prstGeom>
          <a:noFill/>
          <a:ln w="15240">
            <a:solidFill>
              <a:srgbClr val="5EEA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41787" y="3657600"/>
            <a:ext cx="0" cy="914400"/>
          </a:xfrm>
          <a:prstGeom prst="line">
            <a:avLst/>
          </a:prstGeom>
          <a:noFill/>
          <a:ln w="15240">
            <a:solidFill>
              <a:srgbClr val="5EEA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0" y="4572000"/>
            <a:ext cx="0" cy="0"/>
          </a:xfrm>
          <a:prstGeom prst="line">
            <a:avLst/>
          </a:prstGeom>
          <a:noFill/>
          <a:ln w="15240">
            <a:solidFill>
              <a:srgbClr val="5EEA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74213" y="3657600"/>
            <a:ext cx="0" cy="0"/>
          </a:xfrm>
          <a:prstGeom prst="line">
            <a:avLst/>
          </a:prstGeom>
          <a:noFill/>
          <a:ln w="15240">
            <a:solidFill>
              <a:srgbClr val="5EEA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74213" y="1828800"/>
            <a:ext cx="1583787" cy="0"/>
          </a:xfrm>
          <a:prstGeom prst="line">
            <a:avLst/>
          </a:prstGeom>
          <a:noFill/>
          <a:ln w="15240">
            <a:solidFill>
              <a:srgbClr val="5EEA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950272" cy="548640"/>
          </a:xfrm>
          <a:prstGeom prst="line">
            <a:avLst/>
          </a:prstGeom>
          <a:noFill/>
          <a:ln w="1524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08272" y="2194560"/>
            <a:ext cx="0" cy="1097280"/>
          </a:xfrm>
          <a:prstGeom prst="line">
            <a:avLst/>
          </a:prstGeom>
          <a:noFill/>
          <a:ln w="1524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08272" y="3291840"/>
            <a:ext cx="0" cy="548640"/>
          </a:xfrm>
          <a:prstGeom prst="line">
            <a:avLst/>
          </a:prstGeom>
          <a:noFill/>
          <a:ln w="1524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3840480"/>
            <a:ext cx="0" cy="0"/>
          </a:xfrm>
          <a:prstGeom prst="line">
            <a:avLst/>
          </a:prstGeom>
          <a:noFill/>
          <a:ln w="1524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07728" y="3291840"/>
            <a:ext cx="0" cy="0"/>
          </a:xfrm>
          <a:prstGeom prst="line">
            <a:avLst/>
          </a:prstGeom>
          <a:noFill/>
          <a:ln w="1524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07728" y="2194560"/>
            <a:ext cx="950272" cy="0"/>
          </a:xfrm>
          <a:prstGeom prst="line">
            <a:avLst/>
          </a:prstGeom>
          <a:noFill/>
          <a:ln w="1524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</a:rPr>
              <a:t>RECAP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Today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502920" y="1298448"/>
            <a:ext cx="5486400" cy="56692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1298448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7970" y="129844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import turtle + turtle.Turtle() are always your first two lines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" y="1975104"/>
            <a:ext cx="5486400" cy="56692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2920" y="1975104"/>
            <a:ext cx="64008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57970" y="197510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The turtle starts at (0,0) facing East — forward moves right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502920" y="2651760"/>
            <a:ext cx="5486400" cy="56692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02920" y="265176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57970" y="26517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turn angle = 360 ÷ sides draws any regular polygon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502920" y="3328416"/>
            <a:ext cx="5486400" cy="56692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502920" y="3328416"/>
            <a:ext cx="64008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57970" y="332841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penup() / pendown() let you reposition without drawing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502920" y="4005072"/>
            <a:ext cx="5486400" cy="566928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02920" y="4005072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657970" y="40050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for loops make repeated shapes clean and powerful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6217920" y="1298448"/>
            <a:ext cx="2606040" cy="3255264"/>
          </a:xfrm>
          <a:prstGeom prst="rect">
            <a:avLst/>
          </a:prstGeom>
          <a:solidFill>
            <a:srgbClr val="0D2038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6217920" y="1298448"/>
            <a:ext cx="26060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6291072" y="129844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 Next →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6291072" y="1737360"/>
            <a:ext cx="245059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</a:rPr>
              <a:t>Lesson 5.2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</a:rPr>
              <a:t>Filled Shapes,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</a:rPr>
              <a:t>Colors &amp;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</a:rPr>
              <a:t>Creative Patterns</a:t>
            </a:r>
            <a:endParaRPr lang="en-US" sz="1500" dirty="0"/>
          </a:p>
        </p:txBody>
      </p:sp>
      <p:sp>
        <p:nvSpPr>
          <p:cNvPr id="46" name="Text 39"/>
          <p:cNvSpPr/>
          <p:nvPr/>
        </p:nvSpPr>
        <p:spPr>
          <a:xfrm>
            <a:off x="6291072" y="3291840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Keep experimenting with your drawing at home!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1621</Words>
  <Application>Microsoft Macintosh PowerPoint</Application>
  <PresentationFormat>On-screen Show (16:9)</PresentationFormat>
  <Paragraphs>320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Turtle Graphics — Visual Programming</dc:title>
  <dc:subject>PptxGenJS Presentation</dc:subject>
  <dc:creator>PptxGenJS</dc:creator>
  <cp:lastModifiedBy>Babichenko, Dmitriy</cp:lastModifiedBy>
  <cp:revision>14</cp:revision>
  <dcterms:created xsi:type="dcterms:W3CDTF">2026-05-19T15:33:01Z</dcterms:created>
  <dcterms:modified xsi:type="dcterms:W3CDTF">2026-07-14T13:30:19Z</dcterms:modified>
</cp:coreProperties>
</file>