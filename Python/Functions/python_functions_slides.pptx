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08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57808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548640" y="1381936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&amp; Abstraction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1866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</a:rPr>
              <a:t>Write Once. Use Everywhere. The Power of def.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89527"/>
            <a:ext cx="4754880" cy="1971923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39" y="2689528"/>
            <a:ext cx="67997" cy="19719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735248"/>
            <a:ext cx="4572000" cy="19719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2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t.forward(</a:t>
            </a: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t.left(</a:t>
            </a: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</a:t>
            </a: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 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" y="896112"/>
            <a:ext cx="1993392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" y="896112"/>
            <a:ext cx="19933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042416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776" y="14813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Warm-Up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" y="175564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Spot the repetition in copy-pasted code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01368" y="224942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 min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32888" y="896112"/>
            <a:ext cx="1993392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32888" y="896112"/>
            <a:ext cx="19933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4328" y="104241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24328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642616" y="14813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Concept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642616" y="175564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Function anatomy — 4 parts explained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950208" y="224942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 min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681728" y="896112"/>
            <a:ext cx="1993392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81728" y="896112"/>
            <a:ext cx="19933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773168" y="104241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773168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791456" y="14813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Live Demo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791456" y="175564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Build square() live, step by step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099048" y="224942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 min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830568" y="896112"/>
            <a:ext cx="1993392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830568" y="896112"/>
            <a:ext cx="19933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922008" y="104241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922008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940296" y="148132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Guided Work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40296" y="1755648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Shape library: triangle, polygon, star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8247888" y="224942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15 min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1463040" y="2697480"/>
            <a:ext cx="1993392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1463040" y="2697480"/>
            <a:ext cx="19933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1554480" y="284378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155448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1572768" y="328269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Mini-Project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1572768" y="355701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Town Drawing — scenes from function calls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3611880" y="2697480"/>
            <a:ext cx="1993392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3611880" y="2697480"/>
            <a:ext cx="19933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3703320" y="28437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370332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3721608" y="328269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Gallery Walk</a:t>
            </a:r>
            <a:endParaRPr lang="en-US" sz="1200" dirty="0"/>
          </a:p>
        </p:txBody>
      </p:sp>
      <p:sp>
        <p:nvSpPr>
          <p:cNvPr id="54" name="Text 46"/>
          <p:cNvSpPr/>
          <p:nvPr/>
        </p:nvSpPr>
        <p:spPr>
          <a:xfrm>
            <a:off x="3721608" y="355701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Spot DRY wins, steal a technique</a:t>
            </a:r>
            <a:endParaRPr lang="en-US" sz="950" dirty="0"/>
          </a:p>
        </p:txBody>
      </p:sp>
      <p:sp>
        <p:nvSpPr>
          <p:cNvPr id="57" name="Shape 49"/>
          <p:cNvSpPr/>
          <p:nvPr/>
        </p:nvSpPr>
        <p:spPr>
          <a:xfrm>
            <a:off x="5760720" y="2697480"/>
            <a:ext cx="1993392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0"/>
          <p:cNvSpPr/>
          <p:nvPr/>
        </p:nvSpPr>
        <p:spPr>
          <a:xfrm>
            <a:off x="5760720" y="2697480"/>
            <a:ext cx="19933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1"/>
          <p:cNvSpPr/>
          <p:nvPr/>
        </p:nvSpPr>
        <p:spPr>
          <a:xfrm>
            <a:off x="5852160" y="28437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/>
          <p:nvPr/>
        </p:nvSpPr>
        <p:spPr>
          <a:xfrm>
            <a:off x="585216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62" name="Text 53"/>
          <p:cNvSpPr/>
          <p:nvPr/>
        </p:nvSpPr>
        <p:spPr>
          <a:xfrm>
            <a:off x="5870448" y="328269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Reflection</a:t>
            </a:r>
            <a:endParaRPr lang="en-US" sz="1200" dirty="0"/>
          </a:p>
        </p:txBody>
      </p:sp>
      <p:sp>
        <p:nvSpPr>
          <p:cNvPr id="63" name="Text 54"/>
          <p:cNvSpPr/>
          <p:nvPr/>
        </p:nvSpPr>
        <p:spPr>
          <a:xfrm>
            <a:off x="5870448" y="3557016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Why do functions matter? Exit ticket.</a:t>
            </a:r>
            <a:endParaRPr lang="en-US" sz="950" dirty="0"/>
          </a:p>
        </p:txBody>
      </p:sp>
      <p:sp>
        <p:nvSpPr>
          <p:cNvPr id="66" name="Text 57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4B5FD"/>
                </a:solidFill>
              </a:rPr>
              <a:t>WARM-UP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Repetition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160520" cy="3657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4864" cy="3657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7784" y="1170432"/>
            <a:ext cx="329184" cy="36576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252728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turtle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436571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1436571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turtle.Turtle()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1620413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1620413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1804256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0120" y="1804256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Square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1988098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0120" y="1988098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2171941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0120" y="2171941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2355783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0120" y="2355783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2539626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0120" y="2539626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t.penup()  t.goto(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t.pendown()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2723468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0120" y="2723468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907311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2907311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Square 2  ← identical!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3091153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3091153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3274996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3274996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3458838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0120" y="3458838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" y="3642681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60120" y="3642681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t.penup()  t.goto(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t.pendown()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3826523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0120" y="3826523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4010366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0120" y="4010366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Square 3  ← still identical!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4194208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60120" y="4194208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6928" y="4378051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60120" y="4378051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66928" y="4561893"/>
            <a:ext cx="29260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60120" y="4561893"/>
            <a:ext cx="3630168" cy="18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46320" y="1170432"/>
            <a:ext cx="3977640" cy="3657600"/>
          </a:xfrm>
          <a:prstGeom prst="rect">
            <a:avLst/>
          </a:prstGeom>
          <a:solidFill>
            <a:srgbClr val="0F0D2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46320" y="1170432"/>
            <a:ext cx="3977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846320" y="1170432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Turn &amp; Talk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983480" y="173736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9834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376672" y="1454294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What would you change if you wanted all squares to be 80px instead of 50px?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983480" y="2706624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9834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376672" y="2423558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If you wanted 10 squares, how long would this program get?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983480" y="367588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498348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5376672" y="339282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Is there a smarter way to write the square instructions ONCE and reuse them?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502920" y="4773168"/>
            <a:ext cx="8321040" cy="274320"/>
          </a:xfrm>
          <a:prstGeom prst="rect">
            <a:avLst/>
          </a:prstGeom>
          <a:solidFill>
            <a:srgbClr val="0A0D2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594360" y="4773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</a:rPr>
              <a:t>Bridge: </a:t>
            </a:r>
            <a:r>
              <a:rPr lang="en-US" sz="1150" dirty="0">
                <a:solidFill>
                  <a:srgbClr val="FFFFFF"/>
                </a:solidFill>
              </a:rPr>
              <a:t>"Programmers solved this decades ago. The tool is called a </a:t>
            </a:r>
            <a:r>
              <a:rPr lang="en-US" sz="1150" b="1" dirty="0">
                <a:solidFill>
                  <a:srgbClr val="C4B5FD"/>
                </a:solidFill>
              </a:rPr>
              <a:t>function</a:t>
            </a:r>
            <a:r>
              <a:rPr lang="en-US" sz="1150" dirty="0">
                <a:solidFill>
                  <a:srgbClr val="FFFFFF"/>
                </a:solidFill>
              </a:rPr>
              <a:t>."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Anatomy: 4 Parts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029200" cy="21488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54864" cy="2148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2064" y="841248"/>
            <a:ext cx="329184" cy="214884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923544"/>
            <a:ext cx="29260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923544"/>
            <a:ext cx="449884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header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08" y="1171575"/>
            <a:ext cx="29260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171575"/>
            <a:ext cx="449884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"""Draw a 50-px square."""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docstring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" y="1419606"/>
            <a:ext cx="29260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1419606"/>
            <a:ext cx="449884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body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1208" y="1667637"/>
            <a:ext cx="29260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1667637"/>
            <a:ext cx="449884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t.forward(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1208" y="1915668"/>
            <a:ext cx="29260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1915668"/>
            <a:ext cx="449884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1208" y="2163699"/>
            <a:ext cx="29260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2163699"/>
            <a:ext cx="449884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08" y="2411730"/>
            <a:ext cx="29260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2411730"/>
            <a:ext cx="449884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call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1208" y="2659761"/>
            <a:ext cx="29260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2659761"/>
            <a:ext cx="449884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call again — zero extra code!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50992" y="467537"/>
            <a:ext cx="324612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50992" y="467537"/>
            <a:ext cx="6400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79008" y="622985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79008" y="6229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99632" y="52240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def keyword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9632" y="79672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Tells Python: I'm naming a reusable recipe.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50992" y="1217345"/>
            <a:ext cx="324612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50992" y="1217345"/>
            <a:ext cx="6400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79008" y="1372793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79008" y="13727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9632" y="1272209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Function name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9632" y="1546529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Use snake_case; make it a verb: draw_square.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50992" y="1967153"/>
            <a:ext cx="324612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650992" y="1967153"/>
            <a:ext cx="64008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779008" y="2122601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79008" y="21226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99632" y="202201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Parentheses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99632" y="229633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Hold parameters. Empty ( ) is still required.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50992" y="2677205"/>
            <a:ext cx="324612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50992" y="2677205"/>
            <a:ext cx="64008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79008" y="2872409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79008" y="28724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99632" y="277182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Indented body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99632" y="347551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4 spaces in. Body ends when indent returns to 0.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</a:rPr>
              <a:t>Definition vs. Call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3512091"/>
            <a:ext cx="3977640" cy="14173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" y="3512091"/>
            <a:ext cx="397764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8640" y="3512091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Definition — stores the recipe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3877851"/>
            <a:ext cx="3767328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48640" y="3877851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03504" y="3877851"/>
            <a:ext cx="329184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12648" y="3960147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005840" y="3960147"/>
            <a:ext cx="3236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12648" y="4207035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05840" y="4207035"/>
            <a:ext cx="3236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"Hello!"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66928" y="4572795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Nothing runs yet — Python memorises the recipe.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512091"/>
            <a:ext cx="4160520" cy="141732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709160" y="3512091"/>
            <a:ext cx="41605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00600" y="3512091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Call — executes the code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00600" y="3877851"/>
            <a:ext cx="397764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800600" y="3877851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855464" y="3877851"/>
            <a:ext cx="329184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64608" y="3960147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257800" y="3960147"/>
            <a:ext cx="3447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Hello!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4864608" y="4207035"/>
            <a:ext cx="292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257800" y="4207035"/>
            <a:ext cx="3447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Hello!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4818888" y="4572795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Each call runs all indented lines — same code, zero repetition.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64592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 — STEP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Parameter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120640" cy="27889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54864" cy="2788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" y="1170432"/>
            <a:ext cx="329184" cy="27889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252728"/>
            <a:ext cx="29260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" y="1252728"/>
            <a:ext cx="459028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parameter: a variable filled in at call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1580769"/>
            <a:ext cx="29260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1580769"/>
            <a:ext cx="459028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1908810"/>
            <a:ext cx="29260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1908810"/>
            <a:ext cx="459028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t.forward(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uses the parameter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2236851"/>
            <a:ext cx="29260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0120" y="2236851"/>
            <a:ext cx="459028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2564892"/>
            <a:ext cx="29260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0120" y="2564892"/>
            <a:ext cx="459028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2892933"/>
            <a:ext cx="29260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0120" y="2892933"/>
            <a:ext cx="459028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50 is the argument; size = 50 inside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3220974"/>
            <a:ext cx="29260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0120" y="3220974"/>
            <a:ext cx="459028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size = 100 inside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3549015"/>
            <a:ext cx="29260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3549015"/>
            <a:ext cx="459028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size = 25 inside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06440" y="1170432"/>
            <a:ext cx="3017520" cy="804672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06440" y="1170432"/>
            <a:ext cx="64008" cy="80467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89320" y="1225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</a:rPr>
              <a:t>Parameter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15179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 variable in the def line. Like a blank field on a form — filled in when called.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2148840"/>
            <a:ext cx="3017520" cy="804672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06440" y="2148840"/>
            <a:ext cx="64008" cy="80467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89320" y="2203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</a:rPr>
              <a:t>Argument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89320" y="2496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The actual value passed at call time. What you write on the form: square(50).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6440" y="3127248"/>
            <a:ext cx="3017520" cy="804672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06440" y="3127248"/>
            <a:ext cx="64008" cy="80467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8932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F3D0"/>
                </a:solidFill>
              </a:rPr>
              <a:t>Inside the function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89320" y="3474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Every time square(50) runs, Python puts 50 into the size box.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096512"/>
            <a:ext cx="8321040" cy="640080"/>
          </a:xfrm>
          <a:prstGeom prst="rect">
            <a:avLst/>
          </a:prstGeom>
          <a:solidFill>
            <a:srgbClr val="100E30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66928" y="4096512"/>
            <a:ext cx="8174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Predict: </a:t>
            </a:r>
            <a:r>
              <a:rPr lang="en-US" sz="1300" dirty="0">
                <a:solidFill>
                  <a:srgbClr val="FFFFFF"/>
                </a:solidFill>
              </a:rPr>
              <a:t>What value does </a:t>
            </a: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300" dirty="0">
                <a:solidFill>
                  <a:srgbClr val="FFFFFF"/>
                </a:solidFill>
              </a:rPr>
              <a:t> hold during the second call? The third?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 — STEP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 &amp; Defaults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66760" cy="28346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" cy="2834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1143000"/>
            <a:ext cx="329184" cy="283464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225296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225296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default: blue if not supplied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" y="1492301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1492301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"""Draw a square. Return perimeter."""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1208" y="1759306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1759306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t.color(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1208" y="2026310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026310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1208" y="2293315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2293315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t.forward(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08" y="2560320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2560320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1208" y="2827325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2827325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send the perimeter back to the caller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1208" y="3094330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3094330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" y="3361334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14400" y="3361334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"teal"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1208" y="3628339"/>
            <a:ext cx="2926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4400" y="3628339"/>
            <a:ext cx="78364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"Perimeter:"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p)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prints: Perimeter: 320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2633472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26334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66927" y="41513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66928" y="444398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Sends a value back to the caller. The caller can store it in a variable.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246120" y="4114800"/>
            <a:ext cx="2633472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246120" y="4114800"/>
            <a:ext cx="2633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355847" y="41513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Default argument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355848" y="444398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If color is not supplied, Python uses "blue". Existing calls still work.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035040" y="4114800"/>
            <a:ext cx="2633472" cy="8229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035040" y="4114800"/>
            <a:ext cx="263347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6144767" y="41513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</a:rPr>
              <a:t>Abstraction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6144768" y="444398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square(80, 'teal') triggers a whole sequence. The caller just sees one name.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DRY Principle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02920" y="914400"/>
            <a:ext cx="2743200" cy="3017520"/>
          </a:xfrm>
          <a:prstGeom prst="rect">
            <a:avLst/>
          </a:prstGeom>
          <a:solidFill>
            <a:srgbClr val="0F0D2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1051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5029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Don't Repeat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Yourself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28163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A core principle of professional programming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29000" y="914400"/>
            <a:ext cx="2633472" cy="1371600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29000" y="91440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21817" y="1024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Easier to fix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171907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Change the function once — every call gets the fix automatically.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914400"/>
            <a:ext cx="2633472" cy="1371600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0" y="914400"/>
            <a:ext cx="64008" cy="1371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410737" y="1024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Easier to read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0" y="171907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square(50) says what happens. 12 lines of loops says how — harder.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429000" y="2423160"/>
            <a:ext cx="2633472" cy="1371600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429000" y="2423160"/>
            <a:ext cx="64008" cy="1371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3621817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</a:rPr>
              <a:t>Easier to grow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611880" y="322783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Add a new feature to the function: every caller gains it for free.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17920" y="2423160"/>
            <a:ext cx="2633472" cy="1371600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217920" y="2423160"/>
            <a:ext cx="64008" cy="137160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6410737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F3D0"/>
                </a:solidFill>
              </a:rPr>
              <a:t>Fewer bugs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400800" y="322783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One correct implementation beats three identical copies that might drift.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02920" y="4069080"/>
            <a:ext cx="8321040" cy="749808"/>
          </a:xfrm>
          <a:prstGeom prst="rect">
            <a:avLst/>
          </a:prstGeom>
          <a:solidFill>
            <a:srgbClr val="100E30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640080" y="406908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Any time you copy-paste code, ask: should this be a function?</a:t>
            </a:r>
            <a:r>
              <a:rPr lang="en-US" sz="1800" dirty="0">
                <a:solidFill>
                  <a:srgbClr val="C4B5FD"/>
                </a:solidFill>
              </a:rPr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GUIDED PRACTICE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Shape Library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2743200" cy="35844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27432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24358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draw_triangle(size, color)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96896" cy="2688336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75374" cy="2688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2064" y="1572768"/>
            <a:ext cx="329184" cy="2688336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" y="1655064"/>
            <a:ext cx="29260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1655064"/>
            <a:ext cx="2066544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draw_triangle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1208" y="2013509"/>
            <a:ext cx="29260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2013509"/>
            <a:ext cx="2066544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t.color(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" y="2371954"/>
            <a:ext cx="29260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2371954"/>
            <a:ext cx="2066544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1208" y="2730398"/>
            <a:ext cx="29260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2730398"/>
            <a:ext cx="2066544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t.forward(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" y="3088843"/>
            <a:ext cx="29260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3088843"/>
            <a:ext cx="2066544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355526"/>
            <a:ext cx="2596896" cy="329184"/>
          </a:xfrm>
          <a:prstGeom prst="rect">
            <a:avLst/>
          </a:prstGeom>
          <a:solidFill>
            <a:srgbClr val="EEF2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" y="435552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Turn angle = 360 ÷ 3 = 120°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1170432"/>
            <a:ext cx="2743200" cy="35844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1170432"/>
            <a:ext cx="2743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3280" y="124358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0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75888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draw_polygon(sides, size, color)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64992" y="1572768"/>
            <a:ext cx="2596896" cy="2688336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64992" y="1572768"/>
            <a:ext cx="63504" cy="2688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419856" y="1572768"/>
            <a:ext cx="329184" cy="2688336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29000" y="1655064"/>
            <a:ext cx="29260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22192" y="1655064"/>
            <a:ext cx="2066544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draw_polygon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29000" y="2014728"/>
            <a:ext cx="29260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22192" y="2014728"/>
            <a:ext cx="2066544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angle =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429000" y="2374392"/>
            <a:ext cx="29260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22192" y="2374392"/>
            <a:ext cx="2066544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t.color(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429000" y="2734056"/>
            <a:ext cx="29260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22192" y="2734056"/>
            <a:ext cx="2066544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429000" y="3093720"/>
            <a:ext cx="29260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22192" y="3093720"/>
            <a:ext cx="2066544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t.forward(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429000" y="3453384"/>
            <a:ext cx="29260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822192" y="3453384"/>
            <a:ext cx="2066544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t.left(angle)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364992" y="4355526"/>
            <a:ext cx="2596896" cy="329184"/>
          </a:xfrm>
          <a:prstGeom prst="rect">
            <a:avLst/>
          </a:prstGeom>
          <a:solidFill>
            <a:srgbClr val="EEF2FF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29000" y="435552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One function draws ANY polygon!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99632" y="1170432"/>
            <a:ext cx="2743200" cy="35844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99632" y="1170432"/>
            <a:ext cx="274320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91072" y="124358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91072" y="1243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83680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draw_star(size, color)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72784" y="1572768"/>
            <a:ext cx="2596896" cy="2688336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72784" y="1572768"/>
            <a:ext cx="54864" cy="2688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27648" y="1572768"/>
            <a:ext cx="329184" cy="2688336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36792" y="1655064"/>
            <a:ext cx="292608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729984" y="1655064"/>
            <a:ext cx="206654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draw_star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"gold"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336792" y="2015599"/>
            <a:ext cx="292608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729984" y="2015599"/>
            <a:ext cx="206654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t.color(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336792" y="2376134"/>
            <a:ext cx="292608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729984" y="2376134"/>
            <a:ext cx="206654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t.begin_fill()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6336792" y="2736669"/>
            <a:ext cx="292608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729984" y="2736669"/>
            <a:ext cx="206654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336792" y="3097203"/>
            <a:ext cx="292608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729984" y="3097203"/>
            <a:ext cx="206654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t.forward(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336792" y="3457738"/>
            <a:ext cx="292608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729984" y="3457738"/>
            <a:ext cx="206654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t.right(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336792" y="3818273"/>
            <a:ext cx="292608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729984" y="3818273"/>
            <a:ext cx="2066544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t.end_fill()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272784" y="4370832"/>
            <a:ext cx="2596896" cy="329184"/>
          </a:xfrm>
          <a:prstGeom prst="rect">
            <a:avLst/>
          </a:prstGeom>
          <a:solidFill>
            <a:srgbClr val="EEF2FF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336792" y="43708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5-pointed star uses right turns of 144°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773168"/>
            <a:ext cx="8366760" cy="27432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94360" y="477316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Extension: </a:t>
            </a:r>
            <a:r>
              <a:rPr lang="en-US" sz="1050" dirty="0"/>
              <a:t>Add a </a:t>
            </a: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filled=False</a:t>
            </a:r>
            <a:r>
              <a:rPr lang="en-US" sz="1050" dirty="0"/>
              <a:t> parameter to any shape — use begin_fill() only when filled=True.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01168"/>
            <a:ext cx="8202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Town Drawing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02920" y="868680"/>
            <a:ext cx="5074920" cy="2468880"/>
          </a:xfrm>
          <a:prstGeom prst="rect">
            <a:avLst/>
          </a:prstGeom>
          <a:solidFill>
            <a:srgbClr val="0F0D2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868680"/>
            <a:ext cx="50749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868680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Requirements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1261872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</a:rPr>
              <a:t>✓  draw_house(x, y, size, color)  — body + roof + door + window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8368" y="1609344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</a:rPr>
              <a:t>✓  draw_tree(x, y, height, color)  — trunk + leaves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" y="1956816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</a:rPr>
              <a:t>✓  draw_ground(width, color)  — horizon band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2304288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✓  3+ houses and 2+ trees — ALL drawn by function calls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" y="2651760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✓  Zero copy-pasted loop code in the main program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8368" y="2999232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✓  Docstring on every function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60720" y="868680"/>
            <a:ext cx="3090672" cy="3483864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60720" y="868680"/>
            <a:ext cx="62398" cy="3483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15584" y="868680"/>
            <a:ext cx="329184" cy="3483864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24728" y="950976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17920" y="950976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scaffold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824728" y="1173949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217920" y="1173949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824728" y="1396922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17920" y="1396922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t.penup()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824728" y="1619895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217920" y="1619895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t.goto(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824728" y="1842868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17920" y="1842868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t.pendown()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824728" y="2065841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217920" y="2065841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824728" y="2288814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217920" y="2288814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draw_house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824728" y="2511786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217920" y="2511786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"""House at (x,y)."""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824728" y="2734759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217920" y="2734759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your code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824728" y="2957732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217920" y="2957732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824728" y="3180705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217920" y="3180705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=== Main program ===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824728" y="3403678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217920" y="3403678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draw_ground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"green"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5824728" y="3626651"/>
            <a:ext cx="292608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217920" y="3626651"/>
            <a:ext cx="2560320" cy="22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draw_house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"wheat"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02920" y="3474720"/>
            <a:ext cx="5074920" cy="877824"/>
          </a:xfrm>
          <a:prstGeom prst="rect">
            <a:avLst/>
          </a:prstGeom>
          <a:solidFill>
            <a:srgbClr val="0A0820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722376" y="35295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Extension: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658368" y="3794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Add draw_sun(x, y, rays) with a configurable number of rays. Call it once anywhere.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Composition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Functions can call other functions — this is how real programs are built.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366760" cy="315468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4864" cy="3154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2064" y="1170432"/>
            <a:ext cx="329184" cy="31546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252728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252728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draw_house calls draw_square and draw_triangle internally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428616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428616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" y="1604503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1604503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t.color(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1208" y="1780391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1780391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t.forward(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1208" y="1956278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1956278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" y="2132166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2132166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draw_triangle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1208" y="2308053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2308053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t.color(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" y="2483941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2483941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t.forward(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t.left(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659828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400" y="2659828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08" y="2835716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4400" y="2835716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draw_house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1208" y="3011603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4400" y="3011603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"""House = square body + triangle roof."""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1208" y="3187491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4400" y="3187491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jump(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1208" y="3363378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14400" y="3363378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draw_square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calls another function!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1208" y="3539266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14400" y="3539266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draw_triangle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"firebrick"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composition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1208" y="3715153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4400" y="3715153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1208" y="3891041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14400" y="3891041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draw_house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"wheat"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1208" y="4066928"/>
            <a:ext cx="2926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4400" y="4066928"/>
            <a:ext cx="7836408" cy="1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draw_house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"lightblue"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7200" y="4462272"/>
            <a:ext cx="8366760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21208" y="4462272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</a:rPr>
              <a:t>This is how real programs work: </a:t>
            </a:r>
            <a:r>
              <a:rPr lang="en-US" sz="1150" dirty="0">
                <a:solidFill>
                  <a:srgbClr val="475569"/>
                </a:solidFill>
              </a:rPr>
              <a:t>small functions call each other to build big things. Two function calls replace a hundred lines.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183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4096512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64008" cy="12801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1792" y="877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11D48"/>
                </a:solidFill>
              </a:rPr>
              <a:t>Missing colon after def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" y="1170432"/>
            <a:ext cx="3877056" cy="365760"/>
          </a:xfrm>
          <a:prstGeom prst="rect">
            <a:avLst/>
          </a:prstGeom>
          <a:solidFill>
            <a:srgbClr val="FFF1F2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1170432"/>
            <a:ext cx="3767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" y="1591056"/>
            <a:ext cx="3877056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" y="1591056"/>
            <a:ext cx="3767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square():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822960"/>
            <a:ext cx="4096512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822960"/>
            <a:ext cx="64008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73752" y="877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Body not indented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18888" y="1170432"/>
            <a:ext cx="3877056" cy="365760"/>
          </a:xfrm>
          <a:prstGeom prst="rect">
            <a:avLst/>
          </a:prstGeom>
          <a:solidFill>
            <a:srgbClr val="FFF1F2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73752" y="1170432"/>
            <a:ext cx="3767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print('Hi')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18888" y="1591056"/>
            <a:ext cx="3877056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73752" y="1591056"/>
            <a:ext cx="3767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print('Hi')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2139696"/>
            <a:ext cx="4096512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2139696"/>
            <a:ext cx="6400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1792" y="2194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Calling before defining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2487168"/>
            <a:ext cx="3877056" cy="365760"/>
          </a:xfrm>
          <a:prstGeom prst="rect">
            <a:avLst/>
          </a:prstGeom>
          <a:solidFill>
            <a:srgbClr val="FFF1F2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21792" y="2487168"/>
            <a:ext cx="3767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square()  # called before def!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" y="2907792"/>
            <a:ext cx="3877056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1792" y="2907792"/>
            <a:ext cx="3767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square():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square()  # call after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09160" y="2139696"/>
            <a:ext cx="4096512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09160" y="2139696"/>
            <a:ext cx="6400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73752" y="2194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No parentheses on call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18888" y="2487168"/>
            <a:ext cx="3877056" cy="365760"/>
          </a:xfrm>
          <a:prstGeom prst="rect">
            <a:avLst/>
          </a:prstGeom>
          <a:solidFill>
            <a:srgbClr val="FFF1F2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73752" y="2487168"/>
            <a:ext cx="3767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 # this is the object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818888" y="2907792"/>
            <a:ext cx="3877056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73752" y="2907792"/>
            <a:ext cx="3767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square()  # () makes it run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57200" y="3456432"/>
            <a:ext cx="4096512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7200" y="3456432"/>
            <a:ext cx="64008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21792" y="3511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</a:rPr>
              <a:t>Return value not captured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66928" y="3803904"/>
            <a:ext cx="3877056" cy="365760"/>
          </a:xfrm>
          <a:prstGeom prst="rect">
            <a:avLst/>
          </a:prstGeom>
          <a:solidFill>
            <a:srgbClr val="FFF1F2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21792" y="3803904"/>
            <a:ext cx="3767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square(50)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66928" y="4224528"/>
            <a:ext cx="3877056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21792" y="4224528"/>
            <a:ext cx="3767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square(50)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print(p)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709160" y="3456432"/>
            <a:ext cx="4096512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709160" y="3456432"/>
            <a:ext cx="64008" cy="12801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873752" y="3511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11D48"/>
                </a:solidFill>
              </a:rPr>
              <a:t>Defining but never calling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4818888" y="3803904"/>
            <a:ext cx="3877056" cy="365760"/>
          </a:xfrm>
          <a:prstGeom prst="rect">
            <a:avLst/>
          </a:prstGeom>
          <a:solidFill>
            <a:srgbClr val="FFF1F2"/>
          </a:solidFill>
          <a:ln w="635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73752" y="3803904"/>
            <a:ext cx="3767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print('Hi')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greet never called!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818888" y="4224528"/>
            <a:ext cx="3877056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73752" y="4224528"/>
            <a:ext cx="376732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print('Hi')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  # ← call it!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57200" y="4773168"/>
            <a:ext cx="8366760" cy="27432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94360" y="477316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</a:rPr>
              <a:t>Quick check: def + name + () + : → indented body → call by name + () → use return value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868680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Code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Walk around (or share screens). For each project you view, record three observations: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8321040" cy="841248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64008" cy="84124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01628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F3D0"/>
                </a:solidFill>
              </a:rPr>
              <a:t>One DRY Win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01628" y="204825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 place where functions clearly eliminated repetition. Name the function and describe what it replaced.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651760"/>
            <a:ext cx="8321040" cy="841248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02920" y="2651760"/>
            <a:ext cx="64008" cy="84124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5800" y="2880360"/>
            <a:ext cx="384048" cy="38404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01628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</a:rPr>
              <a:t>One Question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301628" y="305409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Something you don't understand or want to know more about. Be specific — point to the line.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2920" y="3657600"/>
            <a:ext cx="8321040" cy="841248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02920" y="3657600"/>
            <a:ext cx="64008" cy="84124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85800" y="3886200"/>
            <a:ext cx="384048" cy="384048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858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301628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</a:rPr>
              <a:t>One Technique to Steal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301628" y="405993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 creative use of parameters, composition, or naming you want to try in your own code.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02920" y="4681728"/>
            <a:ext cx="8321040" cy="384048"/>
          </a:xfrm>
          <a:prstGeom prst="rect">
            <a:avLst/>
          </a:prstGeom>
          <a:solidFill>
            <a:srgbClr val="100E30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58368" y="468172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Debrief: </a:t>
            </a:r>
            <a:r>
              <a:rPr lang="en-US" sz="1100" dirty="0">
                <a:solidFill>
                  <a:srgbClr val="FFFFFF"/>
                </a:solidFill>
              </a:rPr>
              <a:t>Ask 3 students to share their "technique to steal." Highlight any function composition examples.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4B5FD"/>
                </a:solidFill>
              </a:rPr>
              <a:t>EXIT TICKET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960120"/>
          </a:xfrm>
          <a:prstGeom prst="rect">
            <a:avLst/>
          </a:prstGeom>
          <a:solidFill>
            <a:srgbClr val="0F0D2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143000"/>
            <a:ext cx="78272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Why do functions matter? Use a specific example from today's code to explain your thinking.</a:t>
            </a:r>
            <a:r>
              <a:rPr lang="en-US" sz="2000" dirty="0">
                <a:solidFill>
                  <a:srgbClr val="C4B5FD"/>
                </a:solidFill>
              </a:rPr>
              <a:t>  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267712"/>
            <a:ext cx="4096512" cy="1152144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64008" cy="11521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60604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4712" y="2340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Predict: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4712" y="261518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What does this output?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07208" y="2377440"/>
            <a:ext cx="1664208" cy="89611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80360" y="2395728"/>
            <a:ext cx="1572768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double(n):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print(double(4) + double(3))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267712"/>
            <a:ext cx="4096512" cy="1152144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2267712"/>
            <a:ext cx="64008" cy="11521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260604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76672" y="2340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Fix it: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76672" y="261518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What is wrong here?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59168" y="2377440"/>
            <a:ext cx="1664208" cy="89611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2395728"/>
            <a:ext cx="1572768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print('Hi', name)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593592"/>
            <a:ext cx="4096512" cy="1152144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3593592"/>
            <a:ext cx="64008" cy="1152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" y="393192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4712" y="3666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Explain: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4712" y="394106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Parameter vs. argument — what's the difference? Give an example.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593592"/>
            <a:ext cx="4096512" cy="1152144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593592"/>
            <a:ext cx="64008" cy="11521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7760" y="393192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76672" y="3666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Extend: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394106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How would you add a color parameter to draw_polygon() without breaking existing calls?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Abstraction Matters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3977640" cy="3840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39776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8961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Real-Life Analogy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335024"/>
            <a:ext cx="3703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recipe card is a function.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You write it once — "How to make pasta".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Every time you cook pasta you follow the card.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You don't rewrite the instructions. You just say: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"make pasta".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functions work exactly the same way.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896112"/>
            <a:ext cx="4160520" cy="3840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09160" y="896112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828032" y="896112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Python Code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46320" y="13350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</a:rPr>
              <a:t>Without functions: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28032" y="1609344"/>
            <a:ext cx="3913632" cy="84124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828032" y="1609344"/>
            <a:ext cx="54864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82896" y="1609344"/>
            <a:ext cx="329184" cy="84124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92040" y="1691640"/>
            <a:ext cx="292608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285232" y="1691640"/>
            <a:ext cx="33832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 lines of loops and t.forward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92040" y="1917192"/>
            <a:ext cx="292608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285232" y="1917192"/>
            <a:ext cx="33832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repeated 3 times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892040" y="2142744"/>
            <a:ext cx="292608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285232" y="2142744"/>
            <a:ext cx="33832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size? Edit in 3 places!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46320" y="2542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With functions: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828032" y="2816352"/>
            <a:ext cx="3913632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828032" y="2816352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882896" y="2816352"/>
            <a:ext cx="329184" cy="8229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892040" y="28986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5285232" y="28986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draw_house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4892040" y="311810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5285232" y="3118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draw_house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892040" y="33375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285232" y="3337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draw_house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4846320" y="3703320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Change size? Edit the function once.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three houses update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4B5FD"/>
                </a:solidFill>
              </a:rPr>
              <a:t>RECAP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Today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66928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64008" cy="56692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7453" y="129844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def name(): + indented body defines a reusable function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1956816"/>
            <a:ext cx="8046720" cy="566928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1956816"/>
            <a:ext cx="6400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77453" y="195681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Call a function by writing name() — each call runs the whole body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615184"/>
            <a:ext cx="8046720" cy="566928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48640" y="2615184"/>
            <a:ext cx="64008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77453" y="261518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Parameters receive values at call time; return sends a value back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273552"/>
            <a:ext cx="8046720" cy="566928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48640" y="3273552"/>
            <a:ext cx="64008" cy="56692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77453" y="327355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DRY: Don't Repeat Yourself — functions eliminate copy-paste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3931920"/>
            <a:ext cx="8046720" cy="566928"/>
          </a:xfrm>
          <a:prstGeom prst="rect">
            <a:avLst/>
          </a:prstGeom>
          <a:solidFill>
            <a:srgbClr val="0F0D2E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48640" y="3931920"/>
            <a:ext cx="64008" cy="56692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677453" y="393192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Abstraction: hide details behind a name — draw_house() not 40 lines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2160</Words>
  <Application>Microsoft Macintosh PowerPoint</Application>
  <PresentationFormat>On-screen Show (16:9)</PresentationFormat>
  <Paragraphs>416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— Reuse &amp; Abstraction</dc:title>
  <dc:subject>PptxGenJS Presentation</dc:subject>
  <dc:creator>PptxGenJS</dc:creator>
  <cp:lastModifiedBy>Babichenko, Dmitriy</cp:lastModifiedBy>
  <cp:revision>12</cp:revision>
  <dcterms:created xsi:type="dcterms:W3CDTF">2026-05-19T17:11:42Z</dcterms:created>
  <dcterms:modified xsi:type="dcterms:W3CDTF">2026-07-14T15:51:08Z</dcterms:modified>
</cp:coreProperties>
</file>