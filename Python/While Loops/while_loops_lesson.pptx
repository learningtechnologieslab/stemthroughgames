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94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-548640"/>
            <a:ext cx="3840480" cy="3840480"/>
          </a:xfrm>
          <a:prstGeom prst="ellipse">
            <a:avLst/>
          </a:prstGeom>
          <a:solidFill>
            <a:srgbClr val="17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Control Flow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</a:rPr>
              <a:t>Repeating Until a Condition Is Met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420624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45720" cy="9144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402336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!= </a:t>
            </a: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'correct'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keep_trying()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63040"/>
            <a:ext cx="73152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1208" y="1271016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1161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Warm-Up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1453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Why can't we always count ahead?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258568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" y="2258568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21208" y="2569464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1208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463040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Concept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523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Anatomy of a while loop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749040" y="306324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 min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20040" y="3557016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20040" y="3557016"/>
            <a:ext cx="91440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21208" y="3867912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2120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463040" y="3758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463040" y="4050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Countdown · Password · break &amp; continue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754880" y="960120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754880" y="960120"/>
            <a:ext cx="91440" cy="1143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956048" y="127101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495604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897880" y="1161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Practice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897880" y="1453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Fix-the-bug · Accumulator · Odd numbers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754880" y="2258568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4754880" y="2258568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4956048" y="2569464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4956048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5897880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Mini-Project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5897880" y="27523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Number Guessing Game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4754880" y="3557016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4754880" y="3557016"/>
            <a:ext cx="91440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4956048" y="386791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495604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5897880" y="3758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Share &amp; Wrap-Up</a:t>
            </a:r>
            <a:endParaRPr lang="en-US" sz="1300" dirty="0"/>
          </a:p>
        </p:txBody>
      </p:sp>
      <p:sp>
        <p:nvSpPr>
          <p:cNvPr id="54" name="Text 46"/>
          <p:cNvSpPr/>
          <p:nvPr/>
        </p:nvSpPr>
        <p:spPr>
          <a:xfrm>
            <a:off x="5897880" y="4050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Debrief + Exit ticket</a:t>
            </a:r>
            <a:endParaRPr lang="en-US" sz="1000" dirty="0"/>
          </a:p>
        </p:txBody>
      </p:sp>
      <p:sp>
        <p:nvSpPr>
          <p:cNvPr id="57" name="Text 49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</a:rPr>
              <a:t>WARM-UP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This…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463040"/>
          </a:xfrm>
          <a:prstGeom prst="rect">
            <a:avLst/>
          </a:prstGeom>
          <a:solidFill>
            <a:srgbClr val="1E3A5F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7589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</a:rPr>
              <a:t>❝ How many times do you have to knock on a door before someone answers? Can you know in advance? ❞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384048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384048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 loops  ✓ I know the 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</a:t>
            </a: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2926080"/>
            <a:ext cx="384048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2926080"/>
            <a:ext cx="3840480" cy="3474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while loops  ✓ I stop on condition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3832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door_closed: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keep_knocking()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While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84632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2194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960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r>
              <a:rPr lang="en-US" sz="16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&lt; 5</a:t>
            </a: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5819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print(count)   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2037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</a:t>
            </a:r>
            <a:r>
              <a:rPr lang="en-US" sz="16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r>
              <a:rPr lang="en-US" sz="1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40680" y="868680"/>
            <a:ext cx="3474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40680" y="86868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86868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89320" y="923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while keyword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1216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Python checks the condition before every iteration.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1828800"/>
            <a:ext cx="3474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40680" y="182880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0" y="18288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89320" y="1883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condition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21762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Any True/False expression. Loop runs while True.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2788920"/>
            <a:ext cx="3474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40680" y="2788920"/>
            <a:ext cx="73152" cy="7772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77840" y="27889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89320" y="2843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loop body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31363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Indented code that runs each iteration.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4846320" cy="173736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8368" y="331012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Critical Rule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4360" y="3657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2D12"/>
                </a:solidFill>
              </a:rPr>
              <a:t>Something inside the loop body MUST eventually make the condition False — or the loop runs forever!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Executes a While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868680"/>
            <a:ext cx="164592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868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792224"/>
            <a:ext cx="2103120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condition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True?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18092" y="243111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TRUE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" y="2951128"/>
            <a:ext cx="2542032" cy="566928"/>
          </a:xfrm>
          <a:prstGeom prst="rect">
            <a:avLst/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" y="295112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Run loop body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</a:rPr>
              <a:t>(one iteration)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035808"/>
            <a:ext cx="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3192" y="3035808"/>
            <a:ext cx="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 rot="16200000">
            <a:off x="-57448" y="2377789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back to check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0" y="190911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FALSE 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1792224"/>
            <a:ext cx="201168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49040" y="179222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Exit loop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Continue program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804672"/>
            <a:ext cx="288036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804672"/>
            <a:ext cx="288036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35040" y="8046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Step-by-Step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1298448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65392" y="12984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Python reaches the while keyword.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1984248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72200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5392" y="19842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It evaluates the condition (True/False).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267004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72200" y="2670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65392" y="26700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If True → runs the indented body.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3355848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72200" y="3355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65392" y="3355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Jumps back to step 2 immediately.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4041648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72200" y="4041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65392" y="40416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If False → skips the body and moves on.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Down Arrow 40">
            <a:extLst>
              <a:ext uri="{FF2B5EF4-FFF2-40B4-BE49-F238E27FC236}">
                <a16:creationId xmlns:a16="http://schemas.microsoft.com/office/drawing/2014/main" id="{1F95BB94-6BC5-CFC7-CE7C-6D2967D7B5C3}"/>
              </a:ext>
            </a:extLst>
          </p:cNvPr>
          <p:cNvSpPr/>
          <p:nvPr/>
        </p:nvSpPr>
        <p:spPr>
          <a:xfrm>
            <a:off x="1749287" y="1325880"/>
            <a:ext cx="159026" cy="4663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16EED2D4-6511-1612-0E94-B6388A25FE89}"/>
              </a:ext>
            </a:extLst>
          </p:cNvPr>
          <p:cNvSpPr/>
          <p:nvPr/>
        </p:nvSpPr>
        <p:spPr>
          <a:xfrm>
            <a:off x="1749287" y="2399107"/>
            <a:ext cx="159026" cy="5508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20B47D47-44D3-04BA-E324-16B923DFA8B7}"/>
              </a:ext>
            </a:extLst>
          </p:cNvPr>
          <p:cNvSpPr/>
          <p:nvPr/>
        </p:nvSpPr>
        <p:spPr>
          <a:xfrm rot="16200000">
            <a:off x="3227782" y="1689604"/>
            <a:ext cx="173835" cy="8686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Bent Arrow 43">
            <a:extLst>
              <a:ext uri="{FF2B5EF4-FFF2-40B4-BE49-F238E27FC236}">
                <a16:creationId xmlns:a16="http://schemas.microsoft.com/office/drawing/2014/main" id="{5971BE5C-4A3C-1D90-E716-337FF79534EB}"/>
              </a:ext>
            </a:extLst>
          </p:cNvPr>
          <p:cNvSpPr/>
          <p:nvPr/>
        </p:nvSpPr>
        <p:spPr>
          <a:xfrm>
            <a:off x="457200" y="1996573"/>
            <a:ext cx="320040" cy="95336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28600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Zone: The Infinite Loop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3931920" cy="2194560"/>
          </a:xfrm>
          <a:prstGeom prst="rect">
            <a:avLst/>
          </a:prstGeom>
          <a:solidFill>
            <a:srgbClr val="2D0000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64008" cy="21945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BROKEN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" y="1325880"/>
            <a:ext cx="3657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
</a:t>
            </a:r>
            <a:r>
              <a:rPr lang="en-US" sz="13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&lt; 5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print(count)
</a:t>
            </a:r>
            <a:r>
              <a:rPr lang="en-US" sz="13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forgot to update!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3484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6B6D4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892040" y="914400"/>
            <a:ext cx="3931920" cy="2194560"/>
          </a:xfrm>
          <a:prstGeom prst="rect">
            <a:avLst/>
          </a:prstGeom>
          <a:solidFill>
            <a:srgbClr val="002D1A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92040" y="914400"/>
            <a:ext cx="64008" cy="2194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FIXED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47488" y="1325880"/>
            <a:ext cx="3657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
</a:t>
            </a:r>
            <a:r>
              <a:rPr lang="en-US" sz="13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&lt; 5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print(count)
</a:t>
            </a:r>
            <a:r>
              <a:rPr lang="en-US" sz="13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</a:t>
            </a:r>
            <a:r>
              <a:rPr lang="en-US" sz="13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 </a:t>
            </a: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update!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8366760" cy="1554480"/>
          </a:xfrm>
          <a:prstGeom prst="rect">
            <a:avLst/>
          </a:prstGeom>
          <a:solidFill>
            <a:srgbClr val="1C191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3401568"/>
            <a:ext cx="7927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Tip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21792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Before you run your while loop, ask yourself: "What changes inside the body that will eventually make the condition False?"  If you can't answer — your loop is probably infinite.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  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Timer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5120640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4864" cy="30175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1234440"/>
            <a:ext cx="4937760" cy="3017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countdown = 10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while countdown &gt; 0: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    print(countdown)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    countdown -= 1   # same as countdown = countdown - 1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print('Blast off!')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1234440"/>
            <a:ext cx="3063240" cy="3017520"/>
          </a:xfrm>
          <a:prstGeom prst="rect">
            <a:avLst/>
          </a:prstGeom>
          <a:solidFill>
            <a:srgbClr val="0F2A1A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60720" y="1234440"/>
            <a:ext cx="306324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97880" y="12344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▶  Output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1664208"/>
            <a:ext cx="28346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Blast off! 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" y="1463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6B6D4"/>
                </a:solidFill>
              </a:rPr>
              <a:t>← Set starting value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5488" y="2148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6B6D4"/>
                </a:solidFill>
              </a:rPr>
              <a:t>← Condition: keep looping while positive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9928" y="2844577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6B6D4"/>
                </a:solidFill>
              </a:rPr>
              <a:t>← Print current value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5488" y="3383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6B6D4"/>
                </a:solidFill>
              </a:rPr>
              <a:t>← Decrement — crucial update!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4370832"/>
            <a:ext cx="8366760" cy="594360"/>
          </a:xfrm>
          <a:prstGeom prst="rect">
            <a:avLst/>
          </a:prstGeom>
          <a:solidFill>
            <a:srgbClr val="172D4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4370832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</a:rPr>
              <a:t>Predict: What happens if we change  countdown &gt; 0  to  countdown &gt; 5 ?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 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Gate  —  Input Validation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32104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" cy="2560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8138160" cy="2560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password = ''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while password != 'python123':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    password = input('Enter the password: ')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print('Access granted!')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38404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7666" y="4069080"/>
            <a:ext cx="3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Why while?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4370832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We don't know how many attempts the user needs. We only know when to stop.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3977640"/>
            <a:ext cx="411480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905955" y="4069080"/>
            <a:ext cx="37076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Sentinel Value Pattern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28032" y="437083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 special value ('python123') signals the loop to stop. Very common in real programs!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  3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 and  continue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6052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60520" cy="3657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52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break  — Exit immediately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3931920" cy="182880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1737360"/>
            <a:ext cx="38404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int(input())
</a:t>
            </a: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== 0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exit!
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print(num)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361188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Tip: while True: combined with break is common for 'loop until user quits' patterns.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1234440"/>
            <a:ext cx="402336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00600" y="1234440"/>
            <a:ext cx="4023360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8016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2527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continue  — Skip iteration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92040" y="1691640"/>
            <a:ext cx="3840480" cy="182880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029200" y="1737360"/>
            <a:ext cx="365760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
</a:t>
            </a: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 10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+= </a:t>
            </a: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
</a:t>
            </a: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% 2 == </a:t>
            </a: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 # odds only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937760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Output: 1  3  5  7  9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continue skips even numbers and jumps back to the condition.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406908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3152" cy="89611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509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loop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Repeats its body as long as the condition is True.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6908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3152" cy="89611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751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condition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Boolean expression checked before each iteration.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406908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73152" cy="8961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3101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One single execution of the loop body.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406908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968496"/>
            <a:ext cx="73152" cy="8961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 loop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33425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loop whose condition never becomes False — program freezes.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896112"/>
            <a:ext cx="406908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896112"/>
            <a:ext cx="73152" cy="89611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9509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12618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Statement that immediately exits the enclosing loop.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920240"/>
            <a:ext cx="406908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73152" cy="89611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19751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286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Skips the rest of this iteration; jumps back to check.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944368"/>
            <a:ext cx="406908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944368"/>
            <a:ext cx="73152" cy="8961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2999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value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3101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special input that signals the loop to stop.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69080" cy="1965960"/>
          </a:xfrm>
          <a:prstGeom prst="rect">
            <a:avLst/>
          </a:prstGeom>
          <a:solidFill>
            <a:srgbClr val="FFF1F0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6908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9784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509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Exercise A — Fix the Bug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1371600"/>
            <a:ext cx="3840480" cy="1024128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1389888"/>
            <a:ext cx="3657600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&gt; 0: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← what's missing?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249631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Add a line to count down by 10 each time.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069080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406908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9784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9509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Exercise B — Sum Accumulator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64608" y="1371600"/>
            <a:ext cx="3840480" cy="1024128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956048" y="1389888"/>
            <a:ext cx="3657600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asking for a number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it to total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Stop when user enters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892040" y="249631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Use a sentinel value of 0 to exit the loop.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" y="3063240"/>
            <a:ext cx="4069080" cy="1965960"/>
          </a:xfrm>
          <a:prstGeom prst="rect">
            <a:avLst/>
          </a:prstGeom>
          <a:solidFill>
            <a:srgbClr val="FAF5FF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3063240"/>
            <a:ext cx="4069080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12724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30998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Exercise C — Odd Number Printer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520440"/>
            <a:ext cx="3840480" cy="1024128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58368" y="3538728"/>
            <a:ext cx="3657600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 &lt; 20: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+=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skip even numbers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print odd ones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94360" y="464515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Use continue to skip when n % 2 == 0.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754880" y="3063240"/>
            <a:ext cx="4069080" cy="1965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754880" y="3063240"/>
            <a:ext cx="406908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12724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66360" y="30906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Early Finisher Challenge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892040" y="352044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Modify Exercise B so it also keeps track of the count of numbers entered, and prints the average at the end.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</a:rPr>
              <a:t>Bonus: Reject negative numbers using continue.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Number Guessing Game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502920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54864" cy="4023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877824"/>
            <a:ext cx="4754880" cy="3886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
secret = random.randint(</a:t>
            </a: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attempts = </a:t>
            </a: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
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max_attempts = </a:t>
            </a: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
</a:t>
            </a: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attempts &lt; max_attempts:
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guess = int(input(</a:t>
            </a: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'Guess (1-20): '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
    attempts += </a:t>
            </a: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
</a:t>
            </a: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Your code: compare guess to secret
    # Use break if correct!
# Handle: what if all attempts are used?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23560" y="822960"/>
            <a:ext cx="3200400" cy="4023360"/>
          </a:xfrm>
          <a:prstGeom prst="rect">
            <a:avLst/>
          </a:prstGeom>
          <a:solidFill>
            <a:srgbClr val="0D1F2D"/>
          </a:solidFill>
          <a:ln w="1270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23560" y="822960"/>
            <a:ext cx="3200400" cy="3474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15000" y="822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Requirements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42432" y="1261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Random secret 1–20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42432" y="17922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Up to 5 guesses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42432" y="232257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Print 'Too high!' / 'Too low!'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42432" y="285292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Use break when correct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42432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💀  Reveal answer if out of guesses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23560" y="3200400"/>
            <a:ext cx="3200400" cy="1508760"/>
          </a:xfrm>
          <a:prstGeom prst="rect">
            <a:avLst/>
          </a:prstGeom>
          <a:solidFill>
            <a:srgbClr val="1A2A3A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42432" y="3246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 Extension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42432" y="3566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Add difficulty: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• Easy = 10 guesses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• Hard = 3 guesses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Ask the player at the start!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Answer before you leave!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36676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0352" y="14630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What does this print? Is it an infinite loop?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74920" y="1234440"/>
            <a:ext cx="3657600" cy="9601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93792" y="1252728"/>
            <a:ext cx="349300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&gt; 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-=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8366760" cy="11704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0352" y="276148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32888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In one sentence: when would you use a while loop instead of a for loop?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39896"/>
            <a:ext cx="8366760" cy="1170432"/>
          </a:xfrm>
          <a:prstGeom prst="rect">
            <a:avLst/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0352" y="4059936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831336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Fix the one missing line: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74920" y="3831336"/>
            <a:ext cx="3657600" cy="960120"/>
          </a:xfrm>
          <a:prstGeom prst="rect">
            <a:avLst/>
          </a:prstGeom>
          <a:solidFill>
            <a:srgbClr val="1E293B"/>
          </a:solidFill>
          <a:ln w="508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93792" y="3849624"/>
            <a:ext cx="349300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total &lt; 100: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 # ← fix this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Watch For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896112"/>
            <a:ext cx="406908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896112"/>
            <a:ext cx="73152" cy="12984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9509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Missing colon after while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96112" y="1298448"/>
            <a:ext cx="3520440" cy="347472"/>
          </a:xfrm>
          <a:prstGeom prst="rect">
            <a:avLst/>
          </a:prstGeom>
          <a:solidFill>
            <a:srgbClr val="FFF1F0"/>
          </a:solidFill>
          <a:ln w="508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1298448"/>
            <a:ext cx="3429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&gt; 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96112" y="1719072"/>
            <a:ext cx="3520440" cy="347472"/>
          </a:xfrm>
          <a:prstGeom prst="rect">
            <a:avLst/>
          </a:prstGeom>
          <a:solidFill>
            <a:srgbClr val="F0FDF4"/>
          </a:solidFill>
          <a:ln w="508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1719072"/>
            <a:ext cx="3429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&gt; 0: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313432"/>
            <a:ext cx="406908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313432"/>
            <a:ext cx="73152" cy="129844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2368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Using = instead of ==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6112" y="2715768"/>
            <a:ext cx="3520440" cy="347472"/>
          </a:xfrm>
          <a:prstGeom prst="rect">
            <a:avLst/>
          </a:prstGeom>
          <a:solidFill>
            <a:srgbClr val="FFF1F0"/>
          </a:solidFill>
          <a:ln w="508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60120" y="2715768"/>
            <a:ext cx="3429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= 5: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96112" y="3136392"/>
            <a:ext cx="3520440" cy="347472"/>
          </a:xfrm>
          <a:prstGeom prst="rect">
            <a:avLst/>
          </a:prstGeom>
          <a:solidFill>
            <a:srgbClr val="F0FDF4"/>
          </a:solidFill>
          <a:ln w="508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60120" y="3136392"/>
            <a:ext cx="3429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== 5: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730752"/>
            <a:ext cx="406908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3730752"/>
            <a:ext cx="73152" cy="129844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3785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Forgetting to indent body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96112" y="4133088"/>
            <a:ext cx="3520440" cy="347472"/>
          </a:xfrm>
          <a:prstGeom prst="rect">
            <a:avLst/>
          </a:prstGeom>
          <a:solidFill>
            <a:srgbClr val="FFF1F0"/>
          </a:solidFill>
          <a:ln w="508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60120" y="4133088"/>
            <a:ext cx="3429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96112" y="4553712"/>
            <a:ext cx="3520440" cy="347472"/>
          </a:xfrm>
          <a:prstGeom prst="rect">
            <a:avLst/>
          </a:prstGeom>
          <a:solidFill>
            <a:srgbClr val="F0FDF4"/>
          </a:solidFill>
          <a:ln w="508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60120" y="4553712"/>
            <a:ext cx="3429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09160" y="896112"/>
            <a:ext cx="406908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709160" y="896112"/>
            <a:ext cx="73152" cy="12984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92040" y="9509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Not casting input() to int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148072" y="1298448"/>
            <a:ext cx="3520440" cy="347472"/>
          </a:xfrm>
          <a:prstGeom prst="rect">
            <a:avLst/>
          </a:prstGeom>
          <a:solidFill>
            <a:srgbClr val="FFF1F0"/>
          </a:solidFill>
          <a:ln w="508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212080" y="1298448"/>
            <a:ext cx="3429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guess &gt; secret: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148072" y="1719072"/>
            <a:ext cx="3520440" cy="347472"/>
          </a:xfrm>
          <a:prstGeom prst="rect">
            <a:avLst/>
          </a:prstGeom>
          <a:solidFill>
            <a:srgbClr val="F0FDF4"/>
          </a:solidFill>
          <a:ln w="508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212080" y="1719072"/>
            <a:ext cx="3429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int(guess) &gt; secret: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709160" y="2313432"/>
            <a:ext cx="4069080" cy="12984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709160" y="2313432"/>
            <a:ext cx="73152" cy="12984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892040" y="2368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Updating counter after loop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148072" y="2715768"/>
            <a:ext cx="3520440" cy="347472"/>
          </a:xfrm>
          <a:prstGeom prst="rect">
            <a:avLst/>
          </a:prstGeom>
          <a:solidFill>
            <a:srgbClr val="FFF1F0"/>
          </a:solidFill>
          <a:ln w="5080">
            <a:solidFill>
              <a:srgbClr val="FF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212080" y="2715768"/>
            <a:ext cx="3429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5: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1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148072" y="3136392"/>
            <a:ext cx="3520440" cy="347472"/>
          </a:xfrm>
          <a:prstGeom prst="rect">
            <a:avLst/>
          </a:prstGeom>
          <a:solidFill>
            <a:srgbClr val="F0FDF4"/>
          </a:solidFill>
          <a:ln w="508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5212080" y="3136392"/>
            <a:ext cx="3429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5: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+= 1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7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30352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4864" cy="56692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4944" y="1325880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while loops repeat as long as a condition is True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011680"/>
            <a:ext cx="530352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2920" y="2011680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94944" y="2011680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Always update the loop variable — prevent infinite loops!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2697480"/>
            <a:ext cx="530352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02920" y="2697480"/>
            <a:ext cx="54864" cy="5669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94944" y="2697480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break exits a loop early when needed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02920" y="3383280"/>
            <a:ext cx="530352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02920" y="3383280"/>
            <a:ext cx="54864" cy="5669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94944" y="3383280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continue skips the current iteration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02920" y="4069080"/>
            <a:ext cx="530352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02920" y="4069080"/>
            <a:ext cx="54864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694944" y="4069080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Use while for unknown repeat counts (input validation)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989320" y="1325880"/>
            <a:ext cx="2834640" cy="3474720"/>
          </a:xfrm>
          <a:prstGeom prst="rect">
            <a:avLst/>
          </a:prstGeom>
          <a:solidFill>
            <a:srgbClr val="0D1F2D"/>
          </a:solidFill>
          <a:ln w="1270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989320" y="1325880"/>
            <a:ext cx="283464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608076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 Next →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080760" y="17830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Lesson 4.3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Nested Loops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&amp; Combining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for + while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080760" y="363931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Keep working on your guessing game for extra practice!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02920" y="4663440"/>
            <a:ext cx="8366760" cy="292608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1293</Words>
  <Application>Microsoft Macintosh PowerPoint</Application>
  <PresentationFormat>On-screen Show (16:9)</PresentationFormat>
  <Paragraphs>255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While Loops &amp; Control Flow</dc:title>
  <dc:subject>PptxGenJS Presentation</dc:subject>
  <dc:creator>PptxGenJS</dc:creator>
  <cp:lastModifiedBy>Babichenko, Dmitriy</cp:lastModifiedBy>
  <cp:revision>16</cp:revision>
  <dcterms:created xsi:type="dcterms:W3CDTF">2026-05-19T14:55:38Z</dcterms:created>
  <dcterms:modified xsi:type="dcterms:W3CDTF">2026-07-14T01:22:38Z</dcterms:modified>
</cp:coreProperties>
</file>