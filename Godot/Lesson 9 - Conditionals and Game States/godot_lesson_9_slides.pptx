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1" d="100"/>
          <a:sy n="161" d="100"/>
        </p:scale>
        <p:origin x="224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39434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097280"/>
            <a:ext cx="4114800" cy="411480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371600" y="2926080"/>
            <a:ext cx="2743200" cy="274320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365760"/>
            <a:ext cx="2011680" cy="365760"/>
          </a:xfrm>
          <a:prstGeom prst="roundRect">
            <a:avLst>
              <a:gd name="adj" fmla="val 12500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STEM THROUGH GAMES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822960"/>
            <a:ext cx="1005840" cy="320040"/>
          </a:xfrm>
          <a:prstGeom prst="roundRect">
            <a:avLst>
              <a:gd name="adj" fmla="val 14286"/>
            </a:avLst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1F3D"/>
                </a:solidFill>
              </a:rPr>
              <a:t>DAY 9 / 20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1234440"/>
            <a:ext cx="5486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Conditionals &amp;</a:t>
            </a:r>
            <a:endParaRPr lang="en-US" sz="4800" dirty="0"/>
          </a:p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Game States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457200" y="32461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9BD5"/>
                </a:solidFill>
              </a:rPr>
              <a:t>Boolean Logic and Branching  |  GDScript  |  Godot 4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675120" y="731520"/>
            <a:ext cx="2194560" cy="36576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914400"/>
            <a:ext cx="411480" cy="4114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498080" y="9601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9BD5"/>
                </a:solidFill>
              </a:rPr>
              <a:t>GDScript</a:t>
            </a:r>
            <a:endParaRPr lang="en-US" sz="12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0" y="1719072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498080" y="176479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9BD5"/>
                </a:solidFill>
              </a:rPr>
              <a:t>Logic</a:t>
            </a:r>
            <a:endParaRPr lang="en-US" sz="12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880" y="2523744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498080" y="2569464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9BD5"/>
                </a:solidFill>
              </a:rPr>
              <a:t>Godot 4</a:t>
            </a:r>
            <a:endParaRPr lang="en-US" sz="12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0880" y="3328416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498080" y="3374136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9BD5"/>
                </a:solidFill>
              </a:rPr>
              <a:t>Game States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4"/>
          <p:cNvSpPr/>
          <p:nvPr/>
        </p:nvSpPr>
        <p:spPr>
          <a:xfrm>
            <a:off x="274320" y="477316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Middle School Game Design  |  50-60 Minutes  |  Godot Game Engine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Today's Lesson Overview</a:t>
            </a:r>
            <a:endParaRPr lang="en-US" sz="3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228600"/>
            <a:ext cx="502920" cy="502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28600" y="1234440"/>
            <a:ext cx="20116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228600" y="1234440"/>
            <a:ext cx="2011680" cy="73152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896112" y="1463040"/>
            <a:ext cx="685800" cy="685800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" y="1581912"/>
            <a:ext cx="411480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28600" y="22860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Warm-Up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320040" y="274320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Real-life if/else thinking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7–10 minutes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2514600" y="1234440"/>
            <a:ext cx="20116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2514600" y="1234440"/>
            <a:ext cx="2011680" cy="73152"/>
          </a:xfrm>
          <a:prstGeom prst="rect">
            <a:avLst/>
          </a:prstGeom>
          <a:solidFill>
            <a:srgbClr val="217A3C"/>
          </a:solidFill>
          <a:ln w="12700">
            <a:solidFill>
              <a:srgbClr val="217A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3182112" y="1463040"/>
            <a:ext cx="685800" cy="685800"/>
          </a:xfrm>
          <a:prstGeom prst="ellipse">
            <a:avLst/>
          </a:prstGeom>
          <a:solidFill>
            <a:srgbClr val="217A3C"/>
          </a:solidFill>
          <a:ln w="12700">
            <a:solidFill>
              <a:srgbClr val="217A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0128" y="1581912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514600" y="22860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Coding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2606040" y="274320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Health system in GDScript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25–30 minutes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4800600" y="1234440"/>
            <a:ext cx="20116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3"/>
          <p:cNvSpPr/>
          <p:nvPr/>
        </p:nvSpPr>
        <p:spPr>
          <a:xfrm>
            <a:off x="4800600" y="1234440"/>
            <a:ext cx="2011680" cy="7315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5468112" y="1463040"/>
            <a:ext cx="685800" cy="68580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96128" y="1581912"/>
            <a:ext cx="411480" cy="4114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800600" y="22860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Math</a:t>
            </a:r>
            <a:endParaRPr lang="en-US" sz="1700" dirty="0"/>
          </a:p>
        </p:txBody>
      </p:sp>
      <p:sp>
        <p:nvSpPr>
          <p:cNvPr id="22" name="Text 16"/>
          <p:cNvSpPr/>
          <p:nvPr/>
        </p:nvSpPr>
        <p:spPr>
          <a:xfrm>
            <a:off x="4892040" y="274320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Operators &amp; Boolean logic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8–10 minutes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7086600" y="1234440"/>
            <a:ext cx="20116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8"/>
          <p:cNvSpPr/>
          <p:nvPr/>
        </p:nvSpPr>
        <p:spPr>
          <a:xfrm>
            <a:off x="7086600" y="1234440"/>
            <a:ext cx="2011680" cy="7315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7754112" y="1463040"/>
            <a:ext cx="685800" cy="685800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82128" y="1581912"/>
            <a:ext cx="411480" cy="41148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086600" y="22860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Challenge</a:t>
            </a:r>
            <a:endParaRPr lang="en-US" sz="1700" dirty="0"/>
          </a:p>
        </p:txBody>
      </p:sp>
      <p:sp>
        <p:nvSpPr>
          <p:cNvPr id="28" name="Text 21"/>
          <p:cNvSpPr/>
          <p:nvPr/>
        </p:nvSpPr>
        <p:spPr>
          <a:xfrm>
            <a:off x="7178040" y="274320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Win condition &amp; extensions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10–12 minutes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228600" y="4663440"/>
            <a:ext cx="8686800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3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🎯  Focus: Use conditionals to make your game respond differently to different situations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17520" cy="51435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548640"/>
            <a:ext cx="1005840" cy="10058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" y="1645920"/>
            <a:ext cx="2651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</a:t>
            </a:r>
            <a:endParaRPr lang="en-US" sz="2600" dirty="0"/>
          </a:p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Objectives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82880" y="301752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9BD5"/>
                </a:solidFill>
              </a:rPr>
              <a:t>By the end of today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5B9BD5"/>
                </a:solidFill>
              </a:rPr>
              <a:t>you will be able to: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3291840" y="320040"/>
            <a:ext cx="5577840" cy="91440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3291840" y="320040"/>
            <a:ext cx="73152" cy="9144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3401568" y="320040"/>
            <a:ext cx="502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B9BD5"/>
                </a:solidFill>
              </a:rPr>
              <a:t>01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3931920" y="384048"/>
            <a:ext cx="48463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F3D"/>
                </a:solidFill>
              </a:rPr>
              <a:t>Write if/elif/else statements in GDScript to control game behavior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291840" y="1417320"/>
            <a:ext cx="55778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291840" y="1417320"/>
            <a:ext cx="73152" cy="9144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401568" y="1417320"/>
            <a:ext cx="502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B9BD5"/>
                </a:solidFill>
              </a:rPr>
              <a:t>02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3931920" y="1481328"/>
            <a:ext cx="48463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F3D"/>
                </a:solidFill>
              </a:rPr>
              <a:t>Track game states: playing, game over, and win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3291840" y="2514600"/>
            <a:ext cx="5577840" cy="91440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3291840" y="2514600"/>
            <a:ext cx="73152" cy="9144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3401568" y="2514600"/>
            <a:ext cx="502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B9BD5"/>
                </a:solidFill>
              </a:rPr>
              <a:t>03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3931920" y="2578608"/>
            <a:ext cx="48463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F3D"/>
                </a:solidFill>
              </a:rPr>
              <a:t>Change behavior based on runtime conditions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3291840" y="3611880"/>
            <a:ext cx="55778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3291840" y="3611880"/>
            <a:ext cx="73152" cy="9144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3401568" y="3611880"/>
            <a:ext cx="502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B9BD5"/>
                </a:solidFill>
              </a:rPr>
              <a:t>04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3931920" y="3675888"/>
            <a:ext cx="48463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F3D"/>
                </a:solidFill>
              </a:rPr>
              <a:t>Use comparison operators (==, !=, &lt;, &gt;, &lt;=, &gt;=) and Boolean logic (&amp;&amp;, ||, !)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01168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9144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Warm-Up: Real-World If/Else  (7–10 min)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365760" y="1097280"/>
            <a:ext cx="8412480" cy="822960"/>
          </a:xfrm>
          <a:prstGeom prst="roundRect">
            <a:avLst>
              <a:gd name="adj" fmla="val 11111"/>
            </a:avLst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57200" y="10972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i="1" dirty="0">
                <a:solidFill>
                  <a:srgbClr val="F4B942"/>
                </a:solidFill>
              </a:rPr>
              <a:t>"IF it is raining THEN take an umbrella ELSE wear sunglasses."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365760" y="2103120"/>
            <a:ext cx="2651760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E07B39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365760" y="2103120"/>
            <a:ext cx="2651760" cy="38404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65760" y="210312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Example 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2542032"/>
            <a:ext cx="24688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player touches a spike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lose 1 life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ELSE keep running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200400" y="2103120"/>
            <a:ext cx="2651760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E07B39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200400" y="2103120"/>
            <a:ext cx="2651760" cy="38404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3200400" y="210312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Example 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291840" y="2542032"/>
            <a:ext cx="24688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score reaches 100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display "Level Up!"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ELSE continue playing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035040" y="2103120"/>
            <a:ext cx="2651760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E07B39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6035040" y="2103120"/>
            <a:ext cx="2651760" cy="38404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035040" y="210312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Example 3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126480" y="2542032"/>
            <a:ext cx="24688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enemy sees the player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chase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ELSE patrol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7B39"/>
                </a:solidFill>
              </a:rPr>
              <a:t>💬  Now YOU try: Come up with your own game if/else example!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01168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9144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Are Conditionals?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234440"/>
            <a:ext cx="2560320" cy="1005840"/>
          </a:xfrm>
          <a:prstGeom prst="roundRect">
            <a:avLst>
              <a:gd name="adj" fmla="val 9091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57200" y="123444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Condition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Checked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3017520" y="1737360"/>
            <a:ext cx="64008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3035808" y="15544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200400" y="1234440"/>
            <a:ext cx="2560320" cy="1005840"/>
          </a:xfrm>
          <a:prstGeom prst="roundRect">
            <a:avLst>
              <a:gd name="adj" fmla="val 9091"/>
            </a:avLst>
          </a:prstGeom>
          <a:solidFill>
            <a:srgbClr val="217A3C"/>
          </a:solidFill>
          <a:ln w="12700">
            <a:solidFill>
              <a:srgbClr val="217A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3200400" y="123444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TRUE →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Run this code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760720" y="1737360"/>
            <a:ext cx="64008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779008" y="15544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943600" y="1234440"/>
            <a:ext cx="2560320" cy="1005840"/>
          </a:xfrm>
          <a:prstGeom prst="roundRect">
            <a:avLst>
              <a:gd name="adj" fmla="val 9091"/>
            </a:avLst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943600" y="123444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FALSE →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Skip / try elif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57200" y="2423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F3D"/>
                </a:solidFill>
              </a:rPr>
              <a:t>The Three Branches of GDScript Conditionals: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457200" y="2880360"/>
            <a:ext cx="8229600" cy="566928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457200" y="2880360"/>
            <a:ext cx="73152" cy="56692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94360" y="2880360"/>
            <a:ext cx="822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if: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554480" y="2880360"/>
            <a:ext cx="7040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F3D"/>
                </a:solidFill>
              </a:rPr>
              <a:t>Checks the first condition. Runs its block if TRUE.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57200" y="3538728"/>
            <a:ext cx="8229600" cy="566928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457200" y="3538728"/>
            <a:ext cx="73152" cy="56692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594360" y="3538728"/>
            <a:ext cx="822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elif: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1554480" y="3538728"/>
            <a:ext cx="7040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F3D"/>
                </a:solidFill>
              </a:rPr>
              <a:t>Only checked if the previous condition was FALSE. Can chain multiple.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57200" y="4197096"/>
            <a:ext cx="8229600" cy="566928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457200" y="4197096"/>
            <a:ext cx="73152" cy="56692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594360" y="4197096"/>
            <a:ext cx="822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1554480" y="4197096"/>
            <a:ext cx="7040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F3D"/>
                </a:solidFill>
              </a:rPr>
              <a:t>Catch-all. Runs only when ALL previous conditions were FALSE.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8288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914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Let's Write It: Health System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274320" y="1005840"/>
            <a:ext cx="5212080" cy="384048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57200" y="109728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Player variables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1316736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health = 100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1536192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score = 0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1975104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 take_damage(amount):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219456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health -= amount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57200" y="2633472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health &lt;= 0: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2852928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print("Game Over!")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7200" y="3072384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6D3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get_tree().reload_current_scene()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3511296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elif health &lt; 30: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57200" y="3730752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print("Warning: Low health!")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57200" y="4169664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else: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7200" y="438912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print("Health: ", health)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532120" y="1234440"/>
            <a:ext cx="274320" cy="0"/>
          </a:xfrm>
          <a:prstGeom prst="line">
            <a:avLst/>
          </a:prstGeom>
          <a:noFill/>
          <a:ln w="12700">
            <a:solidFill>
              <a:srgbClr val="5B9B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5806440" y="1188720"/>
            <a:ext cx="3017520" cy="502920"/>
          </a:xfrm>
          <a:prstGeom prst="rect">
            <a:avLst/>
          </a:prstGeom>
          <a:solidFill>
            <a:srgbClr val="1A2A4A"/>
          </a:solidFill>
          <a:ln w="12700">
            <a:solidFill>
              <a:srgbClr val="2A3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897880" y="1197864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9BD5"/>
                </a:solidFill>
              </a:rPr>
              <a:t>Variables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897880" y="142646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BB4"/>
                </a:solidFill>
              </a:rPr>
              <a:t>Track health &amp; score state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532120" y="1920240"/>
            <a:ext cx="274320" cy="0"/>
          </a:xfrm>
          <a:prstGeom prst="line">
            <a:avLst/>
          </a:prstGeom>
          <a:noFill/>
          <a:ln w="12700">
            <a:solidFill>
              <a:srgbClr val="FFA6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5806440" y="1874520"/>
            <a:ext cx="3017520" cy="502920"/>
          </a:xfrm>
          <a:prstGeom prst="rect">
            <a:avLst/>
          </a:prstGeom>
          <a:solidFill>
            <a:srgbClr val="1A2A4A"/>
          </a:solidFill>
          <a:ln w="12700">
            <a:solidFill>
              <a:srgbClr val="2A3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5897880" y="1883664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A657"/>
                </a:solidFill>
              </a:rPr>
              <a:t>Function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897880" y="211226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BB4"/>
                </a:solidFill>
              </a:rPr>
              <a:t>Called whenever damage happens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5532120" y="2606040"/>
            <a:ext cx="274320" cy="0"/>
          </a:xfrm>
          <a:prstGeom prst="line">
            <a:avLst/>
          </a:prstGeom>
          <a:noFill/>
          <a:ln w="12700">
            <a:solidFill>
              <a:srgbClr val="C586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5806440" y="2560320"/>
            <a:ext cx="3017520" cy="502920"/>
          </a:xfrm>
          <a:prstGeom prst="rect">
            <a:avLst/>
          </a:prstGeom>
          <a:solidFill>
            <a:srgbClr val="1A2A4A"/>
          </a:solidFill>
          <a:ln w="12700">
            <a:solidFill>
              <a:srgbClr val="2A3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5897880" y="2569464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586C0"/>
                </a:solidFill>
              </a:rPr>
              <a:t>if branch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5897880" y="279806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BB4"/>
                </a:solidFill>
              </a:rPr>
              <a:t>Player dead → Game Over!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5532120" y="3337560"/>
            <a:ext cx="274320" cy="0"/>
          </a:xfrm>
          <a:prstGeom prst="line">
            <a:avLst/>
          </a:prstGeom>
          <a:noFill/>
          <a:ln w="12700">
            <a:solidFill>
              <a:srgbClr val="C586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5806440" y="3291840"/>
            <a:ext cx="3017520" cy="502920"/>
          </a:xfrm>
          <a:prstGeom prst="rect">
            <a:avLst/>
          </a:prstGeom>
          <a:solidFill>
            <a:srgbClr val="1A2A4A"/>
          </a:solidFill>
          <a:ln w="12700">
            <a:solidFill>
              <a:srgbClr val="2A3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5897880" y="3300984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586C0"/>
                </a:solidFill>
              </a:rPr>
              <a:t>elif branch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5897880" y="352958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BB4"/>
                </a:solidFill>
              </a:rPr>
              <a:t>Low health warning (&lt; 30)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5532120" y="4023360"/>
            <a:ext cx="274320" cy="0"/>
          </a:xfrm>
          <a:prstGeom prst="line">
            <a:avLst/>
          </a:prstGeom>
          <a:noFill/>
          <a:ln w="127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5806440" y="3977640"/>
            <a:ext cx="3017520" cy="502920"/>
          </a:xfrm>
          <a:prstGeom prst="rect">
            <a:avLst/>
          </a:prstGeom>
          <a:solidFill>
            <a:srgbClr val="1A2A4A"/>
          </a:solidFill>
          <a:ln w="12700">
            <a:solidFill>
              <a:srgbClr val="2A3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5897880" y="3986784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949E"/>
                </a:solidFill>
              </a:rPr>
              <a:t>else branch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5897880" y="421538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BB4"/>
                </a:solidFill>
              </a:rPr>
              <a:t>Normal: show health value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17A3C"/>
          </a:solidFill>
          <a:ln w="12700">
            <a:solidFill>
              <a:srgbClr val="217A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8288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914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 Walk-Through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274320" y="1051560"/>
            <a:ext cx="859536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274320" y="1051560"/>
            <a:ext cx="54864" cy="676656"/>
          </a:xfrm>
          <a:prstGeom prst="rect">
            <a:avLst/>
          </a:prstGeom>
          <a:solidFill>
            <a:srgbClr val="79C0FF"/>
          </a:solidFill>
          <a:ln w="12700">
            <a:solidFill>
              <a:srgbClr val="79C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384048" y="1161288"/>
            <a:ext cx="2834640" cy="45720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75488" y="116128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health -= amount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337560" y="1051560"/>
            <a:ext cx="54406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F3D"/>
                </a:solidFill>
              </a:rPr>
              <a:t>Subtract damage from health. Math: subtraction + variable tracking.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274320" y="1819656"/>
            <a:ext cx="8595360" cy="676656"/>
          </a:xfrm>
          <a:prstGeom prst="rect">
            <a:avLst/>
          </a:prstGeom>
          <a:solidFill>
            <a:srgbClr val="EEF2F7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274320" y="1819656"/>
            <a:ext cx="54864" cy="676656"/>
          </a:xfrm>
          <a:prstGeom prst="rect">
            <a:avLst/>
          </a:prstGeom>
          <a:solidFill>
            <a:srgbClr val="C586C0"/>
          </a:solidFill>
          <a:ln w="12700">
            <a:solidFill>
              <a:srgbClr val="C586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84048" y="1929384"/>
            <a:ext cx="2834640" cy="45720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75488" y="1929384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health &lt;= 0: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337560" y="1819656"/>
            <a:ext cx="54406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F3D"/>
                </a:solidFill>
              </a:rPr>
              <a:t>First check: is the player dead? Uses &lt;= operator — returns true or false.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274320" y="2587752"/>
            <a:ext cx="859536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274320" y="2587752"/>
            <a:ext cx="54864" cy="676656"/>
          </a:xfrm>
          <a:prstGeom prst="rect">
            <a:avLst/>
          </a:prstGeom>
          <a:solidFill>
            <a:srgbClr val="4EC9B0"/>
          </a:solidFill>
          <a:ln w="12700">
            <a:solidFill>
              <a:srgbClr val="4EC9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384048" y="2697480"/>
            <a:ext cx="2834640" cy="45720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475488" y="26974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get_tree().reload_...()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3337560" y="2587752"/>
            <a:ext cx="54406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F3D"/>
                </a:solidFill>
              </a:rPr>
              <a:t>Godot built-in: restarts the scene. This IS our "Game Over" state action.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274320" y="3355848"/>
            <a:ext cx="8595360" cy="676656"/>
          </a:xfrm>
          <a:prstGeom prst="rect">
            <a:avLst/>
          </a:prstGeom>
          <a:solidFill>
            <a:srgbClr val="EEF2F7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274320" y="3355848"/>
            <a:ext cx="54864" cy="676656"/>
          </a:xfrm>
          <a:prstGeom prst="rect">
            <a:avLst/>
          </a:prstGeom>
          <a:solidFill>
            <a:srgbClr val="C586C0"/>
          </a:solidFill>
          <a:ln w="12700">
            <a:solidFill>
              <a:srgbClr val="C586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384048" y="3465576"/>
            <a:ext cx="2834640" cy="45720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475488" y="3465576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 health &lt; 30: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3337560" y="3355848"/>
            <a:ext cx="54406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F3D"/>
                </a:solidFill>
              </a:rPr>
              <a:t>Only runs if first check was false. Danger zone warning for the player.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274320" y="4123944"/>
            <a:ext cx="859536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274320" y="4123944"/>
            <a:ext cx="54864" cy="676656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384048" y="4233672"/>
            <a:ext cx="2834640" cy="45720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475488" y="423367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3337560" y="4123944"/>
            <a:ext cx="54406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F3D"/>
                </a:solidFill>
              </a:rPr>
              <a:t>Catch-all: runs when ALL conditions are false. Normal gameplay continues.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8288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914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Math Connection: Comparison Operators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365760" y="98755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</a:rPr>
              <a:t>Every condition evaluates to TRUE or FALSE — these are Boolean values!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274320" y="1417320"/>
            <a:ext cx="8595360" cy="38404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274320" y="141732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Operator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371600" y="141732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Math Meaning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0" y="1417320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Game Example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74320" y="1828800"/>
            <a:ext cx="8595360" cy="438912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274320" y="1828800"/>
            <a:ext cx="1097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07B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417320" y="1828800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F3D"/>
                </a:solidFill>
              </a:rPr>
              <a:t>Equal to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617720" y="1828800"/>
            <a:ext cx="4160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7A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score == 10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274320" y="2286000"/>
            <a:ext cx="85953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274320" y="2286000"/>
            <a:ext cx="1097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07B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!=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417320" y="2286000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F3D"/>
                </a:solidFill>
              </a:rPr>
              <a:t>Not equal to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617720" y="2286000"/>
            <a:ext cx="4160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7A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weapon != "sword"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274320" y="2743200"/>
            <a:ext cx="8595360" cy="438912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274320" y="2743200"/>
            <a:ext cx="1097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07B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417320" y="2743200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F3D"/>
                </a:solidFill>
              </a:rPr>
              <a:t>Less than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617720" y="2743200"/>
            <a:ext cx="4160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7A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time_left &lt; 10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274320" y="3200400"/>
            <a:ext cx="85953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274320" y="3200400"/>
            <a:ext cx="1097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07B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1417320" y="3200400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F3D"/>
                </a:solidFill>
              </a:rPr>
              <a:t>Greater than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617720" y="3200400"/>
            <a:ext cx="4160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7A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score &gt; high_score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274320" y="3657600"/>
            <a:ext cx="8595360" cy="438912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274320" y="3657600"/>
            <a:ext cx="1097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07B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&lt;=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1417320" y="3657600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F3D"/>
                </a:solidFill>
              </a:rPr>
              <a:t>Less than or equal to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4617720" y="3657600"/>
            <a:ext cx="4160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7A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health &lt;= 0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274320" y="4114800"/>
            <a:ext cx="85953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274320" y="4114800"/>
            <a:ext cx="1097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07B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&gt;=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1417320" y="4114800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F3D"/>
                </a:solidFill>
              </a:rPr>
              <a:t>Greater than or equal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4617720" y="4114800"/>
            <a:ext cx="4160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7A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score &gt;= 10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8288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914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Boolean Logic: Combining Conditions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98755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9BD5"/>
                </a:solidFill>
              </a:rPr>
              <a:t>Use these operators to combine multiple conditions in a single check: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274320" y="1417320"/>
            <a:ext cx="8595360" cy="1078992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274320" y="1417320"/>
            <a:ext cx="73152" cy="1078992"/>
          </a:xfrm>
          <a:prstGeom prst="rect">
            <a:avLst/>
          </a:prstGeom>
          <a:solidFill>
            <a:srgbClr val="217A3C"/>
          </a:solidFill>
          <a:ln w="12700">
            <a:solidFill>
              <a:srgbClr val="217A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457200" y="1673352"/>
            <a:ext cx="914400" cy="566928"/>
          </a:xfrm>
          <a:prstGeom prst="roundRect">
            <a:avLst>
              <a:gd name="adj" fmla="val 9677"/>
            </a:avLst>
          </a:prstGeom>
          <a:solidFill>
            <a:srgbClr val="217A3C"/>
          </a:solidFill>
          <a:ln w="12700">
            <a:solidFill>
              <a:srgbClr val="217A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57200" y="167335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F3D"/>
                </a:solidFill>
              </a:rPr>
              <a:t>AND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194767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&amp;&amp;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508760" y="150876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BOTH conditions must be true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508760" y="184708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7A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health &gt; 0 &amp;&amp; has_key: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400800" y="18470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B9BB4"/>
                </a:solidFill>
              </a:rPr>
              <a:t>← Player alive AND carrying key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274320" y="2587752"/>
            <a:ext cx="8595360" cy="1078992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274320" y="2587752"/>
            <a:ext cx="73152" cy="107899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457200" y="2843784"/>
            <a:ext cx="914400" cy="566928"/>
          </a:xfrm>
          <a:prstGeom prst="roundRect">
            <a:avLst>
              <a:gd name="adj" fmla="val 9677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57200" y="2843784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F3D"/>
                </a:solidFill>
              </a:rPr>
              <a:t>OR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57200" y="31181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||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508760" y="2679192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EITHER condition can be true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508760" y="30175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is_jumping || is_crouching: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400800" y="3017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B9BB4"/>
                </a:solidFill>
              </a:rPr>
              <a:t>← Player jumping OR crouching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274320" y="3758184"/>
            <a:ext cx="8595360" cy="1078992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274320" y="3758184"/>
            <a:ext cx="73152" cy="107899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457200" y="4014216"/>
            <a:ext cx="914400" cy="566928"/>
          </a:xfrm>
          <a:prstGeom prst="roundRect">
            <a:avLst>
              <a:gd name="adj" fmla="val 9677"/>
            </a:avLst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457200" y="4014216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F3D"/>
                </a:solidFill>
              </a:rPr>
              <a:t>NOT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457200" y="428853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1508760" y="3849624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Inverts the truth value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1508760" y="418795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7B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!is_game_over: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6400800" y="41879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B9BB4"/>
                </a:solidFill>
              </a:rPr>
              <a:t>← Only if game is NOT over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8288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914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Understanding Game States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65760" y="1280160"/>
            <a:ext cx="256032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217A3C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365760" y="1280160"/>
            <a:ext cx="2560320" cy="457200"/>
          </a:xfrm>
          <a:prstGeom prst="roundRect">
            <a:avLst>
              <a:gd name="adj" fmla="val 24000"/>
            </a:avLst>
          </a:prstGeom>
          <a:solidFill>
            <a:srgbClr val="217A3C"/>
          </a:solidFill>
          <a:ln w="12700">
            <a:solidFill>
              <a:srgbClr val="217A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365760" y="1508760"/>
            <a:ext cx="2560320" cy="228600"/>
          </a:xfrm>
          <a:prstGeom prst="rect">
            <a:avLst/>
          </a:prstGeom>
          <a:solidFill>
            <a:srgbClr val="217A3C"/>
          </a:solidFill>
          <a:ln w="12700">
            <a:solidFill>
              <a:srgbClr val="217A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365760" y="12801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PLAYING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57200" y="1810512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F3D"/>
                </a:solidFill>
              </a:rPr>
              <a:t>Normal gameplay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F1F3D"/>
                </a:solidFill>
              </a:rPr>
              <a:t>health &gt; 0, score &lt; 10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91840" y="1280160"/>
            <a:ext cx="256032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E07B39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291840" y="1280160"/>
            <a:ext cx="2560320" cy="457200"/>
          </a:xfrm>
          <a:prstGeom prst="roundRect">
            <a:avLst>
              <a:gd name="adj" fmla="val 24000"/>
            </a:avLst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291840" y="1508760"/>
            <a:ext cx="2560320" cy="22860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3291840" y="12801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LOW HEALTH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3383280" y="1810512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F3D"/>
                </a:solidFill>
              </a:rPr>
              <a:t>Warning state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F1F3D"/>
                </a:solidFill>
              </a:rPr>
              <a:t>health &lt; 30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65760" y="3063240"/>
            <a:ext cx="256032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CC000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365760" y="3063240"/>
            <a:ext cx="2560320" cy="457200"/>
          </a:xfrm>
          <a:prstGeom prst="roundRect">
            <a:avLst>
              <a:gd name="adj" fmla="val 24000"/>
            </a:avLst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365760" y="3291840"/>
            <a:ext cx="2560320" cy="2286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365760" y="30632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GAME OVER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457200" y="3593592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F3D"/>
                </a:solidFill>
              </a:rPr>
              <a:t>health &lt;= 0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F1F3D"/>
                </a:solidFill>
              </a:rPr>
              <a:t>reload scene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3291840" y="3063240"/>
            <a:ext cx="256032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4B942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3291840" y="3063240"/>
            <a:ext cx="2560320" cy="457200"/>
          </a:xfrm>
          <a:prstGeom prst="roundRect">
            <a:avLst>
              <a:gd name="adj" fmla="val 24000"/>
            </a:avLst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3291840" y="3291840"/>
            <a:ext cx="2560320" cy="22860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3291840" y="30632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YOU WIN!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3383280" y="3593592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F3D"/>
                </a:solidFill>
              </a:rPr>
              <a:t>score &gt;= 10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F1F3D"/>
                </a:solidFill>
              </a:rPr>
              <a:t>stop movement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2926080" y="2057400"/>
            <a:ext cx="365760" cy="0"/>
          </a:xfrm>
          <a:prstGeom prst="line">
            <a:avLst/>
          </a:prstGeom>
          <a:noFill/>
          <a:ln w="254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2880360" y="19202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07B39"/>
                </a:solidFill>
              </a:rPr>
              <a:t>→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4572000" y="2834640"/>
            <a:ext cx="0" cy="228600"/>
          </a:xfrm>
          <a:prstGeom prst="line">
            <a:avLst/>
          </a:prstGeom>
          <a:noFill/>
          <a:ln w="254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1645920" y="2834640"/>
            <a:ext cx="0" cy="228600"/>
          </a:xfrm>
          <a:prstGeom prst="line">
            <a:avLst/>
          </a:prstGeom>
          <a:noFill/>
          <a:ln w="254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2926080" y="3657600"/>
            <a:ext cx="365760" cy="0"/>
          </a:xfrm>
          <a:prstGeom prst="line">
            <a:avLst/>
          </a:prstGeom>
          <a:noFill/>
          <a:ln w="2540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2880360" y="35204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B942"/>
                </a:solidFill>
              </a:rPr>
              <a:t>→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6217920" y="1234440"/>
            <a:ext cx="2651760" cy="3383280"/>
          </a:xfrm>
          <a:prstGeom prst="rect">
            <a:avLst/>
          </a:prstGeom>
          <a:solidFill>
            <a:srgbClr val="0F1F3D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6309360" y="13258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B942"/>
                </a:solidFill>
              </a:rPr>
              <a:t>Key Insight</a:t>
            </a:r>
            <a:endParaRPr lang="en-US" sz="1500" dirty="0"/>
          </a:p>
        </p:txBody>
      </p:sp>
      <p:sp>
        <p:nvSpPr>
          <p:cNvPr id="33" name="Text 30"/>
          <p:cNvSpPr/>
          <p:nvPr/>
        </p:nvSpPr>
        <p:spPr>
          <a:xfrm>
            <a:off x="6309360" y="1737360"/>
            <a:ext cx="24688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9BD5"/>
                </a:solidFill>
              </a:rPr>
              <a:t>Variables store the state.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B9BD5"/>
                </a:solidFill>
              </a:rPr>
              <a:t>Conditionals CHECK the state.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B9BD5"/>
                </a:solidFill>
              </a:rPr>
              <a:t>Code REACTS based on what the conditional finds.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B9BD5"/>
                </a:solidFill>
              </a:rPr>
              <a:t>This is how every game engine manages game flow!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8288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914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Challenge: Add a Win Condition  (10–12 min)</a:t>
            </a:r>
            <a:endParaRPr lang="en-US" sz="2100" dirty="0"/>
          </a:p>
        </p:txBody>
      </p:sp>
      <p:sp>
        <p:nvSpPr>
          <p:cNvPr id="5" name="Shape 2"/>
          <p:cNvSpPr/>
          <p:nvPr/>
        </p:nvSpPr>
        <p:spPr>
          <a:xfrm>
            <a:off x="274320" y="1005840"/>
            <a:ext cx="5029200" cy="320040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57200" y="10972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Add to your player script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138988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 add_score(points):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168249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score += points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226771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score &gt;= 10: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25603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print("You Win!")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57200" y="285292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set_physics_process(false)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343814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else: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7200" y="373075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print("Score: ", score)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486400" y="10515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F3D"/>
                </a:solidFill>
              </a:rPr>
              <a:t>Extension Challenges: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486400" y="1508760"/>
            <a:ext cx="384048" cy="384048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486400" y="1508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961888" y="1490472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F3D"/>
                </a:solidFill>
              </a:rPr>
              <a:t>Add a tier: if score &gt;= 20, print "Perfect Score!" using elif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486400" y="2221992"/>
            <a:ext cx="384048" cy="384048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5486400" y="22219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961888" y="2203704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F3D"/>
                </a:solidFill>
              </a:rPr>
              <a:t>Combine: win only if score &gt;= 10 AND health &gt; 0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486400" y="2935224"/>
            <a:ext cx="384048" cy="384048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5486400" y="29352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5961888" y="2916936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F3D"/>
                </a:solidFill>
              </a:rPr>
              <a:t>Add a "close call" message if the player wins but health &lt; 10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5486400" y="3648456"/>
            <a:ext cx="384048" cy="384048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5486400" y="36484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5961888" y="3630168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F3D"/>
                </a:solidFill>
              </a:rPr>
              <a:t>Design your own state: PAUSED, LEVEL_COMPLETE, or BONUS_ROUND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274320" y="4343400"/>
            <a:ext cx="8595360" cy="502920"/>
          </a:xfrm>
          <a:prstGeom prst="roundRect">
            <a:avLst>
              <a:gd name="adj" fmla="val 14545"/>
            </a:avLst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365760" y="4352544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4B942"/>
                </a:solidFill>
              </a:rPr>
              <a:t>🏆  After typing your code, test it: call add_score(5) then add_score(5) and watch what happens!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8288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914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Reflection &amp; Discussion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274320" y="1097280"/>
            <a:ext cx="4206240" cy="160020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502920" cy="50292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11480" y="1234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65760" y="1828800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F3D"/>
                </a:solidFill>
              </a:rPr>
              <a:t>How do conditionals let a game respond differently to different situations?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74320" y="2880360"/>
            <a:ext cx="4206240" cy="160020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11480" y="3017520"/>
            <a:ext cx="502920" cy="50292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11480" y="3017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65760" y="3611880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F3D"/>
                </a:solidFill>
              </a:rPr>
              <a:t>What would a game without if/else look like? What would be missing?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754880" y="1097280"/>
            <a:ext cx="4206240" cy="160020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892040" y="1234440"/>
            <a:ext cx="502920" cy="50292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892040" y="1234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846320" y="1828800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F3D"/>
                </a:solidFill>
              </a:rPr>
              <a:t>Can you think of a game you play that uses branching logic?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754880" y="2880360"/>
            <a:ext cx="4206240" cy="160020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4892040" y="3017520"/>
            <a:ext cx="502920" cy="50292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4892040" y="3017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4846320" y="3611880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F3D"/>
                </a:solidFill>
              </a:rPr>
              <a:t>How is an if/elif/else chain similar to a decision tree in math?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274320" y="4617720"/>
            <a:ext cx="8595360" cy="384048"/>
          </a:xfrm>
          <a:prstGeom prst="roundRect">
            <a:avLst>
              <a:gd name="adj" fmla="val 16667"/>
            </a:avLst>
          </a:prstGeom>
          <a:solidFill>
            <a:srgbClr val="217A3C"/>
          </a:solidFill>
          <a:ln w="12700">
            <a:solidFill>
              <a:srgbClr val="217A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365760" y="4626864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</a:rPr>
              <a:t>Exit Ticket: Name one thing you coded with a conditional today, and explain the difference between if, elif, and else.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371600" y="3200400"/>
            <a:ext cx="3200400" cy="320040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5720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45720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Great Work Today!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457200" y="1325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B942"/>
                </a:solidFill>
              </a:rPr>
              <a:t>What we covered:</a:t>
            </a:r>
            <a:endParaRPr lang="en-US" sz="16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783080"/>
            <a:ext cx="320040" cy="320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96112" y="175564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if / elif / else in GDScript</a:t>
            </a:r>
            <a:endParaRPr lang="en-US" sz="13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258568"/>
            <a:ext cx="320040" cy="3200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96112" y="2231136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Comparison operators (==, !=, &lt;, &gt;, &lt;=, &gt;=)</a:t>
            </a:r>
            <a:endParaRPr lang="en-US" sz="13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734056"/>
            <a:ext cx="320040" cy="32004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96112" y="2706624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Boolean logic (&amp;&amp;, ||, !)</a:t>
            </a:r>
            <a:endParaRPr lang="en-US" sz="13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209544"/>
            <a:ext cx="320040" cy="32004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896112" y="318211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Health system &amp; win condition</a:t>
            </a:r>
            <a:endParaRPr lang="en-US" sz="130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685032"/>
            <a:ext cx="320040" cy="32004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896112" y="36576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Game states: playing, game over, win</a:t>
            </a:r>
            <a:endParaRPr lang="en-US" sz="1300" dirty="0"/>
          </a:p>
        </p:txBody>
      </p:sp>
      <p:sp>
        <p:nvSpPr>
          <p:cNvPr id="17" name="Shape 9"/>
          <p:cNvSpPr/>
          <p:nvPr/>
        </p:nvSpPr>
        <p:spPr>
          <a:xfrm>
            <a:off x="5303520" y="1234440"/>
            <a:ext cx="3566160" cy="3017520"/>
          </a:xfrm>
          <a:prstGeom prst="rect">
            <a:avLst/>
          </a:prstGeom>
          <a:solidFill>
            <a:srgbClr val="1B3A6B"/>
          </a:solidFill>
          <a:ln w="254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0"/>
          <p:cNvSpPr/>
          <p:nvPr/>
        </p:nvSpPr>
        <p:spPr>
          <a:xfrm>
            <a:off x="5303520" y="1234440"/>
            <a:ext cx="3566160" cy="4572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1"/>
          <p:cNvSpPr/>
          <p:nvPr/>
        </p:nvSpPr>
        <p:spPr>
          <a:xfrm>
            <a:off x="5349240" y="12344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Coming Up: Day 10</a:t>
            </a:r>
            <a:endParaRPr lang="en-US" sz="1300" dirty="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1828800"/>
            <a:ext cx="1188720" cy="118872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5394960" y="306324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B9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Loops &amp;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4B9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Repetition</a:t>
            </a:r>
            <a:endParaRPr lang="en-US" sz="2000" dirty="0"/>
          </a:p>
        </p:txBody>
      </p:sp>
      <p:sp>
        <p:nvSpPr>
          <p:cNvPr id="22" name="Text 13"/>
          <p:cNvSpPr/>
          <p:nvPr/>
        </p:nvSpPr>
        <p:spPr>
          <a:xfrm>
            <a:off x="5394960" y="374904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9BD5"/>
                </a:solidFill>
              </a:rPr>
              <a:t>for / while loops, spawning enemies, auto-animating objects</a:t>
            </a:r>
            <a:endParaRPr lang="en-US" sz="1100" dirty="0"/>
          </a:p>
        </p:txBody>
      </p:sp>
      <p:sp>
        <p:nvSpPr>
          <p:cNvPr id="23" name="Shape 1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5"/>
          <p:cNvSpPr/>
          <p:nvPr/>
        </p:nvSpPr>
        <p:spPr>
          <a:xfrm>
            <a:off x="274320" y="477316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STEM Through Games  |  Day 9 Complete  |  Godot Game Engine  |  GDScript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1054</Words>
  <Application>Microsoft Macintosh PowerPoint</Application>
  <PresentationFormat>On-screen Show (16:9)</PresentationFormat>
  <Paragraphs>218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STEM Through Games — Day 9: Conditionals &amp; Game States</dc:title>
  <dc:subject>PptxGenJS Presentation</dc:subject>
  <dc:creator>STEM Through Games Program</dc:creator>
  <cp:lastModifiedBy>Babichenko, Dmitriy</cp:lastModifiedBy>
  <cp:revision>1</cp:revision>
  <dcterms:created xsi:type="dcterms:W3CDTF">2026-06-04T11:23:31Z</dcterms:created>
  <dcterms:modified xsi:type="dcterms:W3CDTF">2026-06-04T11:26:43Z</dcterms:modified>
</cp:coreProperties>
</file>