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41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4A3FAF">
              <a:alpha val="12000"/>
            </a:srgbClr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4A3FAF">
              <a:alpha val="20000"/>
            </a:srgbClr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005840" cy="34747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Scenes, Nodes &amp;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7B6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Scene Tree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Hierarchy &amp; Structure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2651760" cy="457200"/>
          </a:xfrm>
          <a:prstGeom prst="rect">
            <a:avLst/>
          </a:prstGeom>
          <a:solidFill>
            <a:srgbClr val="2A2050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37560" y="3246120"/>
            <a:ext cx="2651760" cy="457200"/>
          </a:xfrm>
          <a:prstGeom prst="rect">
            <a:avLst/>
          </a:prstGeom>
          <a:solidFill>
            <a:srgbClr val="2A2050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74904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6–8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72200" y="3246120"/>
            <a:ext cx="2651760" cy="457200"/>
          </a:xfrm>
          <a:prstGeom prst="rect">
            <a:avLst/>
          </a:prstGeom>
          <a:solidFill>
            <a:srgbClr val="2A2050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58368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9728" cy="7498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61872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1755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hierarchies — where do trees appear in life?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1572768"/>
            <a:ext cx="1051560" cy="310896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52360" y="15727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6771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267712"/>
            <a:ext cx="109728" cy="74980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261872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61872" y="2651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scene from scratch in Godot — node by node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452360" y="2468880"/>
            <a:ext cx="1051560" cy="310896"/>
          </a:xfrm>
          <a:prstGeom prst="rect">
            <a:avLst/>
          </a:prstGeom>
          <a:solidFill>
            <a:srgbClr val="EEEDFE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452360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3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 min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316382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57200" y="3163824"/>
            <a:ext cx="109728" cy="7498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261872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261872" y="35478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position math: relative vs. world coordinates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452360" y="3364992"/>
            <a:ext cx="1051560" cy="310896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452360" y="33649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405993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57200" y="4059936"/>
            <a:ext cx="109728" cy="74980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1261872" y="4151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261872" y="44439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game designers group objects into hierarchies?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452360" y="4261104"/>
            <a:ext cx="1051560" cy="310896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452360" y="42611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A3FAF">
              <a:alpha val="10000"/>
            </a:srgbClr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772400" cy="914400"/>
          </a:xfrm>
          <a:prstGeom prst="rect">
            <a:avLst/>
          </a:prstGeom>
          <a:solidFill>
            <a:srgbClr val="241C42"/>
          </a:solidFill>
          <a:ln w="12700">
            <a:solidFill>
              <a:srgbClr val="3D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7B6DD6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6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61288" y="1554480"/>
            <a:ext cx="6839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Godot's scene/node hierarchy and how the Scene Tree organizes a game world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532888"/>
            <a:ext cx="7772400" cy="914400"/>
          </a:xfrm>
          <a:prstGeom prst="rect">
            <a:avLst/>
          </a:prstGeom>
          <a:solidFill>
            <a:srgbClr val="241C42"/>
          </a:solidFill>
          <a:ln w="12700">
            <a:solidFill>
              <a:srgbClr val="3D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532888"/>
            <a:ext cx="73152" cy="914400"/>
          </a:xfrm>
          <a:prstGeom prst="rect">
            <a:avLst/>
          </a:prstGeom>
          <a:solidFill>
            <a:srgbClr val="7B6DD6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6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161288" y="2670048"/>
            <a:ext cx="6839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scene from scratch using multiple node types with clear, intentional names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3648456"/>
            <a:ext cx="7772400" cy="914400"/>
          </a:xfrm>
          <a:prstGeom prst="rect">
            <a:avLst/>
          </a:prstGeom>
          <a:solidFill>
            <a:srgbClr val="241C42"/>
          </a:solidFill>
          <a:ln w="12700">
            <a:solidFill>
              <a:srgbClr val="3D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648456"/>
            <a:ext cx="73152" cy="914400"/>
          </a:xfrm>
          <a:prstGeom prst="rect">
            <a:avLst/>
          </a:prstGeom>
          <a:solidFill>
            <a:srgbClr val="7B6DD6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58368" y="3877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6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161288" y="3785616"/>
            <a:ext cx="6839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parent and child nodes — and predict how movement propagates down the tree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10 MIN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You See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things that are organized in levels — one thing contains or controls others.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011680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Org Chart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825496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→ Teachers → Students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2011680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15768" y="2514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Folders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2825496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→ Folder → Subfolder → File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02152"/>
            <a:ext cx="2011680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593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9044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Grandparents → Parents → Children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3502152"/>
            <a:ext cx="2011680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15768" y="3593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Levels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5768" y="390448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→ Level → Stage → Room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594360"/>
            <a:ext cx="3749040" cy="4206240"/>
          </a:xfrm>
          <a:prstGeom prst="rect">
            <a:avLst/>
          </a:prstGeom>
          <a:solidFill>
            <a:srgbClr val="1A1033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594360"/>
            <a:ext cx="3749040" cy="38404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7488" y="59436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Godot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109728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Godot, every object in your game — player, walls, enemies — lives inside a tree structure called the </a:t>
            </a:r>
            <a:r>
              <a:rPr lang="en-US" sz="13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Tree.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47488" y="201168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Scene Tree Example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22860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25603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 (Node2D)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28346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Player  (Sprite2D)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310896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HitBox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338328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NameTag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6576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Enemy  (Sprite2D)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47488" y="39319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Ground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Node?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 block in Godot is a node. Different node types do different things.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60520" cy="932688"/>
          </a:xfrm>
          <a:prstGeom prst="rect">
            <a:avLst/>
          </a:prstGeom>
          <a:solidFill>
            <a:srgbClr val="EEEDFE"/>
          </a:solidFill>
          <a:ln w="12700">
            <a:solidFill>
              <a:srgbClr val="4A3FA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91440" cy="93268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Node2D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/ container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2D node. Holds position, rotation, scale.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4160520" cy="932688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572768"/>
            <a:ext cx="91440" cy="9326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Sprite2D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texture (your character's look).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60520" cy="932688"/>
          </a:xfrm>
          <a:prstGeom prst="rect">
            <a:avLst/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91440" cy="93268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CollisionShape2D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/ physics shape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hit area for physics and collision.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651760"/>
            <a:ext cx="4160520" cy="93268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91440" cy="9326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display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text on screen (names, scores, UI).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4160520" cy="932688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730752"/>
            <a:ext cx="91440" cy="93268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StaticBody2D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Immovable physics body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Ground, walls — things that don't move.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30752"/>
            <a:ext cx="4160520" cy="932688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3730752"/>
            <a:ext cx="91440" cy="93268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35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AnimationPlayer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controller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and manages timeline animations.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ACTIVITY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Scene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07592"/>
            <a:ext cx="420624" cy="420624"/>
          </a:xfrm>
          <a:prstGeom prst="ellipse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2435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scene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53619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Scene → add Node2D as root. Rename it "World"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420624" cy="420624"/>
          </a:xfrm>
          <a:prstGeom prst="ellipse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011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Sprite2D child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30428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World → Add Child Node → Sprite2D. Rename "Player". Assign a texture.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420624" cy="420624"/>
          </a:xfrm>
          <a:prstGeom prst="ellipse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7797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CollisionShape2D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0723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Player → Add Child Node → CollisionShape2D. Rename "HitBox". Set shape.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547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8404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Player → Add Child Node → Label. Rename "NameTag". Type the hero's name.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379976"/>
            <a:ext cx="420624" cy="420624"/>
          </a:xfrm>
          <a:prstGeom prst="ellipse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4315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Enemy &amp; Ground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6085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Enemy (Sprite2D + CollisionShape2D) and Ground (StaticBody2D) as children of World.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Scene Tree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nodes are organized — children move with their parents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0" y="1143000"/>
            <a:ext cx="4572000" cy="411480"/>
          </a:xfrm>
          <a:prstGeom prst="rect">
            <a:avLst/>
          </a:prstGeom>
          <a:solidFill>
            <a:srgbClr val="2A2050"/>
          </a:solidFill>
          <a:ln w="12700">
            <a:solidFill>
              <a:srgbClr val="4A3FA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80560" y="1143000"/>
            <a:ext cx="73152" cy="411480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1161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36245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Node2D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84708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0" y="1691640"/>
            <a:ext cx="3840480" cy="411480"/>
          </a:xfrm>
          <a:prstGeom prst="rect">
            <a:avLst/>
          </a:prstGeom>
          <a:solidFill>
            <a:srgbClr val="0A2E24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0" y="1691640"/>
            <a:ext cx="73152" cy="411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9110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Sprite2D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13248" y="239572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240280"/>
            <a:ext cx="3108960" cy="411480"/>
          </a:xfrm>
          <a:prstGeom prst="rect">
            <a:avLst/>
          </a:prstGeom>
          <a:solidFill>
            <a:srgbClr val="2E1810"/>
          </a:solidFill>
          <a:ln w="12700">
            <a:solidFill>
              <a:srgbClr val="993C1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2240280"/>
            <a:ext cx="73152" cy="4114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258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4597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CollisionShape2D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13248" y="294436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0" y="2788920"/>
            <a:ext cx="3108960" cy="411480"/>
          </a:xfrm>
          <a:prstGeom prst="rect">
            <a:avLst/>
          </a:prstGeom>
          <a:solidFill>
            <a:srgbClr val="0C2038"/>
          </a:solidFill>
          <a:ln w="12700">
            <a:solidFill>
              <a:srgbClr val="3B8FC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0" y="2788920"/>
            <a:ext cx="73152" cy="411480"/>
          </a:xfrm>
          <a:prstGeom prst="rect">
            <a:avLst/>
          </a:prstGeom>
          <a:solidFill>
            <a:srgbClr val="3B8FCF"/>
          </a:solidFill>
          <a:ln w="12700">
            <a:solidFill>
              <a:srgbClr val="3B8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28072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NameTag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00837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8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349300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3337560"/>
            <a:ext cx="3840480" cy="411480"/>
          </a:xfrm>
          <a:prstGeom prst="rect">
            <a:avLst/>
          </a:prstGeom>
          <a:solidFill>
            <a:srgbClr val="0A2E24"/>
          </a:solidFill>
          <a:ln w="12700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0" y="3337560"/>
            <a:ext cx="73152" cy="411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3355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5570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Sprite2D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13248" y="404164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3886200"/>
            <a:ext cx="3108960" cy="411480"/>
          </a:xfrm>
          <a:prstGeom prst="rect">
            <a:avLst/>
          </a:prstGeom>
          <a:solidFill>
            <a:srgbClr val="2E1810"/>
          </a:solidFill>
          <a:ln w="12700">
            <a:solidFill>
              <a:srgbClr val="993C1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3886200"/>
            <a:ext cx="73152" cy="4114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39044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EnemyHitBox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41056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CollisionShape2D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4590288"/>
            <a:ext cx="50292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12080" y="4434840"/>
            <a:ext cx="3840480" cy="411480"/>
          </a:xfrm>
          <a:prstGeom prst="rect">
            <a:avLst/>
          </a:prstGeom>
          <a:solidFill>
            <a:srgbClr val="0C2510"/>
          </a:solidFill>
          <a:ln w="12700">
            <a:solidFill>
              <a:srgbClr val="3B9A2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12080" y="4434840"/>
            <a:ext cx="73152" cy="411480"/>
          </a:xfrm>
          <a:prstGeom prst="rect">
            <a:avLst/>
          </a:prstGeom>
          <a:solidFill>
            <a:srgbClr val="3B9A22"/>
          </a:solidFill>
          <a:ln w="12700">
            <a:solidFill>
              <a:srgbClr val="3B9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4960" y="4453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6542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StaticBody2D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→ Child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are indented under their parent in the Scene panel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movement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parent node and all its children come along automatically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child directly — the parent stays, only that child shifts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it!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Player in the viewport — watch HitBox and NameTag follow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EXPLORE!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Rearrange &amp; Observe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91440" cy="777240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307592"/>
            <a:ext cx="457200" cy="256032"/>
          </a:xfrm>
          <a:prstGeom prst="rect">
            <a:avLst/>
          </a:prstGeom>
          <a:solidFill>
            <a:srgbClr val="EEEDFE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307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3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7008" y="12893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Player node in the viewport.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1655064"/>
            <a:ext cx="457200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655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1664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and NameTag follow — they're children!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" y="2221992"/>
            <a:ext cx="457200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221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07008" y="22037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HitBox independently.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2569464"/>
            <a:ext cx="457200" cy="2560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569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07008" y="2578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HitBox moves. The parent (Player) stays 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" y="3136392"/>
            <a:ext cx="457200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136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07008" y="3118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Player node (eye icon).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3483864"/>
            <a:ext cx="457200" cy="2560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07008" y="3493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under Player disappears — the whole subtree!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91440" cy="7772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8368" y="4050792"/>
            <a:ext cx="457200" cy="25603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07008" y="40325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nodes clearly.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" y="4398264"/>
            <a:ext cx="45720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43982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07008" y="4407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"Player" beats "Sprite2D2" every time — you'll thank yourself later.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854F0B">
              <a:alpha val="8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  ·  10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is Relative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node's position is always measured from its parent — not the world origin.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566928"/>
          </a:xfrm>
          <a:prstGeom prst="rect">
            <a:avLst/>
          </a:prstGeom>
          <a:solidFill>
            <a:srgbClr val="1E1800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child_world_pos  =  parent_pos  +  child_local_pos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5029200" cy="384048"/>
          </a:xfrm>
          <a:prstGeom prst="rect">
            <a:avLst/>
          </a:prstGeom>
          <a:solidFill>
            <a:srgbClr val="14102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6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(200, 300)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029200" cy="384048"/>
          </a:xfrm>
          <a:prstGeom prst="rect">
            <a:avLst/>
          </a:prstGeom>
          <a:solidFill>
            <a:srgbClr val="14102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local offset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6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(10, 5)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5029200" cy="384048"/>
          </a:xfrm>
          <a:prstGeom prst="rect">
            <a:avLst/>
          </a:prstGeom>
          <a:solidFill>
            <a:srgbClr val="2A2000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world position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(210, 305)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2395728"/>
            <a:ext cx="3017520" cy="2468880"/>
          </a:xfrm>
          <a:prstGeom prst="rect">
            <a:avLst/>
          </a:prstGeom>
          <a:solidFill>
            <a:srgbClr val="1E1800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2852928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Player moves 100px right: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is HitBox now?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NameTag is at (0, −30) — where does it end up?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if Player also had a parent that moved up 50px?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building block in Godot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saved, reusable group of nodes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nodes running in your game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node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children; they inherit its transform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node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is relative to its parent's origin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73152" cy="566928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position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from the parent — not world (0,0)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74320"/>
            <a:ext cx="3840480" cy="4572000"/>
          </a:xfrm>
          <a:prstGeom prst="rect">
            <a:avLst/>
          </a:prstGeom>
          <a:solidFill>
            <a:srgbClr val="EEEDFE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041127" y="475488"/>
            <a:ext cx="34627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983480" y="10241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E1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would a game designer want to group objects together in a hierarchy?"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983480" y="1993392"/>
            <a:ext cx="256032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98348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49240" y="19751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sword attached to a character — what happens when the character turns?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83480" y="2651760"/>
            <a:ext cx="256032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98348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49240" y="26334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an entire enemy: body + hitbox + health bar in one click.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983480" y="3310128"/>
            <a:ext cx="256032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8348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34924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with 4 wheels that all move together?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983480" y="3968496"/>
            <a:ext cx="256032" cy="256032"/>
          </a:xfrm>
          <a:prstGeom prst="rect">
            <a:avLst/>
          </a:prstGeom>
          <a:solidFill>
            <a:srgbClr val="4A3FAF"/>
          </a:solidFill>
          <a:ln w="12700">
            <a:solidFill>
              <a:srgbClr val="4A3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3480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49240" y="3950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grouping layers in Photoshop — or slides in a deck!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F6E56">
              <a:alpha val="8000"/>
            </a:srgbClr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you built and what's coming next.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learned to…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237744" cy="2377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Godot's Scene Panel and add nodes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237744" cy="2377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Node2D → Sprite2D → CollisionShape2D hierarchy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237744" cy="2377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nodes clearly and understand parent-child movement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237744" cy="2377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world positions using relative offsets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solidFill>
            <a:srgbClr val="1A1033"/>
          </a:solidFill>
          <a:ln w="12700">
            <a:solidFill>
              <a:srgbClr val="7B6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Draw your own scene tree (5 nodes min) + write 1 position math problem for a partner.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0D2A20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Up: Day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DD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&amp; Input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GDScript: responding to key presses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move_and_collide() and velocity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Making your player actually move!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1019</Words>
  <Application>Microsoft Macintosh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3: Scenes, Nodes &amp; the Scene Tree</dc:title>
  <dc:subject>PptxGenJS Presentation</dc:subject>
  <dc:creator>PptxGenJS</dc:creator>
  <cp:lastModifiedBy>Babichenko, Dmitriy</cp:lastModifiedBy>
  <cp:revision>7</cp:revision>
  <dcterms:created xsi:type="dcterms:W3CDTF">2026-06-01T22:20:15Z</dcterms:created>
  <dcterms:modified xsi:type="dcterms:W3CDTF">2026-06-17T23:28:04Z</dcterms:modified>
</cp:coreProperties>
</file>