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16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5051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457200"/>
          </a:xfrm>
          <a:prstGeom prst="rect">
            <a:avLst/>
          </a:prstGeom>
          <a:solidFill>
            <a:srgbClr val="1C2B42">
              <a:alpha val="30000"/>
            </a:srgbClr>
          </a:solidFill>
          <a:ln w="12700">
            <a:solidFill>
              <a:srgbClr val="1C2B4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4592" y="859536"/>
            <a:ext cx="8979408" cy="457200"/>
          </a:xfrm>
          <a:prstGeom prst="rect">
            <a:avLst/>
          </a:prstGeom>
          <a:solidFill>
            <a:srgbClr val="1C2B42">
              <a:alpha val="30000"/>
            </a:srgbClr>
          </a:solidFill>
          <a:ln w="12700">
            <a:solidFill>
              <a:srgbClr val="1C2B4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64592" y="1719072"/>
            <a:ext cx="8979408" cy="457200"/>
          </a:xfrm>
          <a:prstGeom prst="rect">
            <a:avLst/>
          </a:prstGeom>
          <a:solidFill>
            <a:srgbClr val="1C2B42">
              <a:alpha val="30000"/>
            </a:srgbClr>
          </a:solidFill>
          <a:ln w="12700">
            <a:solidFill>
              <a:srgbClr val="1C2B4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64592" y="2578608"/>
            <a:ext cx="8979408" cy="457200"/>
          </a:xfrm>
          <a:prstGeom prst="rect">
            <a:avLst/>
          </a:prstGeom>
          <a:solidFill>
            <a:srgbClr val="1C2B42">
              <a:alpha val="30000"/>
            </a:srgbClr>
          </a:solidFill>
          <a:ln w="12700">
            <a:solidFill>
              <a:srgbClr val="1C2B4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64592" y="3438144"/>
            <a:ext cx="8979408" cy="457200"/>
          </a:xfrm>
          <a:prstGeom prst="rect">
            <a:avLst/>
          </a:prstGeom>
          <a:solidFill>
            <a:srgbClr val="1C2B42">
              <a:alpha val="30000"/>
            </a:srgbClr>
          </a:solidFill>
          <a:ln w="12700">
            <a:solidFill>
              <a:srgbClr val="1C2B4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64592" y="4297680"/>
            <a:ext cx="8979408" cy="457200"/>
          </a:xfrm>
          <a:prstGeom prst="rect">
            <a:avLst/>
          </a:prstGeom>
          <a:solidFill>
            <a:srgbClr val="1C2B42">
              <a:alpha val="30000"/>
            </a:srgbClr>
          </a:solidFill>
          <a:ln w="12700">
            <a:solidFill>
              <a:srgbClr val="1C2B4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384048"/>
            <a:ext cx="1280160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384048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DAY 14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920240" y="384048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300" dirty="0">
                <a:solidFill>
                  <a:srgbClr val="94A3B8"/>
                </a:solidFill>
              </a:rPr>
              <a:t>STEM THROUGH GAMES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105156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Building &amp;</a:t>
            </a:r>
            <a:endParaRPr lang="en-US" sz="5800" dirty="0"/>
          </a:p>
        </p:txBody>
      </p:sp>
      <p:sp>
        <p:nvSpPr>
          <p:cNvPr id="13" name="Text 11"/>
          <p:cNvSpPr/>
          <p:nvPr/>
        </p:nvSpPr>
        <p:spPr>
          <a:xfrm>
            <a:off x="457200" y="178308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8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Storytelling</a:t>
            </a:r>
            <a:endParaRPr lang="en-US" sz="5800" dirty="0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3840480" cy="502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283464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Environmental Narrative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57200" y="4023360"/>
            <a:ext cx="169164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405993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CD34D"/>
                </a:solidFill>
              </a:rPr>
              <a:t>60 MIN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40740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Duration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377440" y="4023360"/>
            <a:ext cx="169164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377440" y="405993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CD34D"/>
                </a:solidFill>
              </a:rPr>
              <a:t>GRADES 6–8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377440" y="440740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Level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297680" y="4023360"/>
            <a:ext cx="169164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297680" y="405993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CD34D"/>
                </a:solidFill>
              </a:rPr>
              <a:t>GODOT 4.x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297680" y="440740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Tool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680960" y="3474720"/>
            <a:ext cx="274320" cy="274320"/>
          </a:xfrm>
          <a:prstGeom prst="rect">
            <a:avLst/>
          </a:prstGeom>
          <a:solidFill>
            <a:srgbClr val="0E7490">
              <a:alpha val="70000"/>
            </a:srgbClr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028432" y="3474720"/>
            <a:ext cx="274320" cy="274320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375904" y="3474720"/>
            <a:ext cx="274320" cy="274320"/>
          </a:xfrm>
          <a:prstGeom prst="rect">
            <a:avLst/>
          </a:prstGeom>
          <a:solidFill>
            <a:srgbClr val="7C3AED">
              <a:alpha val="70000"/>
            </a:srgbClr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854696" y="3822192"/>
            <a:ext cx="274320" cy="274320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202168" y="3822192"/>
            <a:ext cx="274320" cy="274320"/>
          </a:xfrm>
          <a:prstGeom prst="rect">
            <a:avLst/>
          </a:prstGeom>
          <a:solidFill>
            <a:srgbClr val="0E7490">
              <a:alpha val="70000"/>
            </a:srgbClr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680960" y="4169664"/>
            <a:ext cx="274320" cy="274320"/>
          </a:xfrm>
          <a:prstGeom prst="rect">
            <a:avLst/>
          </a:prstGeom>
          <a:solidFill>
            <a:srgbClr val="7C3AED">
              <a:alpha val="70000"/>
            </a:srgbClr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028432" y="4169664"/>
            <a:ext cx="274320" cy="274320"/>
          </a:xfrm>
          <a:prstGeom prst="rect">
            <a:avLst/>
          </a:prstGeom>
          <a:solidFill>
            <a:srgbClr val="0E7490">
              <a:alpha val="70000"/>
            </a:srgbClr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375904" y="4169664"/>
            <a:ext cx="274320" cy="274320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50292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" y="14630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1440" y="17830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kern="0" spc="3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91440" y="2286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</a:rPr>
              <a:t>Day 14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74320" y="4480560"/>
            <a:ext cx="2377440" cy="502920"/>
          </a:xfrm>
          <a:prstGeom prst="rect">
            <a:avLst/>
          </a:prstGeom>
          <a:solidFill>
            <a:srgbClr val="0E7490">
              <a:alpha val="60000"/>
            </a:srgbClr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74320" y="4480560"/>
            <a:ext cx="23774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2E8F0"/>
                </a:solidFill>
              </a:rPr>
              <a:t>CSTA 2-AP-12  ·  CCSS ELA W.6-8.3  ·  ISTE 6a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3108960" y="384048"/>
            <a:ext cx="5760720" cy="932688"/>
          </a:xfrm>
          <a:prstGeom prst="rect">
            <a:avLst/>
          </a:prstGeom>
          <a:solidFill>
            <a:srgbClr val="1A2744"/>
          </a:solidFill>
          <a:ln w="12700">
            <a:solidFill>
              <a:srgbClr val="2D4A6A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246120" y="585216"/>
            <a:ext cx="530352" cy="53035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9272" y="658368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13632" y="475488"/>
            <a:ext cx="480060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visual &amp; environmental details to tell a story without words</a:t>
            </a:r>
            <a:endParaRPr lang="en-US" sz="1550" dirty="0"/>
          </a:p>
        </p:txBody>
      </p:sp>
      <p:sp>
        <p:nvSpPr>
          <p:cNvPr id="13" name="Shape 9"/>
          <p:cNvSpPr/>
          <p:nvPr/>
        </p:nvSpPr>
        <p:spPr>
          <a:xfrm>
            <a:off x="3108960" y="1499616"/>
            <a:ext cx="5760720" cy="932688"/>
          </a:xfrm>
          <a:prstGeom prst="rect">
            <a:avLst/>
          </a:prstGeom>
          <a:solidFill>
            <a:srgbClr val="1A2744"/>
          </a:solidFill>
          <a:ln w="12700">
            <a:solidFill>
              <a:srgbClr val="2D4A6A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3246120" y="1700784"/>
            <a:ext cx="530352" cy="53035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9272" y="1773936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913632" y="1591056"/>
            <a:ext cx="480060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game world with intentional setting, context &amp; meaning</a:t>
            </a:r>
            <a:endParaRPr lang="en-US" sz="1550" dirty="0"/>
          </a:p>
        </p:txBody>
      </p:sp>
      <p:sp>
        <p:nvSpPr>
          <p:cNvPr id="17" name="Shape 12"/>
          <p:cNvSpPr/>
          <p:nvPr/>
        </p:nvSpPr>
        <p:spPr>
          <a:xfrm>
            <a:off x="3108960" y="2615184"/>
            <a:ext cx="5760720" cy="932688"/>
          </a:xfrm>
          <a:prstGeom prst="rect">
            <a:avLst/>
          </a:prstGeom>
          <a:solidFill>
            <a:srgbClr val="1A2744"/>
          </a:solidFill>
          <a:ln w="12700">
            <a:solidFill>
              <a:srgbClr val="2D4A6A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3246120" y="2816352"/>
            <a:ext cx="530352" cy="53035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9272" y="2889504"/>
            <a:ext cx="384048" cy="38404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913632" y="2706624"/>
            <a:ext cx="480060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Storyboard a 2-level narrative with conflict and player purpose</a:t>
            </a:r>
            <a:endParaRPr lang="en-US" sz="1550" dirty="0"/>
          </a:p>
        </p:txBody>
      </p:sp>
      <p:sp>
        <p:nvSpPr>
          <p:cNvPr id="21" name="Shape 15"/>
          <p:cNvSpPr/>
          <p:nvPr/>
        </p:nvSpPr>
        <p:spPr>
          <a:xfrm>
            <a:off x="3108960" y="3730752"/>
            <a:ext cx="5760720" cy="932688"/>
          </a:xfrm>
          <a:prstGeom prst="rect">
            <a:avLst/>
          </a:prstGeom>
          <a:solidFill>
            <a:srgbClr val="1A2744"/>
          </a:solidFill>
          <a:ln w="12700">
            <a:solidFill>
              <a:srgbClr val="2D4A6A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3246120" y="3931920"/>
            <a:ext cx="530352" cy="53035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9272" y="4005072"/>
            <a:ext cx="384048" cy="38404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913632" y="3822192"/>
            <a:ext cx="480060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environmental storytelling inside a Godot 4.x tilemap level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0F172A"/>
                </a:solidFill>
              </a:rPr>
              <a:t>WARM-UP  ·  0–5 MIN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Two-Room Challenge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35331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94A3B8"/>
                </a:solidFill>
              </a:rPr>
              <a:t>What story does each room tell — without a single word?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783080"/>
            <a:ext cx="3749040" cy="2514600"/>
          </a:xfrm>
          <a:prstGeom prst="rect">
            <a:avLst/>
          </a:prstGeom>
          <a:solidFill>
            <a:srgbClr val="2A2A2A"/>
          </a:solidFill>
          <a:ln w="254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3383280"/>
            <a:ext cx="18288" cy="914400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15568" y="3383280"/>
            <a:ext cx="18288" cy="914400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865376" y="3383280"/>
            <a:ext cx="18288" cy="914400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615184" y="3383280"/>
            <a:ext cx="18288" cy="914400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364992" y="3383280"/>
            <a:ext cx="18288" cy="914400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" y="3977640"/>
            <a:ext cx="3749040" cy="18288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18288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555555"/>
                </a:solidFill>
              </a:rPr>
              <a:t>ROOM 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26517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444444"/>
                </a:solidFill>
              </a:rPr>
              <a:t>...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365760" y="429768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4A3B8"/>
                </a:solidFill>
              </a:rPr>
              <a:t>Empty. Plain. Grey.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0" y="1783080"/>
            <a:ext cx="3749040" cy="2514600"/>
          </a:xfrm>
          <a:prstGeom prst="rect">
            <a:avLst/>
          </a:prstGeom>
          <a:solidFill>
            <a:srgbClr val="1A0A05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035040" y="1874520"/>
            <a:ext cx="1645920" cy="822960"/>
          </a:xfrm>
          <a:prstGeom prst="ellipse">
            <a:avLst/>
          </a:prstGeom>
          <a:solidFill>
            <a:srgbClr val="F59E0B">
              <a:alpha val="35000"/>
            </a:srgbClr>
          </a:solidFill>
          <a:ln w="12700">
            <a:solidFill>
              <a:srgbClr val="F59E0B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629400" y="1920240"/>
            <a:ext cx="274320" cy="274320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166360" y="3474720"/>
            <a:ext cx="502920" cy="320040"/>
          </a:xfrm>
          <a:prstGeom prst="rect">
            <a:avLst/>
          </a:prstGeom>
          <a:solidFill>
            <a:srgbClr val="3A2010"/>
          </a:solidFill>
          <a:ln w="12700">
            <a:solidFill>
              <a:srgbClr val="5A3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806440" y="3657600"/>
            <a:ext cx="640080" cy="228600"/>
          </a:xfrm>
          <a:prstGeom prst="rect">
            <a:avLst/>
          </a:prstGeom>
          <a:solidFill>
            <a:srgbClr val="2C1A0C"/>
          </a:solidFill>
          <a:ln w="12700">
            <a:solidFill>
              <a:srgbClr val="5A3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583680" y="3383280"/>
            <a:ext cx="365760" cy="457200"/>
          </a:xfrm>
          <a:prstGeom prst="rect">
            <a:avLst/>
          </a:prstGeom>
          <a:solidFill>
            <a:srgbClr val="4A2A15"/>
          </a:solidFill>
          <a:ln w="12700">
            <a:solidFill>
              <a:srgbClr val="5A3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315200" y="3566160"/>
            <a:ext cx="731520" cy="274320"/>
          </a:xfrm>
          <a:prstGeom prst="rect">
            <a:avLst/>
          </a:prstGeom>
          <a:solidFill>
            <a:srgbClr val="35200F"/>
          </a:solidFill>
          <a:ln w="12700">
            <a:solidFill>
              <a:srgbClr val="5A3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183880" y="3749040"/>
            <a:ext cx="411480" cy="457200"/>
          </a:xfrm>
          <a:prstGeom prst="rect">
            <a:avLst/>
          </a:prstGeom>
          <a:solidFill>
            <a:srgbClr val="3A2010"/>
          </a:solidFill>
          <a:ln w="12700">
            <a:solidFill>
              <a:srgbClr val="5A3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046720" y="1874520"/>
            <a:ext cx="274320" cy="64008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138160" y="2331720"/>
            <a:ext cx="365760" cy="45720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0" y="18288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59E0B"/>
                </a:solidFill>
              </a:rPr>
              <a:t>ROOM B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0" y="429768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59E0B"/>
                </a:solidFill>
              </a:rPr>
              <a:t>Atmospheric. Cluttered. Alive.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251960" y="2651760"/>
            <a:ext cx="640080" cy="640080"/>
          </a:xfrm>
          <a:prstGeom prst="ellipse">
            <a:avLst/>
          </a:prstGeom>
          <a:solidFill>
            <a:srgbClr val="1E293B"/>
          </a:solidFill>
          <a:ln w="254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251960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VS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65760" y="4736592"/>
            <a:ext cx="8412480" cy="301752"/>
          </a:xfrm>
          <a:prstGeom prst="rect">
            <a:avLst/>
          </a:prstGeom>
          <a:solidFill>
            <a:srgbClr val="1E293B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65760" y="4736592"/>
            <a:ext cx="8412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4B8A6"/>
                </a:solidFill>
              </a:rPr>
              <a:t>💬  Discussion: What happened here? Who lived here? Would you want to explore it?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FFFFF"/>
                </a:solidFill>
              </a:rPr>
              <a:t>MAIN ACTIVITY  ·  PART A  ·  5–20 MIN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Storyboard Your World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4A3B8"/>
                </a:solidFill>
              </a:rPr>
              <a:t>On paper — design your 2-level game world before you build it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4023360" cy="1417320"/>
          </a:xfrm>
          <a:prstGeom prst="rect">
            <a:avLst/>
          </a:prstGeom>
          <a:solidFill>
            <a:srgbClr val="1A2744"/>
          </a:solidFill>
          <a:ln w="254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109728" cy="14173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18288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E7490"/>
                </a:solidFill>
              </a:rPr>
              <a:t>SETTING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" y="2176272"/>
            <a:ext cx="3657600" cy="8778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</a:rPr>
              <a:t>Where does this level take place?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</a:rPr>
              <a:t>Abandoned lab · Flooded city · Ancient temple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709160" y="1737360"/>
            <a:ext cx="4023360" cy="1417320"/>
          </a:xfrm>
          <a:prstGeom prst="rect">
            <a:avLst/>
          </a:prstGeom>
          <a:solidFill>
            <a:srgbClr val="1A2744"/>
          </a:solidFill>
          <a:ln w="254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09160" y="1737360"/>
            <a:ext cx="109728" cy="141732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10328" y="18288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43F5E"/>
                </a:solidFill>
              </a:rPr>
              <a:t>CONFLICT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10328" y="2176272"/>
            <a:ext cx="3657600" cy="8778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</a:rPr>
              <a:t>What challenge or danger exists?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</a:rPr>
              <a:t>What threat does the player face?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5760" y="3310128"/>
            <a:ext cx="4023360" cy="1417320"/>
          </a:xfrm>
          <a:prstGeom prst="rect">
            <a:avLst/>
          </a:prstGeom>
          <a:solidFill>
            <a:srgbClr val="1A2744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3310128"/>
            <a:ext cx="109728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66928" y="340156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59E0B"/>
                </a:solidFill>
              </a:rPr>
              <a:t>PLAYER GOAL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66928" y="3749040"/>
            <a:ext cx="3657600" cy="8778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</a:rPr>
              <a:t>What is the player trying to achieve?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</a:rPr>
              <a:t>Escape · Collect · Defeat · Discover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709160" y="3310128"/>
            <a:ext cx="4023360" cy="1417320"/>
          </a:xfrm>
          <a:prstGeom prst="rect">
            <a:avLst/>
          </a:prstGeom>
          <a:solidFill>
            <a:srgbClr val="1A2744"/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09160" y="3310128"/>
            <a:ext cx="109728" cy="1417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10328" y="340156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0B981"/>
                </a:solidFill>
              </a:rPr>
              <a:t>3 VISUAL CLUES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10328" y="3749040"/>
            <a:ext cx="3657600" cy="8778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</a:rPr>
              <a:t>What objects, light, or damage hints at this world's history?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65760" y="4736592"/>
            <a:ext cx="8412480" cy="301752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4736592"/>
            <a:ext cx="8412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CD34D"/>
                </a:solidFill>
              </a:rPr>
              <a:t>📝  Worksheet: Draw or sketch your level · Label 3 environmental details · Write how the player should FEEL walking in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FFFFF"/>
                </a:solidFill>
              </a:rPr>
              <a:t>MAIN ACTIVITY  ·  PART B  ·  20–50 MIN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It in Godot 4.x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160520" cy="3429000"/>
          </a:xfrm>
          <a:prstGeom prst="rect">
            <a:avLst/>
          </a:prstGeom>
          <a:solidFill>
            <a:srgbClr val="1A2744"/>
          </a:solidFill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4160520" cy="4572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TASK 1 — Environmental Details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94360" y="19659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</a:rPr>
              <a:t>Open your Godot project (TileMap node)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35915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</a:rPr>
              <a:t>Add tiles that reflect your world story: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2752344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</a:rPr>
              <a:t>· Cracked/broken walls — suggest damage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145536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</a:rPr>
              <a:t>· Scattered items as Sprite2D nodes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353872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</a:rPr>
              <a:t>· Signs with in-world text (Label node)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39319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</a:rPr>
              <a:t>· Color-tinted background for mood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432511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</a:rPr>
              <a:t>Each detail should hint at history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1417320"/>
            <a:ext cx="4160520" cy="3429000"/>
          </a:xfrm>
          <a:prstGeom prst="rect">
            <a:avLst/>
          </a:prstGeom>
          <a:solidFill>
            <a:srgbClr val="1A2744"/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63440" y="1417320"/>
            <a:ext cx="416052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09160" y="141732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TASK 2 — NPC Dialogue &amp; Lore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754880" y="1938528"/>
            <a:ext cx="3977640" cy="230428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64608" y="19933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 Area2D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64608" y="220827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64608" y="242316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@onready var dialogue = $Label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64608" y="263804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64608" y="285292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 _ready():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64608" y="306781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dialogue.visible = false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64608" y="328269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64608" y="34975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 _on_body_entered(body):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64608" y="371246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body.name == "Player":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64608" y="392734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dialogue.visible = true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4315968"/>
            <a:ext cx="4160520" cy="420624"/>
          </a:xfrm>
          <a:prstGeom prst="rect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663440" y="4315968"/>
            <a:ext cx="416052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4B5FD"/>
                </a:solidFill>
              </a:rPr>
              <a:t>"They said the machines stopped the night the lights went out…"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4736592"/>
            <a:ext cx="8412480" cy="301752"/>
          </a:xfrm>
          <a:prstGeom prst="rect">
            <a:avLst/>
          </a:prstGeom>
          <a:solidFill>
            <a:srgbClr val="1E293B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65760" y="4736592"/>
            <a:ext cx="8412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CD34D"/>
                </a:solidFill>
              </a:rPr>
              <a:t>💡  NPC dialogue should reveal LORE — not explain game controls. Make players curious, not informed.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47472" y="274320"/>
            <a:ext cx="228600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2743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</a:rPr>
              <a:t>GAME DESIGN CONCEPT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777240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"Show, Don't Tell"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347472" y="148132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4A3B8"/>
                </a:solidFill>
              </a:rPr>
              <a:t>Great games reveal story through the world itself — not just text boxes.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47472" y="1993392"/>
            <a:ext cx="4114800" cy="402336"/>
          </a:xfrm>
          <a:prstGeom prst="rect">
            <a:avLst/>
          </a:prstGeom>
          <a:solidFill>
            <a:srgbClr val="4B2020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" y="1993392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3F5E"/>
                </a:solidFill>
              </a:rPr>
              <a:t>❌  TELL (weak)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81728" y="1993392"/>
            <a:ext cx="4114800" cy="402336"/>
          </a:xfrm>
          <a:prstGeom prst="rect">
            <a:avLst/>
          </a:prstGeom>
          <a:solidFill>
            <a:srgbClr val="0F2D1F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81728" y="1993392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EE7B7"/>
                </a:solidFill>
              </a:rPr>
              <a:t>✅  SHOW (strong)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" y="2487168"/>
            <a:ext cx="4114800" cy="685800"/>
          </a:xfrm>
          <a:prstGeom prst="rect">
            <a:avLst/>
          </a:prstGeom>
          <a:solidFill>
            <a:srgbClr val="200A0A"/>
          </a:solidFill>
          <a:ln w="12700">
            <a:solidFill>
              <a:srgbClr val="3A1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" y="2523744"/>
            <a:ext cx="3931920" cy="6126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E8A0A0"/>
                </a:solidFill>
              </a:rPr>
              <a:t>"This lab was destroyed by an explosion."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81728" y="2487168"/>
            <a:ext cx="4114800" cy="685800"/>
          </a:xfrm>
          <a:prstGeom prst="rect">
            <a:avLst/>
          </a:prstGeom>
          <a:solidFill>
            <a:srgbClr val="092015"/>
          </a:solidFill>
          <a:ln w="12700">
            <a:solidFill>
              <a:srgbClr val="1A3A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73168" y="2523744"/>
            <a:ext cx="3931920" cy="6126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E7B7"/>
                </a:solidFill>
              </a:rPr>
              <a:t>Charred walls, overturned equipment, singed papers on the floor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462272" y="2761488"/>
            <a:ext cx="219456" cy="1371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47472" y="3236976"/>
            <a:ext cx="4114800" cy="685800"/>
          </a:xfrm>
          <a:prstGeom prst="rect">
            <a:avLst/>
          </a:prstGeom>
          <a:solidFill>
            <a:srgbClr val="200A0A"/>
          </a:solidFill>
          <a:ln w="12700">
            <a:solidFill>
              <a:srgbClr val="3A1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38912" y="3273552"/>
            <a:ext cx="3931920" cy="6126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E8A0A0"/>
                </a:solidFill>
              </a:rPr>
              <a:t>"The village was peaceful."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81728" y="3236976"/>
            <a:ext cx="4114800" cy="685800"/>
          </a:xfrm>
          <a:prstGeom prst="rect">
            <a:avLst/>
          </a:prstGeom>
          <a:solidFill>
            <a:srgbClr val="092015"/>
          </a:solidFill>
          <a:ln w="12700">
            <a:solidFill>
              <a:srgbClr val="1A3A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73168" y="3273552"/>
            <a:ext cx="3931920" cy="6126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E7B7"/>
                </a:solidFill>
              </a:rPr>
              <a:t>Flower boxes in windows, children's drawings, a well-worn path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462272" y="3511296"/>
            <a:ext cx="219456" cy="1371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47472" y="3986784"/>
            <a:ext cx="4114800" cy="685800"/>
          </a:xfrm>
          <a:prstGeom prst="rect">
            <a:avLst/>
          </a:prstGeom>
          <a:solidFill>
            <a:srgbClr val="200A0A"/>
          </a:solidFill>
          <a:ln w="12700">
            <a:solidFill>
              <a:srgbClr val="3A1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38912" y="4023360"/>
            <a:ext cx="3931920" cy="6126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E8A0A0"/>
                </a:solidFill>
              </a:rPr>
              <a:t>"Something bad happened here."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681728" y="3986784"/>
            <a:ext cx="4114800" cy="685800"/>
          </a:xfrm>
          <a:prstGeom prst="rect">
            <a:avLst/>
          </a:prstGeom>
          <a:solidFill>
            <a:srgbClr val="092015"/>
          </a:solidFill>
          <a:ln w="12700">
            <a:solidFill>
              <a:srgbClr val="1A3A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73168" y="4023360"/>
            <a:ext cx="3931920" cy="6126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E7B7"/>
                </a:solidFill>
              </a:rPr>
              <a:t>A single shoe, a torn photo, a locked door with scratch marks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462272" y="4261104"/>
            <a:ext cx="219456" cy="1371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47472" y="4736592"/>
            <a:ext cx="8449056" cy="301752"/>
          </a:xfrm>
          <a:prstGeom prst="rect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47472" y="4736592"/>
            <a:ext cx="84490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4B5FD"/>
                </a:solidFill>
              </a:rPr>
              <a:t>Ask yourself: If I removed ALL text from my level — what story would the visuals still tell?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FCD34D"/>
                </a:solidFill>
              </a:rPr>
              <a:t>INSPIRATION FROM REAL GAMES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Storytelling in Action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" y="1371600"/>
            <a:ext cx="4059936" cy="1463040"/>
          </a:xfrm>
          <a:prstGeom prst="rect">
            <a:avLst/>
          </a:prstGeom>
          <a:solidFill>
            <a:srgbClr val="1A2744"/>
          </a:solidFill>
          <a:ln w="1905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7472" y="1371600"/>
            <a:ext cx="4059936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84632" y="150876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Hollow Knight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84632" y="1874520"/>
            <a:ext cx="374904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</a:rPr>
              <a:t>Crumbling ruins &amp; ghostly NPCs reveal a fallen kingdom — no narrator needed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4059936" cy="1463040"/>
          </a:xfrm>
          <a:prstGeom prst="rect">
            <a:avLst/>
          </a:prstGeom>
          <a:solidFill>
            <a:srgbClr val="1A2744"/>
          </a:solidFill>
          <a:ln w="1905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4059936" cy="7315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00600" y="150876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Celeste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800600" y="1874520"/>
            <a:ext cx="374904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</a:rPr>
              <a:t>Visual metaphors mirror the protagonist's emotional inner journey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47472" y="2999232"/>
            <a:ext cx="4059936" cy="1463040"/>
          </a:xfrm>
          <a:prstGeom prst="rect">
            <a:avLst/>
          </a:prstGeom>
          <a:solidFill>
            <a:srgbClr val="1A2744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47472" y="2999232"/>
            <a:ext cx="4059936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4632" y="313639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Souls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84632" y="3502152"/>
            <a:ext cx="374904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</a:rPr>
              <a:t>Item descriptions + placement reveal deep lore without a single cutscene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663440" y="2999232"/>
            <a:ext cx="4059936" cy="1463040"/>
          </a:xfrm>
          <a:prstGeom prst="rect">
            <a:avLst/>
          </a:prstGeom>
          <a:solidFill>
            <a:srgbClr val="1A2744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63440" y="2999232"/>
            <a:ext cx="4059936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00600" y="313639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of Us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800600" y="3502152"/>
            <a:ext cx="374904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</a:rPr>
              <a:t>Overgrown buildings &amp; scattered mementos tell human stories silently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47472" y="4709160"/>
            <a:ext cx="8449056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47472" y="4709160"/>
            <a:ext cx="8449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4B8A6"/>
                </a:solidFill>
              </a:rPr>
              <a:t>🎮  Notice how NONE of these games tell you what to feel — they make you discover it for yourself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961120" y="0"/>
            <a:ext cx="182880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10B981"/>
                </a:solidFill>
              </a:rPr>
              <a:t>REFLECTION  ·  EXIT TICKET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54864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9" name="Text 7"/>
          <p:cNvSpPr/>
          <p:nvPr/>
        </p:nvSpPr>
        <p:spPr>
          <a:xfrm>
            <a:off x="914400" y="1261872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one detail in your level</a:t>
            </a:r>
            <a:endParaRPr lang="en-US" sz="3000" dirty="0"/>
          </a:p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the player something</a:t>
            </a:r>
            <a:endParaRPr lang="en-US" sz="3000" dirty="0"/>
          </a:p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story —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14400" y="2487168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single word?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749808" y="3310128"/>
            <a:ext cx="310896" cy="31089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49808" y="3310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43000" y="3273552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</a:rPr>
              <a:t>Screen share &amp; point out your detail (2 min)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383280" y="3310128"/>
            <a:ext cx="310896" cy="31089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383280" y="3310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76472" y="3273552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</a:rPr>
              <a:t>Written exit ticket — one sentence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16752" y="3310128"/>
            <a:ext cx="310896" cy="31089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016752" y="3310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9944" y="3273552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</a:rPr>
              <a:t>Pair-share with a classmate first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3822192"/>
            <a:ext cx="8229600" cy="896112"/>
          </a:xfrm>
          <a:prstGeom prst="rect">
            <a:avLst/>
          </a:prstGeom>
          <a:solidFill>
            <a:srgbClr val="1E293B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4360" y="3858768"/>
            <a:ext cx="79552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</a:rPr>
              <a:t>Debrief: </a:t>
            </a:r>
            <a:r>
              <a:rPr lang="en-US" sz="1100" dirty="0">
                <a:solidFill>
                  <a:srgbClr val="94A3B8"/>
                </a:solidFill>
              </a:rPr>
              <a:t>Did anyone change their level based on design feedback?  ·  What was harder: writing dialogue or showing through environment?  ·  What classmate detail surprised you?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FFFFF"/>
                </a:solidFill>
              </a:rPr>
              <a:t>ASSESSMENT GUIDE  ·  RUBRIC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will this work be assessed?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2286000" cy="438912"/>
          </a:xfrm>
          <a:prstGeom prst="rect">
            <a:avLst/>
          </a:prstGeom>
          <a:solidFill>
            <a:srgbClr val="1A3A5C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29844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Criteria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51760" y="1298448"/>
            <a:ext cx="2057400" cy="438912"/>
          </a:xfrm>
          <a:prstGeom prst="rect">
            <a:avLst/>
          </a:prstGeom>
          <a:solidFill>
            <a:srgbClr val="0E7490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651760" y="1298448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Exceeds (4)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298448"/>
            <a:ext cx="2057400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09160" y="1298448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Meets (3)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766560" y="1298448"/>
            <a:ext cx="2011680" cy="438912"/>
          </a:xfrm>
          <a:prstGeom prst="rect">
            <a:avLst/>
          </a:prstGeom>
          <a:solidFill>
            <a:srgbClr val="64748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766560" y="12984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Developing (1–2)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810512"/>
            <a:ext cx="228600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8912" y="1847088"/>
            <a:ext cx="2139696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</a:rPr>
              <a:t>Storyboard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</a:rPr>
              <a:t>Completion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651760" y="1810512"/>
            <a:ext cx="2057400" cy="713232"/>
          </a:xfrm>
          <a:prstGeom prst="rect">
            <a:avLst/>
          </a:prstGeom>
          <a:solidFill>
            <a:srgbClr val="1A2744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24912" y="1847088"/>
            <a:ext cx="1911096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Two full levels, all elements labeled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09160" y="1810512"/>
            <a:ext cx="2057400" cy="713232"/>
          </a:xfrm>
          <a:prstGeom prst="rect">
            <a:avLst/>
          </a:prstGeom>
          <a:solidFill>
            <a:srgbClr val="1A2744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82312" y="1847088"/>
            <a:ext cx="1911096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Two levels, most elements present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766560" y="1810512"/>
            <a:ext cx="2011680" cy="713232"/>
          </a:xfrm>
          <a:prstGeom prst="rect">
            <a:avLst/>
          </a:prstGeom>
          <a:solidFill>
            <a:srgbClr val="1A2744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839712" y="1847088"/>
            <a:ext cx="1865376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One level or major elements missing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2578608"/>
            <a:ext cx="228600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38912" y="2615184"/>
            <a:ext cx="2139696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</a:rPr>
              <a:t>Godot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</a:rPr>
              <a:t>Environmental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</a:rPr>
              <a:t>Details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651760" y="2578608"/>
            <a:ext cx="205740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724912" y="2615184"/>
            <a:ext cx="1911096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3+ details that clearly communicate world history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09160" y="2578608"/>
            <a:ext cx="205740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82312" y="2615184"/>
            <a:ext cx="1911096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2 details with some story connection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766560" y="2578608"/>
            <a:ext cx="201168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839712" y="2615184"/>
            <a:ext cx="1865376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1 detail or feels disconnected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3346704"/>
            <a:ext cx="228600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38912" y="3383280"/>
            <a:ext cx="2139696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</a:rPr>
              <a:t>NPC Dialogue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</a:rPr>
              <a:t>Quality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651760" y="3346704"/>
            <a:ext cx="2057400" cy="713232"/>
          </a:xfrm>
          <a:prstGeom prst="rect">
            <a:avLst/>
          </a:prstGeom>
          <a:solidFill>
            <a:srgbClr val="1A2744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724912" y="3383280"/>
            <a:ext cx="1911096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Natural lore reveal; feels in-world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09160" y="3346704"/>
            <a:ext cx="2057400" cy="713232"/>
          </a:xfrm>
          <a:prstGeom prst="rect">
            <a:avLst/>
          </a:prstGeom>
          <a:solidFill>
            <a:srgbClr val="1A2744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782312" y="3383280"/>
            <a:ext cx="1911096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Hints at story, slightly expository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766560" y="3346704"/>
            <a:ext cx="2011680" cy="713232"/>
          </a:xfrm>
          <a:prstGeom prst="rect">
            <a:avLst/>
          </a:prstGeom>
          <a:solidFill>
            <a:srgbClr val="1A2744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839712" y="3383280"/>
            <a:ext cx="1865376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Present but doesn't connect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65760" y="4114800"/>
            <a:ext cx="228600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38912" y="4151376"/>
            <a:ext cx="2139696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</a:rPr>
              <a:t>Reflection /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</a:rPr>
              <a:t>Exit Ticket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651760" y="4114800"/>
            <a:ext cx="205740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724912" y="4151376"/>
            <a:ext cx="1911096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Specific detail + insightful explanation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709160" y="4114800"/>
            <a:ext cx="205740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782312" y="4151376"/>
            <a:ext cx="1911096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Detail identified, basic explanation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766560" y="4114800"/>
            <a:ext cx="201168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839712" y="4151376"/>
            <a:ext cx="1865376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Vague or no storytelling link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</a:rPr>
              <a:t>Total: 16 points  ·  Grades reflect both paper storyboard and Godot implementation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← Day 13: Level Design Fundamentals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212080" y="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4B8A6"/>
                </a:solidFill>
              </a:rPr>
              <a:t>Day 15: Playtesting &amp; Player Feedback →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Next?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CD34D"/>
                </a:solidFill>
              </a:rPr>
              <a:t>EXTENSION CHALLENGES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847088"/>
            <a:ext cx="2029968" cy="1051560"/>
          </a:xfrm>
          <a:prstGeom prst="rect">
            <a:avLst/>
          </a:prstGeom>
          <a:solidFill>
            <a:srgbClr val="1A2744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847088"/>
            <a:ext cx="2029968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956816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</a:rPr>
              <a:t>Animate a detail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249424"/>
            <a:ext cx="187452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Flickering light with AnimationPlayer or a slowly opening door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560320" y="1847088"/>
            <a:ext cx="2029968" cy="1051560"/>
          </a:xfrm>
          <a:prstGeom prst="rect">
            <a:avLst/>
          </a:prstGeom>
          <a:solidFill>
            <a:srgbClr val="1A2744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560320" y="1847088"/>
            <a:ext cx="2029968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651760" y="1956816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</a:rPr>
              <a:t>Parallax background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51760" y="2249424"/>
            <a:ext cx="187452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Add depth layers behind your tilemap for a rich game feel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035808"/>
            <a:ext cx="2029968" cy="1051560"/>
          </a:xfrm>
          <a:prstGeom prst="rect">
            <a:avLst/>
          </a:prstGeom>
          <a:solidFill>
            <a:srgbClr val="1A2744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65760" y="3035808"/>
            <a:ext cx="2029968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3145536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</a:rPr>
              <a:t>Write a World Bible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438144"/>
            <a:ext cx="187452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1-page doc on your world's full history, factions, and events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560320" y="3035808"/>
            <a:ext cx="2029968" cy="1051560"/>
          </a:xfrm>
          <a:prstGeom prst="rect">
            <a:avLst/>
          </a:prstGeom>
          <a:solidFill>
            <a:srgbClr val="1A2744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560320" y="3035808"/>
            <a:ext cx="2029968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651760" y="3145536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</a:rPr>
              <a:t>Game research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651760" y="3438144"/>
            <a:ext cx="187452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Find one indie game with great env. storytelling — present 2 min to class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46320" y="1371600"/>
            <a:ext cx="3977640" cy="2834640"/>
          </a:xfrm>
          <a:prstGeom prst="rect">
            <a:avLst/>
          </a:prstGeom>
          <a:solidFill>
            <a:srgbClr val="1A2744"/>
          </a:solidFill>
          <a:ln w="254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846320" y="1371600"/>
            <a:ext cx="3977640" cy="4572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46320" y="137160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</a:rPr>
              <a:t>COMING UP — DAY 15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83480" y="1920240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Playtesting &amp;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Feedback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983480" y="2816352"/>
            <a:ext cx="237744" cy="23774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321808" y="27889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</a:rPr>
              <a:t>Share your game with peers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983480" y="3255264"/>
            <a:ext cx="237744" cy="23774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321808" y="322783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</a:rPr>
              <a:t>Structured feedback forms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983480" y="3694176"/>
            <a:ext cx="237744" cy="23774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321808" y="366674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</a:rPr>
              <a:t>Iterate on level design from real player data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65760" y="4315968"/>
            <a:ext cx="8412480" cy="685800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02920" y="435254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CD34D"/>
                </a:solidFill>
              </a:rPr>
              <a:t>🔔  REMINDER: Save and back up your Godot project folder before the end of class!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02920" y="46451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Export to shared drive or USB  ·  File &gt; Export Project in Godot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927</Words>
  <Application>Microsoft Macintosh PowerPoint</Application>
  <PresentationFormat>On-screen Show (16:9)</PresentationFormat>
  <Paragraphs>158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14 – World Building &amp; Level Storytelling</dc:title>
  <dc:subject>PptxGenJS Presentation</dc:subject>
  <dc:creator>STEM Through Games Program</dc:creator>
  <cp:lastModifiedBy>Babichenko, Dmitriy</cp:lastModifiedBy>
  <cp:revision>1</cp:revision>
  <dcterms:created xsi:type="dcterms:W3CDTF">2026-06-05T18:35:47Z</dcterms:created>
  <dcterms:modified xsi:type="dcterms:W3CDTF">2026-06-05T18:51:03Z</dcterms:modified>
</cp:coreProperties>
</file>