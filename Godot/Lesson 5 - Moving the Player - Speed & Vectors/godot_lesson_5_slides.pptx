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41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411480"/>
            <a:ext cx="237744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STEM THROUGH GAMES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822960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822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05840" y="877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2B"/>
                </a:solidFill>
              </a:rPr>
              <a:t>DAY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Player:</a:t>
            </a:r>
            <a:endParaRPr lang="en-US" sz="5200" dirty="0"/>
          </a:p>
        </p:txBody>
      </p:sp>
      <p:sp>
        <p:nvSpPr>
          <p:cNvPr id="42" name="Text 40"/>
          <p:cNvSpPr/>
          <p:nvPr/>
        </p:nvSpPr>
        <p:spPr>
          <a:xfrm>
            <a:off x="45720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Vectors</a:t>
            </a:r>
            <a:endParaRPr lang="en-US" sz="5200" dirty="0"/>
          </a:p>
        </p:txBody>
      </p:sp>
      <p:sp>
        <p:nvSpPr>
          <p:cNvPr id="43" name="Text 4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4D8"/>
                </a:solidFill>
              </a:rPr>
              <a:t>Godot 4  •  GDScript  •  CharacterBody2D  •  Vector Mathematics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1129284" cy="2377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00D4FF"/>
                </a:solidFill>
              </a:rPr>
              <a:t>  MATHEMATICS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633472" y="4572000"/>
            <a:ext cx="818388" cy="237744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633472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2ECC71"/>
                </a:solidFill>
              </a:rPr>
              <a:t>  PHYSICS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9744" y="4572000"/>
            <a:ext cx="1129284" cy="237744"/>
          </a:xfrm>
          <a:prstGeom prst="rect">
            <a:avLst/>
          </a:prstGeom>
          <a:solidFill>
            <a:srgbClr val="FF6B2B">
              <a:alpha val="25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9744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FF6B2B"/>
                </a:solidFill>
              </a:rPr>
              <a:t>  GAME DESIGN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86016" y="4572000"/>
            <a:ext cx="1517904" cy="237744"/>
          </a:xfrm>
          <a:prstGeom prst="rect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986016" y="4572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7B2FFF"/>
                </a:solidFill>
              </a:rPr>
              <a:t>  COMPUTER   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LESSON OVERVIEW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</a:rPr>
              <a:t>By the end of this lesson, you will be able to: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8229600" cy="53035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16916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Understand velocity as speed + direction (a vector)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8229600" cy="53035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221992"/>
            <a:ext cx="54864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2313432"/>
            <a:ext cx="347472" cy="347472"/>
          </a:xfrm>
          <a:prstGeom prst="ellipse">
            <a:avLst/>
          </a:prstGeom>
          <a:solidFill>
            <a:srgbClr val="2ECC71">
              <a:alpha val="20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Move a character using keyboard input in Godot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843784"/>
            <a:ext cx="8229600" cy="53035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54864" cy="53035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2935224"/>
            <a:ext cx="347472" cy="347472"/>
          </a:xfrm>
          <a:prstGeom prst="ellipse">
            <a:avLst/>
          </a:prstGeom>
          <a:solidFill>
            <a:srgbClr val="F1C40F">
              <a:alpha val="20000"/>
            </a:srgbClr>
          </a:solidFill>
          <a:ln w="635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40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29352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Connect 2D math vectors to real-time game movement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465576"/>
            <a:ext cx="8229600" cy="53035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465576"/>
            <a:ext cx="54864" cy="5303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3557016"/>
            <a:ext cx="347472" cy="347472"/>
          </a:xfrm>
          <a:prstGeom prst="ellipse">
            <a:avLst/>
          </a:prstGeom>
          <a:solidFill>
            <a:srgbClr val="FF6B2B">
              <a:alpha val="20000"/>
            </a:srgbClr>
          </a:solidFill>
          <a:ln w="635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2B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Predict how changing speed changes the game feel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087368"/>
            <a:ext cx="8229600" cy="53035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087368"/>
            <a:ext cx="54864" cy="5303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" y="4178808"/>
            <a:ext cx="347472" cy="347472"/>
          </a:xfrm>
          <a:prstGeom prst="ellipse">
            <a:avLst/>
          </a:prstGeom>
          <a:solidFill>
            <a:srgbClr val="7B2FFF">
              <a:alpha val="20000"/>
            </a:srgbClr>
          </a:solidFill>
          <a:ln w="635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5568" y="41788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Explain why negative Y moves a character up on screen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1923"/>
                </a:solidFill>
              </a:rPr>
              <a:t>WARM-UP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on a Number 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Part 1 — 1D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You are at position 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You move +3.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</a:rPr>
              <a:t>Where do you land?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3474720" cy="0"/>
          </a:xfrm>
          <a:prstGeom prst="line">
            <a:avLst/>
          </a:prstGeom>
          <a:noFill/>
          <a:ln w="254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-2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7552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35024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97864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82496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45336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29968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92808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24912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87752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72384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35224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19856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82696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67328" y="2907792"/>
            <a:ext cx="0" cy="128016"/>
          </a:xfrm>
          <a:prstGeom prst="line">
            <a:avLst/>
          </a:prstGeom>
          <a:noFill/>
          <a:ln w="190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30168" y="3035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80944" y="2834640"/>
            <a:ext cx="182880" cy="18288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072384" y="2926080"/>
            <a:ext cx="1042416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72384" y="2697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+3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Answer: 5 + 3 = 8 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1234440"/>
            <a:ext cx="4023360" cy="269748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1234440"/>
            <a:ext cx="54864" cy="26974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</a:rPr>
              <a:t>Part 2 — 2D Coordinate Plane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Start at (2, 3)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Move by vector (4, −1)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</a:rPr>
              <a:t>Where do you land?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00600" y="2514600"/>
            <a:ext cx="3749040" cy="777240"/>
          </a:xfrm>
          <a:prstGeom prst="rect">
            <a:avLst/>
          </a:prstGeom>
          <a:solidFill>
            <a:srgbClr val="0D111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 + 4,  3 + (−1))</a:t>
            </a:r>
            <a:r>
              <a:rPr lang="en-US" sz="1400" dirty="0">
                <a:solidFill>
                  <a:srgbClr val="FFFFFF"/>
                </a:solidFill>
              </a:rPr>
              <a:t> = </a:t>
            </a: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(6, 2)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9204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Moved right 4, up 1 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Class Discussion: What does a negative number in a direction vector mean?  |  If direction = (0, 0), are you moving?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0F1923"/>
                </a:solidFill>
              </a:rPr>
              <a:t>MATH CONCEPTS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Vector?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Vector </a:t>
            </a:r>
            <a:r>
              <a:rPr lang="en-US" sz="1600" dirty="0">
                <a:solidFill>
                  <a:srgbClr val="FFFFFF"/>
                </a:solidFill>
              </a:rPr>
              <a:t>= a quantity that has BOTH </a:t>
            </a:r>
            <a:r>
              <a:rPr lang="en-US" sz="1600" b="1" dirty="0">
                <a:solidFill>
                  <a:srgbClr val="F1C40F"/>
                </a:solidFill>
              </a:rPr>
              <a:t>magnitude (size)</a:t>
            </a:r>
            <a:r>
              <a:rPr lang="en-US" sz="1600" dirty="0">
                <a:solidFill>
                  <a:srgbClr val="B0C4D8"/>
                </a:solidFill>
              </a:rPr>
              <a:t>  AND  </a:t>
            </a:r>
            <a:r>
              <a:rPr lang="en-US" sz="1600" b="1" dirty="0">
                <a:solidFill>
                  <a:srgbClr val="FF6B2B"/>
                </a:solidFill>
              </a:rPr>
              <a:t>direction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8"/>
                </a:solidFill>
              </a:rPr>
              <a:t>In 2D games, we use Vector2(x, y) — like a coordinate pair with meaning!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920240" cy="12801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9202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RIGHT 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Vector2(1, 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80"/>
                </a:solidFill>
              </a:rPr>
              <a:t>× speed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8393" y="2331720"/>
            <a:ext cx="1920240" cy="12801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48393" y="2331720"/>
            <a:ext cx="192024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48393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2B"/>
                </a:solidFill>
              </a:rPr>
              <a:t>← LEFT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94113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Vector2(-1, 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94113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80"/>
                </a:solidFill>
              </a:rPr>
              <a:t>× speed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7539" y="2331720"/>
            <a:ext cx="1920240" cy="12801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47539" y="2331720"/>
            <a:ext cx="19202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7539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</a:rPr>
              <a:t>↑ UP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93259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Vector2(0, -1)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3259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80"/>
                </a:solidFill>
              </a:rPr>
              <a:t>× speed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2586" y="2331720"/>
            <a:ext cx="1920240" cy="12801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2586" y="2331720"/>
            <a:ext cx="192024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2586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C40F"/>
                </a:solidFill>
              </a:rPr>
              <a:t>DOWN 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0830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Vector2(0, 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08306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80"/>
                </a:solidFill>
              </a:rPr>
              <a:t>× speed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162232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54864" cy="8229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044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200  </a:t>
            </a:r>
            <a:r>
              <a:rPr lang="en-US" sz="1300" dirty="0">
                <a:solidFill>
                  <a:srgbClr val="B0C4D8"/>
                </a:solidFill>
              </a:rPr>
              <a:t>  |  Vector2(1, 0) × 200  </a:t>
            </a:r>
            <a:r>
              <a:rPr lang="en-US" sz="15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velocity = (200, 0)  </a:t>
            </a:r>
            <a:r>
              <a:rPr lang="en-US" sz="1300" dirty="0">
                <a:solidFill>
                  <a:srgbClr val="FFFFFF"/>
                </a:solidFill>
              </a:rPr>
              <a:t>  200 px/sec to the right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4279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2B"/>
                </a:solidFill>
              </a:rPr>
              <a:t>In Godot, Y increases DOWNWARD — so negative Y = moving UP on screen!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2526"/>
          </a:solidFill>
          <a:ln w="12700">
            <a:solidFill>
              <a:srgbClr val="1C2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0972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10972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9536" y="10972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731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A9A"/>
                </a:solidFill>
              </a:rPr>
              <a:t>movement.gd  —  CharacterBody2D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" y="4572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572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CharacterBody2D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4592" y="7086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" y="9601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speed = 200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4592" y="12115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" y="14630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14630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_physics_process(delta):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64592" y="17145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17145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direction = Vector2.ZERO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4592" y="19659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" y="22174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22174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Input.is_action_pressed("ui_right"):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64592" y="24688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2468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direction.x = 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64592" y="27203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203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Input.is_action_pressed("ui_left"):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64592" y="29718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29718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direction.x = -1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64592" y="32232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32232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Input.is_action_pressed("ui_up"):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64592" y="34747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3474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direction.y = -1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64592" y="37261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37261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Input.is_action_pressed("ui_down"):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64592" y="39776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39776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direction.y = 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64592" y="42291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" y="44805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" y="44805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velocity = direction * speed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64592" y="47320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" y="47320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move_and_slide()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2194560" y="1207008"/>
            <a:ext cx="1371600" cy="457200"/>
          </a:xfrm>
          <a:prstGeom prst="line">
            <a:avLst/>
          </a:prstGeom>
          <a:noFill/>
          <a:ln w="12700">
            <a:solidFill>
              <a:srgbClr val="F1C40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566160" y="1627632"/>
            <a:ext cx="2560320" cy="347472"/>
          </a:xfrm>
          <a:prstGeom prst="rect">
            <a:avLst/>
          </a:prstGeom>
          <a:solidFill>
            <a:srgbClr val="1A2A1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1664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C40F"/>
                </a:solidFill>
              </a:rPr>
              <a:t>📌  pixels per second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749040" y="4526280"/>
            <a:ext cx="1280160" cy="27432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29200" y="4736592"/>
            <a:ext cx="3017520" cy="347472"/>
          </a:xfrm>
          <a:prstGeom prst="rect">
            <a:avLst/>
          </a:prstGeom>
          <a:solidFill>
            <a:srgbClr val="0A1A2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74920" y="4773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📌  direction × speed = velocity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0F1923"/>
                </a:solidFill>
              </a:rPr>
              <a:t>CODE BREAKDOWN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Line Does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420624"/>
          </a:xfrm>
          <a:prstGeom prst="rect">
            <a:avLst/>
          </a:prstGeom>
          <a:solidFill>
            <a:srgbClr val="1E3147"/>
          </a:solidFill>
          <a:ln w="12700">
            <a:solidFill>
              <a:srgbClr val="1E31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6576" cy="42062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CharacterBody2D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13441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Attach to character node — enables move_and_slide()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51076"/>
            <a:ext cx="8229600" cy="420624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1076"/>
            <a:ext cx="36576" cy="42062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7967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speed = 200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7967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 variable — how many pixels per second to move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20624"/>
          </a:xfrm>
          <a:prstGeom prst="rect">
            <a:avLst/>
          </a:prstGeom>
          <a:solidFill>
            <a:srgbClr val="1E3147"/>
          </a:solidFill>
          <a:ln w="12700">
            <a:solidFill>
              <a:srgbClr val="1E31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36576" cy="4206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2494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_physics_process(delta)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Called 60×/sec — always use this for movement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656332"/>
            <a:ext cx="8229600" cy="420624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656332"/>
            <a:ext cx="36576" cy="4206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7020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direction = Vector2.ZERO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27020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Starts at (0,0) — no movement until keys are pressed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420624"/>
          </a:xfrm>
          <a:prstGeom prst="rect">
            <a:avLst/>
          </a:prstGeom>
          <a:solidFill>
            <a:srgbClr val="1E3147"/>
          </a:solidFill>
          <a:ln w="12700">
            <a:solidFill>
              <a:srgbClr val="1E31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36576" cy="42062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154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direction.x = 1 / −1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1546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Right/Left arrow sets horizontal component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561588"/>
            <a:ext cx="8229600" cy="420624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61588"/>
            <a:ext cx="36576" cy="42062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073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direction.y = −1 /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360730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Up (−Y) / Down (+Y) — screen Y flips vs. math class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014216"/>
            <a:ext cx="8229600" cy="420624"/>
          </a:xfrm>
          <a:prstGeom prst="rect">
            <a:avLst/>
          </a:prstGeom>
          <a:solidFill>
            <a:srgbClr val="1E3147"/>
          </a:solidFill>
          <a:ln w="12700">
            <a:solidFill>
              <a:srgbClr val="1E31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014216"/>
            <a:ext cx="36576" cy="4206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0599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 = direction * speed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640" y="40599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(1, 0) × 200 = (200, 0) — scalar × vector multiplication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466844"/>
            <a:ext cx="8229600" cy="420624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466844"/>
            <a:ext cx="36576" cy="4206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45125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move_and_slide()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77640" y="45125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Godot built-in: moves body, handles wall collisions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0F1923"/>
                </a:solidFill>
              </a:rPr>
              <a:t>MATH CONNECTION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× Speed = Velocity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</a:rPr>
              <a:t>velocity</a:t>
            </a:r>
            <a:r>
              <a:rPr lang="en-US" sz="2000" dirty="0">
                <a:solidFill>
                  <a:srgbClr val="FFFFFF"/>
                </a:solidFill>
              </a:rPr>
              <a:t>  =  </a:t>
            </a:r>
            <a:r>
              <a:rPr lang="en-US" sz="2000" b="1" dirty="0">
                <a:solidFill>
                  <a:srgbClr val="FF6B2B"/>
                </a:solidFill>
              </a:rPr>
              <a:t>direction</a:t>
            </a:r>
            <a:r>
              <a:rPr lang="en-US" sz="2000" dirty="0">
                <a:solidFill>
                  <a:srgbClr val="FFFFFF"/>
                </a:solidFill>
              </a:rPr>
              <a:t>  ×  </a:t>
            </a:r>
            <a:r>
              <a:rPr lang="en-US" sz="2000" b="1" dirty="0">
                <a:solidFill>
                  <a:srgbClr val="F1C40F"/>
                </a:solidFill>
              </a:rPr>
              <a:t>speed</a:t>
            </a:r>
            <a:r>
              <a:rPr lang="en-US" sz="1500" i="1" dirty="0">
                <a:solidFill>
                  <a:srgbClr val="607080"/>
                </a:solidFill>
              </a:rPr>
              <a:t>   →   vector × scalar = vector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1874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Direction Vector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 speed (200)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Velocity (px/s)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Vector2(1,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Right →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(1×200, 0×200)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(200, 0)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Vector2(-1,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← Left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(-1×200, 0×200)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(-200,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Vector2(0, -1)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↑ Up (screen)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(0×200, -1×200)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-200)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Vector2(0,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↓ Down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(0×200, 1×200)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(0, 200)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Vector2(1, -1)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↗ Diagonal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(200, -200)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C4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√2× faster!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1A1A0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4005072"/>
            <a:ext cx="54864" cy="64008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</a:rPr>
              <a:t>Diagonal Problem: Vector2(1, −1) has length √(1²+1²) = √2 ≈ 1.41 — so diagonal movement is 41% FASTER!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direction = direction.normalized()  — scales vector to length 1 before multiplying by speed.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2743200"/>
          </a:xfrm>
          <a:prstGeom prst="ellipse">
            <a:avLst/>
          </a:prstGeom>
          <a:solidFill>
            <a:srgbClr val="FF6B2B">
              <a:alpha val="10000"/>
            </a:srgbClr>
          </a:solidFill>
          <a:ln w="12700">
            <a:solidFill>
              <a:srgbClr val="FF6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EXPLORATION CHALLENGES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in Godot!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6642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776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472184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</a:rPr>
              <a:t>Slow Motion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1920240"/>
            <a:ext cx="2011680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951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Run the game. How does it feel? What game genre fits a slow character?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3977640" cy="16642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397764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19472" y="1472184"/>
            <a:ext cx="365760" cy="36576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481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6B2B"/>
                </a:solidFill>
              </a:rPr>
              <a:t>Hyperspeed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19472" y="1920240"/>
            <a:ext cx="2011680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800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2951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Run the game. Is this fun? When would a designer use extreme speed?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3977640" cy="16642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397764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" y="3300984"/>
            <a:ext cx="365760" cy="3657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C40F"/>
                </a:solidFill>
              </a:rPr>
              <a:t>Diagonal Test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3749040"/>
            <a:ext cx="2011680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keys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1239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Press two arrow keys at once. Does it feel faster? Why do you think?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3977640" cy="16642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154680"/>
            <a:ext cx="39776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3300984"/>
            <a:ext cx="365760" cy="36576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310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FF"/>
                </a:solidFill>
              </a:rPr>
              <a:t>BONUS: Normalize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919472" y="3749040"/>
            <a:ext cx="2011680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56048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.normalized()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412394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Add direction = direction.normalized() — fix the diagonal speed bug!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GAME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a Design Choice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8"/>
                </a:solidFill>
              </a:rPr>
              <a:t>The same movement code — completely different experiences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64592"/>
          </a:xfrm>
          <a:prstGeom prst="rect">
            <a:avLst/>
          </a:prstGeom>
          <a:solidFill>
            <a:srgbClr val="607080">
              <a:alpha val="40000"/>
            </a:srgbClr>
          </a:solidFill>
          <a:ln w="12700">
            <a:solidFill>
              <a:srgbClr val="6070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1536192"/>
            <a:ext cx="219456" cy="21945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</a:rPr>
              <a:t>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57984" y="1536192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200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536192"/>
            <a:ext cx="219456" cy="219456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33088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536192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79008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2B"/>
                </a:solidFill>
              </a:rPr>
              <a:t>600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1536192"/>
            <a:ext cx="219456" cy="219456"/>
          </a:xfrm>
          <a:prstGeom prst="ellipse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24928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366"/>
                </a:solidFill>
              </a:rPr>
              <a:t>800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965960" cy="19659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1965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Slow &amp; Heavy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871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Puzzle, Horror, Stealth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2103120"/>
            <a:ext cx="1965960" cy="19659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06040" y="210312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9748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150–250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Natural &amp; Smooth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97480" y="2871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Platformer, RPG, Adventure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1965960" cy="19659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1965960" cy="5486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400–600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 &amp; Energetic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871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Action, Shooter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2103120"/>
            <a:ext cx="1965960" cy="196596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2103120"/>
            <a:ext cx="196596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9516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800+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5237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Chaos / Precision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2871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Racing, Bullet-Hell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325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FF"/>
                </a:solidFill>
              </a:rPr>
              <a:t>Design Thinking: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377440" y="43251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You're making a game where a player chases a thief through a market. What speed feels right? What if they're sneaking through an enemy base?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F1923"/>
                </a:solidFill>
              </a:rPr>
              <a:t>EXIT TICKET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Questions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498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0817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 your own words, what is the difference between speed and velocity?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7498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54864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420624" cy="420624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276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Why do we set direction.y = -1 to make the player move UP on screen?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8229600" cy="7498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</a:rPr>
              <a:t>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4553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What would happen if we removed the Vector2.ZERO line from the code?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749808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54864" cy="7498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420624" cy="420624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</a:rPr>
              <a:t>Q4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01421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Describe a game you'd make with speed = 500. What genre and story fits?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5486400" cy="54864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D8"/>
                </a:solidFill>
              </a:rPr>
              <a:t>Coming Next — Day 6: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Gravity, Jumping &amp; Physics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4023360" cy="107899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54864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Gravity as a Vector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Add a constant downward force every frame — acceleration!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212848"/>
            <a:ext cx="4023360" cy="107899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2212848"/>
            <a:ext cx="54864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</a:rPr>
              <a:t>Jumping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670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Detect when on the floor, apply an upward velocity burst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4023360" cy="107899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54864" cy="10789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2B"/>
                </a:solidFill>
              </a:rPr>
              <a:t>Real Physics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Connect to F=ma, g=9.8 m/s² — game engines simulate reality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447288"/>
            <a:ext cx="4023360" cy="1078992"/>
          </a:xfrm>
          <a:prstGeom prst="rect">
            <a:avLst/>
          </a:prstGeom>
          <a:solidFill>
            <a:srgbClr val="1E314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3447288"/>
            <a:ext cx="54864" cy="10789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FF"/>
                </a:solidFill>
              </a:rPr>
              <a:t>Platformer Mechanics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3904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</a:rPr>
              <a:t>Combine movement + gravity for a fully playable character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0A1A2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54864" cy="38404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60857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C40F"/>
                </a:solidFill>
              </a:rPr>
              <a:t>Homework: Play a 2D platformer tonight — notice how the character jumps. How high? How long in the air? Realistic or exaggerated?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1171</Words>
  <Application>Microsoft Macintosh PowerPoint</Application>
  <PresentationFormat>On-screen Show (16:9)</PresentationFormat>
  <Paragraphs>221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5: Speed &amp; Vectors</dc:title>
  <dc:subject>PptxGenJS Presentation</dc:subject>
  <dc:creator>PptxGenJS</dc:creator>
  <cp:lastModifiedBy>Babichenko, Dmitriy</cp:lastModifiedBy>
  <cp:revision>6</cp:revision>
  <dcterms:created xsi:type="dcterms:W3CDTF">2026-06-03T15:56:57Z</dcterms:created>
  <dcterms:modified xsi:type="dcterms:W3CDTF">2026-06-17T23:39:39Z</dcterms:modified>
</cp:coreProperties>
</file>