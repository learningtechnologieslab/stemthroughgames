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03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0976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50976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26464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26464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426464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26464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26464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26464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26464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26464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26464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26464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26464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26464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901952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901952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901952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01952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901952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901952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901952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901952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901952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901952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901952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901952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377440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377440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377440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377440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377440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377440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377440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377440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377440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377440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377440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377440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852928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852928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852928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852928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852928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852928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852928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852928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852928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852928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852928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852928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328416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328416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328416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328416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328416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328416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328416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3328416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328416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3328416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3328416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3328416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3803904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803904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3803904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3803904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3803904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3803904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803904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803904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3803904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803904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803904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803904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4279392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279392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279392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279392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4279392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4279392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279392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279392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279392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279392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279392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279392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754880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754880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4754880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4754880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4754880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4754880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4754880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4754880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4754880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754880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754880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4754880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230368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230368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230368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5230368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5230368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5230368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5230368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5230368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5230368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5230368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230368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5230368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5705856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5705856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5705856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5705856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5705856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5705856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5705856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705856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705856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705856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705856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5705856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6181344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6181344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6181344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181344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6181344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6181344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6181344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6181344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6181344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6181344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6181344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6181344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6656832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6656832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6656832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656832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6656832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6656832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656832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656832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6656832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6656832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6656832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6656832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7132320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7132320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7132320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7132320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7132320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7132320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7132320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7132320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7132320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7132320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7132320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7132320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7607808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7607808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7607808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7607808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607808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607808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7607808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7607808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7607808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7607808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7607808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7607808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8083296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8083296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8083296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8083296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8083296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8083296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8083296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8083296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8083296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8083296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8083296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8083296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8558784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8558784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558784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558784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8558784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8558784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8558784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8558784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8558784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8558784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8558784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8558784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9034272" y="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9034272" y="43891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9034272" y="87782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9034272" y="131673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9034272" y="175564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9034272" y="219456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9034272" y="263347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9034272" y="3072384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9034272" y="3511296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9034272" y="3950208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9034272" y="4389120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9034272" y="4828032"/>
            <a:ext cx="466344" cy="429768"/>
          </a:xfrm>
          <a:prstGeom prst="rect">
            <a:avLst/>
          </a:prstGeom>
          <a:solidFill>
            <a:srgbClr val="161B22">
              <a:alpha val="15000"/>
            </a:srgbClr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640080" y="1325880"/>
            <a:ext cx="7863840" cy="2286000"/>
          </a:xfrm>
          <a:prstGeom prst="rect">
            <a:avLst/>
          </a:prstGeom>
          <a:solidFill>
            <a:srgbClr val="1C2333"/>
          </a:solidFill>
          <a:ln w="25400">
            <a:solidFill>
              <a:srgbClr val="39D353"/>
            </a:solidFill>
            <a:prstDash val="solid"/>
          </a:ln>
          <a:effectLst>
            <a:outerShdw blurRad="381000" dist="50800" dir="16200000" algn="bl" rotWithShape="0">
              <a:srgbClr val="39D35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3246120" y="1417320"/>
            <a:ext cx="2167128" cy="256032"/>
          </a:xfrm>
          <a:prstGeom prst="roundRect">
            <a:avLst>
              <a:gd name="adj" fmla="val 14286"/>
            </a:avLst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Text 242"/>
          <p:cNvSpPr/>
          <p:nvPr/>
        </p:nvSpPr>
        <p:spPr>
          <a:xfrm>
            <a:off x="3246120" y="141732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STEM THROUGH GAMES</a:t>
            </a:r>
            <a:endParaRPr lang="en-US" sz="900" dirty="0"/>
          </a:p>
        </p:txBody>
      </p:sp>
      <p:sp>
        <p:nvSpPr>
          <p:cNvPr id="245" name="Text 243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13</a:t>
            </a:r>
            <a:endParaRPr lang="en-US" sz="4800" dirty="0"/>
          </a:p>
        </p:txBody>
      </p:sp>
      <p:sp>
        <p:nvSpPr>
          <p:cNvPr id="246" name="Text 244"/>
          <p:cNvSpPr/>
          <p:nvPr/>
        </p:nvSpPr>
        <p:spPr>
          <a:xfrm>
            <a:off x="640080" y="2304288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Systems &amp;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Narrative</a:t>
            </a:r>
            <a:endParaRPr lang="en-US" sz="2600" dirty="0"/>
          </a:p>
        </p:txBody>
      </p:sp>
      <p:sp>
        <p:nvSpPr>
          <p:cNvPr id="247" name="Shape 245"/>
          <p:cNvSpPr/>
          <p:nvPr/>
        </p:nvSpPr>
        <p:spPr>
          <a:xfrm>
            <a:off x="822960" y="37490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858768"/>
            <a:ext cx="292608" cy="292608"/>
          </a:xfrm>
          <a:prstGeom prst="rect">
            <a:avLst/>
          </a:prstGeom>
        </p:spPr>
      </p:pic>
      <p:sp>
        <p:nvSpPr>
          <p:cNvPr id="249" name="Text 246"/>
          <p:cNvSpPr/>
          <p:nvPr/>
        </p:nvSpPr>
        <p:spPr>
          <a:xfrm>
            <a:off x="1261872" y="3822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Godot 4 Engine</a:t>
            </a:r>
            <a:endParaRPr lang="en-US" sz="1100" dirty="0"/>
          </a:p>
        </p:txBody>
      </p:sp>
      <p:sp>
        <p:nvSpPr>
          <p:cNvPr id="250" name="Shape 247"/>
          <p:cNvSpPr/>
          <p:nvPr/>
        </p:nvSpPr>
        <p:spPr>
          <a:xfrm>
            <a:off x="2743200" y="37490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3858768"/>
            <a:ext cx="292608" cy="292608"/>
          </a:xfrm>
          <a:prstGeom prst="rect">
            <a:avLst/>
          </a:prstGeom>
        </p:spPr>
      </p:pic>
      <p:sp>
        <p:nvSpPr>
          <p:cNvPr id="252" name="Text 248"/>
          <p:cNvSpPr/>
          <p:nvPr/>
        </p:nvSpPr>
        <p:spPr>
          <a:xfrm>
            <a:off x="3182112" y="3822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Narrative Design</a:t>
            </a:r>
            <a:endParaRPr lang="en-US" sz="1100" dirty="0"/>
          </a:p>
        </p:txBody>
      </p:sp>
      <p:sp>
        <p:nvSpPr>
          <p:cNvPr id="253" name="Shape 249"/>
          <p:cNvSpPr/>
          <p:nvPr/>
        </p:nvSpPr>
        <p:spPr>
          <a:xfrm>
            <a:off x="4663440" y="37490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858768"/>
            <a:ext cx="292608" cy="292608"/>
          </a:xfrm>
          <a:prstGeom prst="rect">
            <a:avLst/>
          </a:prstGeom>
        </p:spPr>
      </p:pic>
      <p:sp>
        <p:nvSpPr>
          <p:cNvPr id="255" name="Text 250"/>
          <p:cNvSpPr/>
          <p:nvPr/>
        </p:nvSpPr>
        <p:spPr>
          <a:xfrm>
            <a:off x="5102352" y="3822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GDScript Arrays</a:t>
            </a:r>
            <a:endParaRPr lang="en-US" sz="1100" dirty="0"/>
          </a:p>
        </p:txBody>
      </p:sp>
      <p:sp>
        <p:nvSpPr>
          <p:cNvPr id="256" name="Shape 251"/>
          <p:cNvSpPr/>
          <p:nvPr/>
        </p:nvSpPr>
        <p:spPr>
          <a:xfrm>
            <a:off x="6583680" y="37490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3858768"/>
            <a:ext cx="292608" cy="292608"/>
          </a:xfrm>
          <a:prstGeom prst="rect">
            <a:avLst/>
          </a:prstGeom>
        </p:spPr>
      </p:pic>
      <p:sp>
        <p:nvSpPr>
          <p:cNvPr id="258" name="Text 252"/>
          <p:cNvSpPr/>
          <p:nvPr/>
        </p:nvSpPr>
        <p:spPr>
          <a:xfrm>
            <a:off x="7022592" y="382219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60 Minutes</a:t>
            </a:r>
            <a:endParaRPr lang="en-US" sz="1100" dirty="0"/>
          </a:p>
        </p:txBody>
      </p:sp>
      <p:sp>
        <p:nvSpPr>
          <p:cNvPr id="259" name="Text 253"/>
          <p:cNvSpPr/>
          <p:nvPr/>
        </p:nvSpPr>
        <p:spPr>
          <a:xfrm>
            <a:off x="914400" y="47091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Focus: Narrative Design and Branching Dialogue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272284" cy="256032"/>
          </a:xfrm>
          <a:prstGeom prst="roundRect">
            <a:avLst>
              <a:gd name="adj" fmla="val 14286"/>
            </a:avLst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272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LEARNING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0690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73152" cy="1417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727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36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Design a Dialogue System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9019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Build a simple NPC dialogue panel using RichTextLabel and Button nodes in Godot 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40690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73152" cy="14173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7276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5361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Branch the Story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19019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Connect player choices to game variables so decisions change the narrative outcome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2971800"/>
            <a:ext cx="40690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11480" y="2971800"/>
            <a:ext cx="73152" cy="1417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136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Games vs. Books vs. Films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35021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Understand how interactive storytelling differs from fixed-narrative media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971800"/>
            <a:ext cx="40690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2971800"/>
            <a:ext cx="73152" cy="14173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7296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1363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Master Array Indexing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40680" y="35021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Apply array math: indices 0 through size()-1 to traverse ordered dialogue lists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587752" cy="256032"/>
          </a:xfrm>
          <a:prstGeom prst="roundRect">
            <a:avLst>
              <a:gd name="adj" fmla="val 14286"/>
            </a:avLst>
          </a:prstGeom>
          <a:solidFill>
            <a:srgbClr val="FF7B25"/>
          </a:solidFill>
          <a:ln w="12700">
            <a:solidFill>
              <a:srgbClr val="FF7B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WARM-UP  •  10 MINUTES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a Story vs. Playing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291840"/>
          </a:xfrm>
          <a:prstGeom prst="rect">
            <a:avLst/>
          </a:prstGeom>
          <a:solidFill>
            <a:srgbClr val="161B22"/>
          </a:solidFill>
          <a:ln w="19050">
            <a:solidFill>
              <a:srgbClr val="2E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475488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7160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1371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</a:rPr>
              <a:t>A Book / Film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1901952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Author controls all events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Story is fixed and linear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Reader/viewer is passive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Same experience every time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No feedback loop with audience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00600" y="1325880"/>
            <a:ext cx="3931920" cy="3291840"/>
          </a:xfrm>
          <a:prstGeom prst="rect">
            <a:avLst/>
          </a:prstGeom>
          <a:solidFill>
            <a:srgbClr val="161B22"/>
          </a:solidFill>
          <a:ln w="19050">
            <a:solidFill>
              <a:srgbClr val="1E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0600" y="1325880"/>
            <a:ext cx="3931920" cy="475488"/>
          </a:xfrm>
          <a:prstGeom prst="rect">
            <a:avLst/>
          </a:prstGeom>
          <a:solidFill>
            <a:srgbClr val="122A1A"/>
          </a:solidFill>
          <a:ln w="12700">
            <a:solidFill>
              <a:srgbClr val="122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716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0096" y="1371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D353"/>
                </a:solidFill>
              </a:rPr>
              <a:t>A Video Game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56048" y="1901952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Player makes meaningful choices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Story branches and changes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Player is an active participant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Different outcomes on replay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Game reacts to player actions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11480" y="4709160"/>
            <a:ext cx="8321040" cy="301752"/>
          </a:xfrm>
          <a:prstGeom prst="rect">
            <a:avLst/>
          </a:prstGeom>
          <a:solidFill>
            <a:srgbClr val="2A1F00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7548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6384" y="4736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</a:rPr>
              <a:t>Discussion: What can a game do that a book or film cannot?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008376" cy="256032"/>
          </a:xfrm>
          <a:prstGeom prst="roundRect">
            <a:avLst>
              <a:gd name="adj" fmla="val 14286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ACTIVITY PART 1  •  15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Your Dialogue Tree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20624" cy="420624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1325880"/>
            <a:ext cx="37490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1399032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NPC speaks an opening line to the player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420624" cy="420624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2688" y="2194560"/>
            <a:ext cx="37490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2267712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Present Choice A or Choice B to the player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20624" cy="420624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2688" y="3063240"/>
            <a:ext cx="37490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4128" y="3136392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Each branch leads to a different outcome or follow-up 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977640"/>
            <a:ext cx="420624" cy="420624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2688" y="3931920"/>
            <a:ext cx="37490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24128" y="4005072"/>
            <a:ext cx="3566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Include at least two levels of branching (3–4 decision points)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298448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1298448"/>
            <a:ext cx="19202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"We have a goblin problem..."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0" y="1737360"/>
            <a:ext cx="0" cy="31089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2048256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2048256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A: "I will help!"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86600" y="2048256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86600" y="2048256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B: "No thanks."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2048256"/>
            <a:ext cx="9144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0" y="2048256"/>
            <a:ext cx="9144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2432304"/>
            <a:ext cx="0" cy="31089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2432304"/>
            <a:ext cx="0" cy="310896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0" y="27432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E4A2E"/>
          </a:solidFill>
          <a:ln w="12700">
            <a:solidFill>
              <a:srgbClr val="1E4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"Great! Meet 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at the gate."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86600" y="27432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4A1E1E"/>
          </a:solidFill>
          <a:ln w="12700">
            <a:solidFill>
              <a:srgbClr val="4A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8660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"You will regret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this, traveler."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246120"/>
            <a:ext cx="0" cy="25603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0" y="350215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1C3A2E"/>
          </a:solidFill>
          <a:ln w="12700">
            <a:solidFill>
              <a:srgbClr val="1C3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0" y="3502152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"Ask about reward"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95160" y="350215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3A1C1C"/>
          </a:solidFill>
          <a:ln w="12700">
            <a:solidFill>
              <a:srgbClr val="3A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95160" y="3502152"/>
            <a:ext cx="1463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</a:rPr>
              <a:t>"Walk away alone"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9776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</a:rPr>
              <a:t>Sample Dialogue Tree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534156" cy="256032"/>
          </a:xfrm>
          <a:prstGeom prst="roundRect">
            <a:avLst>
              <a:gd name="adj" fmla="val 14286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5341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ACTIVITY PART 2  •  GODOT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the Dialogue Panel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605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160520" cy="384048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CFF"/>
                </a:solidFill>
              </a:rPr>
              <a:t>Godot Scene Tree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773936"/>
            <a:ext cx="388620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773936"/>
            <a:ext cx="54864" cy="56692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</a:rPr>
              <a:t>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" y="20756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(root node)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0392" y="2468880"/>
            <a:ext cx="3538728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0392" y="2468880"/>
            <a:ext cx="54864" cy="56692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4984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</a:rPr>
              <a:t>PanelContainer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14984" y="27706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dialogue background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97864" y="3163824"/>
            <a:ext cx="3191256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97864" y="3163824"/>
            <a:ext cx="54864" cy="56692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62456" y="3218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</a:rPr>
              <a:t>RichTextLabel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62456" y="34655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→ name: DialogueLabel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97864" y="3858768"/>
            <a:ext cx="3191256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97864" y="3858768"/>
            <a:ext cx="54864" cy="56692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6245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Button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62456" y="4160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→ name: NextButton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12984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</a:rPr>
              <a:t>Setup Steps: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1737360"/>
            <a:ext cx="39776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77393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Create Scene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97510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File → New Scene → Control node as root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86000"/>
            <a:ext cx="39776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23225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Add PanelContainer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5237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Child of Control; gives us a styled background panel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39776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8712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Add RichTextLabel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07238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Child of Panel — rename it "DialogueLabel"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383280"/>
            <a:ext cx="39776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34198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Add Button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6210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Child of Panel — rename it "NextButton", label "Next"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931920"/>
            <a:ext cx="39776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9684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Attach Script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1696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Select Control → Attach Script → write GDScript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480560"/>
            <a:ext cx="39776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451713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</a:rPr>
              <a:t>Connect Signal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471830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NextButton → pressed() signal → _on_next_pressed()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639312" cy="256032"/>
          </a:xfrm>
          <a:prstGeom prst="roundRect">
            <a:avLst>
              <a:gd name="adj" fmla="val 14286"/>
            </a:avLst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GDSCRIPT  •  DIALOGUE CONTROLLER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Dialogue System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846320" cy="3456432"/>
          </a:xfrm>
          <a:prstGeom prst="rect">
            <a:avLst/>
          </a:prstGeom>
          <a:solidFill>
            <a:srgbClr val="010409"/>
          </a:solidFill>
          <a:ln w="1524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47472" cy="3456432"/>
          </a:xfrm>
          <a:prstGeom prst="rect">
            <a:avLst/>
          </a:prstGeom>
          <a:solidFill>
            <a:srgbClr val="0D1117"/>
          </a:solidFill>
          <a:ln w="12700">
            <a:solidFill>
              <a:srgbClr val="0104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13816" y="1389888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dialogue = [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641700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3816" y="1641700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"Welcome to the village, traveler.",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893511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3816" y="1893511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"We have a problem with goblins...",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145323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13816" y="2145323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"Will you help us?"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2397135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3816" y="2397135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2648946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13816" y="2648946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dialogue_index = 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" y="2900758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" y="2900758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" y="3152570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3816" y="3152570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_on_next_pressed():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3404382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9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13816" y="3404382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dialogue_index += 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" y="3656193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10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3816" y="3656193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dialogue_index &lt; dialogue.size():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" y="3908005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11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3816" y="3908005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$DialogueLabel.text = dialogue[dialogue_index]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9768" y="4159817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3816" y="4159817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9768" y="4411628"/>
            <a:ext cx="310896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</a:rPr>
              <a:t>13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3816" y="4411628"/>
            <a:ext cx="4389120" cy="25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hide()  # end of dialogue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40680" y="1444752"/>
            <a:ext cx="3291840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1463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8CFF"/>
                </a:solidFill>
              </a:rPr>
              <a:t>Array of dialogue strings (index 0–2)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40680" y="2468880"/>
            <a:ext cx="3291840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32120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</a:rPr>
              <a:t>Tracks current position in the array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40680" y="2926080"/>
            <a:ext cx="3291840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32120" y="2944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D353"/>
                </a:solidFill>
              </a:rPr>
              <a:t>Runs when player clicks Next button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40680" y="3218688"/>
            <a:ext cx="3291840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3236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</a:rPr>
              <a:t>Increment index to move to next line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40680" y="3511296"/>
            <a:ext cx="3291840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32120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</a:rPr>
              <a:t>Bounds check: stays within array range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40680" y="4096512"/>
            <a:ext cx="3291840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32120" y="4114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BC9C"/>
                </a:solidFill>
              </a:rPr>
              <a:t>Hide panel when dialogue finishes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</a:rPr>
              <a:t>GDScript tip: Arrays in Godot use 0-based indexing — dialogue[0] is the first line.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51660" cy="256032"/>
          </a:xfrm>
          <a:prstGeom prst="roundRect">
            <a:avLst>
              <a:gd name="adj" fmla="val 14286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MATH CONNECTION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Arrays &amp; Index Math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dialogue  =  [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92440" y="12984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28800" y="1682496"/>
            <a:ext cx="20116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01952" y="1719072"/>
            <a:ext cx="18653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 to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village, traveler."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41648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41648" y="1682496"/>
            <a:ext cx="20116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0" y="1719072"/>
            <a:ext cx="18653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 have a problem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goblins..."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54496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54496" y="1682496"/>
            <a:ext cx="20116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1719072"/>
            <a:ext cx="18653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"Will you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us?"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52928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852928"/>
            <a:ext cx="64008" cy="6217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9077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</a:rPr>
              <a:t>First index is always 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1638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dialogue[0]  →  "Welcome to the village, traveler."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547872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547872"/>
            <a:ext cx="64008" cy="6217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6027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</a:rPr>
              <a:t>Last valid index is size() - 1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85876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dialogue.size() = 3  →  valid indices: 0, 1, 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242816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4242816"/>
            <a:ext cx="64008" cy="6217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297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</a:rPr>
              <a:t>Bounds check prevents crashes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55371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dialogue_index &lt; dialogue.size()  →  safe range check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EXTENSION 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Finished Early? Go Further!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069080" cy="150876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" y="1517904"/>
            <a:ext cx="402336" cy="402336"/>
          </a:xfrm>
          <a:prstGeom prst="ellipse">
            <a:avLst/>
          </a:prstGeom>
          <a:solidFill>
            <a:srgbClr val="0D1117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5910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5179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341"/>
                </a:solidFill>
              </a:rPr>
              <a:t>Branching Paths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6072" y="20299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</a:rPr>
              <a:t>Create two separate arrays — dialogueA[] and dialogueB[]. Load the correct one based on the player's choice variable.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4069080" cy="150876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19472" y="1517904"/>
            <a:ext cx="402336" cy="402336"/>
          </a:xfrm>
          <a:prstGeom prst="ellipse">
            <a:avLst/>
          </a:prstGeom>
          <a:solidFill>
            <a:srgbClr val="0D1117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59105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15179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9D353"/>
                </a:solidFill>
              </a:rPr>
              <a:t>Trust Variable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19472" y="20299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</a:rPr>
              <a:t>Add  var trust = 0  that increases when the player picks helpful responses. Use it to unlock better dialogue options.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1480" y="3017520"/>
            <a:ext cx="4069080" cy="15087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6072" y="3163824"/>
            <a:ext cx="402336" cy="402336"/>
          </a:xfrm>
          <a:prstGeom prst="ellipse">
            <a:avLst/>
          </a:prstGeom>
          <a:solidFill>
            <a:srgbClr val="0D1117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23697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316382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A6FF"/>
                </a:solidFill>
              </a:rPr>
              <a:t>Style the Panel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76072" y="367588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</a:rPr>
              <a:t>Use Godot theme overrides to add a background color, custom font size, and rounded corners to your dialogue box.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4069080" cy="1508760"/>
          </a:xfrm>
          <a:prstGeom prst="rect">
            <a:avLst/>
          </a:prstGeom>
          <a:solidFill>
            <a:srgbClr val="161B22"/>
          </a:solidFill>
          <a:ln w="19050">
            <a:solidFill>
              <a:srgbClr val="1ABC9C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919472" y="3163824"/>
            <a:ext cx="402336" cy="402336"/>
          </a:xfrm>
          <a:prstGeom prst="ellipse">
            <a:avLst/>
          </a:prstGeom>
          <a:solidFill>
            <a:srgbClr val="0D1117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23697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316382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</a:rPr>
              <a:t>NPC Portrait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919472" y="367588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</a:rPr>
              <a:t>Add a TextureRect node next to the dialogue text and load a character image to make it feel like a real RPG conversation.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798064" cy="256032"/>
          </a:xfrm>
          <a:prstGeom prst="roundRect">
            <a:avLst>
              <a:gd name="adj" fmla="val 14286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REFLECTION  •  5 MINUTES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Does Player Choice Change Stories?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1005840"/>
          </a:xfrm>
          <a:prstGeom prst="rect">
            <a:avLst/>
          </a:prstGeom>
          <a:solidFill>
            <a:srgbClr val="1A1140"/>
          </a:solidFill>
          <a:ln w="254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7955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C8CFF"/>
                </a:solidFill>
              </a:rPr>
              <a:t>How does player choice change the story experience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BC8CFF"/>
                </a:solidFill>
              </a:rPr>
              <a:t>compared to a fixed narrative?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Player agency creates emotional investment — choices feel personal and owned by the player.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8211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0906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Non-linear narratives require writers to plan many outcomes simultaneously — it's complex design work.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0390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71246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Variables and arrays are the tools that make interactivity possible — math is the engine of storytelling.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425696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433425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</a:rPr>
              <a:t>Think about your favorite game — did you feel like you were shaping the story, or just watching it?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1A1F1A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530352" y="4773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9D353"/>
                </a:solidFill>
              </a:rPr>
              <a:t>✏  Journal: Describe a game moment where a choice felt meaningful. What variables do you think it tracked?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903220" cy="256032"/>
          </a:xfrm>
          <a:prstGeom prst="roundRect">
            <a:avLst>
              <a:gd name="adj" fmla="val 14286"/>
            </a:avLst>
          </a:prstGeom>
          <a:solidFill>
            <a:srgbClr val="FF7B25"/>
          </a:solidFill>
          <a:ln w="12700">
            <a:solidFill>
              <a:srgbClr val="FF7B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2903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EXIT TICKET  •  3 MINUTES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 — Check Your Understanding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8321040" cy="512064"/>
          </a:xfrm>
          <a:prstGeom prst="rect">
            <a:avLst/>
          </a:prstGeom>
          <a:solidFill>
            <a:srgbClr val="0F1D30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44475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What does  dialogue[0]  mean in your code?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865376"/>
            <a:ext cx="8321040" cy="512064"/>
          </a:xfrm>
          <a:prstGeom prst="rect">
            <a:avLst/>
          </a:prstGeom>
          <a:solidFill>
            <a:srgbClr val="0D1A1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97510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956816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D353"/>
                </a:solidFill>
              </a:rPr>
              <a:t>The first element of the dialogue array — index 0 is always the start.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2560320"/>
            <a:ext cx="8321040" cy="512064"/>
          </a:xfrm>
          <a:prstGeom prst="rect">
            <a:avLst/>
          </a:prstGeom>
          <a:solidFill>
            <a:srgbClr val="0F1D30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Q2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50976" y="265176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What happens if dialogue_index equals dialogue.size()?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1480" y="3072384"/>
            <a:ext cx="8321040" cy="512064"/>
          </a:xfrm>
          <a:prstGeom prst="rect">
            <a:avLst/>
          </a:prstGeom>
          <a:solidFill>
            <a:srgbClr val="0D1A1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18211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3163824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D353"/>
                </a:solidFill>
              </a:rPr>
              <a:t>It's out of bounds! The else branch runs: hide() to close the panel.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" y="3767328"/>
            <a:ext cx="8321040" cy="512064"/>
          </a:xfrm>
          <a:prstGeom prst="rect">
            <a:avLst/>
          </a:prstGeom>
          <a:solidFill>
            <a:srgbClr val="0F1D30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57200" y="3831336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72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Q3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50976" y="38587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</a:rPr>
              <a:t>Name one way a game story differs from a book story.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11480" y="4279392"/>
            <a:ext cx="8321040" cy="512064"/>
          </a:xfrm>
          <a:prstGeom prst="rect">
            <a:avLst/>
          </a:prstGeom>
          <a:solidFill>
            <a:srgbClr val="0D1A1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438912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" y="4370832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D353"/>
                </a:solidFill>
              </a:rPr>
              <a:t>Player choices branch the narrative; a book has only one fixed path.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11480" y="4736592"/>
            <a:ext cx="8321040" cy="301752"/>
          </a:xfrm>
          <a:prstGeom prst="rect">
            <a:avLst/>
          </a:prstGeom>
          <a:solidFill>
            <a:srgbClr val="1E25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73168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86384" y="4773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Next Up — Day 14: Dictionary Dialogue &amp; Emotion Variables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Microsoft Macintosh PowerPoint</Application>
  <PresentationFormat>On-screen Show (16:9)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13</dc:title>
  <dc:subject>PptxGenJS Presentation</dc:subject>
  <dc:creator>PptxGenJS</dc:creator>
  <cp:lastModifiedBy>Babichenko, Dmitriy</cp:lastModifiedBy>
  <cp:revision>1</cp:revision>
  <dcterms:created xsi:type="dcterms:W3CDTF">2026-06-05T17:36:44Z</dcterms:created>
  <dcterms:modified xsi:type="dcterms:W3CDTF">2026-06-05T17:58:50Z</dcterms:modified>
</cp:coreProperties>
</file>