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5140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0" y="100584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55280" y="45720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0" y="164592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448056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20240" y="475488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0" y="411480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321040" y="356616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0" y="18288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49040" y="493776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17520" y="73152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457200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B46C1">
              <a:alpha val="20000"/>
            </a:srgbClr>
          </a:solidFill>
          <a:ln w="12700">
            <a:solidFill>
              <a:srgbClr val="6B46C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F766E">
              <a:alpha val="15000"/>
            </a:srgbClr>
          </a:solidFill>
          <a:ln w="12700">
            <a:solidFill>
              <a:srgbClr val="0F766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45720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6B46C1">
              <a:alpha val="70000"/>
            </a:srgbClr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B5FD"/>
                </a:solidFill>
              </a:rPr>
              <a:t>🎮  STEM THROUGH GAMES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960120"/>
            <a:ext cx="640080" cy="594360"/>
          </a:xfrm>
          <a:prstGeom prst="rect">
            <a:avLst/>
          </a:prstGeom>
          <a:solidFill>
            <a:srgbClr val="6B46C1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9601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146304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Editor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548640" y="3429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Thinking &amp; 2D Coordinates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0F766E">
              <a:alpha val="75000"/>
            </a:srgbClr>
          </a:solidFill>
          <a:ln w="12700">
            <a:solidFill>
              <a:srgbClr val="0F766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4160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⏱  45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416052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4A2C8E">
              <a:alpha val="75000"/>
            </a:srgbClr>
          </a:solidFill>
          <a:ln w="12700">
            <a:solidFill>
              <a:srgbClr val="4A2C8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60320" y="4160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📐  Math + 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416052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6B46C1">
              <a:alpha val="75000"/>
            </a:srgbClr>
          </a:solidFill>
          <a:ln w="12700">
            <a:solidFill>
              <a:srgbClr val="6B46C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0" y="4160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 Grades 6–8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731520"/>
            <a:ext cx="2468880" cy="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00800" y="1051560"/>
            <a:ext cx="2468880" cy="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00800" y="1371600"/>
            <a:ext cx="2468880" cy="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00800" y="1691640"/>
            <a:ext cx="2468880" cy="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00800" y="2011680"/>
            <a:ext cx="2468880" cy="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00800" y="2331720"/>
            <a:ext cx="2468880" cy="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00800" y="2651760"/>
            <a:ext cx="2468880" cy="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00800" y="2971800"/>
            <a:ext cx="2468880" cy="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00800" y="3291840"/>
            <a:ext cx="2468880" cy="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00800" y="3611880"/>
            <a:ext cx="2468880" cy="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400800" y="3931920"/>
            <a:ext cx="2468880" cy="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00800" y="4251960"/>
            <a:ext cx="2468880" cy="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400800" y="731520"/>
            <a:ext cx="0" cy="352044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720840" y="731520"/>
            <a:ext cx="0" cy="352044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040880" y="731520"/>
            <a:ext cx="0" cy="352044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360920" y="731520"/>
            <a:ext cx="0" cy="352044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680960" y="731520"/>
            <a:ext cx="0" cy="352044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001000" y="731520"/>
            <a:ext cx="0" cy="352044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321040" y="731520"/>
            <a:ext cx="0" cy="352044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641080" y="731520"/>
            <a:ext cx="0" cy="352044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961120" y="731520"/>
            <a:ext cx="0" cy="3520440"/>
          </a:xfrm>
          <a:prstGeom prst="line">
            <a:avLst/>
          </a:prstGeom>
          <a:noFill/>
          <a:ln w="6350">
            <a:solidFill>
              <a:srgbClr val="4A2C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400800" y="2011680"/>
            <a:ext cx="246888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360920" y="731520"/>
            <a:ext cx="0" cy="352044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296912" y="1947672"/>
            <a:ext cx="128016" cy="128016"/>
          </a:xfrm>
          <a:prstGeom prst="ellipse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406640" y="19385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CD34D"/>
                </a:solidFill>
              </a:rPr>
              <a:t>(0,0)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946136" y="131673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665976" y="1316736"/>
            <a:ext cx="109728" cy="109728"/>
          </a:xfrm>
          <a:prstGeom prst="ellipse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946136" y="2596896"/>
            <a:ext cx="109728" cy="109728"/>
          </a:xfrm>
          <a:prstGeom prst="ellipse">
            <a:avLst/>
          </a:prstGeom>
          <a:solidFill>
            <a:srgbClr val="A5F3F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1B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Four stops on the road to game design mastery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1965960" cy="594360"/>
          </a:xfrm>
          <a:prstGeom prst="rect">
            <a:avLst/>
          </a:prstGeom>
          <a:solidFill>
            <a:srgbClr val="6B46C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996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</a:rPr>
              <a:t>01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5544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12140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</a:rPr>
              <a:t>Warm-Up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1480" y="25146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Graph paper coordinates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397764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6B46C1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1480" y="39776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46C1"/>
                </a:solidFill>
              </a:rPr>
              <a:t>⏱ 10 min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14600" y="146304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514600" y="1463040"/>
            <a:ext cx="196596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606040" y="14996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</a:rPr>
              <a:t>02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2606040" y="212140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</a:rPr>
              <a:t>Godot Tour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06040" y="25146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Navigate the editor panels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606040" y="397764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0F766E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2606040" y="39776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</a:rPr>
              <a:t>⏱ 15 min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09160" y="146304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709160" y="1463040"/>
            <a:ext cx="196596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800600" y="14996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</a:rPr>
              <a:t>03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4800600" y="212140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</a:rPr>
              <a:t>Sprite2D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4800600" y="25146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Place &amp; move with X/Y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800600" y="397764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D97706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4800600" y="39776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</a:rPr>
              <a:t>⏱ 10 min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903720" y="146304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6903720" y="1463040"/>
            <a:ext cx="1965960" cy="594360"/>
          </a:xfrm>
          <a:prstGeom prst="rect">
            <a:avLst/>
          </a:prstGeom>
          <a:solidFill>
            <a:srgbClr val="4A2C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6995160" y="14996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</a:rPr>
              <a:t>04</a:t>
            </a:r>
            <a:endParaRPr lang="en-US" sz="22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554480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995160" y="212140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</a:rPr>
              <a:t>Code + Reflect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6995160" y="25146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Vector2 &amp; exit ticket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995160" y="397764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4A2C8E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6995160" y="39776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2C8E"/>
                </a:solidFill>
              </a:rPr>
              <a:t>⏱ 10 min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903720" y="1463040"/>
            <a:ext cx="1965960" cy="3017520"/>
          </a:xfrm>
          <a:prstGeom prst="rect">
            <a:avLst/>
          </a:prstGeom>
          <a:solidFill>
            <a:srgbClr val="EDE9FE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Navigate the Godot editor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Understand X/Y in 2D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Place nodes in the Viewport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Explain Y-axis differences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Write a Vector2 position</a:t>
            </a:r>
          </a:p>
        </p:txBody>
      </p:sp>
      <p:sp>
        <p:nvSpPr>
          <p:cNvPr id="38" name="Shape 32"/>
          <p:cNvSpPr/>
          <p:nvPr/>
        </p:nvSpPr>
        <p:spPr>
          <a:xfrm>
            <a:off x="6903720" y="1463040"/>
            <a:ext cx="1965960" cy="457200"/>
          </a:xfrm>
          <a:prstGeom prst="rect">
            <a:avLst/>
          </a:prstGeom>
          <a:solidFill>
            <a:srgbClr val="2D1B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649224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Objectives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6839712" y="2011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6839712" y="243230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6B46C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B5FD"/>
                </a:solidFill>
              </a:rPr>
              <a:t>⏱  WARM-UP  |  10 MINUTES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Paper Challenge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3337560"/>
          </a:xfrm>
          <a:prstGeom prst="rect">
            <a:avLst/>
          </a:prstGeom>
          <a:solidFill>
            <a:srgbClr val="1A1035"/>
          </a:solidFill>
          <a:ln w="12700">
            <a:solidFill>
              <a:srgbClr val="6B4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B5FD"/>
                </a:solidFill>
              </a:rPr>
              <a:t>Your Instructions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93392"/>
            <a:ext cx="274320" cy="274320"/>
          </a:xfrm>
          <a:prstGeom prst="ellipse">
            <a:avLst/>
          </a:prstGeom>
          <a:solidFill>
            <a:srgbClr val="6B46C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95681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Draw a coordinate plane on your graph paper — label X and Y axes.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33472"/>
            <a:ext cx="274320" cy="274320"/>
          </a:xfrm>
          <a:prstGeom prst="ellipse">
            <a:avLst/>
          </a:prstGeom>
          <a:solidFill>
            <a:srgbClr val="6B46C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59689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Plot these 5 points: A(2,3)   B(−1,4)   C(−3,−2)   D(4,−1)   E(0,0)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273552"/>
            <a:ext cx="274320" cy="274320"/>
          </a:xfrm>
          <a:prstGeom prst="ellipse">
            <a:avLst/>
          </a:prstGeom>
          <a:solidFill>
            <a:srgbClr val="6B46C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23697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Connect A→B→C→D→E→A to make a closed shape.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913632"/>
            <a:ext cx="274320" cy="274320"/>
          </a:xfrm>
          <a:prstGeom prst="ellipse">
            <a:avLst/>
          </a:prstGeom>
          <a:solidFill>
            <a:srgbClr val="6B46C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87705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Label each point with its coordinates.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402336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3291840" cy="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152144"/>
            <a:ext cx="3291840" cy="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1481328"/>
            <a:ext cx="3291840" cy="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1810512"/>
            <a:ext cx="3291840" cy="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2139696"/>
            <a:ext cx="3291840" cy="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468880"/>
            <a:ext cx="3291840" cy="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2798064"/>
            <a:ext cx="3291840" cy="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0" y="3127248"/>
            <a:ext cx="3291840" cy="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3456432"/>
            <a:ext cx="3291840" cy="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3785616"/>
            <a:ext cx="3291840" cy="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4114800"/>
            <a:ext cx="3291840" cy="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822960"/>
            <a:ext cx="0" cy="329184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84064" y="822960"/>
            <a:ext cx="0" cy="329184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13248" y="822960"/>
            <a:ext cx="0" cy="329184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742432" y="822960"/>
            <a:ext cx="0" cy="329184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71616" y="822960"/>
            <a:ext cx="0" cy="329184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00800" y="822960"/>
            <a:ext cx="0" cy="329184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729984" y="822960"/>
            <a:ext cx="0" cy="329184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059168" y="822960"/>
            <a:ext cx="0" cy="329184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388352" y="822960"/>
            <a:ext cx="0" cy="329184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717536" y="822960"/>
            <a:ext cx="0" cy="329184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046720" y="822960"/>
            <a:ext cx="0" cy="3291840"/>
          </a:xfrm>
          <a:prstGeom prst="line">
            <a:avLst/>
          </a:prstGeom>
          <a:noFill/>
          <a:ln w="6350">
            <a:solidFill>
              <a:srgbClr val="4A2C8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54880" y="2468880"/>
            <a:ext cx="32918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400800" y="822960"/>
            <a:ext cx="0" cy="329184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818120" y="226771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</a:rPr>
              <a:t>X →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46520" y="84124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</a:rPr>
              <a:t>↑ 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986016" y="1408176"/>
            <a:ext cx="146304" cy="146304"/>
          </a:xfrm>
          <a:prstGeom prst="ellipse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150608" y="135331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A(2,3)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998464" y="1078992"/>
            <a:ext cx="146304" cy="146304"/>
          </a:xfrm>
          <a:prstGeom prst="ellipse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163056" y="102412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A5A5"/>
                </a:solidFill>
              </a:rPr>
              <a:t>B(−1,4)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340096" y="3054096"/>
            <a:ext cx="146304" cy="146304"/>
          </a:xfrm>
          <a:prstGeom prst="ellipse">
            <a:avLst/>
          </a:prstGeom>
          <a:solidFill>
            <a:srgbClr val="A5F3F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504688" y="299923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5F3FC"/>
                </a:solidFill>
              </a:rPr>
              <a:t>C(−3,−2)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644384" y="2724912"/>
            <a:ext cx="146304" cy="146304"/>
          </a:xfrm>
          <a:prstGeom prst="ellipse">
            <a:avLst/>
          </a:prstGeom>
          <a:solidFill>
            <a:srgbClr val="86EFA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808976" y="26700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6EFAC"/>
                </a:solidFill>
              </a:rPr>
              <a:t>D(4,−1)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27648" y="2395728"/>
            <a:ext cx="146304" cy="146304"/>
          </a:xfrm>
          <a:prstGeom prst="ellipse">
            <a:avLst/>
          </a:prstGeom>
          <a:solidFill>
            <a:srgbClr val="C4B5F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492240" y="234086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B5FD"/>
                </a:solidFill>
              </a:rPr>
              <a:t>E(0,0)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059168" y="1481328"/>
            <a:ext cx="0" cy="0"/>
          </a:xfrm>
          <a:prstGeom prst="line">
            <a:avLst/>
          </a:prstGeom>
          <a:noFill/>
          <a:ln w="19050">
            <a:solidFill>
              <a:srgbClr val="C4B5FD">
                <a:alpha val="8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071616" y="1152144"/>
            <a:ext cx="0" cy="1975104"/>
          </a:xfrm>
          <a:prstGeom prst="line">
            <a:avLst/>
          </a:prstGeom>
          <a:noFill/>
          <a:ln w="19050">
            <a:solidFill>
              <a:srgbClr val="C4B5FD">
                <a:alpha val="8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413248" y="3127248"/>
            <a:ext cx="2304288" cy="0"/>
          </a:xfrm>
          <a:prstGeom prst="line">
            <a:avLst/>
          </a:prstGeom>
          <a:noFill/>
          <a:ln w="19050">
            <a:solidFill>
              <a:srgbClr val="C4B5FD">
                <a:alpha val="8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717536" y="2798064"/>
            <a:ext cx="0" cy="0"/>
          </a:xfrm>
          <a:prstGeom prst="line">
            <a:avLst/>
          </a:prstGeom>
          <a:noFill/>
          <a:ln w="19050">
            <a:solidFill>
              <a:srgbClr val="C4B5FD">
                <a:alpha val="8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400800" y="2468880"/>
            <a:ext cx="658368" cy="0"/>
          </a:xfrm>
          <a:prstGeom prst="line">
            <a:avLst/>
          </a:prstGeom>
          <a:noFill/>
          <a:ln w="19050">
            <a:solidFill>
              <a:srgbClr val="C4B5FD">
                <a:alpha val="8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663440" y="4663440"/>
            <a:ext cx="4206240" cy="365760"/>
          </a:xfrm>
          <a:prstGeom prst="rect">
            <a:avLst/>
          </a:prstGeom>
          <a:solidFill>
            <a:srgbClr val="0F766E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663440" y="4663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🔗  Bridge: How is the game screen like this grid? How is it different?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MAIN ACTIVITY — PART 1  |  EDITOR ORIENTATION  |  8 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Godot Editor — Your Game Studio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5669280" cy="3474720"/>
          </a:xfrm>
          <a:prstGeom prst="rect">
            <a:avLst/>
          </a:prstGeom>
          <a:solidFill>
            <a:srgbClr val="1A1A2E"/>
          </a:solidFill>
          <a:ln w="25400">
            <a:solidFill>
              <a:srgbClr val="6B4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669280" cy="228600"/>
          </a:xfrm>
          <a:prstGeom prst="rect">
            <a:avLst/>
          </a:prstGeom>
          <a:solidFill>
            <a:srgbClr val="2525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89304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Godot Engine 4  — starter_project.tscn  ●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1490472"/>
            <a:ext cx="1371600" cy="3246120"/>
          </a:xfrm>
          <a:prstGeom prst="rect">
            <a:avLst/>
          </a:prstGeom>
          <a:solidFill>
            <a:srgbClr val="161628"/>
          </a:solidFill>
          <a:ln w="12700">
            <a:solidFill>
              <a:srgbClr val="2D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51790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</a:rPr>
              <a:t>Scene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175564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📌 Node2D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38912" y="2011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CD34D"/>
                </a:solidFill>
              </a:rPr>
              <a:t>  🖼️ Sprite2D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26771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  🎵 AudioStreamPlayer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737360" y="1490472"/>
            <a:ext cx="2743200" cy="2194560"/>
          </a:xfrm>
          <a:prstGeom prst="rect">
            <a:avLst/>
          </a:prstGeom>
          <a:solidFill>
            <a:srgbClr val="0D0D1A"/>
          </a:solidFill>
          <a:ln w="12700">
            <a:solidFill>
              <a:srgbClr val="2D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28800" y="151790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4B8A6"/>
                </a:solidFill>
              </a:rPr>
              <a:t>Viewport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737360" y="1673352"/>
            <a:ext cx="2743200" cy="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737360" y="1856232"/>
            <a:ext cx="2743200" cy="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737360" y="2039112"/>
            <a:ext cx="2743200" cy="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737360" y="2221992"/>
            <a:ext cx="2743200" cy="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737360" y="2404872"/>
            <a:ext cx="2743200" cy="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737360" y="2587752"/>
            <a:ext cx="2743200" cy="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737360" y="2770632"/>
            <a:ext cx="2743200" cy="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737360" y="2953512"/>
            <a:ext cx="2743200" cy="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737360" y="3136392"/>
            <a:ext cx="2743200" cy="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737360" y="3319272"/>
            <a:ext cx="2743200" cy="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737360" y="1673352"/>
            <a:ext cx="0" cy="182880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920240" y="1673352"/>
            <a:ext cx="0" cy="182880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103120" y="1673352"/>
            <a:ext cx="0" cy="182880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286000" y="1673352"/>
            <a:ext cx="0" cy="182880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468880" y="1673352"/>
            <a:ext cx="0" cy="182880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651760" y="1673352"/>
            <a:ext cx="0" cy="182880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834640" y="1673352"/>
            <a:ext cx="0" cy="182880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017520" y="1673352"/>
            <a:ext cx="0" cy="182880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00400" y="1673352"/>
            <a:ext cx="0" cy="182880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383280" y="1673352"/>
            <a:ext cx="0" cy="182880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566160" y="1673352"/>
            <a:ext cx="0" cy="182880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749040" y="1673352"/>
            <a:ext cx="0" cy="182880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931920" y="1673352"/>
            <a:ext cx="0" cy="182880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114800" y="1673352"/>
            <a:ext cx="0" cy="182880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297680" y="1673352"/>
            <a:ext cx="0" cy="182880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480560" y="1673352"/>
            <a:ext cx="0" cy="1828800"/>
          </a:xfrm>
          <a:prstGeom prst="line">
            <a:avLst/>
          </a:prstGeom>
          <a:noFill/>
          <a:ln w="635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834640" y="2313432"/>
            <a:ext cx="365760" cy="365760"/>
          </a:xfrm>
          <a:prstGeom prst="rect">
            <a:avLst/>
          </a:prstGeom>
          <a:solidFill>
            <a:srgbClr val="FCD34D">
              <a:alpha val="80000"/>
            </a:srgbClr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83464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🟡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480560" y="1490472"/>
            <a:ext cx="1554480" cy="2194560"/>
          </a:xfrm>
          <a:prstGeom prst="rect">
            <a:avLst/>
          </a:prstGeom>
          <a:solidFill>
            <a:srgbClr val="161628"/>
          </a:solidFill>
          <a:ln w="12700">
            <a:solidFill>
              <a:srgbClr val="2D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26280" y="151790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</a:rPr>
              <a:t>Inspector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26280" y="17647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Sprite2D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349240" y="176479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E7B7"/>
                </a:solidFill>
              </a:rPr>
              <a:t>Node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526280" y="202082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Texture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349240" y="2020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E7B7"/>
                </a:solidFill>
              </a:rPr>
              <a:t>icon.svg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526280" y="227685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Position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526280" y="25328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  x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349240" y="253288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CD34D"/>
                </a:solidFill>
              </a:rPr>
              <a:t>300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526280" y="27889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  y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349240" y="27889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CD34D"/>
                </a:solidFill>
              </a:rPr>
              <a:t>200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737360" y="3685032"/>
            <a:ext cx="4297680" cy="822960"/>
          </a:xfrm>
          <a:prstGeom prst="rect">
            <a:avLst/>
          </a:prstGeom>
          <a:solidFill>
            <a:srgbClr val="161628"/>
          </a:solidFill>
          <a:ln w="12700">
            <a:solidFill>
              <a:srgbClr val="2D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828800" y="371246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4B8A6"/>
                </a:solidFill>
              </a:rPr>
              <a:t>FileSystem  — res://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828800" y="391363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📁 assets   📁 scenes   🎵 music   📄 player.gd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400800" y="1417320"/>
            <a:ext cx="23774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400800" y="1417320"/>
            <a:ext cx="64008" cy="685800"/>
          </a:xfrm>
          <a:prstGeom prst="rect">
            <a:avLst/>
          </a:prstGeom>
          <a:solidFill>
            <a:srgbClr val="6B46C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537960" y="14538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Scene Panel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53796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Nodes as a family tree — every object in your scene lives here.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400800" y="2240280"/>
            <a:ext cx="23774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400800" y="2240280"/>
            <a:ext cx="64008" cy="6858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537960" y="22768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Viewport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53796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The game canvas — your coordinate grid in action!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400800" y="3063240"/>
            <a:ext cx="23774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400800" y="3063240"/>
            <a:ext cx="64008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537960" y="30998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Inspector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53796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Select a node to see &amp; change its X/Y position and all properties.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400800" y="3886200"/>
            <a:ext cx="23774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400800" y="3886200"/>
            <a:ext cx="64008" cy="685800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537960" y="39227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FileSystem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6537960" y="4160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All project files: textures, scripts, sounds.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A1E"/>
                </a:solidFill>
              </a:rPr>
              <a:t>MAIN ACTIVITY — PART 2  |  SPRITE2D MOVEMENT  |  10 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&amp; Move with Coordinates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1920240"/>
          </a:xfrm>
          <a:prstGeom prst="rect">
            <a:avLst/>
          </a:prstGeom>
          <a:solidFill>
            <a:srgbClr val="1A1035"/>
          </a:solidFill>
          <a:ln w="12700">
            <a:solidFill>
              <a:srgbClr val="6B4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743200" cy="411480"/>
          </a:xfrm>
          <a:prstGeom prst="rect">
            <a:avLst/>
          </a:prstGeom>
          <a:solidFill>
            <a:srgbClr val="6B46C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>
                    <a:alpha val="70000"/>
                  </a:srgbClr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Add a Sprite2D node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</a:rPr>
              <a:t>Scene panel → click + → type Sprite2D → click to add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743200" cy="1920240"/>
          </a:xfrm>
          <a:prstGeom prst="rect">
            <a:avLst/>
          </a:prstGeom>
          <a:solidFill>
            <a:srgbClr val="1A1035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74320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32588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>
                    <a:alpha val="70000"/>
                  </a:srgbClr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03320" y="1325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Watch the Inspector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8288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</a:rPr>
              <a:t>Select the node. Find Transform → Position. Notice X and Y fields.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325880"/>
            <a:ext cx="2743200" cy="1920240"/>
          </a:xfrm>
          <a:prstGeom prst="rect">
            <a:avLst/>
          </a:prstGeom>
          <a:solidFill>
            <a:srgbClr val="1A1035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72200" y="1325880"/>
            <a:ext cx="274320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132588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>
                    <a:alpha val="70000"/>
                  </a:srgbClr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29400" y="1325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Drag in the Viewport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18288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</a:rPr>
              <a:t>Click and drag the sprite. Watch X/Y values change in real time!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429000"/>
            <a:ext cx="8503920" cy="64008"/>
          </a:xfrm>
          <a:prstGeom prst="rect">
            <a:avLst/>
          </a:prstGeom>
          <a:solidFill>
            <a:srgbClr val="6B46C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520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D34D"/>
                </a:solidFill>
              </a:rPr>
              <a:t>Try These Position Values — What Do You Notice?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0040" y="3931920"/>
            <a:ext cx="2011680" cy="914400"/>
          </a:xfrm>
          <a:prstGeom prst="rect">
            <a:avLst/>
          </a:prstGeom>
          <a:solidFill>
            <a:srgbClr val="1A1035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3977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(0, 0)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1480" y="4315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Top-left corner of screen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14600" y="3931920"/>
            <a:ext cx="2011680" cy="914400"/>
          </a:xfrm>
          <a:prstGeom prst="rect">
            <a:avLst/>
          </a:prstGeom>
          <a:solidFill>
            <a:srgbClr val="1A103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06040" y="3977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(500, 300)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606040" y="4315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Near the center-right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3931920"/>
            <a:ext cx="2011680" cy="914400"/>
          </a:xfrm>
          <a:prstGeom prst="rect">
            <a:avLst/>
          </a:prstGeom>
          <a:solidFill>
            <a:srgbClr val="1A103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3977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(−100, −100)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00600" y="4315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Off-screen! Invisible.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03720" y="3931920"/>
            <a:ext cx="2011680" cy="914400"/>
          </a:xfrm>
          <a:prstGeom prst="rect">
            <a:avLst/>
          </a:prstGeom>
          <a:solidFill>
            <a:srgbClr val="1A1035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995160" y="3977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(512, 300)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95160" y="4315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Center of 1024×600 window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0A1E"/>
                </a:solidFill>
              </a:rPr>
              <a:t>MATH CONNECTION  |  THE Y-AXIS MYSTERY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— Why Is Y Upside Down?!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2834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91056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856232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386584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651760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916936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3182112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3447288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3712464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9496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4672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69848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335024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600200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65376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130552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395728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60904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926080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2651760"/>
            <a:ext cx="2651760" cy="0"/>
          </a:xfrm>
          <a:prstGeom prst="line">
            <a:avLst/>
          </a:prstGeom>
          <a:noFill/>
          <a:ln w="2540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600200" y="1325880"/>
            <a:ext cx="0" cy="2651760"/>
          </a:xfrm>
          <a:prstGeom prst="line">
            <a:avLst/>
          </a:prstGeom>
          <a:noFill/>
          <a:ln w="2540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560320" y="268833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1B69"/>
                </a:solidFill>
              </a:rPr>
              <a:t>X →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36776" y="13258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1B69"/>
                </a:solidFill>
              </a:rPr>
              <a:t>↑ Y (up = +)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10515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1B69"/>
                </a:solidFill>
              </a:rPr>
              <a:t>📐 Math Class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545336" y="2596896"/>
            <a:ext cx="109728" cy="109728"/>
          </a:xfrm>
          <a:prstGeom prst="ellipse">
            <a:avLst/>
          </a:prstGeom>
          <a:solidFill>
            <a:srgbClr val="2D1B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655064" y="2505456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1B69"/>
                </a:solidFill>
              </a:rPr>
              <a:t>(0,0)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066544" y="2057400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221992" y="19933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766E"/>
                </a:solidFill>
              </a:rPr>
              <a:t>(2,2)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005840" y="3118104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161288" y="30540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87171"/>
                </a:solidFill>
              </a:rPr>
              <a:t>(−2,−2)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63440" y="1234440"/>
            <a:ext cx="2834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54880" y="1325880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54880" y="1591056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54880" y="1856232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54880" y="2121408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54880" y="2386584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54880" y="2651760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754880" y="2916936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754880" y="3182112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754880" y="3447288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754880" y="3712464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754880" y="3977640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754880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020056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285232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550408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815584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080760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345936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611112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876288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141464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406640" y="132588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754880" y="2651760"/>
            <a:ext cx="265176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080760" y="1325880"/>
            <a:ext cx="0" cy="265176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040880" y="268833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X →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117336" y="13258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↑ Y decreases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117336" y="377647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</a:rPr>
              <a:t>↓ Y increases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754880" y="10515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</a:rPr>
              <a:t>🎮 Godot Screen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025896" y="2596896"/>
            <a:ext cx="109728" cy="109728"/>
          </a:xfrm>
          <a:prstGeom prst="ellipse">
            <a:avLst/>
          </a:prstGeom>
          <a:solidFill>
            <a:srgbClr val="2D1B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135624" y="2505456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1B69"/>
                </a:solidFill>
              </a:rPr>
              <a:t>(0,0)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547104" y="3118104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702552" y="30540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</a:rPr>
              <a:t>(2,2) = right+DOWN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486400" y="2057400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641848" y="19933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</a:rPr>
              <a:t>off-screen top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EDE9FE"/>
          </a:solidFill>
          <a:ln w="19050">
            <a:solidFill>
              <a:srgbClr val="6B4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636008"/>
            <a:ext cx="274320" cy="274320"/>
          </a:xfrm>
          <a:prstGeom prst="rect">
            <a:avLst/>
          </a:prstGeom>
        </p:spPr>
      </p:pic>
      <p:sp>
        <p:nvSpPr>
          <p:cNvPr id="76" name="Text 73"/>
          <p:cNvSpPr/>
          <p:nvPr/>
        </p:nvSpPr>
        <p:spPr>
          <a:xfrm>
            <a:off x="777240" y="4694849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Key Difference: 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1971922" y="4581144"/>
            <a:ext cx="6760597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In math, Y increases UPWARD. In Godot, Y increases DOWNWARD (like rows on a printed page). When your character jumps, their Y value DECREASES!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6B46C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B5FD"/>
                </a:solidFill>
              </a:rPr>
              <a:t>MAIN ACTIVITY — PART 3  |  YOUR FIRST GDSCRIPT  |  7 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Positions with Vector2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5120640" cy="3383280"/>
          </a:xfrm>
          <a:prstGeom prst="rect">
            <a:avLst/>
          </a:prstGeom>
          <a:solidFill>
            <a:srgbClr val="0D1117"/>
          </a:solidFill>
          <a:ln w="190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12064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player.gd  ●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0" y="1344168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75504" y="1344168"/>
            <a:ext cx="91440" cy="9144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21808" y="1344168"/>
            <a:ext cx="91440" cy="91440"/>
          </a:xfrm>
          <a:prstGeom prst="ellipse">
            <a:avLst/>
          </a:prstGeom>
          <a:solidFill>
            <a:srgbClr val="86EFA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66420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Sprite2D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13969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_ready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37744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Vector2 stores x and y together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61518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 </a:t>
            </a: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Vector2(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09067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Try changing the numbers below!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32841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What happens when x = 0?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56616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What about y = 0?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80390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What if you use negatives?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1261872"/>
            <a:ext cx="3200400" cy="749808"/>
          </a:xfrm>
          <a:prstGeom prst="rect">
            <a:avLst/>
          </a:prstGeom>
          <a:solidFill>
            <a:srgbClr val="1A1035"/>
          </a:solidFill>
          <a:ln w="12700">
            <a:solidFill>
              <a:srgbClr val="C084F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0" y="1298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 Sprite2D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157276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This script 'belongs to' the Sprite2D node.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2130552"/>
            <a:ext cx="3200400" cy="749808"/>
          </a:xfrm>
          <a:prstGeom prst="rect">
            <a:avLst/>
          </a:prstGeom>
          <a:solidFill>
            <a:srgbClr val="1A1035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60720" y="21671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_ready()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244144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Runs automatically when the game starts.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2999232"/>
            <a:ext cx="3200400" cy="749808"/>
          </a:xfrm>
          <a:prstGeom prst="rect">
            <a:avLst/>
          </a:prstGeom>
          <a:solidFill>
            <a:srgbClr val="1A1035"/>
          </a:solidFill>
          <a:ln w="12700">
            <a:solidFill>
              <a:srgbClr val="FCD34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60720" y="30358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Vector2(300, 200)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33101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Stores x=300 and y=200 as a single value.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3867912"/>
            <a:ext cx="3200400" cy="749808"/>
          </a:xfrm>
          <a:prstGeom prst="rect">
            <a:avLst/>
          </a:prstGeom>
          <a:solidFill>
            <a:srgbClr val="1A1035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760720" y="39044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=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60720" y="41788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Sets WHERE the node appears on screen.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681728"/>
            <a:ext cx="8503920" cy="347472"/>
          </a:xfrm>
          <a:prstGeom prst="rect">
            <a:avLst/>
          </a:prstGeom>
          <a:solidFill>
            <a:srgbClr val="0F766E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6817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</a:rPr>
              <a:t>⚡  Challenge: Write the Vector2 that places your sprite exactly in the center of a 1024 × 600 screen. Predict before running!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 MATH CONNECTION  |  COMPARISON CHART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Plane vs. Godot Screen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682337"/>
              </p:ext>
            </p:extLst>
          </p:nvPr>
        </p:nvGraphicFramePr>
        <p:xfrm>
          <a:off x="365760" y="1325880"/>
          <a:ext cx="8686800" cy="338328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Math Coordinate Plane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6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Godot Screen Coordinates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Origin (0,0) location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Bottom-left (often centered)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TOP-LEFT corner of screen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Y increases toward...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⬆️  UP — larger Y = higher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⬇️  DOWN — larger Y = lower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X increases toward...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➡️  RIGHT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➡️  RIGHT (same!)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Typical range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Negative to positive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 to screen width / height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Negative coords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Common — fourth quadrant etc.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Off-screen (not visible)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Used for...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Algebra, geometry, graphing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Placing game objects, physics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FCD34D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49808" y="466344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Remember: The ONLY true difference is which way Y points. X behaves the same in both systems!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6B46C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B5FD"/>
                </a:solidFill>
              </a:rPr>
              <a:t>REFLECTION + EXIT TICKET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Go...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188720"/>
          </a:xfrm>
          <a:prstGeom prst="rect">
            <a:avLst/>
          </a:prstGeom>
          <a:solidFill>
            <a:srgbClr val="1A1035"/>
          </a:solidFill>
          <a:ln w="19050">
            <a:solidFill>
              <a:srgbClr val="6B4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91440" cy="1188720"/>
          </a:xfrm>
          <a:prstGeom prst="rect">
            <a:avLst/>
          </a:prstGeom>
          <a:solidFill>
            <a:srgbClr val="6B46C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6104" y="1316736"/>
            <a:ext cx="7136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B5FD"/>
                </a:solidFill>
              </a:rPr>
              <a:t>Reflection Question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664208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How is the Godot game screen similar to a coordinate plane you use in math class? How is it different? Give at least one specific example using numbers.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2651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D34D"/>
                </a:solidFill>
              </a:rPr>
              <a:t>Exit Ticket — Answer on your slip before leaving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3108960"/>
            <a:ext cx="8412480" cy="502920"/>
          </a:xfrm>
          <a:prstGeom prst="rect">
            <a:avLst/>
          </a:prstGeom>
          <a:solidFill>
            <a:srgbClr val="1A103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3108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1.   In Godot, which corner of the screen is position (0, 0)?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3703320"/>
            <a:ext cx="8412480" cy="502920"/>
          </a:xfrm>
          <a:prstGeom prst="rect">
            <a:avLst/>
          </a:prstGeom>
          <a:solidFill>
            <a:srgbClr val="1A103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3703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2.   If a sprite is at (200, 100) and you add 50 to its Y value, does it move UP or DOWN?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solidFill>
            <a:srgbClr val="1A103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3.   Write one GDScript line that moves a sprite to the center of a 1024 × 600 screen.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0" y="109728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0" y="27432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0" y="91440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0" y="438912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89120" y="283464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0" y="411480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12480" y="256032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71600" y="201168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0" y="457200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0" y="73152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Complete!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4B5FD"/>
                </a:solidFill>
              </a:rPr>
              <a:t>You navigated the Godot editor, mastered 2D coordinates,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C4B5FD"/>
                </a:solidFill>
              </a:rPr>
              <a:t>and wrote your first GDScript line.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71600" y="2148840"/>
            <a:ext cx="6400800" cy="2194560"/>
          </a:xfrm>
          <a:prstGeom prst="rect">
            <a:avLst/>
          </a:prstGeom>
          <a:solidFill>
            <a:srgbClr val="1A1035"/>
          </a:solidFill>
          <a:ln w="254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371600" y="2148840"/>
            <a:ext cx="64008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71600" y="2148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Coming Up — Day 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26974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Nodes, Scenes &amp; Game Objects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63040" y="3127248"/>
            <a:ext cx="6217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Build your first playable scene — player character, ground tiles, and collectibles.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Learn how nodes communicate and how scenes work as game 'blueprints.'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4480560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60320" y="4480560"/>
            <a:ext cx="40233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CD34D"/>
                </a:solidFill>
              </a:rPr>
              <a:t> Optional Homework: Sketch a top-down room on graph paper with labeled (x,y) positions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1047</Words>
  <Application>Microsoft Macintosh PowerPoint</Application>
  <PresentationFormat>On-screen Show (16:9)</PresentationFormat>
  <Paragraphs>192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 — Day 2: Meet the Godot Editor</dc:title>
  <dc:subject>PptxGenJS Presentation</dc:subject>
  <dc:creator>PptxGenJS</dc:creator>
  <cp:lastModifiedBy>Babichenko, Dmitriy</cp:lastModifiedBy>
  <cp:revision>5</cp:revision>
  <dcterms:created xsi:type="dcterms:W3CDTF">2026-06-01T20:58:23Z</dcterms:created>
  <dcterms:modified xsi:type="dcterms:W3CDTF">2026-06-17T23:25:50Z</dcterms:modified>
</cp:coreProperties>
</file>