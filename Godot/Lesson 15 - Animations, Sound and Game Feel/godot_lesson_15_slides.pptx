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3272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4A1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731520" y="-731520"/>
            <a:ext cx="4114800" cy="4114800"/>
          </a:xfrm>
          <a:prstGeom prst="ellipse">
            <a:avLst/>
          </a:prstGeom>
          <a:solidFill>
            <a:srgbClr val="6B35C2">
              <a:alpha val="30000"/>
            </a:srgbClr>
          </a:solidFill>
          <a:ln w="12700">
            <a:solidFill>
              <a:srgbClr val="6B35C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0" y="3200400"/>
            <a:ext cx="2743200" cy="2743200"/>
          </a:xfrm>
          <a:prstGeom prst="ellipse">
            <a:avLst/>
          </a:prstGeom>
          <a:solidFill>
            <a:srgbClr val="9B59D6">
              <a:alpha val="20000"/>
            </a:srgbClr>
          </a:solidFill>
          <a:ln w="12700">
            <a:solidFill>
              <a:srgbClr val="9B59D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217920" y="274320"/>
            <a:ext cx="2560320" cy="2560320"/>
          </a:xfrm>
          <a:prstGeom prst="ellipse">
            <a:avLst/>
          </a:prstGeom>
          <a:solidFill>
            <a:srgbClr val="00897B">
              <a:alpha val="25000"/>
            </a:srgbClr>
          </a:solidFill>
          <a:ln w="12700">
            <a:solidFill>
              <a:srgbClr val="00897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0" y="2286000"/>
            <a:ext cx="2286000" cy="2286000"/>
          </a:xfrm>
          <a:prstGeom prst="ellipse">
            <a:avLst/>
          </a:prstGeom>
          <a:solidFill>
            <a:srgbClr val="E65100">
              <a:alpha val="20000"/>
            </a:srgbClr>
          </a:solidFill>
          <a:ln w="12700">
            <a:solidFill>
              <a:srgbClr val="E6510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36576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3474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1D8F"/>
                </a:solidFill>
              </a:rPr>
              <a:t>STEM THROUGH GAMES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896112"/>
            <a:ext cx="822960" cy="822960"/>
          </a:xfrm>
          <a:prstGeom prst="rect">
            <a:avLst/>
          </a:prstGeom>
          <a:solidFill>
            <a:srgbClr val="FFD54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89611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1D8F"/>
                </a:solidFill>
              </a:rPr>
              <a:t>DAY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11887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A1D8F"/>
                </a:solidFill>
              </a:rPr>
              <a:t>15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11480" y="192024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Animations,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411480" y="2542032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D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Sound &amp;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411480" y="3163824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 Feel</a:t>
            </a:r>
            <a:endParaRPr lang="en-US" sz="4600" dirty="0"/>
          </a:p>
        </p:txBody>
      </p:sp>
      <p:sp>
        <p:nvSpPr>
          <p:cNvPr id="15" name="Shape 13"/>
          <p:cNvSpPr/>
          <p:nvPr/>
        </p:nvSpPr>
        <p:spPr>
          <a:xfrm>
            <a:off x="411480" y="3977640"/>
            <a:ext cx="5029200" cy="18288"/>
          </a:xfrm>
          <a:prstGeom prst="rect">
            <a:avLst/>
          </a:prstGeom>
          <a:solidFill>
            <a:srgbClr val="9B59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4069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Timing, rhythm, and emotional design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43600" y="502920"/>
            <a:ext cx="2834640" cy="1188720"/>
          </a:xfrm>
          <a:prstGeom prst="rect">
            <a:avLst/>
          </a:prstGeom>
          <a:solidFill>
            <a:srgbClr val="1A274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43600" y="502920"/>
            <a:ext cx="54864" cy="118872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758952"/>
            <a:ext cx="457200" cy="4572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693408" y="61264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693408" y="905256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Godot 4.x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943600" y="1984248"/>
            <a:ext cx="2834640" cy="1188720"/>
          </a:xfrm>
          <a:prstGeom prst="rect">
            <a:avLst/>
          </a:prstGeom>
          <a:solidFill>
            <a:srgbClr val="1A274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943600" y="1984248"/>
            <a:ext cx="54864" cy="118872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2240280"/>
            <a:ext cx="457200" cy="4572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693408" y="209397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6693408" y="238658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Middle School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943600" y="3465576"/>
            <a:ext cx="2834640" cy="1188720"/>
          </a:xfrm>
          <a:prstGeom prst="rect">
            <a:avLst/>
          </a:prstGeom>
          <a:solidFill>
            <a:srgbClr val="1A274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5943600" y="3465576"/>
            <a:ext cx="54864" cy="1188720"/>
          </a:xfrm>
          <a:prstGeom prst="rect">
            <a:avLst/>
          </a:prstGeom>
          <a:solidFill>
            <a:srgbClr val="6B35C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192" y="3721608"/>
            <a:ext cx="457200" cy="45720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693408" y="357530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6693408" y="386791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60–90 Min</a:t>
            </a:r>
            <a:endParaRPr lang="en-US" sz="16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6675120" y="365760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1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1005840"/>
          </a:xfrm>
          <a:prstGeom prst="rect">
            <a:avLst/>
          </a:prstGeom>
          <a:solidFill>
            <a:srgbClr val="4A1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41148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students will achieve today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92608" y="1188720"/>
            <a:ext cx="42062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2608" y="1188720"/>
            <a:ext cx="64008" cy="1051560"/>
          </a:xfrm>
          <a:prstGeom prst="rect">
            <a:avLst/>
          </a:prstGeom>
          <a:solidFill>
            <a:srgbClr val="4A1D8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444752"/>
            <a:ext cx="384048" cy="3840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75488" y="1389888"/>
            <a:ext cx="384048" cy="384048"/>
          </a:xfrm>
          <a:prstGeom prst="rect">
            <a:avLst/>
          </a:prstGeom>
          <a:solidFill>
            <a:srgbClr val="4A1D8F">
              <a:alpha val="15000"/>
            </a:srgbClr>
          </a:solidFill>
          <a:ln w="12700">
            <a:solidFill>
              <a:srgbClr val="4A1D8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05840" y="128016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sprite animations using AnimatedSprite2D with idle, run, and jump states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92608" y="2450592"/>
            <a:ext cx="42062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92608" y="2450592"/>
            <a:ext cx="64008" cy="105156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706624"/>
            <a:ext cx="384048" cy="38404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75488" y="2651760"/>
            <a:ext cx="384048" cy="384048"/>
          </a:xfrm>
          <a:prstGeom prst="rect">
            <a:avLst/>
          </a:prstGeom>
          <a:solidFill>
            <a:srgbClr val="00897B">
              <a:alpha val="15000"/>
            </a:srgbClr>
          </a:solidFill>
          <a:ln w="12700">
            <a:solidFill>
              <a:srgbClr val="00897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1005840" y="2542032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GDScript logic to switch animation states based on player movement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292608" y="3712464"/>
            <a:ext cx="42062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292608" y="3712464"/>
            <a:ext cx="64008" cy="105156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968496"/>
            <a:ext cx="384048" cy="384048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75488" y="3913632"/>
            <a:ext cx="384048" cy="384048"/>
          </a:xfrm>
          <a:prstGeom prst="rect">
            <a:avLst/>
          </a:prstGeom>
          <a:solidFill>
            <a:srgbClr val="E65100">
              <a:alpha val="15000"/>
            </a:srgbClr>
          </a:solidFill>
          <a:ln w="12700">
            <a:solidFill>
              <a:srgbClr val="E6510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1005840" y="3803904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sound effects and background music using AudioStreamPlayer nodes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4773168" y="1188720"/>
            <a:ext cx="42062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4773168" y="1188720"/>
            <a:ext cx="64008" cy="105156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1444752"/>
            <a:ext cx="384048" cy="384048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4956048" y="1389888"/>
            <a:ext cx="384048" cy="384048"/>
          </a:xfrm>
          <a:prstGeom prst="rect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1565C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5486400" y="128016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audio and animation create emotional tone and player experience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4773168" y="2450592"/>
            <a:ext cx="42062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4773168" y="2450592"/>
            <a:ext cx="64008" cy="1051560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6048" y="2706624"/>
            <a:ext cx="384048" cy="384048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4956048" y="2651760"/>
            <a:ext cx="384048" cy="384048"/>
          </a:xfrm>
          <a:prstGeom prst="rect">
            <a:avLst/>
          </a:prstGeom>
          <a:solidFill>
            <a:srgbClr val="7B1FA2">
              <a:alpha val="15000"/>
            </a:srgbClr>
          </a:solidFill>
          <a:ln w="12700">
            <a:solidFill>
              <a:srgbClr val="7B1FA2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3"/>
          <p:cNvSpPr/>
          <p:nvPr/>
        </p:nvSpPr>
        <p:spPr>
          <a:xfrm>
            <a:off x="5486400" y="2542032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animation loop duration using frames ÷ FPS math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4A1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ACTIVITY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Silent vs. Sound: What's the Difference?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06240" cy="3840480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206240" cy="566928"/>
          </a:xfrm>
          <a:prstGeom prst="rect">
            <a:avLst/>
          </a:prstGeom>
          <a:solidFill>
            <a:srgbClr val="666680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005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2618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Animation · No Sound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749040" y="97840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🔇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75488" y="1691640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sprite — no movement frames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5488" y="2221992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background music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75488" y="2752344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jump or collect sounds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5488" y="3282696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slides silently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5488" y="3767328"/>
            <a:ext cx="3803904" cy="640080"/>
          </a:xfrm>
          <a:prstGeom prst="rect">
            <a:avLst/>
          </a:prstGeom>
          <a:solidFill>
            <a:srgbClr val="666680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" y="3767328"/>
            <a:ext cx="38039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Feels flat and lifeless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960120"/>
            <a:ext cx="4206240" cy="3840480"/>
          </a:xfrm>
          <a:prstGeom prst="rect">
            <a:avLst/>
          </a:prstGeom>
          <a:solidFill>
            <a:srgbClr val="11223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960120"/>
            <a:ext cx="4206240" cy="566928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57800" y="1005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57800" y="12618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Animation + Audio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0" y="97840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🎮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956048" y="1691640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Sprite plays idle, run, jump cycles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56048" y="2221992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music sets the mood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56048" y="2752344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and coin sounds respond to you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956048" y="3282696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has visual + audio feedback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956048" y="3767328"/>
            <a:ext cx="3803904" cy="64008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56048" y="3767328"/>
            <a:ext cx="38039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Feels alive and responsive!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74320" y="47365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Discussion: What specifically makes Version 2 feel different? List 3 things.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91440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640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ACTIVITY — PART 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Setting Up AnimatedSprite2D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92608" y="1078992"/>
            <a:ext cx="27432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2608" y="1078992"/>
            <a:ext cx="2743200" cy="50292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0624" y="11521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0624" y="135331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the Node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" y="1673352"/>
            <a:ext cx="248716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character scene, add AnimatedSprite2D as a child of CharacterBody2D. This node holds all your animation frames.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18688" y="1078992"/>
            <a:ext cx="27432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18688" y="1078992"/>
            <a:ext cx="2743200" cy="50292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46704" y="11521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46704" y="135331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SpriteFrames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46704" y="1673352"/>
            <a:ext cx="248716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SpriteFrames property → New SpriteFrames. This panel is where you import images and define each animation name.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44768" y="1078992"/>
            <a:ext cx="27432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44768" y="1078992"/>
            <a:ext cx="2743200" cy="50292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72784" y="11521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72784" y="135331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Animations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72784" y="1673352"/>
            <a:ext cx="248716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three animations: idle (4–6 FPS), run (10–12 FPS), and jump (15 FPS, no loop). Import your sprite sheet frames.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2608" y="345643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89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Animation Speed Reference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3822192"/>
          <a:ext cx="4114800" cy="9601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0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0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0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0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4663440" y="3401568"/>
            <a:ext cx="4187952" cy="1463040"/>
          </a:xfrm>
          <a:prstGeom prst="rect">
            <a:avLst/>
          </a:prstGeom>
          <a:solidFill>
            <a:srgbClr val="FFF8E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663440" y="3401568"/>
            <a:ext cx="64008" cy="146304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3520440"/>
            <a:ext cx="320040" cy="32004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230368" y="343814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 Tip: Flip the Sprite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4828032" y="3803904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$AnimatedSprite2D.flip_h = true when velocity.x &lt; 0 to mirror the sprite automatically — no separate left-facing frames needed!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7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A1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GDSCRIPT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Animation State Logic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5394960" cy="406908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11480" cy="406908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92608" y="9601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E5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" y="96012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Player.gd — Animation state switching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2608" y="113934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E5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49808" y="1139342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 CharacterBody2D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2608" y="1318565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E5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2608" y="1497787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E5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9808" y="1497787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 _physics_process(delta):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2608" y="167701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E5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49808" y="167701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move_and_slide()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92608" y="18562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E5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2608" y="203545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E5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49808" y="2035454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Horizontal: run vs idle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92608" y="2214677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E5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9808" y="2214677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velocity.x != 0: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92608" y="2393899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E5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49808" y="2393899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$AnimatedSprite2D.play("run")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92608" y="257312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E5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9808" y="2573122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92608" y="275234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E5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9808" y="2752344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$AnimatedSprite2D.play("idle")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92608" y="293156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E5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92608" y="3110789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E5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9808" y="3110789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Flip sprite left/right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92608" y="3290011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E5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49808" y="3290011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velocity.x &lt; 0: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92608" y="346923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E5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49808" y="3469234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$AnimatedSprite2D.flip_h = true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92608" y="364845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E5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49808" y="3648456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velocity.x &gt; 0: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92608" y="382767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E5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49808" y="3827678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$AnimatedSprite2D.flip_h = false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92608" y="4006901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E5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92608" y="4186123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E5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49808" y="4186123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Jump overrides when airborne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292608" y="436534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E5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49808" y="4365346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is_on_floor():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92608" y="45445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E5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49808" y="4544568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$AnimatedSprite2D.play("jump")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943600" y="1536192"/>
            <a:ext cx="2834640" cy="310896"/>
          </a:xfrm>
          <a:prstGeom prst="rect">
            <a:avLst/>
          </a:prstGeom>
          <a:solidFill>
            <a:srgbClr val="00897B">
              <a:alpha val="15000"/>
            </a:srgbClr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943600" y="1536192"/>
            <a:ext cx="45720" cy="310896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053328" y="1536192"/>
            <a:ext cx="2633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physics engine first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943600" y="2423160"/>
            <a:ext cx="2834640" cy="310896"/>
          </a:xfrm>
          <a:prstGeom prst="rect">
            <a:avLst/>
          </a:prstGeom>
          <a:solidFill>
            <a:srgbClr val="E65100">
              <a:alpha val="15000"/>
            </a:srgbClr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5943600" y="2423160"/>
            <a:ext cx="45720" cy="310896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053328" y="2423160"/>
            <a:ext cx="2633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horizontal speed to pick animation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943600" y="3108960"/>
            <a:ext cx="2834640" cy="310896"/>
          </a:xfrm>
          <a:prstGeom prst="rect">
            <a:avLst/>
          </a:prstGeom>
          <a:solidFill>
            <a:srgbClr val="FFD54F">
              <a:alpha val="15000"/>
            </a:srgbClr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943600" y="3108960"/>
            <a:ext cx="45720" cy="310896"/>
          </a:xfrm>
          <a:prstGeom prst="rect">
            <a:avLst/>
          </a:pr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053328" y="3108960"/>
            <a:ext cx="2633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sprite — no extra frames needed!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943600" y="4133088"/>
            <a:ext cx="2834640" cy="310896"/>
          </a:xfrm>
          <a:prstGeom prst="rect">
            <a:avLst/>
          </a:prstGeom>
          <a:solidFill>
            <a:srgbClr val="9B59D6">
              <a:alpha val="15000"/>
            </a:srgbClr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5943600" y="4133088"/>
            <a:ext cx="45720" cy="310896"/>
          </a:xfrm>
          <a:prstGeom prst="rect">
            <a:avLst/>
          </a:prstGeom>
          <a:solidFill>
            <a:srgbClr val="9B59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053328" y="4133088"/>
            <a:ext cx="2633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detection overrides ground animations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943600" y="8686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Flow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6949440" y="1207008"/>
            <a:ext cx="1097280" cy="384048"/>
          </a:xfrm>
          <a:prstGeom prst="rect">
            <a:avLst/>
          </a:prstGeom>
          <a:solidFill>
            <a:srgbClr val="6B35C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949440" y="12070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IDLE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6949440" y="1993392"/>
            <a:ext cx="1097280" cy="384048"/>
          </a:xfrm>
          <a:prstGeom prst="rect">
            <a:avLst/>
          </a:prstGeom>
          <a:solidFill>
            <a:srgbClr val="00897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949440" y="19933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6949440" y="2779776"/>
            <a:ext cx="1097280" cy="384048"/>
          </a:xfrm>
          <a:prstGeom prst="rect">
            <a:avLst/>
          </a:prstGeom>
          <a:solidFill>
            <a:srgbClr val="E6510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949440" y="277977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JUMP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7498080" y="1591056"/>
            <a:ext cx="0" cy="310896"/>
          </a:xfrm>
          <a:prstGeom prst="line">
            <a:avLst/>
          </a:prstGeom>
          <a:noFill/>
          <a:ln w="19050">
            <a:solidFill>
              <a:srgbClr val="E8E4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7498080" y="2377440"/>
            <a:ext cx="0" cy="310896"/>
          </a:xfrm>
          <a:prstGeom prst="line">
            <a:avLst/>
          </a:prstGeom>
          <a:noFill/>
          <a:ln w="19050">
            <a:solidFill>
              <a:srgbClr val="E8E4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91440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640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ACTIVITY — PART B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365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Adding Sound with AudioStreamPlayer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92608" y="1078992"/>
            <a:ext cx="27432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2608" y="1078992"/>
            <a:ext cx="2743200" cy="621792"/>
          </a:xfrm>
          <a:prstGeom prst="rect">
            <a:avLst/>
          </a:prstGeom>
          <a:solidFill>
            <a:srgbClr val="4A1D8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0700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86968" y="11521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AudioStreamPlayer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86968" y="1389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JumpSound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1883664"/>
            <a:ext cx="2414016" cy="274320"/>
          </a:xfrm>
          <a:prstGeom prst="rect">
            <a:avLst/>
          </a:prstGeom>
          <a:solidFill>
            <a:srgbClr val="E8E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48640" y="1883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50976" y="1883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jump.wav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7200" y="2313432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1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2560320"/>
            <a:ext cx="45720" cy="960120"/>
          </a:xfrm>
          <a:prstGeom prst="rect">
            <a:avLst/>
          </a:prstGeom>
          <a:solidFill>
            <a:srgbClr val="4A1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85216" y="2542032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0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 on jump input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0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$JumpSound.play()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218688" y="1078992"/>
            <a:ext cx="27432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218688" y="1078992"/>
            <a:ext cx="2743200" cy="621792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207008"/>
            <a:ext cx="347472" cy="3474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813048" y="11521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AudioStreamPlayer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3813048" y="1389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CoinSound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3383280" y="1883664"/>
            <a:ext cx="2414016" cy="274320"/>
          </a:xfrm>
          <a:prstGeom prst="rect">
            <a:avLst/>
          </a:prstGeom>
          <a:solidFill>
            <a:srgbClr val="E8E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3474720" y="1883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3877056" y="1883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coin_collect.wav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3383280" y="2313432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83280" y="2560320"/>
            <a:ext cx="45720" cy="96012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3511296" y="2542032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0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 on Area2D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0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body_entered signal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6144768" y="1078992"/>
            <a:ext cx="27432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6144768" y="1078992"/>
            <a:ext cx="2743200" cy="621792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207008"/>
            <a:ext cx="347472" cy="34747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739128" y="11521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AudioStreamPlayer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6739128" y="1389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BGMusic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6309360" y="1883664"/>
            <a:ext cx="2414016" cy="274320"/>
          </a:xfrm>
          <a:prstGeom prst="rect">
            <a:avLst/>
          </a:prstGeom>
          <a:solidFill>
            <a:srgbClr val="E8E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6400800" y="1883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6803136" y="1883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background.ogg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6309360" y="2313432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6309360" y="2560320"/>
            <a:ext cx="45720" cy="96012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/>
          <p:nvPr/>
        </p:nvSpPr>
        <p:spPr>
          <a:xfrm>
            <a:off x="6437376" y="2542032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0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Autoplay = true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0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Loops automatically</a:t>
            </a:r>
            <a:endParaRPr lang="en-US" sz="1150" dirty="0"/>
          </a:p>
        </p:txBody>
      </p:sp>
      <p:sp>
        <p:nvSpPr>
          <p:cNvPr id="39" name="Shape 34"/>
          <p:cNvSpPr/>
          <p:nvPr/>
        </p:nvSpPr>
        <p:spPr>
          <a:xfrm>
            <a:off x="292608" y="4005072"/>
            <a:ext cx="8558784" cy="822960"/>
          </a:xfrm>
          <a:prstGeom prst="rect">
            <a:avLst/>
          </a:prstGeom>
          <a:solidFill>
            <a:srgbClr val="1A274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5"/>
          <p:cNvSpPr/>
          <p:nvPr/>
        </p:nvSpPr>
        <p:spPr>
          <a:xfrm>
            <a:off x="292608" y="4005072"/>
            <a:ext cx="54864" cy="82296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6"/>
          <p:cNvSpPr/>
          <p:nvPr/>
        </p:nvSpPr>
        <p:spPr>
          <a:xfrm>
            <a:off x="438912" y="4041648"/>
            <a:ext cx="8321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Trigger jump sound in _physics_process()     if Input.is_action_just_pressed("jump"):     $JumpSound.play()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CONNECTION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Animation Timing: Frames ÷ FPS = Loop Duration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3749040" cy="118872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4241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Loop Time =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D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Frames ÷ FPS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297680" y="1005840"/>
            <a:ext cx="4572000" cy="1188720"/>
          </a:xfrm>
          <a:prstGeom prst="rect">
            <a:avLst/>
          </a:prstGeom>
          <a:solidFill>
            <a:srgbClr val="1122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97680" y="1005840"/>
            <a:ext cx="54864" cy="1188720"/>
          </a:xfrm>
          <a:prstGeom prst="rect">
            <a:avLst/>
          </a:pr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43984" y="104241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Run Cycle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43984" y="133502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frames at 12 FPS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43984" y="162763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DB6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÷ 12 = 0.67 seconds per loop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0040" y="23774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2A5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 Problems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0040" y="2834640"/>
            <a:ext cx="4206240" cy="868680"/>
          </a:xfrm>
          <a:prstGeom prst="rect">
            <a:avLst/>
          </a:prstGeom>
          <a:solidFill>
            <a:srgbClr val="0D1829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2834640"/>
            <a:ext cx="54864" cy="86868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" y="288950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0392" y="2889504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Idle: 4 frames at 6 FPS — how long?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4632" y="3346704"/>
            <a:ext cx="3877056" cy="274320"/>
          </a:xfrm>
          <a:prstGeom prst="rect">
            <a:avLst/>
          </a:prstGeom>
          <a:solidFill>
            <a:srgbClr val="00897B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6072" y="33467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4 ÷ 6 = 0.67 sec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" y="3886200"/>
            <a:ext cx="4206240" cy="868680"/>
          </a:xfrm>
          <a:prstGeom prst="rect">
            <a:avLst/>
          </a:prstGeom>
          <a:solidFill>
            <a:srgbClr val="0D1829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3886200"/>
            <a:ext cx="54864" cy="86868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632" y="394106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0392" y="3941064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Jump: 5 frames at 15 FPS — how long?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4632" y="4398264"/>
            <a:ext cx="3877056" cy="274320"/>
          </a:xfrm>
          <a:prstGeom prst="rect">
            <a:avLst/>
          </a:prstGeom>
          <a:solidFill>
            <a:srgbClr val="E6510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76072" y="43982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5 ÷ 15 = 0.33 sec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54880" y="2834640"/>
            <a:ext cx="4206240" cy="868680"/>
          </a:xfrm>
          <a:prstGeom prst="rect">
            <a:avLst/>
          </a:prstGeom>
          <a:solidFill>
            <a:srgbClr val="0D1829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54880" y="2834640"/>
            <a:ext cx="54864" cy="868680"/>
          </a:xfrm>
          <a:prstGeom prst="rect">
            <a:avLst/>
          </a:prstGeom>
          <a:solidFill>
            <a:srgbClr val="9B59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19472" y="288950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5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85232" y="2889504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= 0.5 sec at 8 FPS — how many frames?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919472" y="3346704"/>
            <a:ext cx="3877056" cy="274320"/>
          </a:xfrm>
          <a:prstGeom prst="rect">
            <a:avLst/>
          </a:prstGeom>
          <a:solidFill>
            <a:srgbClr val="9B59D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10912" y="33467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0.5 × 8 = 4 frames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754880" y="3886200"/>
            <a:ext cx="4206240" cy="868680"/>
          </a:xfrm>
          <a:prstGeom prst="rect">
            <a:avLst/>
          </a:prstGeom>
          <a:solidFill>
            <a:srgbClr val="0D1829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754880" y="3886200"/>
            <a:ext cx="54864" cy="868680"/>
          </a:xfrm>
          <a:prstGeom prst="rect">
            <a:avLst/>
          </a:pr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19472" y="394106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85232" y="3941064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1-sec walk cycle at 10 FPS — how many frames?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919472" y="4398264"/>
            <a:ext cx="3877056" cy="274320"/>
          </a:xfrm>
          <a:prstGeom prst="rect">
            <a:avLst/>
          </a:prstGeom>
          <a:solidFill>
            <a:srgbClr val="FFD54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10912" y="43982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1 × 10 = 10 frames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914400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640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8B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DESIGN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365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Sound Creates Feeling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4206240" cy="1737360"/>
          </a:xfrm>
          <a:prstGeom prst="rect">
            <a:avLst/>
          </a:prstGeom>
          <a:solidFill>
            <a:srgbClr val="E8EAF6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24128"/>
            <a:ext cx="64008" cy="173736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11338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😨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51560" y="1133856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Tense / Scary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" y="16642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Low, sustained drones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5488" y="19293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rhythms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5488" y="21945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Sparse, sudden sounds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5488" y="24597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key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4206240" cy="1737360"/>
          </a:xfrm>
          <a:prstGeom prst="rect">
            <a:avLst/>
          </a:prstGeom>
          <a:solidFill>
            <a:srgbClr val="E0F2F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64008" cy="173736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" y="3127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😄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051560" y="3127248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89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Joyful / Playful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" y="3657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bouncy tempo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5488" y="39227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High-pitched notes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5488" y="41879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punchy SFX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5488" y="44531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key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36592" y="1024128"/>
            <a:ext cx="4206240" cy="1737360"/>
          </a:xfrm>
          <a:prstGeom prst="rect">
            <a:avLst/>
          </a:prstGeom>
          <a:solidFill>
            <a:srgbClr val="FFF3E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36592" y="1024128"/>
            <a:ext cx="64008" cy="173736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01184" y="11338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513832" y="1133856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Energized / Urgent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37760" y="16642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BPM (140+)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937760" y="19293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percussion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937760" y="21945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Loud, snappy sounds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937760" y="24597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Ascending melodies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736592" y="3017520"/>
            <a:ext cx="4206240" cy="1737360"/>
          </a:xfrm>
          <a:prstGeom prst="rect">
            <a:avLst/>
          </a:prstGeom>
          <a:solidFill>
            <a:srgbClr val="F1F8E9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36592" y="3017520"/>
            <a:ext cx="64008" cy="173736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01184" y="3127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😌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5513832" y="3127248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Calm / Peaceful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937760" y="3657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flowing melodies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937760" y="39227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pads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937760" y="41879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SFX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937760" y="44531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dynamics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74320" y="4690872"/>
            <a:ext cx="8595360" cy="402336"/>
          </a:xfrm>
          <a:prstGeom prst="rect">
            <a:avLst/>
          </a:prstGeom>
          <a:solidFill>
            <a:srgbClr val="7B1FA2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74320" y="4690872"/>
            <a:ext cx="64008" cy="402336"/>
          </a:xfrm>
          <a:prstGeom prst="rect">
            <a:avLst/>
          </a:pr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11480" y="4690872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Your turn: What emotion does your game create? What sound choices support that?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4A1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Exit Ticket + Discussion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98755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B59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 Questions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206240" cy="685800"/>
          </a:xfrm>
          <a:prstGeom prst="rect">
            <a:avLst/>
          </a:prstGeom>
          <a:solidFill>
            <a:srgbClr val="1C103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54864" cy="685800"/>
          </a:xfrm>
          <a:prstGeom prst="rect">
            <a:avLst/>
          </a:prstGeom>
          <a:solidFill>
            <a:srgbClr val="9B59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1417320"/>
            <a:ext cx="347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B59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1444752"/>
            <a:ext cx="3547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emotion did your sound choices create? Was that intentional?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4206240" cy="685800"/>
          </a:xfrm>
          <a:prstGeom prst="rect">
            <a:avLst/>
          </a:prstGeom>
          <a:solidFill>
            <a:srgbClr val="1C103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54864" cy="685800"/>
          </a:xfrm>
          <a:prstGeom prst="rect">
            <a:avLst/>
          </a:prstGeom>
          <a:solidFill>
            <a:srgbClr val="9B59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4048" y="2240280"/>
            <a:ext cx="347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B59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6384" y="2267712"/>
            <a:ext cx="3547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animation speed change how a character feels to control?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3063240"/>
            <a:ext cx="4206240" cy="685800"/>
          </a:xfrm>
          <a:prstGeom prst="rect">
            <a:avLst/>
          </a:prstGeom>
          <a:solidFill>
            <a:srgbClr val="1C103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3063240"/>
            <a:ext cx="54864" cy="685800"/>
          </a:xfrm>
          <a:prstGeom prst="rect">
            <a:avLst/>
          </a:prstGeom>
          <a:solidFill>
            <a:srgbClr val="9B59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4048" y="3063240"/>
            <a:ext cx="347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B59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6384" y="3090672"/>
            <a:ext cx="3547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horror game played cheerful music, what effect would that create?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" y="3886200"/>
            <a:ext cx="4206240" cy="685800"/>
          </a:xfrm>
          <a:prstGeom prst="rect">
            <a:avLst/>
          </a:prstGeom>
          <a:solidFill>
            <a:srgbClr val="1C103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3886200"/>
            <a:ext cx="54864" cy="685800"/>
          </a:xfrm>
          <a:prstGeom prst="rect">
            <a:avLst/>
          </a:prstGeom>
          <a:solidFill>
            <a:srgbClr val="9B59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4048" y="3886200"/>
            <a:ext cx="347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B59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86384" y="3913632"/>
            <a:ext cx="3547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 game you love — what would change if ALL sound was removed?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754880" y="98755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89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Exit Ticket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754880" y="1417320"/>
            <a:ext cx="4114800" cy="1005840"/>
          </a:xfrm>
          <a:prstGeom prst="rect">
            <a:avLst/>
          </a:prstGeom>
          <a:solidFill>
            <a:srgbClr val="1C103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54880" y="1417320"/>
            <a:ext cx="54864" cy="100584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92040" y="147218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One thing I learned today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92040" y="1911096"/>
            <a:ext cx="3794760" cy="0"/>
          </a:xfrm>
          <a:prstGeom prst="line">
            <a:avLst/>
          </a:prstGeom>
          <a:noFill/>
          <a:ln w="12700">
            <a:solidFill>
              <a:srgbClr val="3A30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92040" y="2185416"/>
            <a:ext cx="3794760" cy="0"/>
          </a:xfrm>
          <a:prstGeom prst="line">
            <a:avLst/>
          </a:prstGeom>
          <a:noFill/>
          <a:ln w="12700">
            <a:solidFill>
              <a:srgbClr val="3A30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54880" y="2532888"/>
            <a:ext cx="4114800" cy="1005840"/>
          </a:xfrm>
          <a:prstGeom prst="rect">
            <a:avLst/>
          </a:prstGeom>
          <a:solidFill>
            <a:srgbClr val="1C103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54880" y="2532888"/>
            <a:ext cx="54864" cy="100584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92040" y="25877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 One emotion my sound creates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92040" y="3026664"/>
            <a:ext cx="3794760" cy="0"/>
          </a:xfrm>
          <a:prstGeom prst="line">
            <a:avLst/>
          </a:prstGeom>
          <a:noFill/>
          <a:ln w="12700">
            <a:solidFill>
              <a:srgbClr val="3A30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892040" y="3300984"/>
            <a:ext cx="3794760" cy="0"/>
          </a:xfrm>
          <a:prstGeom prst="line">
            <a:avLst/>
          </a:prstGeom>
          <a:noFill/>
          <a:ln w="12700">
            <a:solidFill>
              <a:srgbClr val="3A30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54880" y="3648456"/>
            <a:ext cx="4114800" cy="1005840"/>
          </a:xfrm>
          <a:prstGeom prst="rect">
            <a:avLst/>
          </a:prstGeom>
          <a:solidFill>
            <a:srgbClr val="1C103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754880" y="3648456"/>
            <a:ext cx="54864" cy="1005840"/>
          </a:xfrm>
          <a:prstGeom prst="rect">
            <a:avLst/>
          </a:prstGeom>
          <a:solidFill>
            <a:srgbClr val="9B59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92040" y="3703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5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One question I still have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92040" y="4142232"/>
            <a:ext cx="3794760" cy="0"/>
          </a:xfrm>
          <a:prstGeom prst="line">
            <a:avLst/>
          </a:prstGeom>
          <a:noFill/>
          <a:ln w="12700">
            <a:solidFill>
              <a:srgbClr val="3A30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892040" y="4416552"/>
            <a:ext cx="3794760" cy="0"/>
          </a:xfrm>
          <a:prstGeom prst="line">
            <a:avLst/>
          </a:prstGeom>
          <a:noFill/>
          <a:ln w="12700">
            <a:solidFill>
              <a:srgbClr val="3A30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74320" y="4663440"/>
            <a:ext cx="8595360" cy="411480"/>
          </a:xfrm>
          <a:prstGeom prst="rect">
            <a:avLst/>
          </a:prstGeom>
          <a:solidFill>
            <a:srgbClr val="112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74320" y="4663440"/>
            <a:ext cx="54864" cy="41148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02336" y="46817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⏭  Next — Day 16:  Score Systems, UI &amp; HUD Design  |  Extending today's coin sound into a full scoring mechanic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A1D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-1371600"/>
            <a:ext cx="6858000" cy="6858000"/>
          </a:xfrm>
          <a:prstGeom prst="ellipse">
            <a:avLst/>
          </a:prstGeom>
          <a:solidFill>
            <a:srgbClr val="6B35C2">
              <a:alpha val="30000"/>
            </a:srgbClr>
          </a:solidFill>
          <a:ln w="12700">
            <a:solidFill>
              <a:srgbClr val="6B35C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828800" y="1828800"/>
            <a:ext cx="5486400" cy="5486400"/>
          </a:xfrm>
          <a:prstGeom prst="ellipse">
            <a:avLst/>
          </a:prstGeom>
          <a:solidFill>
            <a:srgbClr val="1A0A2E">
              <a:alpha val="50000"/>
            </a:srgbClr>
          </a:solidFill>
          <a:ln w="12700">
            <a:solidFill>
              <a:srgbClr val="1A0A2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 You Learned: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384048" cy="384048"/>
          </a:xfrm>
          <a:prstGeom prst="ellipse">
            <a:avLst/>
          </a:prstGeom>
          <a:solidFill>
            <a:srgbClr val="4DB6AC">
              <a:alpha val="20000"/>
            </a:srgbClr>
          </a:solidFill>
          <a:ln w="12700">
            <a:solidFill>
              <a:srgbClr val="4DB6A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88696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88696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AnimatedSprite2D with idle, run &amp; jump states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1655064"/>
            <a:ext cx="384048" cy="384048"/>
          </a:xfrm>
          <a:prstGeom prst="ellipse">
            <a:avLst/>
          </a:prstGeom>
          <a:solidFill>
            <a:srgbClr val="42A5F5">
              <a:alpha val="20000"/>
            </a:srgbClr>
          </a:solidFill>
          <a:ln w="12700">
            <a:solidFill>
              <a:srgbClr val="42A5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1673352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87552" y="167335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GDScript state logic with flip_h sprite mirroring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57200" y="2441448"/>
            <a:ext cx="384048" cy="384048"/>
          </a:xfrm>
          <a:prstGeom prst="ellipse">
            <a:avLst/>
          </a:prstGeom>
          <a:solidFill>
            <a:srgbClr val="FF8A50">
              <a:alpha val="20000"/>
            </a:srgbClr>
          </a:solidFill>
          <a:ln w="12700">
            <a:solidFill>
              <a:srgbClr val="FF8A5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2459736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87552" y="245973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AudioStreamPlayer nodes for complete audio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457200" y="3227832"/>
            <a:ext cx="384048" cy="384048"/>
          </a:xfrm>
          <a:prstGeom prst="ellipse">
            <a:avLst/>
          </a:prstGeom>
          <a:solidFill>
            <a:srgbClr val="FFD54F">
              <a:alpha val="20000"/>
            </a:srgbClr>
          </a:solidFill>
          <a:ln w="12700">
            <a:solidFill>
              <a:srgbClr val="FFD54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3246120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87552" y="32461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math: Frames ÷ FPS = loop duration (seconds)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457200" y="4014216"/>
            <a:ext cx="384048" cy="384048"/>
          </a:xfrm>
          <a:prstGeom prst="ellipse">
            <a:avLst/>
          </a:prstGeom>
          <a:solidFill>
            <a:srgbClr val="9B59D6">
              <a:alpha val="20000"/>
            </a:srgbClr>
          </a:solidFill>
          <a:ln w="12700">
            <a:solidFill>
              <a:srgbClr val="9B59D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" y="4032504"/>
            <a:ext cx="347472" cy="34747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87552" y="403250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&amp; animation directly shape player emotion</a:t>
            </a:r>
            <a:endParaRPr lang="en-US" sz="1500" dirty="0"/>
          </a:p>
        </p:txBody>
      </p:sp>
      <p:sp>
        <p:nvSpPr>
          <p:cNvPr id="20" name="Shape 13"/>
          <p:cNvSpPr/>
          <p:nvPr/>
        </p:nvSpPr>
        <p:spPr>
          <a:xfrm>
            <a:off x="6400800" y="320040"/>
            <a:ext cx="2423160" cy="4572000"/>
          </a:xfrm>
          <a:prstGeom prst="rect">
            <a:avLst/>
          </a:prstGeom>
          <a:solidFill>
            <a:srgbClr val="1A0A2E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4"/>
          <p:cNvSpPr/>
          <p:nvPr/>
        </p:nvSpPr>
        <p:spPr>
          <a:xfrm>
            <a:off x="6400800" y="45720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🎮</a:t>
            </a:r>
            <a:endParaRPr lang="en-US" sz="4800" dirty="0"/>
          </a:p>
        </p:txBody>
      </p:sp>
      <p:sp>
        <p:nvSpPr>
          <p:cNvPr id="22" name="Text 15"/>
          <p:cNvSpPr/>
          <p:nvPr/>
        </p:nvSpPr>
        <p:spPr>
          <a:xfrm>
            <a:off x="6400800" y="126187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 Feel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6492240" y="17373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E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invisible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i="1" dirty="0">
                <a:solidFill>
                  <a:srgbClr val="E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that makes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i="1" dirty="0">
                <a:solidFill>
                  <a:srgbClr val="E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game feel alive.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6583680" y="2697480"/>
            <a:ext cx="2057400" cy="18288"/>
          </a:xfrm>
          <a:prstGeom prst="rect">
            <a:avLst/>
          </a:prstGeom>
          <a:solidFill>
            <a:srgbClr val="9B59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8"/>
          <p:cNvSpPr/>
          <p:nvPr/>
        </p:nvSpPr>
        <p:spPr>
          <a:xfrm>
            <a:off x="6492240" y="28346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not one thing —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animation 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+ timing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together.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FD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1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Through Games  ·  Day 15  ·  Animations, Sound &amp; Game Feel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1008</Words>
  <Application>Microsoft Macintosh PowerPoint</Application>
  <PresentationFormat>On-screen Show (16:9)</PresentationFormat>
  <Paragraphs>231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STEM Through Games – Day 15</dc:title>
  <dc:subject>PptxGenJS Presentation</dc:subject>
  <dc:creator>PptxGenJS</dc:creator>
  <cp:lastModifiedBy>Babichenko, Dmitriy</cp:lastModifiedBy>
  <cp:revision>1</cp:revision>
  <dcterms:created xsi:type="dcterms:W3CDTF">2026-06-08T01:35:22Z</dcterms:created>
  <dcterms:modified xsi:type="dcterms:W3CDTF">2026-06-08T01:37:10Z</dcterms:modified>
</cp:coreProperties>
</file>