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E96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502920"/>
            <a:ext cx="1371600" cy="475488"/>
          </a:xfrm>
          <a:prstGeom prst="rect">
            <a:avLst>
              <a:gd name="adj" fmla="val 11538"/>
            </a:avLst>
          </a:prstGeom>
          <a:solidFill>
            <a:srgbClr val="2E96F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0292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8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1115568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Tilemaps &amp;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Level Design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685800" y="320040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Grid Math and Spatial Planning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" y="4434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Through Games Program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60720" y="502920"/>
            <a:ext cx="402336" cy="329184"/>
          </a:xfrm>
          <a:prstGeom prst="rect">
            <a:avLst/>
          </a:prstGeom>
          <a:solidFill>
            <a:srgbClr val="0D1F33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81344" y="502920"/>
            <a:ext cx="402336" cy="329184"/>
          </a:xfrm>
          <a:prstGeom prst="rect">
            <a:avLst/>
          </a:prstGeom>
          <a:solidFill>
            <a:srgbClr val="0D1F33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01968" y="502920"/>
            <a:ext cx="402336" cy="329184"/>
          </a:xfrm>
          <a:prstGeom prst="rect">
            <a:avLst/>
          </a:prstGeom>
          <a:solidFill>
            <a:srgbClr val="0D1F33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22592" y="502920"/>
            <a:ext cx="402336" cy="329184"/>
          </a:xfrm>
          <a:prstGeom prst="rect">
            <a:avLst/>
          </a:prstGeom>
          <a:solidFill>
            <a:srgbClr val="0D1F33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43216" y="502920"/>
            <a:ext cx="402336" cy="329184"/>
          </a:xfrm>
          <a:prstGeom prst="rect">
            <a:avLst/>
          </a:prstGeom>
          <a:solidFill>
            <a:srgbClr val="0D1F33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63840" y="502920"/>
            <a:ext cx="402336" cy="329184"/>
          </a:xfrm>
          <a:prstGeom prst="rect">
            <a:avLst/>
          </a:prstGeom>
          <a:solidFill>
            <a:srgbClr val="0D1F33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84464" y="502920"/>
            <a:ext cx="402336" cy="329184"/>
          </a:xfrm>
          <a:prstGeom prst="rect">
            <a:avLst/>
          </a:prstGeom>
          <a:solidFill>
            <a:srgbClr val="0D1F33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05088" y="502920"/>
            <a:ext cx="402336" cy="329184"/>
          </a:xfrm>
          <a:prstGeom prst="rect">
            <a:avLst/>
          </a:prstGeom>
          <a:solidFill>
            <a:srgbClr val="0D1F33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60720" y="850392"/>
            <a:ext cx="402336" cy="329184"/>
          </a:xfrm>
          <a:prstGeom prst="rect">
            <a:avLst/>
          </a:prstGeom>
          <a:solidFill>
            <a:srgbClr val="0D1F33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81344" y="850392"/>
            <a:ext cx="402336" cy="329184"/>
          </a:xfrm>
          <a:prstGeom prst="rect">
            <a:avLst/>
          </a:prstGeom>
          <a:solidFill>
            <a:srgbClr val="0D1F33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01968" y="850392"/>
            <a:ext cx="402336" cy="329184"/>
          </a:xfrm>
          <a:prstGeom prst="rect">
            <a:avLst/>
          </a:prstGeom>
          <a:solidFill>
            <a:srgbClr val="0D1F33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22592" y="850392"/>
            <a:ext cx="402336" cy="329184"/>
          </a:xfrm>
          <a:prstGeom prst="rect">
            <a:avLst/>
          </a:prstGeom>
          <a:solidFill>
            <a:srgbClr val="0D1F33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43216" y="850392"/>
            <a:ext cx="402336" cy="329184"/>
          </a:xfrm>
          <a:prstGeom prst="rect">
            <a:avLst/>
          </a:prstGeom>
          <a:solidFill>
            <a:srgbClr val="0D1F33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63840" y="850392"/>
            <a:ext cx="402336" cy="329184"/>
          </a:xfrm>
          <a:prstGeom prst="rect">
            <a:avLst/>
          </a:prstGeom>
          <a:solidFill>
            <a:srgbClr val="0D1F33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84464" y="850392"/>
            <a:ext cx="402336" cy="329184"/>
          </a:xfrm>
          <a:prstGeom prst="rect">
            <a:avLst/>
          </a:prstGeom>
          <a:solidFill>
            <a:srgbClr val="0D1F33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705088" y="850392"/>
            <a:ext cx="402336" cy="329184"/>
          </a:xfrm>
          <a:prstGeom prst="rect">
            <a:avLst/>
          </a:prstGeom>
          <a:solidFill>
            <a:srgbClr val="0D1F33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760720" y="1197864"/>
            <a:ext cx="402336" cy="329184"/>
          </a:xfrm>
          <a:prstGeom prst="rect">
            <a:avLst/>
          </a:prstGeom>
          <a:solidFill>
            <a:srgbClr val="1A3A5C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60720" y="1197864"/>
            <a:ext cx="402336" cy="457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42" name="Shape 40"/>
          <p:cNvSpPr/>
          <p:nvPr/>
        </p:nvSpPr>
        <p:spPr>
          <a:xfrm>
            <a:off x="6181344" y="1197864"/>
            <a:ext cx="402336" cy="329184"/>
          </a:xfrm>
          <a:prstGeom prst="rect">
            <a:avLst/>
          </a:prstGeom>
          <a:solidFill>
            <a:srgbClr val="1A3A5C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81344" y="1197864"/>
            <a:ext cx="402336" cy="457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44" name="Shape 42"/>
          <p:cNvSpPr/>
          <p:nvPr/>
        </p:nvSpPr>
        <p:spPr>
          <a:xfrm>
            <a:off x="6601968" y="1197864"/>
            <a:ext cx="402336" cy="329184"/>
          </a:xfrm>
          <a:prstGeom prst="rect">
            <a:avLst/>
          </a:prstGeom>
          <a:solidFill>
            <a:srgbClr val="0D1F33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022592" y="1197864"/>
            <a:ext cx="402336" cy="329184"/>
          </a:xfrm>
          <a:prstGeom prst="rect">
            <a:avLst/>
          </a:prstGeom>
          <a:solidFill>
            <a:srgbClr val="0D1F33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43216" y="1197864"/>
            <a:ext cx="402336" cy="329184"/>
          </a:xfrm>
          <a:prstGeom prst="rect">
            <a:avLst/>
          </a:prstGeom>
          <a:solidFill>
            <a:srgbClr val="1A3A5C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43216" y="1197864"/>
            <a:ext cx="402336" cy="457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48" name="Shape 46"/>
          <p:cNvSpPr/>
          <p:nvPr/>
        </p:nvSpPr>
        <p:spPr>
          <a:xfrm>
            <a:off x="7863840" y="1197864"/>
            <a:ext cx="402336" cy="329184"/>
          </a:xfrm>
          <a:prstGeom prst="rect">
            <a:avLst/>
          </a:prstGeom>
          <a:solidFill>
            <a:srgbClr val="1A3A5C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63840" y="1197864"/>
            <a:ext cx="402336" cy="457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50" name="Shape 48"/>
          <p:cNvSpPr/>
          <p:nvPr/>
        </p:nvSpPr>
        <p:spPr>
          <a:xfrm>
            <a:off x="8284464" y="1197864"/>
            <a:ext cx="402336" cy="329184"/>
          </a:xfrm>
          <a:prstGeom prst="rect">
            <a:avLst/>
          </a:prstGeom>
          <a:solidFill>
            <a:srgbClr val="1A3A5C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84464" y="1197864"/>
            <a:ext cx="402336" cy="457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52" name="Shape 50"/>
          <p:cNvSpPr/>
          <p:nvPr/>
        </p:nvSpPr>
        <p:spPr>
          <a:xfrm>
            <a:off x="8705088" y="1197864"/>
            <a:ext cx="402336" cy="329184"/>
          </a:xfrm>
          <a:prstGeom prst="rect">
            <a:avLst/>
          </a:prstGeom>
          <a:solidFill>
            <a:srgbClr val="0D1F33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760720" y="1545336"/>
            <a:ext cx="402336" cy="329184"/>
          </a:xfrm>
          <a:prstGeom prst="rect">
            <a:avLst/>
          </a:prstGeom>
          <a:solidFill>
            <a:srgbClr val="0D1F33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181344" y="1545336"/>
            <a:ext cx="402336" cy="329184"/>
          </a:xfrm>
          <a:prstGeom prst="rect">
            <a:avLst/>
          </a:prstGeom>
          <a:solidFill>
            <a:srgbClr val="0D1F33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601968" y="1545336"/>
            <a:ext cx="402336" cy="329184"/>
          </a:xfrm>
          <a:prstGeom prst="rect">
            <a:avLst/>
          </a:prstGeom>
          <a:solidFill>
            <a:srgbClr val="0D1F33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22592" y="1545336"/>
            <a:ext cx="402336" cy="329184"/>
          </a:xfrm>
          <a:prstGeom prst="rect">
            <a:avLst/>
          </a:prstGeom>
          <a:solidFill>
            <a:srgbClr val="0D1F33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443216" y="1545336"/>
            <a:ext cx="402336" cy="329184"/>
          </a:xfrm>
          <a:prstGeom prst="rect">
            <a:avLst/>
          </a:prstGeom>
          <a:solidFill>
            <a:srgbClr val="0D1F33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863840" y="1545336"/>
            <a:ext cx="402336" cy="329184"/>
          </a:xfrm>
          <a:prstGeom prst="rect">
            <a:avLst/>
          </a:prstGeom>
          <a:solidFill>
            <a:srgbClr val="0D1F33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284464" y="1545336"/>
            <a:ext cx="402336" cy="329184"/>
          </a:xfrm>
          <a:prstGeom prst="rect">
            <a:avLst/>
          </a:prstGeom>
          <a:solidFill>
            <a:srgbClr val="0D1F33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705088" y="1545336"/>
            <a:ext cx="402336" cy="329184"/>
          </a:xfrm>
          <a:prstGeom prst="rect">
            <a:avLst/>
          </a:prstGeom>
          <a:solidFill>
            <a:srgbClr val="0D1F33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0" y="1892808"/>
            <a:ext cx="402336" cy="329184"/>
          </a:xfrm>
          <a:prstGeom prst="rect">
            <a:avLst/>
          </a:prstGeom>
          <a:solidFill>
            <a:srgbClr val="0D1F33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81344" y="1892808"/>
            <a:ext cx="402336" cy="329184"/>
          </a:xfrm>
          <a:prstGeom prst="rect">
            <a:avLst/>
          </a:prstGeom>
          <a:solidFill>
            <a:srgbClr val="1A3A5C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181344" y="1892808"/>
            <a:ext cx="402336" cy="457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64" name="Shape 62"/>
          <p:cNvSpPr/>
          <p:nvPr/>
        </p:nvSpPr>
        <p:spPr>
          <a:xfrm>
            <a:off x="6601968" y="1892808"/>
            <a:ext cx="402336" cy="329184"/>
          </a:xfrm>
          <a:prstGeom prst="rect">
            <a:avLst/>
          </a:prstGeom>
          <a:solidFill>
            <a:srgbClr val="1A3A5C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601968" y="1892808"/>
            <a:ext cx="402336" cy="457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66" name="Shape 64"/>
          <p:cNvSpPr/>
          <p:nvPr/>
        </p:nvSpPr>
        <p:spPr>
          <a:xfrm>
            <a:off x="7022592" y="1892808"/>
            <a:ext cx="402336" cy="329184"/>
          </a:xfrm>
          <a:prstGeom prst="rect">
            <a:avLst/>
          </a:prstGeom>
          <a:solidFill>
            <a:srgbClr val="1A3A5C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022592" y="1892808"/>
            <a:ext cx="402336" cy="457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68" name="Shape 66"/>
          <p:cNvSpPr/>
          <p:nvPr/>
        </p:nvSpPr>
        <p:spPr>
          <a:xfrm>
            <a:off x="7443216" y="1892808"/>
            <a:ext cx="402336" cy="329184"/>
          </a:xfrm>
          <a:prstGeom prst="rect">
            <a:avLst/>
          </a:prstGeom>
          <a:solidFill>
            <a:srgbClr val="0D1F33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863840" y="1892808"/>
            <a:ext cx="402336" cy="329184"/>
          </a:xfrm>
          <a:prstGeom prst="rect">
            <a:avLst/>
          </a:prstGeom>
          <a:solidFill>
            <a:srgbClr val="0D1F33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84464" y="1892808"/>
            <a:ext cx="402336" cy="329184"/>
          </a:xfrm>
          <a:prstGeom prst="rect">
            <a:avLst/>
          </a:prstGeom>
          <a:solidFill>
            <a:srgbClr val="1A3A5C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284464" y="1892808"/>
            <a:ext cx="402336" cy="457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72" name="Shape 70"/>
          <p:cNvSpPr/>
          <p:nvPr/>
        </p:nvSpPr>
        <p:spPr>
          <a:xfrm>
            <a:off x="8705088" y="1892808"/>
            <a:ext cx="402336" cy="329184"/>
          </a:xfrm>
          <a:prstGeom prst="rect">
            <a:avLst/>
          </a:prstGeom>
          <a:solidFill>
            <a:srgbClr val="1A3A5C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05088" y="1892808"/>
            <a:ext cx="402336" cy="457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74" name="Shape 72"/>
          <p:cNvSpPr/>
          <p:nvPr/>
        </p:nvSpPr>
        <p:spPr>
          <a:xfrm>
            <a:off x="5760720" y="2240280"/>
            <a:ext cx="402336" cy="329184"/>
          </a:xfrm>
          <a:prstGeom prst="rect">
            <a:avLst/>
          </a:prstGeom>
          <a:solidFill>
            <a:srgbClr val="1A3A5C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760720" y="2240280"/>
            <a:ext cx="402336" cy="457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76" name="Shape 74"/>
          <p:cNvSpPr/>
          <p:nvPr/>
        </p:nvSpPr>
        <p:spPr>
          <a:xfrm>
            <a:off x="6181344" y="2240280"/>
            <a:ext cx="402336" cy="329184"/>
          </a:xfrm>
          <a:prstGeom prst="rect">
            <a:avLst/>
          </a:prstGeom>
          <a:solidFill>
            <a:srgbClr val="1A3A5C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181344" y="2240280"/>
            <a:ext cx="402336" cy="457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78" name="Shape 76"/>
          <p:cNvSpPr/>
          <p:nvPr/>
        </p:nvSpPr>
        <p:spPr>
          <a:xfrm>
            <a:off x="6601968" y="2240280"/>
            <a:ext cx="402336" cy="329184"/>
          </a:xfrm>
          <a:prstGeom prst="rect">
            <a:avLst/>
          </a:prstGeom>
          <a:solidFill>
            <a:srgbClr val="1A3A5C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601968" y="2240280"/>
            <a:ext cx="402336" cy="457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80" name="Shape 78"/>
          <p:cNvSpPr/>
          <p:nvPr/>
        </p:nvSpPr>
        <p:spPr>
          <a:xfrm>
            <a:off x="7022592" y="2240280"/>
            <a:ext cx="402336" cy="329184"/>
          </a:xfrm>
          <a:prstGeom prst="rect">
            <a:avLst/>
          </a:prstGeom>
          <a:solidFill>
            <a:srgbClr val="1A3A5C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022592" y="2240280"/>
            <a:ext cx="402336" cy="457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82" name="Shape 80"/>
          <p:cNvSpPr/>
          <p:nvPr/>
        </p:nvSpPr>
        <p:spPr>
          <a:xfrm>
            <a:off x="7443216" y="2240280"/>
            <a:ext cx="402336" cy="329184"/>
          </a:xfrm>
          <a:prstGeom prst="rect">
            <a:avLst/>
          </a:prstGeom>
          <a:solidFill>
            <a:srgbClr val="1A3A5C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43216" y="2240280"/>
            <a:ext cx="402336" cy="457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84" name="Shape 82"/>
          <p:cNvSpPr/>
          <p:nvPr/>
        </p:nvSpPr>
        <p:spPr>
          <a:xfrm>
            <a:off x="7863840" y="2240280"/>
            <a:ext cx="402336" cy="329184"/>
          </a:xfrm>
          <a:prstGeom prst="rect">
            <a:avLst/>
          </a:prstGeom>
          <a:solidFill>
            <a:srgbClr val="1A3A5C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863840" y="2240280"/>
            <a:ext cx="402336" cy="457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86" name="Shape 84"/>
          <p:cNvSpPr/>
          <p:nvPr/>
        </p:nvSpPr>
        <p:spPr>
          <a:xfrm>
            <a:off x="8284464" y="2240280"/>
            <a:ext cx="402336" cy="329184"/>
          </a:xfrm>
          <a:prstGeom prst="rect">
            <a:avLst/>
          </a:prstGeom>
          <a:solidFill>
            <a:srgbClr val="1A3A5C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284464" y="2240280"/>
            <a:ext cx="402336" cy="457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88" name="Shape 86"/>
          <p:cNvSpPr/>
          <p:nvPr/>
        </p:nvSpPr>
        <p:spPr>
          <a:xfrm>
            <a:off x="8705088" y="2240280"/>
            <a:ext cx="402336" cy="329184"/>
          </a:xfrm>
          <a:prstGeom prst="rect">
            <a:avLst/>
          </a:prstGeom>
          <a:solidFill>
            <a:srgbClr val="1A3A5C"/>
          </a:solidFill>
          <a:ln w="6350">
            <a:solidFill>
              <a:srgbClr val="1E407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705088" y="2240280"/>
            <a:ext cx="402336" cy="45720"/>
          </a:xfrm>
          <a:prstGeom prst="rect">
            <a:avLst/>
          </a:prstGeom>
          <a:solidFill>
            <a:srgbClr val="2E5C8A"/>
          </a:solidFill>
          <a:ln/>
        </p:spPr>
      </p:sp>
      <p:sp>
        <p:nvSpPr>
          <p:cNvPr id="90" name="Shape 88"/>
          <p:cNvSpPr/>
          <p:nvPr/>
        </p:nvSpPr>
        <p:spPr>
          <a:xfrm>
            <a:off x="6236208" y="1581912"/>
            <a:ext cx="231343" cy="225857"/>
          </a:xfrm>
          <a:prstGeom prst="rect">
            <a:avLst/>
          </a:prstGeom>
          <a:solidFill>
            <a:srgbClr val="2E96FF"/>
          </a:solidFill>
          <a:ln/>
        </p:spPr>
      </p:sp>
      <p:sp>
        <p:nvSpPr>
          <p:cNvPr id="91" name="Shape 89"/>
          <p:cNvSpPr/>
          <p:nvPr/>
        </p:nvSpPr>
        <p:spPr>
          <a:xfrm>
            <a:off x="8339328" y="1581912"/>
            <a:ext cx="231343" cy="225857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2" name="Text 90"/>
          <p:cNvSpPr/>
          <p:nvPr/>
        </p:nvSpPr>
        <p:spPr>
          <a:xfrm>
            <a:off x="5760720" y="2679192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TileMap Preview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96F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Today's Lesson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503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87552"/>
            <a:ext cx="292608" cy="6858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1133856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133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46720" y="1170432"/>
            <a:ext cx="731520" cy="310896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0" y="117043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0" y="1078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Warm-Up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13533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your platformer level on graph paper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773936"/>
            <a:ext cx="8503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773936"/>
            <a:ext cx="292608" cy="685800"/>
          </a:xfrm>
          <a:prstGeom prst="rect">
            <a:avLst/>
          </a:prstGeom>
          <a:solidFill>
            <a:srgbClr val="2E96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86384" y="1920240"/>
            <a:ext cx="384048" cy="384048"/>
          </a:xfrm>
          <a:prstGeom prst="ellipse">
            <a:avLst/>
          </a:prstGeom>
          <a:solidFill>
            <a:srgbClr val="2E96F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1956816"/>
            <a:ext cx="731520" cy="310896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195681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9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80160" y="18653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 Instruction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213969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TileMap concepts: grids, tiles, collision layers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560320"/>
            <a:ext cx="8503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560320"/>
            <a:ext cx="292608" cy="6858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2" name="Shape 20"/>
          <p:cNvSpPr/>
          <p:nvPr/>
        </p:nvSpPr>
        <p:spPr>
          <a:xfrm>
            <a:off x="786384" y="2706624"/>
            <a:ext cx="384048" cy="38404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46720" y="2743200"/>
            <a:ext cx="731520" cy="310896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0" y="27432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80160" y="2651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Activity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80160" y="29260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level in Godot — 4 guided steps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346704"/>
            <a:ext cx="8503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346704"/>
            <a:ext cx="292608" cy="6858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0" name="Shape 28"/>
          <p:cNvSpPr/>
          <p:nvPr/>
        </p:nvSpPr>
        <p:spPr>
          <a:xfrm>
            <a:off x="786384" y="3493008"/>
            <a:ext cx="384048" cy="384048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046720" y="3529584"/>
            <a:ext cx="731520" cy="310896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3" name="Text 31"/>
          <p:cNvSpPr/>
          <p:nvPr/>
        </p:nvSpPr>
        <p:spPr>
          <a:xfrm>
            <a:off x="8046720" y="352958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280160" y="34381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Math Connection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280160" y="371246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coordinates → pixel math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4133088"/>
            <a:ext cx="8503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4133088"/>
            <a:ext cx="292608" cy="68580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8" name="Shape 36"/>
          <p:cNvSpPr/>
          <p:nvPr/>
        </p:nvSpPr>
        <p:spPr>
          <a:xfrm>
            <a:off x="786384" y="4279392"/>
            <a:ext cx="384048" cy="384048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39" name="Text 37"/>
          <p:cNvSpPr/>
          <p:nvPr/>
        </p:nvSpPr>
        <p:spPr>
          <a:xfrm>
            <a:off x="786384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046720" y="4315968"/>
            <a:ext cx="731520" cy="310896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41" name="Text 39"/>
          <p:cNvSpPr/>
          <p:nvPr/>
        </p:nvSpPr>
        <p:spPr>
          <a:xfrm>
            <a:off x="8046720" y="431596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280160" y="4224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280160" y="44988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level fair? What makes it fun?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22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 Learning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1572768"/>
          </a:xfrm>
          <a:prstGeom prst="rect">
            <a:avLst/>
          </a:prstGeom>
          <a:solidFill>
            <a:srgbClr val="1C2E45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4023360" cy="91440"/>
          </a:xfrm>
          <a:prstGeom prst="rect">
            <a:avLst/>
          </a:prstGeom>
          <a:solidFill>
            <a:srgbClr val="2E96FF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3075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9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0352" y="17647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with TileMap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TileMap node to construct a complete platformer level in Godot 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4023360" cy="1572768"/>
          </a:xfrm>
          <a:prstGeom prst="rect">
            <a:avLst/>
          </a:prstGeom>
          <a:solidFill>
            <a:srgbClr val="1C2E45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143000"/>
            <a:ext cx="4023360" cy="9144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13075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BC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73752" y="17647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Grid Coordinates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73752" y="20756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integer (col, row) pairs map to pixel positions on screen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4023360" cy="1572768"/>
          </a:xfrm>
          <a:prstGeom prst="rect">
            <a:avLst/>
          </a:prstGeom>
          <a:solidFill>
            <a:srgbClr val="1C2E45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71800"/>
            <a:ext cx="402336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1363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30352" y="35935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Design Principles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39044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challenge, pacing, and fairness principles to create a playable experience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971800"/>
            <a:ext cx="4023360" cy="1572768"/>
          </a:xfrm>
          <a:prstGeom prst="rect">
            <a:avLst/>
          </a:prstGeom>
          <a:solidFill>
            <a:srgbClr val="1C2E45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971800"/>
            <a:ext cx="4023360" cy="9144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1" name="Text 19"/>
          <p:cNvSpPr/>
          <p:nvPr/>
        </p:nvSpPr>
        <p:spPr>
          <a:xfrm>
            <a:off x="4873752" y="31363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B59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873752" y="35935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Collision &amp; Interaction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73752" y="39044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collision layers, collectibles, and a goal zone using the TileMap editor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554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☀️  Warm-Up  (10 minutes)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 Paper Level Design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a 10×8 grid platformer level. Each square = one tile.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457200" cy="457200"/>
          </a:xfrm>
          <a:prstGeom prst="rect">
            <a:avLst/>
          </a:prstGeom>
          <a:solidFill>
            <a:srgbClr val="2E96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8013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Starting Position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0299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player begin?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457200" cy="4572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53288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7614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3 platform segments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246120"/>
            <a:ext cx="457200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32644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 Zone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4930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Flag, door, or star at the end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977640"/>
            <a:ext cx="457200" cy="4572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399592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Hazard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42245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pit, lava, or enemy zone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03520" y="960120"/>
            <a:ext cx="34747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AABB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50992" y="960120"/>
            <a:ext cx="0" cy="2560320"/>
          </a:xfrm>
          <a:prstGeom prst="line">
            <a:avLst/>
          </a:prstGeom>
          <a:noFill/>
          <a:ln w="3810">
            <a:solidFill>
              <a:srgbClr val="D0DA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98464" y="960120"/>
            <a:ext cx="0" cy="2560320"/>
          </a:xfrm>
          <a:prstGeom prst="line">
            <a:avLst/>
          </a:prstGeom>
          <a:noFill/>
          <a:ln w="3810">
            <a:solidFill>
              <a:srgbClr val="D0DA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45936" y="960120"/>
            <a:ext cx="0" cy="2560320"/>
          </a:xfrm>
          <a:prstGeom prst="line">
            <a:avLst/>
          </a:prstGeom>
          <a:noFill/>
          <a:ln w="3810">
            <a:solidFill>
              <a:srgbClr val="D0DA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93408" y="960120"/>
            <a:ext cx="0" cy="2560320"/>
          </a:xfrm>
          <a:prstGeom prst="line">
            <a:avLst/>
          </a:prstGeom>
          <a:noFill/>
          <a:ln w="3810">
            <a:solidFill>
              <a:srgbClr val="D0DA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0" y="960120"/>
            <a:ext cx="0" cy="2560320"/>
          </a:xfrm>
          <a:prstGeom prst="line">
            <a:avLst/>
          </a:prstGeom>
          <a:noFill/>
          <a:ln w="3810">
            <a:solidFill>
              <a:srgbClr val="D0DA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88352" y="960120"/>
            <a:ext cx="0" cy="2560320"/>
          </a:xfrm>
          <a:prstGeom prst="line">
            <a:avLst/>
          </a:prstGeom>
          <a:noFill/>
          <a:ln w="3810">
            <a:solidFill>
              <a:srgbClr val="D0DA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35824" y="960120"/>
            <a:ext cx="0" cy="2560320"/>
          </a:xfrm>
          <a:prstGeom prst="line">
            <a:avLst/>
          </a:prstGeom>
          <a:noFill/>
          <a:ln w="3810">
            <a:solidFill>
              <a:srgbClr val="D0DA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83296" y="960120"/>
            <a:ext cx="0" cy="2560320"/>
          </a:xfrm>
          <a:prstGeom prst="line">
            <a:avLst/>
          </a:prstGeom>
          <a:noFill/>
          <a:ln w="3810">
            <a:solidFill>
              <a:srgbClr val="D0DA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30768" y="960120"/>
            <a:ext cx="0" cy="2560320"/>
          </a:xfrm>
          <a:prstGeom prst="line">
            <a:avLst/>
          </a:prstGeom>
          <a:noFill/>
          <a:ln w="3810">
            <a:solidFill>
              <a:srgbClr val="D0DA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0" y="1280160"/>
            <a:ext cx="3474720" cy="0"/>
          </a:xfrm>
          <a:prstGeom prst="line">
            <a:avLst/>
          </a:prstGeom>
          <a:noFill/>
          <a:ln w="3810">
            <a:solidFill>
              <a:srgbClr val="D0DA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03520" y="1600200"/>
            <a:ext cx="3474720" cy="0"/>
          </a:xfrm>
          <a:prstGeom prst="line">
            <a:avLst/>
          </a:prstGeom>
          <a:noFill/>
          <a:ln w="3810">
            <a:solidFill>
              <a:srgbClr val="D0DA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0" y="1920240"/>
            <a:ext cx="3474720" cy="0"/>
          </a:xfrm>
          <a:prstGeom prst="line">
            <a:avLst/>
          </a:prstGeom>
          <a:noFill/>
          <a:ln w="3810">
            <a:solidFill>
              <a:srgbClr val="D0DA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0" y="2240280"/>
            <a:ext cx="3474720" cy="0"/>
          </a:xfrm>
          <a:prstGeom prst="line">
            <a:avLst/>
          </a:prstGeom>
          <a:noFill/>
          <a:ln w="3810">
            <a:solidFill>
              <a:srgbClr val="D0DA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03520" y="2560320"/>
            <a:ext cx="3474720" cy="0"/>
          </a:xfrm>
          <a:prstGeom prst="line">
            <a:avLst/>
          </a:prstGeom>
          <a:noFill/>
          <a:ln w="3810">
            <a:solidFill>
              <a:srgbClr val="D0DA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03520" y="2880360"/>
            <a:ext cx="3474720" cy="0"/>
          </a:xfrm>
          <a:prstGeom prst="line">
            <a:avLst/>
          </a:prstGeom>
          <a:noFill/>
          <a:ln w="3810">
            <a:solidFill>
              <a:srgbClr val="D0DA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03520" y="3200400"/>
            <a:ext cx="3474720" cy="0"/>
          </a:xfrm>
          <a:prstGeom prst="line">
            <a:avLst/>
          </a:prstGeom>
          <a:noFill/>
          <a:ln w="3810">
            <a:solidFill>
              <a:srgbClr val="D0DA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12664" y="3209544"/>
            <a:ext cx="329184" cy="301752"/>
          </a:xfrm>
          <a:prstGeom prst="rect">
            <a:avLst/>
          </a:prstGeom>
          <a:solidFill>
            <a:srgbClr val="7FB3D3"/>
          </a:solidFill>
          <a:ln/>
        </p:spPr>
      </p:sp>
      <p:sp>
        <p:nvSpPr>
          <p:cNvPr id="40" name="Shape 38"/>
          <p:cNvSpPr/>
          <p:nvPr/>
        </p:nvSpPr>
        <p:spPr>
          <a:xfrm>
            <a:off x="5660136" y="3209544"/>
            <a:ext cx="329184" cy="301752"/>
          </a:xfrm>
          <a:prstGeom prst="rect">
            <a:avLst/>
          </a:prstGeom>
          <a:solidFill>
            <a:srgbClr val="7FB3D3"/>
          </a:solidFill>
          <a:ln/>
        </p:spPr>
      </p:sp>
      <p:sp>
        <p:nvSpPr>
          <p:cNvPr id="41" name="Shape 39"/>
          <p:cNvSpPr/>
          <p:nvPr/>
        </p:nvSpPr>
        <p:spPr>
          <a:xfrm>
            <a:off x="6007608" y="3209544"/>
            <a:ext cx="329184" cy="301752"/>
          </a:xfrm>
          <a:prstGeom prst="rect">
            <a:avLst/>
          </a:prstGeom>
          <a:solidFill>
            <a:srgbClr val="7FB3D3"/>
          </a:solidFill>
          <a:ln/>
        </p:spPr>
      </p:sp>
      <p:sp>
        <p:nvSpPr>
          <p:cNvPr id="42" name="Shape 40"/>
          <p:cNvSpPr/>
          <p:nvPr/>
        </p:nvSpPr>
        <p:spPr>
          <a:xfrm>
            <a:off x="6355080" y="3209544"/>
            <a:ext cx="329184" cy="301752"/>
          </a:xfrm>
          <a:prstGeom prst="rect">
            <a:avLst/>
          </a:prstGeom>
          <a:solidFill>
            <a:srgbClr val="7FB3D3"/>
          </a:solidFill>
          <a:ln/>
        </p:spPr>
      </p:sp>
      <p:sp>
        <p:nvSpPr>
          <p:cNvPr id="43" name="Shape 41"/>
          <p:cNvSpPr/>
          <p:nvPr/>
        </p:nvSpPr>
        <p:spPr>
          <a:xfrm>
            <a:off x="6702552" y="3209544"/>
            <a:ext cx="329184" cy="301752"/>
          </a:xfrm>
          <a:prstGeom prst="rect">
            <a:avLst/>
          </a:prstGeom>
          <a:solidFill>
            <a:srgbClr val="7FB3D3"/>
          </a:solidFill>
          <a:ln/>
        </p:spPr>
      </p:sp>
      <p:sp>
        <p:nvSpPr>
          <p:cNvPr id="44" name="Shape 42"/>
          <p:cNvSpPr/>
          <p:nvPr/>
        </p:nvSpPr>
        <p:spPr>
          <a:xfrm>
            <a:off x="7050024" y="3209544"/>
            <a:ext cx="329184" cy="301752"/>
          </a:xfrm>
          <a:prstGeom prst="rect">
            <a:avLst/>
          </a:prstGeom>
          <a:solidFill>
            <a:srgbClr val="7FB3D3"/>
          </a:solidFill>
          <a:ln/>
        </p:spPr>
      </p:sp>
      <p:sp>
        <p:nvSpPr>
          <p:cNvPr id="45" name="Shape 43"/>
          <p:cNvSpPr/>
          <p:nvPr/>
        </p:nvSpPr>
        <p:spPr>
          <a:xfrm>
            <a:off x="7397496" y="3209544"/>
            <a:ext cx="329184" cy="301752"/>
          </a:xfrm>
          <a:prstGeom prst="rect">
            <a:avLst/>
          </a:prstGeom>
          <a:solidFill>
            <a:srgbClr val="7FB3D3"/>
          </a:solidFill>
          <a:ln/>
        </p:spPr>
      </p:sp>
      <p:sp>
        <p:nvSpPr>
          <p:cNvPr id="46" name="Shape 44"/>
          <p:cNvSpPr/>
          <p:nvPr/>
        </p:nvSpPr>
        <p:spPr>
          <a:xfrm>
            <a:off x="7744968" y="3209544"/>
            <a:ext cx="329184" cy="301752"/>
          </a:xfrm>
          <a:prstGeom prst="rect">
            <a:avLst/>
          </a:prstGeom>
          <a:solidFill>
            <a:srgbClr val="7FB3D3"/>
          </a:solidFill>
          <a:ln/>
        </p:spPr>
      </p:sp>
      <p:sp>
        <p:nvSpPr>
          <p:cNvPr id="47" name="Shape 45"/>
          <p:cNvSpPr/>
          <p:nvPr/>
        </p:nvSpPr>
        <p:spPr>
          <a:xfrm>
            <a:off x="8092440" y="3209544"/>
            <a:ext cx="329184" cy="301752"/>
          </a:xfrm>
          <a:prstGeom prst="rect">
            <a:avLst/>
          </a:prstGeom>
          <a:solidFill>
            <a:srgbClr val="7FB3D3"/>
          </a:solidFill>
          <a:ln/>
        </p:spPr>
      </p:sp>
      <p:sp>
        <p:nvSpPr>
          <p:cNvPr id="48" name="Shape 46"/>
          <p:cNvSpPr/>
          <p:nvPr/>
        </p:nvSpPr>
        <p:spPr>
          <a:xfrm>
            <a:off x="8439912" y="3209544"/>
            <a:ext cx="329184" cy="301752"/>
          </a:xfrm>
          <a:prstGeom prst="rect">
            <a:avLst/>
          </a:prstGeom>
          <a:solidFill>
            <a:srgbClr val="7FB3D3"/>
          </a:solidFill>
          <a:ln/>
        </p:spPr>
      </p:sp>
      <p:sp>
        <p:nvSpPr>
          <p:cNvPr id="49" name="Shape 47"/>
          <p:cNvSpPr/>
          <p:nvPr/>
        </p:nvSpPr>
        <p:spPr>
          <a:xfrm>
            <a:off x="6007608" y="2569464"/>
            <a:ext cx="329184" cy="301752"/>
          </a:xfrm>
          <a:prstGeom prst="rect">
            <a:avLst/>
          </a:prstGeom>
          <a:solidFill>
            <a:srgbClr val="7FB3D3"/>
          </a:solidFill>
          <a:ln/>
        </p:spPr>
      </p:sp>
      <p:sp>
        <p:nvSpPr>
          <p:cNvPr id="50" name="Shape 48"/>
          <p:cNvSpPr/>
          <p:nvPr/>
        </p:nvSpPr>
        <p:spPr>
          <a:xfrm>
            <a:off x="6355080" y="2569464"/>
            <a:ext cx="329184" cy="301752"/>
          </a:xfrm>
          <a:prstGeom prst="rect">
            <a:avLst/>
          </a:prstGeom>
          <a:solidFill>
            <a:srgbClr val="7FB3D3"/>
          </a:solidFill>
          <a:ln/>
        </p:spPr>
      </p:sp>
      <p:sp>
        <p:nvSpPr>
          <p:cNvPr id="51" name="Shape 49"/>
          <p:cNvSpPr/>
          <p:nvPr/>
        </p:nvSpPr>
        <p:spPr>
          <a:xfrm>
            <a:off x="6702552" y="2569464"/>
            <a:ext cx="329184" cy="301752"/>
          </a:xfrm>
          <a:prstGeom prst="rect">
            <a:avLst/>
          </a:prstGeom>
          <a:solidFill>
            <a:srgbClr val="7FB3D3"/>
          </a:solidFill>
          <a:ln/>
        </p:spPr>
      </p:sp>
      <p:sp>
        <p:nvSpPr>
          <p:cNvPr id="52" name="Shape 50"/>
          <p:cNvSpPr/>
          <p:nvPr/>
        </p:nvSpPr>
        <p:spPr>
          <a:xfrm>
            <a:off x="7397496" y="2249424"/>
            <a:ext cx="329184" cy="301752"/>
          </a:xfrm>
          <a:prstGeom prst="rect">
            <a:avLst/>
          </a:prstGeom>
          <a:solidFill>
            <a:srgbClr val="7FB3D3"/>
          </a:solidFill>
          <a:ln/>
        </p:spPr>
      </p:sp>
      <p:sp>
        <p:nvSpPr>
          <p:cNvPr id="53" name="Shape 51"/>
          <p:cNvSpPr/>
          <p:nvPr/>
        </p:nvSpPr>
        <p:spPr>
          <a:xfrm>
            <a:off x="7744968" y="2249424"/>
            <a:ext cx="329184" cy="301752"/>
          </a:xfrm>
          <a:prstGeom prst="rect">
            <a:avLst/>
          </a:prstGeom>
          <a:solidFill>
            <a:srgbClr val="7FB3D3"/>
          </a:solidFill>
          <a:ln/>
        </p:spPr>
      </p:sp>
      <p:sp>
        <p:nvSpPr>
          <p:cNvPr id="54" name="Shape 52"/>
          <p:cNvSpPr/>
          <p:nvPr/>
        </p:nvSpPr>
        <p:spPr>
          <a:xfrm>
            <a:off x="8092440" y="1609344"/>
            <a:ext cx="329184" cy="301752"/>
          </a:xfrm>
          <a:prstGeom prst="rect">
            <a:avLst/>
          </a:prstGeom>
          <a:solidFill>
            <a:srgbClr val="7FB3D3"/>
          </a:solidFill>
          <a:ln/>
        </p:spPr>
      </p:sp>
      <p:sp>
        <p:nvSpPr>
          <p:cNvPr id="55" name="Shape 53"/>
          <p:cNvSpPr/>
          <p:nvPr/>
        </p:nvSpPr>
        <p:spPr>
          <a:xfrm>
            <a:off x="8439912" y="1609344"/>
            <a:ext cx="329184" cy="301752"/>
          </a:xfrm>
          <a:prstGeom prst="rect">
            <a:avLst/>
          </a:prstGeom>
          <a:solidFill>
            <a:srgbClr val="7FB3D3"/>
          </a:solidFill>
          <a:ln/>
        </p:spPr>
      </p:sp>
      <p:sp>
        <p:nvSpPr>
          <p:cNvPr id="56" name="Shape 54"/>
          <p:cNvSpPr/>
          <p:nvPr/>
        </p:nvSpPr>
        <p:spPr>
          <a:xfrm>
            <a:off x="7050024" y="2889504"/>
            <a:ext cx="329184" cy="3017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7" name="Shape 55"/>
          <p:cNvSpPr/>
          <p:nvPr/>
        </p:nvSpPr>
        <p:spPr>
          <a:xfrm>
            <a:off x="5349240" y="2916936"/>
            <a:ext cx="256032" cy="224028"/>
          </a:xfrm>
          <a:prstGeom prst="ellipse">
            <a:avLst/>
          </a:prstGeom>
          <a:solidFill>
            <a:srgbClr val="2E96FF"/>
          </a:solidFill>
          <a:ln/>
        </p:spPr>
      </p:sp>
      <p:sp>
        <p:nvSpPr>
          <p:cNvPr id="58" name="Text 56"/>
          <p:cNvSpPr/>
          <p:nvPr/>
        </p:nvSpPr>
        <p:spPr>
          <a:xfrm>
            <a:off x="5349240" y="2916936"/>
            <a:ext cx="256032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8449056" y="1298448"/>
            <a:ext cx="243230" cy="44805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0" name="Text 58"/>
          <p:cNvSpPr/>
          <p:nvPr/>
        </p:nvSpPr>
        <p:spPr>
          <a:xfrm>
            <a:off x="8449056" y="1298448"/>
            <a:ext cx="24323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303520" y="35935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10×8 Level Sketch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FFF8E1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920" y="4636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Pair-Share: Where did you put the hardest challenge? How wide is your longest jump gap?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223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554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📺  What Is a TileMap?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114800" cy="1691640"/>
          </a:xfrm>
          <a:prstGeom prst="rect">
            <a:avLst/>
          </a:prstGeom>
          <a:solidFill>
            <a:srgbClr val="1C2E45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91440" cy="1691640"/>
          </a:xfrm>
          <a:prstGeom prst="rect">
            <a:avLst/>
          </a:prstGeom>
          <a:solidFill>
            <a:srgbClr val="2E96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🗺️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34440" y="123444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TileMap Node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0992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Godot node that renders a large grid by reusing a small set of tile images (a TileSet). One node = entire level geometry.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114800" cy="1691640"/>
          </a:xfrm>
          <a:prstGeom prst="rect">
            <a:avLst/>
          </a:prstGeom>
          <a:solidFill>
            <a:srgbClr val="1C2E45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91440" cy="169164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📐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669280" y="123444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Grid Coordinates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170992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is identified by an integer pair (col, row). Godot converts these to pixel positions automatically using tile_size.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953512"/>
            <a:ext cx="4114800" cy="1691640"/>
          </a:xfrm>
          <a:prstGeom prst="rect">
            <a:avLst/>
          </a:prstGeom>
          <a:solidFill>
            <a:srgbClr val="1C2E45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53512"/>
            <a:ext cx="91440" cy="16916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1363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🧱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34440" y="313639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Collision Layers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6118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tile can carry a collision shape. Painting a tile is all you need — no extra code to make solid ground.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953512"/>
            <a:ext cx="4114800" cy="1691640"/>
          </a:xfrm>
          <a:prstGeom prst="rect">
            <a:avLst/>
          </a:prstGeom>
          <a:solidFill>
            <a:srgbClr val="1C2E45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53512"/>
            <a:ext cx="91440" cy="169164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31363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669280" y="313639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9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TileMap Layers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83480" y="36118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TileMap supports multiple layers: background scenery, midground platforms, and foreground details — all stacked.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554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🎮  Main Activity  (30 minutes)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24712"/>
            <a:ext cx="502920" cy="502920"/>
          </a:xfrm>
          <a:prstGeom prst="ellipse">
            <a:avLst/>
          </a:prstGeom>
          <a:solidFill>
            <a:srgbClr val="2E96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24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9848" y="115214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the Starter Project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819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9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Godot → open Day8_TileMap_Starter.godot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8928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9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tree: World → TileMap → Camera2D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20370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9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assigned TileSet resource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987552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124712"/>
            <a:ext cx="502920" cy="502920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124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04688" y="115214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Paint Platforms, Walls &amp; Floors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5819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TileMap → open TileMap editor panel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37760" y="18928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Paint tool, select a floor tile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37760" y="220370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from your graph paper sketch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37760" y="25146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E to erase mistakes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980944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118104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118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69848" y="314553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Collision Layers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57530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solid tiles have Physics Layer assigned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38862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scene (F5) — does the player land correctly?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419709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→ Visible Collision Shapes to check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980944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92040" y="3118104"/>
            <a:ext cx="502920" cy="50292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3118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504688" y="314553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 Player, Collectible &amp; Goal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357530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Player position to your sketch start tile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37760" y="38862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Coin node (Area2D + Sprite2D + CollisionShape2D)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37760" y="419709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GoalZone — connect body_entered signal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A0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554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BC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🔢  Math Connection — Grid → Pixel Coordinates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371600"/>
          </a:xfrm>
          <a:prstGeom prst="rect">
            <a:avLst/>
          </a:prstGeom>
          <a:solidFill>
            <a:srgbClr val="0D2618"/>
          </a:solidFill>
          <a:ln w="25400">
            <a:solidFill>
              <a:srgbClr val="1ABC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pixel_x  =  col  ×  tile_size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pixel_y  =  row  ×  tile_size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4023360" cy="1463040"/>
          </a:xfrm>
          <a:prstGeom prst="rect">
            <a:avLst/>
          </a:prstGeom>
          <a:solidFill>
            <a:srgbClr val="1C2E45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5420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85292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tile_size = 64 px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 starts at col = 3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pixel_x = 3 × 64 = 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703320"/>
            <a:ext cx="3749040" cy="3474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703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Answer:  192 pixels  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468880"/>
            <a:ext cx="4114800" cy="2377440"/>
          </a:xfrm>
          <a:prstGeom prst="rect">
            <a:avLst/>
          </a:prstGeom>
          <a:solidFill>
            <a:srgbClr val="1C2E45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25420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Extension Questions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29077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pPr indent="0" marL="0">
              <a:buNone/>
            </a:pPr>
            <a:r>
              <a:rPr lang="en-US" sz="9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 at (col=7, row=3), tile_size=64 → pixel coords?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00600" y="33649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pPr indent="0" marL="0">
              <a:buNone/>
            </a:pPr>
            <a:r>
              <a:rPr lang="en-US" sz="9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at pixel x=128, tile_size=64 → what column?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00600" y="38221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</a:t>
            </a:r>
            <a:pPr indent="0" marL="0">
              <a:buNone/>
            </a:pPr>
            <a:r>
              <a:rPr lang="en-US" sz="9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20 tiles wide, tile_size=64 → how many pixels?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0600" y="42793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</a:t>
            </a:r>
            <a:pPr indent="0" marL="0">
              <a:buNone/>
            </a:pPr>
            <a:r>
              <a:rPr lang="en-US" sz="95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tile_size=32, screen=1280px → tiles wide?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554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🎨  Level Design Principles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87552"/>
            <a:ext cx="4114800" cy="91440"/>
          </a:xfrm>
          <a:prstGeom prst="rect">
            <a:avLst/>
          </a:prstGeom>
          <a:solidFill>
            <a:srgbClr val="2E96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5214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9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69848" y="115214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Clear Signposting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8191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always know where to go. Use bright goal vs. dark background, coin trails, or camera framing to guide the eye.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3840480" cy="310896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23774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E9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Row of coins leading to the platform edge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987552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87552"/>
            <a:ext cx="4114800" cy="9144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15214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BC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04688" y="115214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Gradual Challenge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58191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each mechanic safely first, then raise the stakes. Never surprise players with lethal hazards without warning.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92040" y="2377440"/>
            <a:ext cx="3840480" cy="310896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17" name="Text 15"/>
          <p:cNvSpPr/>
          <p:nvPr/>
        </p:nvSpPr>
        <p:spPr>
          <a:xfrm>
            <a:off x="4956048" y="23774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Spike pit over solid ground before a bottomless pit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980944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80944"/>
            <a:ext cx="411480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14553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69848" y="314553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 but Difficult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575304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death should feel like the player's fault — not the designer's. No invisible hazards, no cheap one-hit-kills.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370832"/>
            <a:ext cx="3840480" cy="310896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" y="43708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Visible hazard with enough runway to stop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2980944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980944"/>
            <a:ext cx="4114800" cy="9144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14553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59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504688" y="314553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Pacing &amp; Breathing Room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3575304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an intense section, give the player a safe area to recover. A flat platform with a collectible lets the brain decompress.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92040" y="4370832"/>
            <a:ext cx="3840480" cy="310896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1" name="Text 29"/>
          <p:cNvSpPr/>
          <p:nvPr/>
        </p:nvSpPr>
        <p:spPr>
          <a:xfrm>
            <a:off x="4956048" y="43708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Open platform + collectible after a hard jump sequence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223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554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 Reflection &amp; Closing Discussion  (10 minutes)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E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— answer TWO of the following: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749808"/>
          </a:xfrm>
          <a:prstGeom prst="rect">
            <a:avLst/>
          </a:prstGeom>
          <a:solidFill>
            <a:srgbClr val="1C2E45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581912"/>
            <a:ext cx="420624" cy="420624"/>
          </a:xfrm>
          <a:prstGeom prst="ellipse">
            <a:avLst/>
          </a:prstGeom>
          <a:solidFill>
            <a:srgbClr val="2E96FF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581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24128" y="1490472"/>
            <a:ext cx="7589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makes a level feel fair to the player?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181965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specific example from YOUR level.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8412480" cy="749808"/>
          </a:xfrm>
          <a:prstGeom prst="rect">
            <a:avLst/>
          </a:prstGeom>
          <a:solidFill>
            <a:srgbClr val="1C2E45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" y="2450592"/>
            <a:ext cx="420624" cy="420624"/>
          </a:xfrm>
          <a:prstGeom prst="ellipse">
            <a:avLst/>
          </a:prstGeom>
          <a:solidFill>
            <a:srgbClr val="2E96FF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2450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24128" y="2359152"/>
            <a:ext cx="7589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difference between grid coordinates and pixel coordinates?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268833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distinction matter in Godot?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154680"/>
            <a:ext cx="8412480" cy="749808"/>
          </a:xfrm>
          <a:prstGeom prst="rect">
            <a:avLst/>
          </a:prstGeom>
          <a:solidFill>
            <a:srgbClr val="1C2E45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3319272"/>
            <a:ext cx="420624" cy="420624"/>
          </a:xfrm>
          <a:prstGeom prst="ellipse">
            <a:avLst/>
          </a:prstGeom>
          <a:solidFill>
            <a:srgbClr val="2E96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3319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24128" y="3227832"/>
            <a:ext cx="7589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one change would you make if you had more time?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4128" y="355701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design principle guided your decision?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4023360"/>
            <a:ext cx="8412480" cy="749808"/>
          </a:xfrm>
          <a:prstGeom prst="rect">
            <a:avLst/>
          </a:prstGeom>
          <a:solidFill>
            <a:srgbClr val="1C2E45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" y="4187952"/>
            <a:ext cx="420624" cy="420624"/>
          </a:xfrm>
          <a:prstGeom prst="ellipse">
            <a:avLst/>
          </a:prstGeom>
          <a:solidFill>
            <a:srgbClr val="2E96FF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4187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24128" y="4096512"/>
            <a:ext cx="7589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tile_size changes from 64 to 32, what happens to your level?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4128" y="442569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math explains this?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5FC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554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Assessment Rubric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87552"/>
          <a:ext cx="85039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691640"/>
                <a:gridCol w="1691640"/>
                <a:gridCol w="1691640"/>
                <a:gridCol w="169164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Criterion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Beginning (1)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Developing (2)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Proficient (3)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Exemplary (4)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5CA8"/>
                          </a:solidFill>
                        </a:rPr>
                        <a:t>TileMap Construction</a:t>
                      </a:r>
                      <a:endParaRPr lang="en-US" sz="8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&lt; 3 tile types; no clear path</a:t>
                      </a:r>
                      <a:endParaRPr lang="en-US" sz="8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Navigable but missing elements</a:t>
                      </a:r>
                      <a:endParaRPr lang="en-US" sz="8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All elements placed; completable</a:t>
                      </a:r>
                      <a:endParaRPr lang="en-US" sz="8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Layered tiles, visual theme, polish</a:t>
                      </a:r>
                      <a:endParaRPr lang="en-US" sz="8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5CA8"/>
                          </a:solidFill>
                        </a:rPr>
                        <a:t>Grid Math</a:t>
                      </a:r>
                      <a:endParaRPr lang="en-US" sz="8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Cannot relate col/row to pixels</a:t>
                      </a:r>
                      <a:endParaRPr lang="en-US" sz="8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Understands formula with help</a:t>
                      </a:r>
                      <a:endParaRPr lang="en-US" sz="8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Solves example + one extension</a:t>
                      </a:r>
                      <a:endParaRPr lang="en-US" sz="8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Solves all; explains reasoning</a:t>
                      </a:r>
                      <a:endParaRPr lang="en-US" sz="8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5CA8"/>
                          </a:solidFill>
                        </a:rPr>
                        <a:t>Level Design</a:t>
                      </a:r>
                      <a:endParaRPr lang="en-US" sz="8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No intentional design</a:t>
                      </a:r>
                      <a:endParaRPr lang="en-US" sz="8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One principle applied</a:t>
                      </a:r>
                      <a:endParaRPr lang="en-US" sz="8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Two+ principles identifiable</a:t>
                      </a:r>
                      <a:endParaRPr lang="en-US" sz="8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All four principles evident</a:t>
                      </a:r>
                      <a:endParaRPr lang="en-US" sz="8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5CA8"/>
                          </a:solidFill>
                        </a:rPr>
                        <a:t>Reflection</a:t>
                      </a:r>
                      <a:endParaRPr lang="en-US" sz="8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Single-word answers</a:t>
                      </a:r>
                      <a:endParaRPr lang="en-US" sz="8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Brief, no justification</a:t>
                      </a:r>
                      <a:endParaRPr lang="en-US" sz="8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Clear with in-game examples</a:t>
                      </a:r>
                      <a:endParaRPr lang="en-US" sz="8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Connects math + design + play</a:t>
                      </a:r>
                      <a:endParaRPr lang="en-US" sz="85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508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508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508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508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508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508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508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508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508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508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508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508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508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508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BC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Great work today!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5800" y="10241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export your Godot project before next class!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1600200"/>
            <a:ext cx="8046720" cy="2286000"/>
          </a:xfrm>
          <a:prstGeom prst="rect">
            <a:avLst/>
          </a:prstGeom>
          <a:solidFill>
            <a:srgbClr val="1C2E45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" y="1600200"/>
            <a:ext cx="8046720" cy="9144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171907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BC9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🔭  Coming Up — Day 9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4400" y="212140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Physics, Velocity &amp; Scripted Movement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254203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gravity and jump velocity to your player character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292608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a moving platform using Godot's Tween node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331012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8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the level you created today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477316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Through Games Program  |  Day 8: Tilemaps &amp; Level Design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8 – Tilemaps &amp; Level Design</dc:title>
  <dc:subject>PptxGenJS Presentation</dc:subject>
  <dc:creator>STEM Through Games Program</dc:creator>
  <cp:lastModifiedBy>STEM Through Games Program</cp:lastModifiedBy>
  <cp:revision>1</cp:revision>
  <dcterms:created xsi:type="dcterms:W3CDTF">2026-06-04T10:51:32Z</dcterms:created>
  <dcterms:modified xsi:type="dcterms:W3CDTF">2026-06-04T10:51:32Z</dcterms:modified>
</cp:coreProperties>
</file>