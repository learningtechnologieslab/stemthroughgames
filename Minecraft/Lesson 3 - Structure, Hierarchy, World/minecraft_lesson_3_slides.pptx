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45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Frame today as an exploration of how Minecraft's world is organized — just like the scene trees in engines like Godot, but using a world students already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Emphasize that today's Minecraft session maps directly to concepts used in real game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 objectives with students. The key insight is that Minecraft's coordinate system IS the same concept as a game engine's scene transform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Elicit hierarchy examples from students. Then bridge to Minecraft: every block has an (X,Y,Z) address in a huge 3D grid. That IS a coordinate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'node type' as its Minecraft equivalent. The key analogy: a Structure in Minecraft = a parent node in Godot. Children are entities/blocks nested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class through each step live. Pause after Step 2 to check that everyone has their outer wall placed. Encourage students to record coordinates as they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the tree diagram and have students match what they built to this structure. Ask: which thing is the root? What happens if the Outer Wall moves?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8-10 minutes to experiment with /tp commands. Circulate and ask: what coordinate changed? What stayed the same? This primes the math connection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the example together. Key insight: the ~ ~ ~ command syntax in Minecraft IS relative offset notation. Students who used /tp @s ~5 ~0 ~0 already did vector addition!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vocab quickly, then open discussion with the reflection prompt. Students should connect Minecraft grouping to the parent-child concept explored all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what students built today. Hand out the exit ticket and give 5 minutes to complete. Collect before students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714500" y="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43500" y="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72500" y="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" y="5715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57500" y="5715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5715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86500" y="5715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01000" y="5715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1500" y="11430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0" y="11430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00500" y="11430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15000" y="11430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29500" y="11430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17145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14500" y="17145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29000" y="17145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43500" y="17145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0" y="17145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72500" y="17145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43000" y="22860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57500" y="22860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86500" y="22860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01000" y="22860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" y="28575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0" y="28575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00500" y="28575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15000" y="28575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29500" y="28575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34290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14500" y="34290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29000" y="34290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143500" y="34290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0" y="34290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72500" y="34290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43000" y="40005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857500" y="40005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0" y="40005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86500" y="40005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001000" y="40005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71500" y="4572000"/>
            <a:ext cx="571500" cy="571500"/>
          </a:xfrm>
          <a:prstGeom prst="rect">
            <a:avLst/>
          </a:prstGeom>
          <a:solidFill>
            <a:srgbClr val="1D6B2F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286000" y="4572000"/>
            <a:ext cx="571500" cy="571500"/>
          </a:xfrm>
          <a:prstGeom prst="rect">
            <a:avLst/>
          </a:prstGeom>
          <a:solidFill>
            <a:srgbClr val="1A5C28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000500" y="4572000"/>
            <a:ext cx="571500" cy="571500"/>
          </a:xfrm>
          <a:prstGeom prst="rect">
            <a:avLst/>
          </a:prstGeom>
          <a:solidFill>
            <a:srgbClr val="163B1E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715000" y="4572000"/>
            <a:ext cx="571500" cy="571500"/>
          </a:xfrm>
          <a:prstGeom prst="rect">
            <a:avLst/>
          </a:prstGeom>
          <a:solidFill>
            <a:srgbClr val="24753A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429500" y="4572000"/>
            <a:ext cx="571500" cy="571500"/>
          </a:xfrm>
          <a:prstGeom prst="rect">
            <a:avLst/>
          </a:prstGeom>
          <a:solidFill>
            <a:srgbClr val="2D8A45">
              <a:alpha val="20000"/>
            </a:srgbClr>
          </a:solidFill>
          <a:ln w="6350">
            <a:solidFill>
              <a:srgbClr val="163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Hierarchy</a:t>
            </a:r>
            <a:endParaRPr lang="en-US" sz="5200" dirty="0"/>
          </a:p>
        </p:txBody>
      </p:sp>
      <p:sp>
        <p:nvSpPr>
          <p:cNvPr id="53" name="Text 5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the World</a:t>
            </a:r>
            <a:endParaRPr lang="en-US" sz="5200" dirty="0"/>
          </a:p>
        </p:txBody>
      </p:sp>
      <p:sp>
        <p:nvSpPr>
          <p:cNvPr id="54" name="Text 52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Hierarchy &amp; Structure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109728" cy="868680"/>
          </a:xfrm>
          <a:prstGeom prst="roundRect">
            <a:avLst>
              <a:gd name="adj" fmla="val 41667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41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289304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hierarchies — where do trees appear in life?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1124712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0" y="11247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109728" cy="868680"/>
          </a:xfrm>
          <a:prstGeom prst="roundRect">
            <a:avLst>
              <a:gd name="adj" fmla="val 41667"/>
            </a:avLst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9293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2768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compound in Minecraft Education — structure by structure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211226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2112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35–40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109728" cy="868680"/>
          </a:xfrm>
          <a:prstGeom prst="roundRect">
            <a:avLst>
              <a:gd name="adj" fmla="val 41667"/>
            </a:avLst>
          </a:prstGeom>
          <a:solidFill>
            <a:srgbClr val="3DA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A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264408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vs. relative coordinates: world pos and local offset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0" y="3099816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3DA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0" y="3099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831336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831336"/>
            <a:ext cx="109728" cy="868680"/>
          </a:xfrm>
          <a:prstGeom prst="roundRect">
            <a:avLst>
              <a:gd name="adj" fmla="val 41667"/>
            </a:avLst>
          </a:prstGeom>
          <a:solidFill>
            <a:srgbClr val="54C4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9044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4C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builders group structures into hierarchies?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98080" y="408736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54C4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0" y="4087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be able to: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640080" cy="822960"/>
          </a:xfrm>
          <a:prstGeom prst="rect">
            <a:avLst/>
          </a:prstGeom>
          <a:solidFill>
            <a:srgbClr val="7EC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3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88720" y="1280160"/>
            <a:ext cx="7498080" cy="822960"/>
          </a:xfrm>
          <a:prstGeom prst="rect">
            <a:avLst/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Minecraft's world is a 3D grid and how entities (players, mobs, items) exist at exact (X, Y, Z) coordinates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640080" cy="822960"/>
          </a:xfrm>
          <a:prstGeom prst="rect">
            <a:avLst/>
          </a:prstGeom>
          <a:solidFill>
            <a:srgbClr val="7EC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3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188720" y="2423160"/>
            <a:ext cx="7498080" cy="822960"/>
          </a:xfrm>
          <a:prstGeom prst="rect">
            <a:avLst/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24231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structured compound in Minecraft Education that uses nested structures to represent parent-child relationships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640080" cy="822960"/>
          </a:xfrm>
          <a:prstGeom prst="rect">
            <a:avLst/>
          </a:prstGeom>
          <a:solidFill>
            <a:srgbClr val="7EC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3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188720" y="3566160"/>
            <a:ext cx="7498080" cy="822960"/>
          </a:xfrm>
          <a:prstGeom prst="rect">
            <a:avLst/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5880" y="35661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absolute world coordinates and relative offsets — and use /tp commands to move entities with precision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· 10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1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See Hierarchies?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645921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things organized in levels — one thing contains or controls others.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1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94561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Org Chart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32889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→ Teachers → Students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1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EA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2194561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Folders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532889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→ Folder → Subfolder → 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1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200401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Tree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538729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Grandparents → Parents → Children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3154681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EA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0" y="3200401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Levels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538729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→ Level → Stage → Room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868680"/>
            <a:ext cx="3383280" cy="4069080"/>
          </a:xfrm>
          <a:prstGeom prst="roundRect">
            <a:avLst>
              <a:gd name="adj" fmla="val 2703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Minecraft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13258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Minecraft, every block, mob,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lives at an exact (X, Y, Z)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in the world grid.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 Wall  (World)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2441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Player House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27797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Chest Room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31181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NameTag 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3456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Enemy Fortress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Ground Plane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 of a Minecraft World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in your world is a "node" with a position and purpose.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606040" cy="384048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unit / container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unit. Holds a position (X,Y,Z) in the 3D grid.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606040" cy="384048"/>
          </a:xfrm>
          <a:prstGeom prst="rect">
            <a:avLst/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8928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/ mob / item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1305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precise floating-point position, not just block coords.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2606040" cy="384048"/>
          </a:xfrm>
          <a:prstGeom prst="rect">
            <a:avLst/>
          </a:prstGeom>
          <a:solidFill>
            <a:srgbClr val="3DA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6916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18928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of blocks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1305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group (house, wall, room) — acts like a parent node.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606040" cy="384048"/>
          </a:xfrm>
          <a:prstGeom prst="rect">
            <a:avLst/>
          </a:prstGeom>
          <a:solidFill>
            <a:srgbClr val="54C4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Armor Stand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anchor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3931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stationary entity used as an invisible anchor point (origin).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606040" cy="384048"/>
          </a:xfrm>
          <a:prstGeom prst="rect">
            <a:avLst/>
          </a:prstGeom>
          <a:solidFill>
            <a:srgbClr val="6B42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0" y="32004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Block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34015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&amp; triggers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63931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commands when triggered — like a script node.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32004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200400"/>
            <a:ext cx="2606040" cy="384048"/>
          </a:xfrm>
          <a:prstGeom prst="rect">
            <a:avLst/>
          </a:prstGeom>
          <a:solidFill>
            <a:srgbClr val="9C7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35040" y="32004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34015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container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63931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items. Always a child of the structure it lives in.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ACTIVITY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Compound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" cy="658368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3624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flat Creative world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3677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shared flat world. Press F3 to show coordinates. Note your starting position.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411480" cy="658368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07568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112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Outer Wall (World)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38658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 20×20 boundary wall of stone brick. This is your root container — everything lives inside.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825496"/>
            <a:ext cx="411480" cy="658368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82549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862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Player House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1363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wall, build a small house of oak planks. Place a sign on the door: 'Player House'.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575304"/>
            <a:ext cx="411480" cy="658368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57530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Chest Room (Inventory)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8862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house, designate a corner as the chest room. Place 2 chests. This is a child of the House.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325112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325112"/>
            <a:ext cx="411480" cy="658368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32511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4361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Enemy Fortress &amp; Ground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463600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house (but inside the wall), build a stone fortress and note the flat bedrock ground.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Hierarchy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structures are organized — children move with their parents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C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 Wall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Node2D  [root]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Player House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6276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 Planks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Chest Room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0665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w/ Chests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NameTag 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5054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44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Enemy Fortress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9443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 Brick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Enemy Chest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383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w/ Chest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221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Ground Plane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8221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→ Child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3990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are nested inside their parent structure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10312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Movement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24505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 parent and all its children come along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15468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5021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 child directly — the parent stays put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11480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1D6B2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it!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4622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/tp to move — watch what follows and what doesn't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Teleport &amp; Observe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710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45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50 64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4297680" cy="713232"/>
          </a:xfrm>
          <a:prstGeom prst="roundRect">
            <a:avLst>
              <a:gd name="adj" fmla="val 8974"/>
            </a:avLst>
          </a:prstGeom>
          <a:solidFill>
            <a:srgbClr val="163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2710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5453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jump to absolute position (50, 64, 0) — your house stays behind!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591056"/>
            <a:ext cx="0" cy="0"/>
          </a:xfrm>
          <a:prstGeom prst="line">
            <a:avLst/>
          </a:prstGeom>
          <a:noFill/>
          <a:ln w="12700">
            <a:solidFill>
              <a:srgbClr val="7EC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14356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1671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41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~5 ~0 ~0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130552"/>
            <a:ext cx="4297680" cy="713232"/>
          </a:xfrm>
          <a:prstGeom prst="roundRect">
            <a:avLst>
              <a:gd name="adj" fmla="val 8974"/>
            </a:avLst>
          </a:prstGeom>
          <a:solidFill>
            <a:srgbClr val="163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2167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441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move +5 on X relative to where you stand. The ~ means 'from here'.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2487168"/>
            <a:ext cx="0" cy="0"/>
          </a:xfrm>
          <a:prstGeom prst="line">
            <a:avLst/>
          </a:prstGeom>
          <a:noFill/>
          <a:ln w="12700">
            <a:solidFill>
              <a:srgbClr val="7EC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5760" y="3026664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 Player House (Fill with air)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026664"/>
            <a:ext cx="4297680" cy="713232"/>
          </a:xfrm>
          <a:prstGeom prst="roundRect">
            <a:avLst>
              <a:gd name="adj" fmla="val 8974"/>
            </a:avLst>
          </a:prstGeom>
          <a:solidFill>
            <a:srgbClr val="163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337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inside disappears — the whole subtree!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3383280"/>
            <a:ext cx="0" cy="0"/>
          </a:xfrm>
          <a:prstGeom prst="line">
            <a:avLst/>
          </a:prstGeom>
          <a:noFill/>
          <a:ln w="12700">
            <a:solidFill>
              <a:srgbClr val="7EC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3227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65760" y="3922776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9593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233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chest coords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3922776"/>
            <a:ext cx="4297680" cy="713232"/>
          </a:xfrm>
          <a:prstGeom prst="roundRect">
            <a:avLst>
              <a:gd name="adj" fmla="val 8974"/>
            </a:avLst>
          </a:prstGeom>
          <a:solidFill>
            <a:srgbClr val="163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3959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233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Find: does the chest's absolute position change if you rebuild the house elsewhere?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51960" y="4279392"/>
            <a:ext cx="0" cy="0"/>
          </a:xfrm>
          <a:prstGeom prst="line">
            <a:avLst/>
          </a:prstGeom>
          <a:noFill/>
          <a:ln w="12700">
            <a:solidFill>
              <a:srgbClr val="7EC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06240" y="4123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  ·  10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is Relative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chest's position is measured from its house — not from (0, 0, 0).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chest_world_pos  =  house_pos  +  chest_local_offset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House position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871216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2871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(200, 64, 300)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Room local offset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3255264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3255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(10, 0, 5)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027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Room world position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3639312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3639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(210, 64, 305)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2377440"/>
            <a:ext cx="3108960" cy="1691640"/>
          </a:xfrm>
          <a:prstGeom prst="roundRect">
            <a:avLst>
              <a:gd name="adj" fmla="val 4324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2450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60720" y="2834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House moves 100 blocks east — where is the Chest now?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32369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NameTag is at offset (0, 2, 0) — new world pos?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6393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if the Outer Wall also moved Z+50?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13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Coordinate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(X,Y,Z) from world origin (0,0,0)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A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813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Offset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from a parent's origin (~ ~ ~ syntax)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99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764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positioned object: player, mob, armor stand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A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499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64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Container; its position affects all children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185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element; pos relative to parent's origin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A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185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Position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from the parent — not world (0,0,0)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8412480" cy="1874520"/>
          </a:xfrm>
          <a:prstGeom prst="roundRect">
            <a:avLst>
              <a:gd name="adj" fmla="val 4878"/>
            </a:avLst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3337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would a builder want to group structures into a hierarchy?"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 drawbridge attached to a castle — what happens when you move the castle?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0965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Hide an enemy base: fortress + torches + chests in one step.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4439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 ship where all the cannons move together?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2870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1028700"/>
          </a:xfrm>
          <a:prstGeom prst="rect">
            <a:avLst/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28700"/>
            <a:ext cx="274320" cy="1028700"/>
          </a:xfrm>
          <a:prstGeom prst="rect">
            <a:avLst/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0" y="1028700"/>
            <a:ext cx="274320" cy="102870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057400"/>
            <a:ext cx="274320" cy="102870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69680" y="2057400"/>
            <a:ext cx="274320" cy="1028700"/>
          </a:xfrm>
          <a:prstGeom prst="rect">
            <a:avLst/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3086100"/>
            <a:ext cx="274320" cy="1028700"/>
          </a:xfrm>
          <a:prstGeom prst="rect">
            <a:avLst/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0" y="3086100"/>
            <a:ext cx="274320" cy="102870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274320" cy="1028700"/>
          </a:xfrm>
          <a:prstGeom prst="rect">
            <a:avLst/>
          </a:prstGeom>
          <a:solidFill>
            <a:srgbClr val="1D6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869680" y="4114800"/>
            <a:ext cx="274320" cy="1028700"/>
          </a:xfrm>
          <a:prstGeom prst="rect">
            <a:avLst/>
          </a:prstGeom>
          <a:solidFill>
            <a:srgbClr val="2D8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 Today!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you built and what's coming next.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1234440"/>
            <a:ext cx="4572000" cy="2331720"/>
          </a:xfrm>
          <a:prstGeom prst="roundRect">
            <a:avLst>
              <a:gd name="adj" fmla="val 3529"/>
            </a:avLst>
          </a:prstGeom>
          <a:solidFill>
            <a:srgbClr val="1F4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13258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learned to…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1737360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Navigate the Minecraft world using (X, Y, Z) coordinates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176272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Build a compound with a parent-child structure hierarchy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615184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 /tp with absolute and relative (~ ~ ~) coordinates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054096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Calculate world positions using local offsets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0" y="1234439"/>
            <a:ext cx="3337560" cy="2331719"/>
          </a:xfrm>
          <a:prstGeom prst="roundRect">
            <a:avLst>
              <a:gd name="adj" fmla="val 7500"/>
            </a:avLst>
          </a:prstGeom>
          <a:solidFill>
            <a:srgbClr val="7EC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0" y="1298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64592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your compound hierarchy (5 structures min) + write 1 position math problem using X, Y, Z for a partner.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1447</Words>
  <Application>Microsoft Macintosh PowerPoint</Application>
  <PresentationFormat>On-screen Show (16:9)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3 (Minecraft Edition)</dc:title>
  <dc:subject>PptxGenJS Presentation</dc:subject>
  <dc:creator>PptxGenJS</dc:creator>
  <cp:lastModifiedBy>Babichenko, Dmitriy</cp:lastModifiedBy>
  <cp:revision>3</cp:revision>
  <dcterms:created xsi:type="dcterms:W3CDTF">2026-06-16T15:15:51Z</dcterms:created>
  <dcterms:modified xsi:type="dcterms:W3CDTF">2026-06-29T01:10:18Z</dcterms:modified>
</cp:coreProperties>
</file>