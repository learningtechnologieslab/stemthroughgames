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1" d="100"/>
          <a:sy n="161" d="100"/>
        </p:scale>
        <p:origin x="21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4675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14. Today students shift from technical level building to narrative design — using their Minecraft worlds to tell stories without words. Introduce the concept of environmental storytelling and set the tone for creative, intentional building.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these four objectives. Emphasize that today is about DESIGN INTENT — every block they place should serve the story. The Minecraft tool is familiar; the challenge is using it with narrative purpose.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two actual Minecraft screenshots if you have them. Key discussion points: block type choices (cobblestone vs smooth stone), damage markers (cracked blocks, missing sections), lighting (warm torch vs flat daylight), signs of former life (chests, fences, farmland). Give 2-3 minutes for open discussion then move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15 minutes for this. Circulate and ask questions: 'What block would show this area is dangerous?' 'What does a former settlement look like when it's been abandoned for years?' Encourage students to think about story BEFORE they open Minecraft.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during building. Key coaching questions: 'Does this block choice tell a story?' 'If I couldn't read, what would the shape of this room say?' 'What feeling do I get standing here?' Push students to move beyond flat builds into story-driven architecture.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design lesson. Take time here. Ask students to look at their own Minecraft storyboards and identify whether they were 'telling' or 'showing.' The bottom question is their design north star for the rest of the activity.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inspiration and to broaden students' game literacy. If time allows, show a 30-second clip from Hollow Knight or show a screenshot of Minecraft's Ancient City. The connection between Minecraft's own worldbuilding and today's lesson is especially powerful — students know Minecraft's world has stories built into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students to self-select how they share (screen, written, pair). The exit ticket should be specific — not 'I used cracked stone' but 'the cracked stone around the doorway shows the building was attacked.' Push for the 'what it communicates' layer.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to save/export their worlds NOW. In Minecraft Education: go to the world settings and use the Export World option. This is critical — worlds can be lost between sessions if not exported. Also remind students that playtesting is coming in Day 15, so their world should tell a clear story by then.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a:effectLst/>
      </p:bgPr>
    </p:bg>
    <p:spTree>
      <p:nvGrpSpPr>
        <p:cNvPr id="1" name=""/>
        <p:cNvGrpSpPr/>
        <p:nvPr/>
      </p:nvGrpSpPr>
      <p:grpSpPr>
        <a:xfrm>
          <a:off x="0" y="0"/>
          <a:ext cx="0" cy="0"/>
          <a:chOff x="0" y="0"/>
          <a:chExt cx="0" cy="0"/>
        </a:xfrm>
      </p:grpSpPr>
      <p:sp>
        <p:nvSpPr>
          <p:cNvPr id="22" name="Text 20"/>
          <p:cNvSpPr/>
          <p:nvPr/>
        </p:nvSpPr>
        <p:spPr>
          <a:xfrm>
            <a:off x="457200" y="320040"/>
            <a:ext cx="8229600" cy="365760"/>
          </a:xfrm>
          <a:prstGeom prst="rect">
            <a:avLst/>
          </a:prstGeom>
          <a:noFill/>
          <a:ln/>
        </p:spPr>
        <p:txBody>
          <a:bodyPr wrap="square" rtlCol="0" anchor="ctr"/>
          <a:lstStyle/>
          <a:p>
            <a:pPr marL="0" indent="0" algn="ctr">
              <a:buNone/>
            </a:pPr>
            <a:r>
              <a:rPr lang="en-US" sz="1300" b="1" kern="0" spc="400" dirty="0">
                <a:solidFill>
                  <a:srgbClr val="8B9BB4"/>
                </a:solidFill>
                <a:latin typeface="Arial" pitchFamily="34" charset="0"/>
                <a:ea typeface="Arial" pitchFamily="34" charset="-122"/>
                <a:cs typeface="Arial" pitchFamily="34" charset="-120"/>
              </a:rPr>
              <a:t>STEM THROUGH GAMES</a:t>
            </a:r>
            <a:endParaRPr lang="en-US" sz="1300" dirty="0"/>
          </a:p>
        </p:txBody>
      </p:sp>
      <p:sp>
        <p:nvSpPr>
          <p:cNvPr id="24" name="Text 22"/>
          <p:cNvSpPr/>
          <p:nvPr/>
        </p:nvSpPr>
        <p:spPr>
          <a:xfrm>
            <a:off x="457200" y="1280160"/>
            <a:ext cx="8229600" cy="137160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World Building &amp;</a:t>
            </a:r>
            <a:endParaRPr lang="en-US" sz="4400" dirty="0"/>
          </a:p>
          <a:p>
            <a:pPr marL="0" indent="0" algn="ctr">
              <a:buNone/>
            </a:pPr>
            <a:r>
              <a:rPr lang="en-US" sz="4400" b="1" dirty="0">
                <a:solidFill>
                  <a:srgbClr val="FFFFFF"/>
                </a:solidFill>
                <a:latin typeface="Cambria" pitchFamily="34" charset="0"/>
                <a:ea typeface="Cambria" pitchFamily="34" charset="-122"/>
                <a:cs typeface="Cambria" pitchFamily="34" charset="-120"/>
              </a:rPr>
              <a:t>Level Storytelling</a:t>
            </a:r>
            <a:endParaRPr lang="en-US" sz="4400" dirty="0"/>
          </a:p>
        </p:txBody>
      </p:sp>
      <p:sp>
        <p:nvSpPr>
          <p:cNvPr id="25" name="Text 23"/>
          <p:cNvSpPr/>
          <p:nvPr/>
        </p:nvSpPr>
        <p:spPr>
          <a:xfrm>
            <a:off x="457200" y="2697480"/>
            <a:ext cx="8229600" cy="411480"/>
          </a:xfrm>
          <a:prstGeom prst="rect">
            <a:avLst/>
          </a:prstGeom>
          <a:noFill/>
          <a:ln/>
        </p:spPr>
        <p:txBody>
          <a:bodyPr wrap="square" rtlCol="0" anchor="ctr"/>
          <a:lstStyle/>
          <a:p>
            <a:pPr marL="0" indent="0" algn="ctr">
              <a:buNone/>
            </a:pPr>
            <a:r>
              <a:rPr lang="en-US" sz="1800" i="1" dirty="0">
                <a:solidFill>
                  <a:srgbClr val="F4EED8"/>
                </a:solidFill>
                <a:latin typeface="Arial" pitchFamily="34" charset="0"/>
                <a:ea typeface="Arial" pitchFamily="34" charset="-122"/>
                <a:cs typeface="Arial" pitchFamily="34" charset="-120"/>
              </a:rPr>
              <a:t>Focus: Environmental Narrative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43447"/>
          </a:solidFill>
          <a:ln w="12700">
            <a:solidFill>
              <a:srgbClr val="243447"/>
            </a:solidFill>
            <a:prstDash val="solid"/>
          </a:ln>
        </p:spPr>
        <p:txBody>
          <a:bodyPr/>
          <a:lstStyle/>
          <a:p>
            <a:endParaRPr lang="en-US"/>
          </a:p>
        </p:txBody>
      </p:sp>
      <p:sp>
        <p:nvSpPr>
          <p:cNvPr id="3" name="Text 1"/>
          <p:cNvSpPr/>
          <p:nvPr/>
        </p:nvSpPr>
        <p:spPr>
          <a:xfrm>
            <a:off x="365760" y="260406"/>
            <a:ext cx="5486400" cy="45720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LEARNING OBJECTIVES</a:t>
            </a:r>
            <a:endParaRPr lang="en-US" sz="2200" dirty="0"/>
          </a:p>
        </p:txBody>
      </p:sp>
      <p:sp>
        <p:nvSpPr>
          <p:cNvPr id="6" name="Shape 4"/>
          <p:cNvSpPr/>
          <p:nvPr/>
        </p:nvSpPr>
        <p:spPr>
          <a:xfrm>
            <a:off x="274320" y="1051560"/>
            <a:ext cx="8595360" cy="749808"/>
          </a:xfrm>
          <a:prstGeom prst="roundRect">
            <a:avLst>
              <a:gd name="adj" fmla="val 9756"/>
            </a:avLst>
          </a:prstGeom>
          <a:solidFill>
            <a:srgbClr val="243447"/>
          </a:solidFill>
          <a:ln/>
          <a:effectLst>
            <a:outerShdw blurRad="50800" dist="12700" dir="2700000" algn="bl" rotWithShape="0">
              <a:srgbClr val="000000">
                <a:alpha val="25000"/>
              </a:srgbClr>
            </a:outerShdw>
          </a:effectLst>
        </p:spPr>
        <p:txBody>
          <a:bodyPr/>
          <a:lstStyle/>
          <a:p>
            <a:endParaRPr lang="en-US"/>
          </a:p>
        </p:txBody>
      </p:sp>
      <p:sp>
        <p:nvSpPr>
          <p:cNvPr id="8" name="Text 5"/>
          <p:cNvSpPr/>
          <p:nvPr/>
        </p:nvSpPr>
        <p:spPr>
          <a:xfrm>
            <a:off x="496957" y="1161288"/>
            <a:ext cx="7589520" cy="530352"/>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Use block placement, lighting &amp; structure to tell a story without words</a:t>
            </a:r>
            <a:endParaRPr lang="en-US" sz="1600" dirty="0"/>
          </a:p>
        </p:txBody>
      </p:sp>
      <p:sp>
        <p:nvSpPr>
          <p:cNvPr id="9" name="Shape 6"/>
          <p:cNvSpPr/>
          <p:nvPr/>
        </p:nvSpPr>
        <p:spPr>
          <a:xfrm>
            <a:off x="274320" y="1965960"/>
            <a:ext cx="8595360" cy="749808"/>
          </a:xfrm>
          <a:prstGeom prst="roundRect">
            <a:avLst>
              <a:gd name="adj" fmla="val 9756"/>
            </a:avLst>
          </a:prstGeom>
          <a:solidFill>
            <a:srgbClr val="243447"/>
          </a:solidFill>
          <a:ln/>
          <a:effectLst>
            <a:outerShdw blurRad="50800" dist="12700" dir="2700000" algn="bl" rotWithShape="0">
              <a:srgbClr val="000000">
                <a:alpha val="25000"/>
              </a:srgbClr>
            </a:outerShdw>
          </a:effectLst>
        </p:spPr>
        <p:txBody>
          <a:bodyPr/>
          <a:lstStyle/>
          <a:p>
            <a:endParaRPr lang="en-US"/>
          </a:p>
        </p:txBody>
      </p:sp>
      <p:sp>
        <p:nvSpPr>
          <p:cNvPr id="11" name="Text 7"/>
          <p:cNvSpPr/>
          <p:nvPr/>
        </p:nvSpPr>
        <p:spPr>
          <a:xfrm>
            <a:off x="496957" y="2075688"/>
            <a:ext cx="7589520" cy="530352"/>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Design a Minecraft world with intentional setting, context &amp; meaning</a:t>
            </a:r>
            <a:endParaRPr lang="en-US" sz="1600" dirty="0"/>
          </a:p>
        </p:txBody>
      </p:sp>
      <p:sp>
        <p:nvSpPr>
          <p:cNvPr id="12" name="Shape 8"/>
          <p:cNvSpPr/>
          <p:nvPr/>
        </p:nvSpPr>
        <p:spPr>
          <a:xfrm>
            <a:off x="274320" y="2880360"/>
            <a:ext cx="8595360" cy="749808"/>
          </a:xfrm>
          <a:prstGeom prst="roundRect">
            <a:avLst>
              <a:gd name="adj" fmla="val 9756"/>
            </a:avLst>
          </a:prstGeom>
          <a:solidFill>
            <a:srgbClr val="243447"/>
          </a:solidFill>
          <a:ln/>
          <a:effectLst>
            <a:outerShdw blurRad="50800" dist="12700" dir="2700000" algn="bl" rotWithShape="0">
              <a:srgbClr val="000000">
                <a:alpha val="25000"/>
              </a:srgbClr>
            </a:outerShdw>
          </a:effectLst>
        </p:spPr>
        <p:txBody>
          <a:bodyPr/>
          <a:lstStyle/>
          <a:p>
            <a:endParaRPr lang="en-US"/>
          </a:p>
        </p:txBody>
      </p:sp>
      <p:sp>
        <p:nvSpPr>
          <p:cNvPr id="14" name="Text 9"/>
          <p:cNvSpPr/>
          <p:nvPr/>
        </p:nvSpPr>
        <p:spPr>
          <a:xfrm>
            <a:off x="496957" y="2990088"/>
            <a:ext cx="7589520" cy="530352"/>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Storyboard a 2-area narrative with conflict and player purpose</a:t>
            </a:r>
            <a:endParaRPr lang="en-US" sz="1600" dirty="0"/>
          </a:p>
        </p:txBody>
      </p:sp>
      <p:sp>
        <p:nvSpPr>
          <p:cNvPr id="15" name="Shape 10"/>
          <p:cNvSpPr/>
          <p:nvPr/>
        </p:nvSpPr>
        <p:spPr>
          <a:xfrm>
            <a:off x="274320" y="3794760"/>
            <a:ext cx="8595360" cy="749808"/>
          </a:xfrm>
          <a:prstGeom prst="roundRect">
            <a:avLst>
              <a:gd name="adj" fmla="val 9756"/>
            </a:avLst>
          </a:prstGeom>
          <a:solidFill>
            <a:srgbClr val="243447"/>
          </a:solidFill>
          <a:ln/>
          <a:effectLst>
            <a:outerShdw blurRad="50800" dist="12700" dir="2700000" algn="bl" rotWithShape="0">
              <a:srgbClr val="000000">
                <a:alpha val="25000"/>
              </a:srgbClr>
            </a:outerShdw>
          </a:effectLst>
        </p:spPr>
        <p:txBody>
          <a:bodyPr/>
          <a:lstStyle/>
          <a:p>
            <a:endParaRPr lang="en-US"/>
          </a:p>
        </p:txBody>
      </p:sp>
      <p:sp>
        <p:nvSpPr>
          <p:cNvPr id="17" name="Text 11"/>
          <p:cNvSpPr/>
          <p:nvPr/>
        </p:nvSpPr>
        <p:spPr>
          <a:xfrm>
            <a:off x="496957" y="3904488"/>
            <a:ext cx="7589520" cy="530352"/>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Apply environmental storytelling inside a Minecraft Education Edition world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320040"/>
          </a:xfrm>
          <a:prstGeom prst="rect">
            <a:avLst/>
          </a:prstGeom>
          <a:noFill/>
          <a:ln/>
        </p:spPr>
        <p:txBody>
          <a:bodyPr wrap="square" rtlCol="0" anchor="ctr"/>
          <a:lstStyle/>
          <a:p>
            <a:pPr marL="0" indent="0">
              <a:buNone/>
            </a:pPr>
            <a:r>
              <a:rPr lang="en-US" sz="1200" b="1" kern="0" spc="300" dirty="0">
                <a:solidFill>
                  <a:srgbClr val="8B9BB4"/>
                </a:solidFill>
                <a:latin typeface="Arial" pitchFamily="34" charset="0"/>
                <a:ea typeface="Arial" pitchFamily="34" charset="-122"/>
                <a:cs typeface="Arial" pitchFamily="34" charset="-120"/>
              </a:rPr>
              <a:t>WARM-UP  ·  0–5 MIN</a:t>
            </a:r>
            <a:endParaRPr lang="en-US" sz="1200" dirty="0"/>
          </a:p>
        </p:txBody>
      </p:sp>
      <p:sp>
        <p:nvSpPr>
          <p:cNvPr id="3" name="Text 1"/>
          <p:cNvSpPr/>
          <p:nvPr/>
        </p:nvSpPr>
        <p:spPr>
          <a:xfrm>
            <a:off x="365760" y="457200"/>
            <a:ext cx="8412480" cy="5029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Two-Builds Challenge</a:t>
            </a:r>
            <a:endParaRPr lang="en-US" sz="2800" dirty="0"/>
          </a:p>
        </p:txBody>
      </p:sp>
      <p:sp>
        <p:nvSpPr>
          <p:cNvPr id="4" name="Text 2"/>
          <p:cNvSpPr/>
          <p:nvPr/>
        </p:nvSpPr>
        <p:spPr>
          <a:xfrm>
            <a:off x="365760" y="1005840"/>
            <a:ext cx="8412480" cy="365760"/>
          </a:xfrm>
          <a:prstGeom prst="rect">
            <a:avLst/>
          </a:prstGeom>
          <a:noFill/>
          <a:ln/>
        </p:spPr>
        <p:txBody>
          <a:bodyPr wrap="square" rtlCol="0" anchor="ctr"/>
          <a:lstStyle/>
          <a:p>
            <a:pPr marL="0" indent="0">
              <a:buNone/>
            </a:pPr>
            <a:r>
              <a:rPr lang="en-US" sz="1600" i="1" dirty="0">
                <a:solidFill>
                  <a:srgbClr val="F4EED8"/>
                </a:solidFill>
                <a:latin typeface="Arial" pitchFamily="34" charset="0"/>
                <a:ea typeface="Arial" pitchFamily="34" charset="-122"/>
                <a:cs typeface="Arial" pitchFamily="34" charset="-120"/>
              </a:rPr>
              <a:t>What story does each build tell — without a single word?</a:t>
            </a:r>
            <a:endParaRPr lang="en-US" sz="1600" dirty="0"/>
          </a:p>
        </p:txBody>
      </p:sp>
      <p:sp>
        <p:nvSpPr>
          <p:cNvPr id="5" name="Shape 3"/>
          <p:cNvSpPr/>
          <p:nvPr/>
        </p:nvSpPr>
        <p:spPr>
          <a:xfrm>
            <a:off x="274320" y="1463040"/>
            <a:ext cx="3749040" cy="2560320"/>
          </a:xfrm>
          <a:prstGeom prst="roundRect">
            <a:avLst>
              <a:gd name="adj" fmla="val 3571"/>
            </a:avLst>
          </a:prstGeom>
          <a:solidFill>
            <a:srgbClr val="2A3A4A"/>
          </a:solidFill>
          <a:ln/>
          <a:effectLst>
            <a:outerShdw blurRad="101600" dist="38100" dir="2700000" algn="bl" rotWithShape="0">
              <a:srgbClr val="000000">
                <a:alpha val="40000"/>
              </a:srgbClr>
            </a:outerShdw>
          </a:effectLst>
        </p:spPr>
        <p:txBody>
          <a:bodyPr/>
          <a:lstStyle/>
          <a:p>
            <a:endParaRPr lang="en-US"/>
          </a:p>
        </p:txBody>
      </p:sp>
      <p:sp>
        <p:nvSpPr>
          <p:cNvPr id="6" name="Text 4"/>
          <p:cNvSpPr/>
          <p:nvPr/>
        </p:nvSpPr>
        <p:spPr>
          <a:xfrm>
            <a:off x="274320" y="1508760"/>
            <a:ext cx="3749040" cy="320040"/>
          </a:xfrm>
          <a:prstGeom prst="rect">
            <a:avLst/>
          </a:prstGeom>
          <a:noFill/>
          <a:ln/>
        </p:spPr>
        <p:txBody>
          <a:bodyPr wrap="square" rtlCol="0" anchor="ctr"/>
          <a:lstStyle/>
          <a:p>
            <a:pPr marL="0" indent="0" algn="ctr">
              <a:buNone/>
            </a:pPr>
            <a:r>
              <a:rPr lang="en-US" sz="1100" b="1" kern="0" spc="300" dirty="0">
                <a:solidFill>
                  <a:srgbClr val="8B9BB4"/>
                </a:solidFill>
                <a:latin typeface="Arial" pitchFamily="34" charset="0"/>
                <a:ea typeface="Arial" pitchFamily="34" charset="-122"/>
                <a:cs typeface="Arial" pitchFamily="34" charset="-120"/>
              </a:rPr>
              <a:t>BUILD A</a:t>
            </a:r>
            <a:endParaRPr lang="en-US" sz="1100" dirty="0"/>
          </a:p>
        </p:txBody>
      </p:sp>
      <p:sp>
        <p:nvSpPr>
          <p:cNvPr id="7" name="Shape 5"/>
          <p:cNvSpPr/>
          <p:nvPr/>
        </p:nvSpPr>
        <p:spPr>
          <a:xfrm>
            <a:off x="457200" y="1965960"/>
            <a:ext cx="3383280" cy="548640"/>
          </a:xfrm>
          <a:prstGeom prst="rect">
            <a:avLst/>
          </a:prstGeom>
          <a:solidFill>
            <a:srgbClr val="5D9E3C"/>
          </a:solidFill>
          <a:ln w="12700">
            <a:solidFill>
              <a:srgbClr val="4A8030"/>
            </a:solidFill>
            <a:prstDash val="solid"/>
          </a:ln>
        </p:spPr>
        <p:txBody>
          <a:bodyPr/>
          <a:lstStyle/>
          <a:p>
            <a:endParaRPr lang="en-US"/>
          </a:p>
        </p:txBody>
      </p:sp>
      <p:sp>
        <p:nvSpPr>
          <p:cNvPr id="8" name="Shape 6"/>
          <p:cNvSpPr/>
          <p:nvPr/>
        </p:nvSpPr>
        <p:spPr>
          <a:xfrm>
            <a:off x="457200" y="2514600"/>
            <a:ext cx="3383280" cy="548640"/>
          </a:xfrm>
          <a:prstGeom prst="rect">
            <a:avLst/>
          </a:prstGeom>
          <a:solidFill>
            <a:srgbClr val="8B6914"/>
          </a:solidFill>
          <a:ln w="12700">
            <a:solidFill>
              <a:srgbClr val="7A5A10"/>
            </a:solidFill>
            <a:prstDash val="solid"/>
          </a:ln>
        </p:spPr>
        <p:txBody>
          <a:bodyPr/>
          <a:lstStyle/>
          <a:p>
            <a:endParaRPr lang="en-US"/>
          </a:p>
        </p:txBody>
      </p:sp>
      <p:sp>
        <p:nvSpPr>
          <p:cNvPr id="9" name="Text 7"/>
          <p:cNvSpPr/>
          <p:nvPr/>
        </p:nvSpPr>
        <p:spPr>
          <a:xfrm>
            <a:off x="274320" y="3154680"/>
            <a:ext cx="3749040" cy="731520"/>
          </a:xfrm>
          <a:prstGeom prst="rect">
            <a:avLst/>
          </a:prstGeom>
          <a:noFill/>
          <a:ln/>
        </p:spPr>
        <p:txBody>
          <a:bodyPr wrap="square" rtlCol="0" anchor="ctr"/>
          <a:lstStyle/>
          <a:p>
            <a:pPr marL="0" indent="0" algn="ctr">
              <a:buNone/>
            </a:pPr>
            <a:r>
              <a:rPr lang="en-US" sz="1400" i="1" dirty="0">
                <a:solidFill>
                  <a:srgbClr val="BDC3C7"/>
                </a:solidFill>
                <a:latin typeface="Arial" pitchFamily="34" charset="0"/>
                <a:ea typeface="Arial" pitchFamily="34" charset="-122"/>
                <a:cs typeface="Arial" pitchFamily="34" charset="-120"/>
              </a:rPr>
              <a:t>Flat. Empty. Grey.</a:t>
            </a:r>
            <a:endParaRPr lang="en-US" sz="1400" dirty="0"/>
          </a:p>
          <a:p>
            <a:pPr marL="0" indent="0" algn="ctr">
              <a:buNone/>
            </a:pPr>
            <a:r>
              <a:rPr lang="en-US" sz="1400" i="1" dirty="0">
                <a:solidFill>
                  <a:srgbClr val="BDC3C7"/>
                </a:solidFill>
                <a:latin typeface="Arial" pitchFamily="34" charset="0"/>
                <a:ea typeface="Arial" pitchFamily="34" charset="-122"/>
                <a:cs typeface="Arial" pitchFamily="34" charset="-120"/>
              </a:rPr>
              <a:t>No story here.</a:t>
            </a:r>
            <a:endParaRPr lang="en-US" sz="1400" dirty="0"/>
          </a:p>
        </p:txBody>
      </p:sp>
      <p:sp>
        <p:nvSpPr>
          <p:cNvPr id="10" name="Text 8"/>
          <p:cNvSpPr/>
          <p:nvPr/>
        </p:nvSpPr>
        <p:spPr>
          <a:xfrm>
            <a:off x="4114800" y="2377440"/>
            <a:ext cx="914400" cy="502920"/>
          </a:xfrm>
          <a:prstGeom prst="rect">
            <a:avLst/>
          </a:prstGeom>
          <a:noFill/>
          <a:ln/>
        </p:spPr>
        <p:txBody>
          <a:bodyPr wrap="square" rtlCol="0" anchor="ctr"/>
          <a:lstStyle/>
          <a:p>
            <a:pPr marL="0" indent="0" algn="ctr">
              <a:buNone/>
            </a:pPr>
            <a:r>
              <a:rPr lang="en-US" sz="2400" b="1" dirty="0">
                <a:solidFill>
                  <a:srgbClr val="F0C040"/>
                </a:solidFill>
                <a:latin typeface="Arial" pitchFamily="34" charset="0"/>
                <a:ea typeface="Arial" pitchFamily="34" charset="-122"/>
                <a:cs typeface="Arial" pitchFamily="34" charset="-120"/>
              </a:rPr>
              <a:t>VS</a:t>
            </a:r>
            <a:endParaRPr lang="en-US" sz="2400" dirty="0"/>
          </a:p>
        </p:txBody>
      </p:sp>
      <p:sp>
        <p:nvSpPr>
          <p:cNvPr id="11" name="Shape 9"/>
          <p:cNvSpPr/>
          <p:nvPr/>
        </p:nvSpPr>
        <p:spPr>
          <a:xfrm>
            <a:off x="5120640" y="1463040"/>
            <a:ext cx="3749040" cy="2560320"/>
          </a:xfrm>
          <a:prstGeom prst="roundRect">
            <a:avLst>
              <a:gd name="adj" fmla="val 3571"/>
            </a:avLst>
          </a:prstGeom>
          <a:solidFill>
            <a:srgbClr val="2A3A4A"/>
          </a:solidFill>
          <a:ln/>
          <a:effectLst>
            <a:outerShdw blurRad="101600" dist="38100" dir="2700000" algn="bl" rotWithShape="0">
              <a:srgbClr val="000000">
                <a:alpha val="40000"/>
              </a:srgbClr>
            </a:outerShdw>
          </a:effectLst>
        </p:spPr>
        <p:txBody>
          <a:bodyPr/>
          <a:lstStyle/>
          <a:p>
            <a:endParaRPr lang="en-US"/>
          </a:p>
        </p:txBody>
      </p:sp>
      <p:sp>
        <p:nvSpPr>
          <p:cNvPr id="12" name="Text 10"/>
          <p:cNvSpPr/>
          <p:nvPr/>
        </p:nvSpPr>
        <p:spPr>
          <a:xfrm>
            <a:off x="5120640" y="1508760"/>
            <a:ext cx="3749040" cy="320040"/>
          </a:xfrm>
          <a:prstGeom prst="rect">
            <a:avLst/>
          </a:prstGeom>
          <a:noFill/>
          <a:ln/>
        </p:spPr>
        <p:txBody>
          <a:bodyPr wrap="square" rtlCol="0" anchor="ctr"/>
          <a:lstStyle/>
          <a:p>
            <a:pPr marL="0" indent="0" algn="ctr">
              <a:buNone/>
            </a:pPr>
            <a:r>
              <a:rPr lang="en-US" sz="1100" b="1" kern="0" spc="300" dirty="0">
                <a:solidFill>
                  <a:srgbClr val="5D9E3C"/>
                </a:solidFill>
                <a:latin typeface="Arial" pitchFamily="34" charset="0"/>
                <a:ea typeface="Arial" pitchFamily="34" charset="-122"/>
                <a:cs typeface="Arial" pitchFamily="34" charset="-120"/>
              </a:rPr>
              <a:t>BUILD B</a:t>
            </a:r>
            <a:endParaRPr lang="en-US" sz="1100" dirty="0"/>
          </a:p>
        </p:txBody>
      </p:sp>
      <p:sp>
        <p:nvSpPr>
          <p:cNvPr id="13" name="Shape 11"/>
          <p:cNvSpPr/>
          <p:nvPr/>
        </p:nvSpPr>
        <p:spPr>
          <a:xfrm>
            <a:off x="5303520" y="1920240"/>
            <a:ext cx="457200" cy="457200"/>
          </a:xfrm>
          <a:prstGeom prst="rect">
            <a:avLst/>
          </a:prstGeom>
          <a:solidFill>
            <a:srgbClr val="7A6050"/>
          </a:solidFill>
          <a:ln w="12700">
            <a:solidFill>
              <a:srgbClr val="6A5040"/>
            </a:solidFill>
            <a:prstDash val="solid"/>
          </a:ln>
        </p:spPr>
        <p:txBody>
          <a:bodyPr/>
          <a:lstStyle/>
          <a:p>
            <a:endParaRPr lang="en-US"/>
          </a:p>
        </p:txBody>
      </p:sp>
      <p:sp>
        <p:nvSpPr>
          <p:cNvPr id="14" name="Shape 12"/>
          <p:cNvSpPr/>
          <p:nvPr/>
        </p:nvSpPr>
        <p:spPr>
          <a:xfrm>
            <a:off x="5806440" y="1920240"/>
            <a:ext cx="457200" cy="457200"/>
          </a:xfrm>
          <a:prstGeom prst="rect">
            <a:avLst/>
          </a:prstGeom>
          <a:solidFill>
            <a:srgbClr val="7A6050"/>
          </a:solidFill>
          <a:ln w="12700">
            <a:solidFill>
              <a:srgbClr val="6A5040"/>
            </a:solidFill>
            <a:prstDash val="solid"/>
          </a:ln>
        </p:spPr>
        <p:txBody>
          <a:bodyPr/>
          <a:lstStyle/>
          <a:p>
            <a:endParaRPr lang="en-US"/>
          </a:p>
        </p:txBody>
      </p:sp>
      <p:sp>
        <p:nvSpPr>
          <p:cNvPr id="15" name="Shape 13"/>
          <p:cNvSpPr/>
          <p:nvPr/>
        </p:nvSpPr>
        <p:spPr>
          <a:xfrm>
            <a:off x="6309360" y="1920240"/>
            <a:ext cx="457200" cy="457200"/>
          </a:xfrm>
          <a:prstGeom prst="rect">
            <a:avLst/>
          </a:prstGeom>
          <a:solidFill>
            <a:srgbClr val="7A6050"/>
          </a:solidFill>
          <a:ln w="12700">
            <a:solidFill>
              <a:srgbClr val="6A5040"/>
            </a:solidFill>
            <a:prstDash val="solid"/>
          </a:ln>
        </p:spPr>
        <p:txBody>
          <a:bodyPr/>
          <a:lstStyle/>
          <a:p>
            <a:endParaRPr lang="en-US"/>
          </a:p>
        </p:txBody>
      </p:sp>
      <p:sp>
        <p:nvSpPr>
          <p:cNvPr id="16" name="Shape 14"/>
          <p:cNvSpPr/>
          <p:nvPr/>
        </p:nvSpPr>
        <p:spPr>
          <a:xfrm>
            <a:off x="6812280" y="1920240"/>
            <a:ext cx="457200" cy="457200"/>
          </a:xfrm>
          <a:prstGeom prst="rect">
            <a:avLst/>
          </a:prstGeom>
          <a:solidFill>
            <a:srgbClr val="7A6050"/>
          </a:solidFill>
          <a:ln w="12700">
            <a:solidFill>
              <a:srgbClr val="6A5040"/>
            </a:solidFill>
            <a:prstDash val="solid"/>
          </a:ln>
        </p:spPr>
        <p:txBody>
          <a:bodyPr/>
          <a:lstStyle/>
          <a:p>
            <a:endParaRPr lang="en-US"/>
          </a:p>
        </p:txBody>
      </p:sp>
      <p:sp>
        <p:nvSpPr>
          <p:cNvPr id="17" name="Shape 15"/>
          <p:cNvSpPr/>
          <p:nvPr/>
        </p:nvSpPr>
        <p:spPr>
          <a:xfrm>
            <a:off x="7315200" y="1920240"/>
            <a:ext cx="457200" cy="457200"/>
          </a:xfrm>
          <a:prstGeom prst="rect">
            <a:avLst/>
          </a:prstGeom>
          <a:solidFill>
            <a:srgbClr val="7A6050"/>
          </a:solidFill>
          <a:ln w="12700">
            <a:solidFill>
              <a:srgbClr val="6A5040"/>
            </a:solidFill>
            <a:prstDash val="solid"/>
          </a:ln>
        </p:spPr>
        <p:txBody>
          <a:bodyPr/>
          <a:lstStyle/>
          <a:p>
            <a:endParaRPr lang="en-US"/>
          </a:p>
        </p:txBody>
      </p:sp>
      <p:sp>
        <p:nvSpPr>
          <p:cNvPr id="18" name="Shape 16"/>
          <p:cNvSpPr/>
          <p:nvPr/>
        </p:nvSpPr>
        <p:spPr>
          <a:xfrm>
            <a:off x="7818120" y="1920240"/>
            <a:ext cx="457200" cy="457200"/>
          </a:xfrm>
          <a:prstGeom prst="rect">
            <a:avLst/>
          </a:prstGeom>
          <a:solidFill>
            <a:srgbClr val="7A6050"/>
          </a:solidFill>
          <a:ln w="12700">
            <a:solidFill>
              <a:srgbClr val="6A5040"/>
            </a:solidFill>
            <a:prstDash val="solid"/>
          </a:ln>
        </p:spPr>
        <p:txBody>
          <a:bodyPr/>
          <a:lstStyle/>
          <a:p>
            <a:endParaRPr lang="en-US"/>
          </a:p>
        </p:txBody>
      </p:sp>
      <p:sp>
        <p:nvSpPr>
          <p:cNvPr id="19" name="Shape 17"/>
          <p:cNvSpPr/>
          <p:nvPr/>
        </p:nvSpPr>
        <p:spPr>
          <a:xfrm>
            <a:off x="5303520" y="1920240"/>
            <a:ext cx="228600" cy="457200"/>
          </a:xfrm>
          <a:prstGeom prst="rect">
            <a:avLst/>
          </a:prstGeom>
          <a:solidFill>
            <a:srgbClr val="5A4035"/>
          </a:solidFill>
          <a:ln w="12700">
            <a:solidFill>
              <a:srgbClr val="4A3025"/>
            </a:solidFill>
            <a:prstDash val="solid"/>
          </a:ln>
        </p:spPr>
        <p:txBody>
          <a:bodyPr/>
          <a:lstStyle/>
          <a:p>
            <a:endParaRPr lang="en-US"/>
          </a:p>
        </p:txBody>
      </p:sp>
      <p:sp>
        <p:nvSpPr>
          <p:cNvPr id="20" name="Shape 18"/>
          <p:cNvSpPr/>
          <p:nvPr/>
        </p:nvSpPr>
        <p:spPr>
          <a:xfrm>
            <a:off x="5577840" y="1554480"/>
            <a:ext cx="457200" cy="457200"/>
          </a:xfrm>
          <a:prstGeom prst="rect">
            <a:avLst/>
          </a:prstGeom>
          <a:solidFill>
            <a:srgbClr val="7A6050"/>
          </a:solidFill>
          <a:ln w="12700">
            <a:solidFill>
              <a:srgbClr val="6A5040"/>
            </a:solidFill>
            <a:prstDash val="solid"/>
          </a:ln>
        </p:spPr>
        <p:txBody>
          <a:bodyPr/>
          <a:lstStyle/>
          <a:p>
            <a:endParaRPr lang="en-US"/>
          </a:p>
        </p:txBody>
      </p:sp>
      <p:sp>
        <p:nvSpPr>
          <p:cNvPr id="21" name="Shape 19"/>
          <p:cNvSpPr/>
          <p:nvPr/>
        </p:nvSpPr>
        <p:spPr>
          <a:xfrm>
            <a:off x="6080760" y="2423160"/>
            <a:ext cx="548640" cy="731520"/>
          </a:xfrm>
          <a:prstGeom prst="rect">
            <a:avLst/>
          </a:prstGeom>
          <a:solidFill>
            <a:srgbClr val="5A7A3C"/>
          </a:solidFill>
          <a:ln w="12700">
            <a:solidFill>
              <a:srgbClr val="4A6A2C"/>
            </a:solidFill>
            <a:prstDash val="solid"/>
          </a:ln>
        </p:spPr>
        <p:txBody>
          <a:bodyPr/>
          <a:lstStyle/>
          <a:p>
            <a:endParaRPr lang="en-US"/>
          </a:p>
        </p:txBody>
      </p:sp>
      <p:sp>
        <p:nvSpPr>
          <p:cNvPr id="22" name="Shape 20"/>
          <p:cNvSpPr/>
          <p:nvPr/>
        </p:nvSpPr>
        <p:spPr>
          <a:xfrm>
            <a:off x="7315200" y="2286000"/>
            <a:ext cx="137160" cy="640080"/>
          </a:xfrm>
          <a:prstGeom prst="rect">
            <a:avLst/>
          </a:prstGeom>
          <a:solidFill>
            <a:srgbClr val="F0C040"/>
          </a:solidFill>
          <a:ln w="12700">
            <a:solidFill>
              <a:srgbClr val="E0B030"/>
            </a:solidFill>
            <a:prstDash val="solid"/>
          </a:ln>
        </p:spPr>
        <p:txBody>
          <a:bodyPr/>
          <a:lstStyle/>
          <a:p>
            <a:endParaRPr lang="en-US"/>
          </a:p>
        </p:txBody>
      </p:sp>
      <p:sp>
        <p:nvSpPr>
          <p:cNvPr id="23" name="Text 21"/>
          <p:cNvSpPr/>
          <p:nvPr/>
        </p:nvSpPr>
        <p:spPr>
          <a:xfrm>
            <a:off x="5120640" y="3154680"/>
            <a:ext cx="3749040" cy="731520"/>
          </a:xfrm>
          <a:prstGeom prst="rect">
            <a:avLst/>
          </a:prstGeom>
          <a:noFill/>
          <a:ln/>
        </p:spPr>
        <p:txBody>
          <a:bodyPr wrap="square" rtlCol="0" anchor="ctr"/>
          <a:lstStyle/>
          <a:p>
            <a:pPr marL="0" indent="0" algn="ctr">
              <a:buNone/>
            </a:pPr>
            <a:r>
              <a:rPr lang="en-US" sz="1400" i="1" dirty="0">
                <a:solidFill>
                  <a:srgbClr val="F4EED8"/>
                </a:solidFill>
                <a:latin typeface="Arial" pitchFamily="34" charset="0"/>
                <a:ea typeface="Arial" pitchFamily="34" charset="-122"/>
                <a:cs typeface="Arial" pitchFamily="34" charset="-120"/>
              </a:rPr>
              <a:t>Atmospheric. Ruined. Alive.</a:t>
            </a:r>
            <a:endParaRPr lang="en-US" sz="1400" dirty="0"/>
          </a:p>
          <a:p>
            <a:pPr marL="0" indent="0" algn="ctr">
              <a:buNone/>
            </a:pPr>
            <a:r>
              <a:rPr lang="en-US" sz="1400" i="1" dirty="0">
                <a:solidFill>
                  <a:srgbClr val="F4EED8"/>
                </a:solidFill>
                <a:latin typeface="Arial" pitchFamily="34" charset="0"/>
                <a:ea typeface="Arial" pitchFamily="34" charset="-122"/>
                <a:cs typeface="Arial" pitchFamily="34" charset="-120"/>
              </a:rPr>
              <a:t>A story in every block.</a:t>
            </a:r>
            <a:endParaRPr lang="en-US" sz="1400" dirty="0"/>
          </a:p>
        </p:txBody>
      </p:sp>
      <p:sp>
        <p:nvSpPr>
          <p:cNvPr id="24" name="Shape 22"/>
          <p:cNvSpPr/>
          <p:nvPr/>
        </p:nvSpPr>
        <p:spPr>
          <a:xfrm>
            <a:off x="274320" y="4114800"/>
            <a:ext cx="8595360" cy="777240"/>
          </a:xfrm>
          <a:prstGeom prst="roundRect">
            <a:avLst>
              <a:gd name="adj" fmla="val 9412"/>
            </a:avLst>
          </a:prstGeom>
          <a:solidFill>
            <a:srgbClr val="243447"/>
          </a:solidFill>
          <a:ln/>
        </p:spPr>
        <p:txBody>
          <a:bodyPr/>
          <a:lstStyle/>
          <a:p>
            <a:endParaRPr lang="en-US"/>
          </a:p>
        </p:txBody>
      </p:sp>
      <p:sp>
        <p:nvSpPr>
          <p:cNvPr id="25" name="Text 23"/>
          <p:cNvSpPr/>
          <p:nvPr/>
        </p:nvSpPr>
        <p:spPr>
          <a:xfrm>
            <a:off x="457200" y="4187952"/>
            <a:ext cx="8229600" cy="621792"/>
          </a:xfrm>
          <a:prstGeom prst="rect">
            <a:avLst/>
          </a:prstGeom>
          <a:noFill/>
          <a:ln/>
        </p:spPr>
        <p:txBody>
          <a:bodyPr wrap="square" rtlCol="0" anchor="ctr"/>
          <a:lstStyle/>
          <a:p>
            <a:pPr marL="0" indent="0">
              <a:buNone/>
            </a:pPr>
            <a:r>
              <a:rPr lang="en-US" sz="1400" dirty="0">
                <a:solidFill>
                  <a:srgbClr val="F4EED8"/>
                </a:solidFill>
                <a:latin typeface="Calibri" pitchFamily="34" charset="0"/>
                <a:ea typeface="Calibri" pitchFamily="34" charset="-122"/>
                <a:cs typeface="Calibri" pitchFamily="34" charset="-120"/>
              </a:rPr>
              <a:t>Discussion: What happened here? Who lived here? Would you want to explore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447"/>
          </a:solidFill>
          <a:ln w="12700">
            <a:solidFill>
              <a:srgbClr val="243447"/>
            </a:solidFill>
            <a:prstDash val="solid"/>
          </a:ln>
        </p:spPr>
        <p:txBody>
          <a:bodyPr/>
          <a:lstStyle/>
          <a:p>
            <a:endParaRPr lang="en-US"/>
          </a:p>
        </p:txBody>
      </p:sp>
      <p:sp>
        <p:nvSpPr>
          <p:cNvPr id="3" name="Text 1"/>
          <p:cNvSpPr/>
          <p:nvPr/>
        </p:nvSpPr>
        <p:spPr>
          <a:xfrm>
            <a:off x="365760" y="45720"/>
            <a:ext cx="8412480" cy="320040"/>
          </a:xfrm>
          <a:prstGeom prst="rect">
            <a:avLst/>
          </a:prstGeom>
          <a:noFill/>
          <a:ln/>
        </p:spPr>
        <p:txBody>
          <a:bodyPr wrap="square" rtlCol="0" anchor="ctr"/>
          <a:lstStyle/>
          <a:p>
            <a:pPr marL="0" indent="0">
              <a:buNone/>
            </a:pPr>
            <a:r>
              <a:rPr lang="en-US" sz="1200" b="1" kern="0" spc="300" dirty="0">
                <a:solidFill>
                  <a:srgbClr val="8B9BB4"/>
                </a:solidFill>
                <a:latin typeface="Arial" pitchFamily="34" charset="0"/>
                <a:ea typeface="Arial" pitchFamily="34" charset="-122"/>
                <a:cs typeface="Arial" pitchFamily="34" charset="-120"/>
              </a:rPr>
              <a:t>MAIN ACTIVITY  ·  PART A  ·  5–20 MIN</a:t>
            </a:r>
            <a:endParaRPr lang="en-US" sz="1200" dirty="0"/>
          </a:p>
        </p:txBody>
      </p:sp>
      <p:sp>
        <p:nvSpPr>
          <p:cNvPr id="4" name="Text 2"/>
          <p:cNvSpPr/>
          <p:nvPr/>
        </p:nvSpPr>
        <p:spPr>
          <a:xfrm>
            <a:off x="365760" y="347472"/>
            <a:ext cx="8412480" cy="3200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Storyboard Your World</a:t>
            </a:r>
            <a:endParaRPr lang="en-US" sz="2000" dirty="0"/>
          </a:p>
        </p:txBody>
      </p:sp>
      <p:sp>
        <p:nvSpPr>
          <p:cNvPr id="5" name="Text 3"/>
          <p:cNvSpPr/>
          <p:nvPr/>
        </p:nvSpPr>
        <p:spPr>
          <a:xfrm>
            <a:off x="365760" y="777240"/>
            <a:ext cx="8412480" cy="320040"/>
          </a:xfrm>
          <a:prstGeom prst="rect">
            <a:avLst/>
          </a:prstGeom>
          <a:noFill/>
          <a:ln/>
        </p:spPr>
        <p:txBody>
          <a:bodyPr wrap="square" rtlCol="0" anchor="ctr"/>
          <a:lstStyle/>
          <a:p>
            <a:pPr marL="0" indent="0">
              <a:buNone/>
            </a:pPr>
            <a:r>
              <a:rPr lang="en-US" sz="1400" i="1" dirty="0">
                <a:solidFill>
                  <a:srgbClr val="F4EED8"/>
                </a:solidFill>
                <a:latin typeface="Arial" pitchFamily="34" charset="0"/>
                <a:ea typeface="Arial" pitchFamily="34" charset="-122"/>
                <a:cs typeface="Arial" pitchFamily="34" charset="-120"/>
              </a:rPr>
              <a:t>On paper — design your 2-area Minecraft world before you build it</a:t>
            </a:r>
            <a:endParaRPr lang="en-US" sz="1400" dirty="0"/>
          </a:p>
        </p:txBody>
      </p:sp>
      <p:sp>
        <p:nvSpPr>
          <p:cNvPr id="6" name="Shape 4"/>
          <p:cNvSpPr/>
          <p:nvPr/>
        </p:nvSpPr>
        <p:spPr>
          <a:xfrm>
            <a:off x="228600" y="1188720"/>
            <a:ext cx="4114800" cy="1417320"/>
          </a:xfrm>
          <a:prstGeom prst="roundRect">
            <a:avLst>
              <a:gd name="adj" fmla="val 5161"/>
            </a:avLst>
          </a:prstGeom>
          <a:solidFill>
            <a:srgbClr val="2D6A4F"/>
          </a:solidFill>
          <a:ln/>
          <a:effectLst>
            <a:outerShdw blurRad="76200" dist="25400" dir="2700000" algn="bl" rotWithShape="0">
              <a:srgbClr val="000000">
                <a:alpha val="30000"/>
              </a:srgbClr>
            </a:outerShdw>
          </a:effectLst>
        </p:spPr>
        <p:txBody>
          <a:bodyPr/>
          <a:lstStyle/>
          <a:p>
            <a:endParaRPr lang="en-US"/>
          </a:p>
        </p:txBody>
      </p:sp>
      <p:sp>
        <p:nvSpPr>
          <p:cNvPr id="7" name="Text 5"/>
          <p:cNvSpPr/>
          <p:nvPr/>
        </p:nvSpPr>
        <p:spPr>
          <a:xfrm>
            <a:off x="365760" y="1280160"/>
            <a:ext cx="3840480" cy="292608"/>
          </a:xfrm>
          <a:prstGeom prst="rect">
            <a:avLst/>
          </a:prstGeom>
          <a:noFill/>
          <a:ln/>
        </p:spPr>
        <p:txBody>
          <a:bodyPr wrap="square" rtlCol="0" anchor="ctr"/>
          <a:lstStyle/>
          <a:p>
            <a:pPr marL="0" indent="0">
              <a:buNone/>
            </a:pPr>
            <a:r>
              <a:rPr lang="en-US" sz="1200" b="1" kern="0" spc="200" dirty="0">
                <a:solidFill>
                  <a:srgbClr val="F0C040"/>
                </a:solidFill>
                <a:latin typeface="Arial" pitchFamily="34" charset="0"/>
                <a:ea typeface="Arial" pitchFamily="34" charset="-122"/>
                <a:cs typeface="Arial" pitchFamily="34" charset="-120"/>
              </a:rPr>
              <a:t>SETTING</a:t>
            </a:r>
            <a:endParaRPr lang="en-US" sz="1200" dirty="0"/>
          </a:p>
        </p:txBody>
      </p:sp>
      <p:sp>
        <p:nvSpPr>
          <p:cNvPr id="8" name="Text 6"/>
          <p:cNvSpPr/>
          <p:nvPr/>
        </p:nvSpPr>
        <p:spPr>
          <a:xfrm>
            <a:off x="365760" y="1572768"/>
            <a:ext cx="3840480" cy="9144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Where does this area take place?</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Ruined castle · Abandoned mine · Flooded swamp village</a:t>
            </a:r>
            <a:endParaRPr lang="en-US" sz="1300" dirty="0"/>
          </a:p>
        </p:txBody>
      </p:sp>
      <p:sp>
        <p:nvSpPr>
          <p:cNvPr id="9" name="Shape 7"/>
          <p:cNvSpPr/>
          <p:nvPr/>
        </p:nvSpPr>
        <p:spPr>
          <a:xfrm>
            <a:off x="4709160" y="1188720"/>
            <a:ext cx="4114800" cy="1417320"/>
          </a:xfrm>
          <a:prstGeom prst="roundRect">
            <a:avLst>
              <a:gd name="adj" fmla="val 5161"/>
            </a:avLst>
          </a:prstGeom>
          <a:solidFill>
            <a:srgbClr val="7B1D1D"/>
          </a:solidFill>
          <a:ln/>
          <a:effectLst>
            <a:outerShdw blurRad="76200" dist="25400" dir="2700000" algn="bl" rotWithShape="0">
              <a:srgbClr val="000000">
                <a:alpha val="30000"/>
              </a:srgbClr>
            </a:outerShdw>
          </a:effectLst>
        </p:spPr>
        <p:txBody>
          <a:bodyPr/>
          <a:lstStyle/>
          <a:p>
            <a:endParaRPr lang="en-US"/>
          </a:p>
        </p:txBody>
      </p:sp>
      <p:sp>
        <p:nvSpPr>
          <p:cNvPr id="10" name="Text 8"/>
          <p:cNvSpPr/>
          <p:nvPr/>
        </p:nvSpPr>
        <p:spPr>
          <a:xfrm>
            <a:off x="4846320" y="1280160"/>
            <a:ext cx="3840480" cy="292608"/>
          </a:xfrm>
          <a:prstGeom prst="rect">
            <a:avLst/>
          </a:prstGeom>
          <a:noFill/>
          <a:ln/>
        </p:spPr>
        <p:txBody>
          <a:bodyPr wrap="square" rtlCol="0" anchor="ctr"/>
          <a:lstStyle/>
          <a:p>
            <a:pPr marL="0" indent="0">
              <a:buNone/>
            </a:pPr>
            <a:r>
              <a:rPr lang="en-US" sz="1200" b="1" kern="0" spc="200" dirty="0">
                <a:solidFill>
                  <a:srgbClr val="F0C040"/>
                </a:solidFill>
                <a:latin typeface="Arial" pitchFamily="34" charset="0"/>
                <a:ea typeface="Arial" pitchFamily="34" charset="-122"/>
                <a:cs typeface="Arial" pitchFamily="34" charset="-120"/>
              </a:rPr>
              <a:t>CONFLICT</a:t>
            </a:r>
            <a:endParaRPr lang="en-US" sz="1200" dirty="0"/>
          </a:p>
        </p:txBody>
      </p:sp>
      <p:sp>
        <p:nvSpPr>
          <p:cNvPr id="11" name="Text 9"/>
          <p:cNvSpPr/>
          <p:nvPr/>
        </p:nvSpPr>
        <p:spPr>
          <a:xfrm>
            <a:off x="4846320" y="1572768"/>
            <a:ext cx="3840480" cy="9144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What challenge or danger exists?</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What threat does the player face?</a:t>
            </a:r>
            <a:endParaRPr lang="en-US" sz="1300" dirty="0"/>
          </a:p>
        </p:txBody>
      </p:sp>
      <p:sp>
        <p:nvSpPr>
          <p:cNvPr id="12" name="Shape 10"/>
          <p:cNvSpPr/>
          <p:nvPr/>
        </p:nvSpPr>
        <p:spPr>
          <a:xfrm>
            <a:off x="228600" y="2788920"/>
            <a:ext cx="4114800" cy="1417320"/>
          </a:xfrm>
          <a:prstGeom prst="roundRect">
            <a:avLst>
              <a:gd name="adj" fmla="val 5161"/>
            </a:avLst>
          </a:prstGeom>
          <a:solidFill>
            <a:srgbClr val="1A4A7A"/>
          </a:solidFill>
          <a:ln/>
          <a:effectLst>
            <a:outerShdw blurRad="76200" dist="25400" dir="2700000" algn="bl" rotWithShape="0">
              <a:srgbClr val="000000">
                <a:alpha val="30000"/>
              </a:srgbClr>
            </a:outerShdw>
          </a:effectLst>
        </p:spPr>
        <p:txBody>
          <a:bodyPr/>
          <a:lstStyle/>
          <a:p>
            <a:endParaRPr lang="en-US"/>
          </a:p>
        </p:txBody>
      </p:sp>
      <p:sp>
        <p:nvSpPr>
          <p:cNvPr id="13" name="Text 11"/>
          <p:cNvSpPr/>
          <p:nvPr/>
        </p:nvSpPr>
        <p:spPr>
          <a:xfrm>
            <a:off x="365760" y="2880360"/>
            <a:ext cx="3840480" cy="292608"/>
          </a:xfrm>
          <a:prstGeom prst="rect">
            <a:avLst/>
          </a:prstGeom>
          <a:noFill/>
          <a:ln/>
        </p:spPr>
        <p:txBody>
          <a:bodyPr wrap="square" rtlCol="0" anchor="ctr"/>
          <a:lstStyle/>
          <a:p>
            <a:pPr marL="0" indent="0">
              <a:buNone/>
            </a:pPr>
            <a:r>
              <a:rPr lang="en-US" sz="1200" b="1" kern="0" spc="200" dirty="0">
                <a:solidFill>
                  <a:srgbClr val="F0C040"/>
                </a:solidFill>
                <a:latin typeface="Arial" pitchFamily="34" charset="0"/>
                <a:ea typeface="Arial" pitchFamily="34" charset="-122"/>
                <a:cs typeface="Arial" pitchFamily="34" charset="-120"/>
              </a:rPr>
              <a:t>PLAYER GOAL</a:t>
            </a:r>
            <a:endParaRPr lang="en-US" sz="1200" dirty="0"/>
          </a:p>
        </p:txBody>
      </p:sp>
      <p:sp>
        <p:nvSpPr>
          <p:cNvPr id="14" name="Text 12"/>
          <p:cNvSpPr/>
          <p:nvPr/>
        </p:nvSpPr>
        <p:spPr>
          <a:xfrm>
            <a:off x="365760" y="3172968"/>
            <a:ext cx="3840480" cy="9144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What is the player trying to achieve?</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Escape · Find artifact · Defeat · Discover</a:t>
            </a:r>
            <a:endParaRPr lang="en-US" sz="1300" dirty="0"/>
          </a:p>
        </p:txBody>
      </p:sp>
      <p:sp>
        <p:nvSpPr>
          <p:cNvPr id="15" name="Shape 13"/>
          <p:cNvSpPr/>
          <p:nvPr/>
        </p:nvSpPr>
        <p:spPr>
          <a:xfrm>
            <a:off x="4709160" y="2788920"/>
            <a:ext cx="4114800" cy="1417320"/>
          </a:xfrm>
          <a:prstGeom prst="roundRect">
            <a:avLst>
              <a:gd name="adj" fmla="val 5161"/>
            </a:avLst>
          </a:prstGeom>
          <a:solidFill>
            <a:srgbClr val="6B4A0A"/>
          </a:solidFill>
          <a:ln/>
          <a:effectLst>
            <a:outerShdw blurRad="76200" dist="25400" dir="2700000" algn="bl" rotWithShape="0">
              <a:srgbClr val="000000">
                <a:alpha val="30000"/>
              </a:srgbClr>
            </a:outerShdw>
          </a:effectLst>
        </p:spPr>
        <p:txBody>
          <a:bodyPr/>
          <a:lstStyle/>
          <a:p>
            <a:endParaRPr lang="en-US"/>
          </a:p>
        </p:txBody>
      </p:sp>
      <p:sp>
        <p:nvSpPr>
          <p:cNvPr id="16" name="Text 14"/>
          <p:cNvSpPr/>
          <p:nvPr/>
        </p:nvSpPr>
        <p:spPr>
          <a:xfrm>
            <a:off x="4846320" y="2880360"/>
            <a:ext cx="3840480" cy="292608"/>
          </a:xfrm>
          <a:prstGeom prst="rect">
            <a:avLst/>
          </a:prstGeom>
          <a:noFill/>
          <a:ln/>
        </p:spPr>
        <p:txBody>
          <a:bodyPr wrap="square" rtlCol="0" anchor="ctr"/>
          <a:lstStyle/>
          <a:p>
            <a:pPr marL="0" indent="0">
              <a:buNone/>
            </a:pPr>
            <a:r>
              <a:rPr lang="en-US" sz="1200" b="1" kern="0" spc="200" dirty="0">
                <a:solidFill>
                  <a:srgbClr val="F0C040"/>
                </a:solidFill>
                <a:latin typeface="Arial" pitchFamily="34" charset="0"/>
                <a:ea typeface="Arial" pitchFamily="34" charset="-122"/>
                <a:cs typeface="Arial" pitchFamily="34" charset="-120"/>
              </a:rPr>
              <a:t>3 VISUAL CLUES</a:t>
            </a:r>
            <a:endParaRPr lang="en-US" sz="1200" dirty="0"/>
          </a:p>
        </p:txBody>
      </p:sp>
      <p:sp>
        <p:nvSpPr>
          <p:cNvPr id="17" name="Text 15"/>
          <p:cNvSpPr/>
          <p:nvPr/>
        </p:nvSpPr>
        <p:spPr>
          <a:xfrm>
            <a:off x="4846320" y="3172968"/>
            <a:ext cx="3840480" cy="9144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What blocks, lighting, or damage hints at this world's history?</a:t>
            </a:r>
            <a:endParaRPr lang="en-US" sz="1300" dirty="0"/>
          </a:p>
        </p:txBody>
      </p:sp>
      <p:sp>
        <p:nvSpPr>
          <p:cNvPr id="18" name="Shape 16"/>
          <p:cNvSpPr/>
          <p:nvPr/>
        </p:nvSpPr>
        <p:spPr>
          <a:xfrm>
            <a:off x="228600" y="4370832"/>
            <a:ext cx="8686800" cy="576072"/>
          </a:xfrm>
          <a:prstGeom prst="roundRect">
            <a:avLst>
              <a:gd name="adj" fmla="val 9524"/>
            </a:avLst>
          </a:prstGeom>
          <a:solidFill>
            <a:srgbClr val="1A3A5A"/>
          </a:solidFill>
          <a:ln/>
        </p:spPr>
        <p:txBody>
          <a:bodyPr/>
          <a:lstStyle/>
          <a:p>
            <a:endParaRPr lang="en-US"/>
          </a:p>
        </p:txBody>
      </p:sp>
      <p:sp>
        <p:nvSpPr>
          <p:cNvPr id="19" name="Text 17"/>
          <p:cNvSpPr/>
          <p:nvPr/>
        </p:nvSpPr>
        <p:spPr>
          <a:xfrm>
            <a:off x="411480" y="4434840"/>
            <a:ext cx="8321040" cy="457200"/>
          </a:xfrm>
          <a:prstGeom prst="rect">
            <a:avLst/>
          </a:prstGeom>
          <a:noFill/>
          <a:ln/>
        </p:spPr>
        <p:txBody>
          <a:bodyPr wrap="square" rtlCol="0" anchor="ctr"/>
          <a:lstStyle/>
          <a:p>
            <a:pPr marL="0" indent="0">
              <a:buNone/>
            </a:pPr>
            <a:r>
              <a:rPr lang="en-US" sz="1200" i="1" dirty="0">
                <a:solidFill>
                  <a:srgbClr val="F4EED8"/>
                </a:solidFill>
                <a:latin typeface="Calibri" pitchFamily="34" charset="0"/>
                <a:ea typeface="Calibri" pitchFamily="34" charset="-122"/>
                <a:cs typeface="Calibri" pitchFamily="34" charset="-120"/>
              </a:rPr>
              <a:t>Worksheet: Draw or sketch your area · Label 3 environmental details · Write how the player should FEEL walking in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447"/>
          </a:solidFill>
          <a:ln w="12700">
            <a:solidFill>
              <a:srgbClr val="243447"/>
            </a:solidFill>
            <a:prstDash val="solid"/>
          </a:ln>
        </p:spPr>
        <p:txBody>
          <a:bodyPr/>
          <a:lstStyle/>
          <a:p>
            <a:endParaRPr lang="en-US"/>
          </a:p>
        </p:txBody>
      </p:sp>
      <p:sp>
        <p:nvSpPr>
          <p:cNvPr id="3" name="Text 1"/>
          <p:cNvSpPr/>
          <p:nvPr/>
        </p:nvSpPr>
        <p:spPr>
          <a:xfrm>
            <a:off x="365760" y="45720"/>
            <a:ext cx="8412480" cy="320040"/>
          </a:xfrm>
          <a:prstGeom prst="rect">
            <a:avLst/>
          </a:prstGeom>
          <a:noFill/>
          <a:ln/>
        </p:spPr>
        <p:txBody>
          <a:bodyPr wrap="square" rtlCol="0" anchor="ctr"/>
          <a:lstStyle/>
          <a:p>
            <a:pPr marL="0" indent="0">
              <a:buNone/>
            </a:pPr>
            <a:r>
              <a:rPr lang="en-US" sz="1200" b="1" kern="0" spc="300" dirty="0">
                <a:solidFill>
                  <a:srgbClr val="8B9BB4"/>
                </a:solidFill>
                <a:latin typeface="Arial" pitchFamily="34" charset="0"/>
                <a:ea typeface="Arial" pitchFamily="34" charset="-122"/>
                <a:cs typeface="Arial" pitchFamily="34" charset="-120"/>
              </a:rPr>
              <a:t>MAIN ACTIVITY  ·  PART B  ·  20–50 MIN</a:t>
            </a:r>
            <a:endParaRPr lang="en-US" sz="1200" dirty="0"/>
          </a:p>
        </p:txBody>
      </p:sp>
      <p:sp>
        <p:nvSpPr>
          <p:cNvPr id="4" name="Text 2"/>
          <p:cNvSpPr/>
          <p:nvPr/>
        </p:nvSpPr>
        <p:spPr>
          <a:xfrm>
            <a:off x="365760" y="347472"/>
            <a:ext cx="8412480" cy="3200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Build It in Minecraft Education</a:t>
            </a:r>
            <a:endParaRPr lang="en-US" sz="2000" dirty="0"/>
          </a:p>
        </p:txBody>
      </p:sp>
      <p:sp>
        <p:nvSpPr>
          <p:cNvPr id="5" name="Shape 3"/>
          <p:cNvSpPr/>
          <p:nvPr/>
        </p:nvSpPr>
        <p:spPr>
          <a:xfrm>
            <a:off x="228600" y="822960"/>
            <a:ext cx="4160520" cy="3383280"/>
          </a:xfrm>
          <a:prstGeom prst="roundRect">
            <a:avLst>
              <a:gd name="adj" fmla="val 2162"/>
            </a:avLst>
          </a:prstGeom>
          <a:solidFill>
            <a:srgbClr val="243447"/>
          </a:solidFill>
          <a:ln/>
          <a:effectLst>
            <a:outerShdw blurRad="76200" dist="25400" dir="2700000" algn="bl" rotWithShape="0">
              <a:srgbClr val="000000">
                <a:alpha val="25000"/>
              </a:srgbClr>
            </a:outerShdw>
          </a:effectLst>
        </p:spPr>
        <p:txBody>
          <a:bodyPr/>
          <a:lstStyle/>
          <a:p>
            <a:endParaRPr lang="en-US"/>
          </a:p>
        </p:txBody>
      </p:sp>
      <p:sp>
        <p:nvSpPr>
          <p:cNvPr id="6" name="Text 4"/>
          <p:cNvSpPr/>
          <p:nvPr/>
        </p:nvSpPr>
        <p:spPr>
          <a:xfrm>
            <a:off x="411480" y="896112"/>
            <a:ext cx="3794760" cy="347472"/>
          </a:xfrm>
          <a:prstGeom prst="rect">
            <a:avLst/>
          </a:prstGeom>
          <a:noFill/>
          <a:ln/>
        </p:spPr>
        <p:txBody>
          <a:bodyPr wrap="square" rtlCol="0" anchor="ctr"/>
          <a:lstStyle/>
          <a:p>
            <a:pPr marL="0" indent="0">
              <a:buNone/>
            </a:pPr>
            <a:r>
              <a:rPr lang="en-US" sz="1300" b="1" dirty="0">
                <a:solidFill>
                  <a:srgbClr val="F0C040"/>
                </a:solidFill>
                <a:latin typeface="Arial" pitchFamily="34" charset="0"/>
                <a:ea typeface="Arial" pitchFamily="34" charset="-122"/>
                <a:cs typeface="Arial" pitchFamily="34" charset="-120"/>
              </a:rPr>
              <a:t>TASK 1 — Environmental Details</a:t>
            </a:r>
            <a:endParaRPr lang="en-US" sz="1300" dirty="0"/>
          </a:p>
        </p:txBody>
      </p:sp>
      <p:sp>
        <p:nvSpPr>
          <p:cNvPr id="7" name="Text 5"/>
          <p:cNvSpPr/>
          <p:nvPr/>
        </p:nvSpPr>
        <p:spPr>
          <a:xfrm>
            <a:off x="411480" y="1280160"/>
            <a:ext cx="3794760" cy="27432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Open your Minecraft Education world
Add blocks that reflect your story:
</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Cracked/mossy stone — suggest age &amp; decay</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Chests, broken fences, fallen leaves</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Torches = warm/safe  |  Dark = danger</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Water, lava, vines for atmosphere</a:t>
            </a:r>
            <a:endParaRPr lang="en-US" sz="1300" dirty="0"/>
          </a:p>
          <a:p>
            <a:pPr marL="0" indent="0">
              <a:buNone/>
            </a:pP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Each detail should hint at history</a:t>
            </a:r>
            <a:endParaRPr lang="en-US" sz="1300" dirty="0"/>
          </a:p>
        </p:txBody>
      </p:sp>
      <p:sp>
        <p:nvSpPr>
          <p:cNvPr id="8" name="Shape 6"/>
          <p:cNvSpPr/>
          <p:nvPr/>
        </p:nvSpPr>
        <p:spPr>
          <a:xfrm>
            <a:off x="4754880" y="822960"/>
            <a:ext cx="4160520" cy="3383280"/>
          </a:xfrm>
          <a:prstGeom prst="roundRect">
            <a:avLst>
              <a:gd name="adj" fmla="val 2162"/>
            </a:avLst>
          </a:prstGeom>
          <a:solidFill>
            <a:srgbClr val="243447"/>
          </a:solidFill>
          <a:ln/>
          <a:effectLst>
            <a:outerShdw blurRad="76200" dist="25400" dir="2700000" algn="bl" rotWithShape="0">
              <a:srgbClr val="000000">
                <a:alpha val="25000"/>
              </a:srgbClr>
            </a:outerShdw>
          </a:effectLst>
        </p:spPr>
        <p:txBody>
          <a:bodyPr/>
          <a:lstStyle/>
          <a:p>
            <a:endParaRPr lang="en-US"/>
          </a:p>
        </p:txBody>
      </p:sp>
      <p:sp>
        <p:nvSpPr>
          <p:cNvPr id="9" name="Text 7"/>
          <p:cNvSpPr/>
          <p:nvPr/>
        </p:nvSpPr>
        <p:spPr>
          <a:xfrm>
            <a:off x="4937760" y="896112"/>
            <a:ext cx="3794760" cy="347472"/>
          </a:xfrm>
          <a:prstGeom prst="rect">
            <a:avLst/>
          </a:prstGeom>
          <a:noFill/>
          <a:ln/>
        </p:spPr>
        <p:txBody>
          <a:bodyPr wrap="square" rtlCol="0" anchor="ctr"/>
          <a:lstStyle/>
          <a:p>
            <a:pPr marL="0" indent="0">
              <a:buNone/>
            </a:pPr>
            <a:r>
              <a:rPr lang="en-US" sz="1300" b="1" dirty="0">
                <a:solidFill>
                  <a:srgbClr val="F0C040"/>
                </a:solidFill>
                <a:latin typeface="Arial" pitchFamily="34" charset="0"/>
                <a:ea typeface="Arial" pitchFamily="34" charset="-122"/>
                <a:cs typeface="Arial" pitchFamily="34" charset="-120"/>
              </a:rPr>
              <a:t>TASK 2 — NPC Dialogue &amp; Lore</a:t>
            </a:r>
            <a:endParaRPr lang="en-US" sz="1300" dirty="0"/>
          </a:p>
        </p:txBody>
      </p:sp>
      <p:sp>
        <p:nvSpPr>
          <p:cNvPr id="10" name="Text 8"/>
          <p:cNvSpPr/>
          <p:nvPr/>
        </p:nvSpPr>
        <p:spPr>
          <a:xfrm>
            <a:off x="4937760" y="1280160"/>
            <a:ext cx="3794760" cy="1828800"/>
          </a:xfrm>
          <a:prstGeom prst="rect">
            <a:avLst/>
          </a:prstGeom>
          <a:noFill/>
          <a:ln/>
        </p:spPr>
        <p:txBody>
          <a:bodyPr wrap="square" rtlCol="0" anchor="ctr"/>
          <a:lstStyle/>
          <a:p>
            <a:pPr marL="0" indent="0">
              <a:buNone/>
            </a:pPr>
            <a:r>
              <a:rPr lang="en-US" sz="1200" dirty="0">
                <a:solidFill>
                  <a:srgbClr val="FFFFFF"/>
                </a:solidFill>
                <a:latin typeface="Courier New" pitchFamily="34" charset="0"/>
                <a:ea typeface="Courier New" pitchFamily="34" charset="-122"/>
                <a:cs typeface="Courier New" pitchFamily="34" charset="-120"/>
              </a:rPr>
              <a:t>1. Switch to Creative Mode</a:t>
            </a:r>
            <a:endParaRPr lang="en-US" sz="1200" dirty="0"/>
          </a:p>
          <a:p>
            <a:pPr marL="0" indent="0">
              <a:buNone/>
            </a:pPr>
            <a:r>
              <a:rPr lang="en-US" sz="1200" dirty="0">
                <a:solidFill>
                  <a:srgbClr val="FFFFFF"/>
                </a:solidFill>
                <a:latin typeface="Courier New" pitchFamily="34" charset="0"/>
                <a:ea typeface="Courier New" pitchFamily="34" charset="-122"/>
                <a:cs typeface="Courier New" pitchFamily="34" charset="-120"/>
              </a:rPr>
              <a:t>   /gamemode creative
</a:t>
            </a:r>
            <a:endParaRPr lang="en-US" sz="1200" dirty="0"/>
          </a:p>
          <a:p>
            <a:pPr marL="0" indent="0">
              <a:buNone/>
            </a:pPr>
            <a:r>
              <a:rPr lang="en-US" sz="1200" dirty="0">
                <a:solidFill>
                  <a:srgbClr val="FFFFFF"/>
                </a:solidFill>
                <a:latin typeface="Courier New" pitchFamily="34" charset="0"/>
                <a:ea typeface="Courier New" pitchFamily="34" charset="-122"/>
                <a:cs typeface="Courier New" pitchFamily="34" charset="-120"/>
              </a:rPr>
              <a:t>2. Get NPC Spawn Egg from</a:t>
            </a:r>
            <a:endParaRPr lang="en-US" sz="1200" dirty="0"/>
          </a:p>
          <a:p>
            <a:pPr marL="0" indent="0">
              <a:buNone/>
            </a:pPr>
            <a:r>
              <a:rPr lang="en-US" sz="1200" dirty="0">
                <a:solidFill>
                  <a:srgbClr val="FFFFFF"/>
                </a:solidFill>
                <a:latin typeface="Courier New" pitchFamily="34" charset="0"/>
                <a:ea typeface="Courier New" pitchFamily="34" charset="-122"/>
                <a:cs typeface="Courier New" pitchFamily="34" charset="-120"/>
              </a:rPr>
              <a:t>   Education features panel
</a:t>
            </a:r>
            <a:endParaRPr lang="en-US" sz="1200" dirty="0"/>
          </a:p>
          <a:p>
            <a:pPr marL="0" indent="0">
              <a:buNone/>
            </a:pPr>
            <a:r>
              <a:rPr lang="en-US" sz="1200" dirty="0">
                <a:solidFill>
                  <a:srgbClr val="FFFFFF"/>
                </a:solidFill>
                <a:latin typeface="Courier New" pitchFamily="34" charset="0"/>
                <a:ea typeface="Courier New" pitchFamily="34" charset="-122"/>
                <a:cs typeface="Courier New" pitchFamily="34" charset="-120"/>
              </a:rPr>
              <a:t>3. Right-click NPC → Edit</a:t>
            </a:r>
            <a:endParaRPr lang="en-US" sz="1200" dirty="0"/>
          </a:p>
          <a:p>
            <a:pPr marL="0" indent="0">
              <a:buNone/>
            </a:pPr>
            <a:r>
              <a:rPr lang="en-US" sz="1200" dirty="0">
                <a:solidFill>
                  <a:srgbClr val="FFFFFF"/>
                </a:solidFill>
                <a:latin typeface="Courier New" pitchFamily="34" charset="0"/>
                <a:ea typeface="Courier New" pitchFamily="34" charset="-122"/>
                <a:cs typeface="Courier New" pitchFamily="34" charset="-120"/>
              </a:rPr>
              <a:t>   → Enter dialogue text
</a:t>
            </a:r>
            <a:endParaRPr lang="en-US" sz="1200" dirty="0"/>
          </a:p>
        </p:txBody>
      </p:sp>
      <p:sp>
        <p:nvSpPr>
          <p:cNvPr id="11" name="Shape 9"/>
          <p:cNvSpPr/>
          <p:nvPr/>
        </p:nvSpPr>
        <p:spPr>
          <a:xfrm>
            <a:off x="4846320" y="3246120"/>
            <a:ext cx="3977640" cy="777240"/>
          </a:xfrm>
          <a:prstGeom prst="roundRect">
            <a:avLst>
              <a:gd name="adj" fmla="val 7059"/>
            </a:avLst>
          </a:prstGeom>
          <a:solidFill>
            <a:srgbClr val="1A3A1A"/>
          </a:solidFill>
          <a:ln/>
        </p:spPr>
        <p:txBody>
          <a:bodyPr/>
          <a:lstStyle/>
          <a:p>
            <a:endParaRPr lang="en-US"/>
          </a:p>
        </p:txBody>
      </p:sp>
      <p:sp>
        <p:nvSpPr>
          <p:cNvPr id="12" name="Text 10"/>
          <p:cNvSpPr/>
          <p:nvPr/>
        </p:nvSpPr>
        <p:spPr>
          <a:xfrm>
            <a:off x="4983480" y="3310128"/>
            <a:ext cx="3703320" cy="640080"/>
          </a:xfrm>
          <a:prstGeom prst="rect">
            <a:avLst/>
          </a:prstGeom>
          <a:noFill/>
          <a:ln/>
        </p:spPr>
        <p:txBody>
          <a:bodyPr wrap="square" rtlCol="0" anchor="ctr"/>
          <a:lstStyle/>
          <a:p>
            <a:pPr marL="0" indent="0">
              <a:buNone/>
            </a:pPr>
            <a:r>
              <a:rPr lang="en-US" sz="1200" i="1" dirty="0">
                <a:solidFill>
                  <a:srgbClr val="F4EED8"/>
                </a:solidFill>
                <a:latin typeface="Calibri" pitchFamily="34" charset="0"/>
                <a:ea typeface="Calibri" pitchFamily="34" charset="-122"/>
                <a:cs typeface="Calibri" pitchFamily="34" charset="-120"/>
              </a:rPr>
              <a:t>"They said the forge went cold the night the king disappeared…"</a:t>
            </a:r>
            <a:endParaRPr lang="en-US" sz="1200" dirty="0"/>
          </a:p>
        </p:txBody>
      </p:sp>
      <p:sp>
        <p:nvSpPr>
          <p:cNvPr id="13" name="Shape 11"/>
          <p:cNvSpPr/>
          <p:nvPr/>
        </p:nvSpPr>
        <p:spPr>
          <a:xfrm>
            <a:off x="228600" y="4297680"/>
            <a:ext cx="8686800" cy="594360"/>
          </a:xfrm>
          <a:prstGeom prst="roundRect">
            <a:avLst>
              <a:gd name="adj" fmla="val 9231"/>
            </a:avLst>
          </a:prstGeom>
          <a:solidFill>
            <a:srgbClr val="1A3A5A"/>
          </a:solidFill>
          <a:ln/>
        </p:spPr>
        <p:txBody>
          <a:bodyPr/>
          <a:lstStyle/>
          <a:p>
            <a:endParaRPr lang="en-US"/>
          </a:p>
        </p:txBody>
      </p:sp>
      <p:sp>
        <p:nvSpPr>
          <p:cNvPr id="14" name="Text 12"/>
          <p:cNvSpPr/>
          <p:nvPr/>
        </p:nvSpPr>
        <p:spPr>
          <a:xfrm>
            <a:off x="411480" y="4361688"/>
            <a:ext cx="8321040" cy="475488"/>
          </a:xfrm>
          <a:prstGeom prst="rect">
            <a:avLst/>
          </a:prstGeom>
          <a:noFill/>
          <a:ln/>
        </p:spPr>
        <p:txBody>
          <a:bodyPr wrap="square" rtlCol="0" anchor="ctr"/>
          <a:lstStyle/>
          <a:p>
            <a:pPr marL="0" indent="0">
              <a:buNone/>
            </a:pPr>
            <a:r>
              <a:rPr lang="en-US" sz="1300" i="1" dirty="0">
                <a:solidFill>
                  <a:srgbClr val="F4EED8"/>
                </a:solidFill>
                <a:latin typeface="Calibri" pitchFamily="34" charset="0"/>
                <a:ea typeface="Calibri" pitchFamily="34" charset="-122"/>
                <a:cs typeface="Calibri" pitchFamily="34" charset="-120"/>
              </a:rPr>
              <a:t>NPC dialogue should reveal LORE — not explain game controls. Make players curious, not informed.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D2D2D"/>
          </a:solidFill>
          <a:ln w="12700">
            <a:solidFill>
              <a:srgbClr val="2D2D2D"/>
            </a:solidFill>
            <a:prstDash val="solid"/>
          </a:ln>
        </p:spPr>
        <p:txBody>
          <a:bodyPr/>
          <a:lstStyle/>
          <a:p>
            <a:endParaRPr lang="en-US"/>
          </a:p>
        </p:txBody>
      </p:sp>
      <p:sp>
        <p:nvSpPr>
          <p:cNvPr id="3" name="Text 1"/>
          <p:cNvSpPr/>
          <p:nvPr/>
        </p:nvSpPr>
        <p:spPr>
          <a:xfrm>
            <a:off x="365760" y="45720"/>
            <a:ext cx="8229600" cy="292608"/>
          </a:xfrm>
          <a:prstGeom prst="rect">
            <a:avLst/>
          </a:prstGeom>
          <a:noFill/>
          <a:ln/>
        </p:spPr>
        <p:txBody>
          <a:bodyPr wrap="square" rtlCol="0" anchor="ctr"/>
          <a:lstStyle/>
          <a:p>
            <a:pPr marL="0" indent="0">
              <a:buNone/>
            </a:pPr>
            <a:r>
              <a:rPr lang="en-US" sz="1100" b="1" kern="0" spc="400" dirty="0">
                <a:solidFill>
                  <a:srgbClr val="8B9BB4"/>
                </a:solidFill>
                <a:latin typeface="Arial" pitchFamily="34" charset="0"/>
                <a:ea typeface="Arial" pitchFamily="34" charset="-122"/>
                <a:cs typeface="Arial" pitchFamily="34" charset="-120"/>
              </a:rPr>
              <a:t>GAME DESIGN CONCEPT</a:t>
            </a:r>
            <a:endParaRPr lang="en-US" sz="1100" dirty="0"/>
          </a:p>
        </p:txBody>
      </p:sp>
      <p:sp>
        <p:nvSpPr>
          <p:cNvPr id="4" name="Text 2"/>
          <p:cNvSpPr/>
          <p:nvPr/>
        </p:nvSpPr>
        <p:spPr>
          <a:xfrm>
            <a:off x="365760" y="320040"/>
            <a:ext cx="8229600" cy="347472"/>
          </a:xfrm>
          <a:prstGeom prst="rect">
            <a:avLst/>
          </a:prstGeom>
          <a:noFill/>
          <a:ln/>
        </p:spPr>
        <p:txBody>
          <a:bodyPr wrap="square" rtlCol="0" anchor="ctr"/>
          <a:lstStyle/>
          <a:p>
            <a:pPr marL="0" indent="0">
              <a:buNone/>
            </a:pPr>
            <a:r>
              <a:rPr lang="en-US" sz="2200" b="1" dirty="0">
                <a:solidFill>
                  <a:srgbClr val="F0C040"/>
                </a:solidFill>
                <a:latin typeface="Cambria" pitchFamily="34" charset="0"/>
                <a:ea typeface="Cambria" pitchFamily="34" charset="-122"/>
                <a:cs typeface="Cambria" pitchFamily="34" charset="-120"/>
              </a:rPr>
              <a:t>"Show, Don't Tell"</a:t>
            </a:r>
            <a:endParaRPr lang="en-US" sz="2200" dirty="0"/>
          </a:p>
        </p:txBody>
      </p:sp>
      <p:sp>
        <p:nvSpPr>
          <p:cNvPr id="5" name="Text 3"/>
          <p:cNvSpPr/>
          <p:nvPr/>
        </p:nvSpPr>
        <p:spPr>
          <a:xfrm>
            <a:off x="365760" y="777240"/>
            <a:ext cx="8412480" cy="347472"/>
          </a:xfrm>
          <a:prstGeom prst="rect">
            <a:avLst/>
          </a:prstGeom>
          <a:noFill/>
          <a:ln/>
        </p:spPr>
        <p:txBody>
          <a:bodyPr wrap="square" rtlCol="0" anchor="ctr"/>
          <a:lstStyle/>
          <a:p>
            <a:pPr marL="0" indent="0">
              <a:buNone/>
            </a:pPr>
            <a:r>
              <a:rPr lang="en-US" sz="1500" dirty="0">
                <a:solidFill>
                  <a:srgbClr val="F4EED8"/>
                </a:solidFill>
                <a:latin typeface="Arial" pitchFamily="34" charset="0"/>
                <a:ea typeface="Arial" pitchFamily="34" charset="-122"/>
                <a:cs typeface="Arial" pitchFamily="34" charset="-120"/>
              </a:rPr>
              <a:t>Great games reveal story through the world itself — not just signs and dialogue.</a:t>
            </a:r>
            <a:endParaRPr lang="en-US" sz="1500" dirty="0"/>
          </a:p>
        </p:txBody>
      </p:sp>
      <p:sp>
        <p:nvSpPr>
          <p:cNvPr id="6" name="Shape 4"/>
          <p:cNvSpPr/>
          <p:nvPr/>
        </p:nvSpPr>
        <p:spPr>
          <a:xfrm>
            <a:off x="228600" y="1188720"/>
            <a:ext cx="3931920" cy="411480"/>
          </a:xfrm>
          <a:prstGeom prst="rect">
            <a:avLst/>
          </a:prstGeom>
          <a:solidFill>
            <a:srgbClr val="C0392B"/>
          </a:solidFill>
          <a:ln w="12700">
            <a:solidFill>
              <a:srgbClr val="C0392B"/>
            </a:solidFill>
            <a:prstDash val="solid"/>
          </a:ln>
        </p:spPr>
        <p:txBody>
          <a:bodyPr/>
          <a:lstStyle/>
          <a:p>
            <a:endParaRPr lang="en-US"/>
          </a:p>
        </p:txBody>
      </p:sp>
      <p:sp>
        <p:nvSpPr>
          <p:cNvPr id="7" name="Text 5"/>
          <p:cNvSpPr/>
          <p:nvPr/>
        </p:nvSpPr>
        <p:spPr>
          <a:xfrm>
            <a:off x="228600" y="1188720"/>
            <a:ext cx="3931920" cy="41148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TELL (weak)</a:t>
            </a:r>
            <a:endParaRPr lang="en-US" sz="1400" dirty="0"/>
          </a:p>
        </p:txBody>
      </p:sp>
      <p:sp>
        <p:nvSpPr>
          <p:cNvPr id="8" name="Shape 6"/>
          <p:cNvSpPr/>
          <p:nvPr/>
        </p:nvSpPr>
        <p:spPr>
          <a:xfrm>
            <a:off x="4983480" y="1188720"/>
            <a:ext cx="3931920" cy="411480"/>
          </a:xfrm>
          <a:prstGeom prst="rect">
            <a:avLst/>
          </a:prstGeom>
          <a:solidFill>
            <a:srgbClr val="27AE60"/>
          </a:solidFill>
          <a:ln w="12700">
            <a:solidFill>
              <a:srgbClr val="27AE60"/>
            </a:solidFill>
            <a:prstDash val="solid"/>
          </a:ln>
        </p:spPr>
        <p:txBody>
          <a:bodyPr/>
          <a:lstStyle/>
          <a:p>
            <a:endParaRPr lang="en-US"/>
          </a:p>
        </p:txBody>
      </p:sp>
      <p:sp>
        <p:nvSpPr>
          <p:cNvPr id="9" name="Text 7"/>
          <p:cNvSpPr/>
          <p:nvPr/>
        </p:nvSpPr>
        <p:spPr>
          <a:xfrm>
            <a:off x="4983480" y="1188720"/>
            <a:ext cx="3931920" cy="41148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SHOW (strong)</a:t>
            </a:r>
            <a:endParaRPr lang="en-US" sz="1400" dirty="0"/>
          </a:p>
        </p:txBody>
      </p:sp>
      <p:sp>
        <p:nvSpPr>
          <p:cNvPr id="10" name="Shape 8"/>
          <p:cNvSpPr/>
          <p:nvPr/>
        </p:nvSpPr>
        <p:spPr>
          <a:xfrm>
            <a:off x="228600" y="1664208"/>
            <a:ext cx="3931920" cy="713232"/>
          </a:xfrm>
          <a:prstGeom prst="rect">
            <a:avLst/>
          </a:prstGeom>
          <a:solidFill>
            <a:srgbClr val="1E2A3A"/>
          </a:solidFill>
          <a:ln w="12700">
            <a:solidFill>
              <a:srgbClr val="334455"/>
            </a:solidFill>
            <a:prstDash val="solid"/>
          </a:ln>
        </p:spPr>
        <p:txBody>
          <a:bodyPr/>
          <a:lstStyle/>
          <a:p>
            <a:endParaRPr lang="en-US"/>
          </a:p>
        </p:txBody>
      </p:sp>
      <p:sp>
        <p:nvSpPr>
          <p:cNvPr id="11" name="Text 9"/>
          <p:cNvSpPr/>
          <p:nvPr/>
        </p:nvSpPr>
        <p:spPr>
          <a:xfrm>
            <a:off x="347472" y="1709928"/>
            <a:ext cx="3694176" cy="621792"/>
          </a:xfrm>
          <a:prstGeom prst="rect">
            <a:avLst/>
          </a:prstGeom>
          <a:noFill/>
          <a:ln/>
        </p:spPr>
        <p:txBody>
          <a:bodyPr wrap="square" rtlCol="0" anchor="ctr"/>
          <a:lstStyle/>
          <a:p>
            <a:pPr marL="0" indent="0">
              <a:buNone/>
            </a:pPr>
            <a:r>
              <a:rPr lang="en-US" sz="1300" i="1" dirty="0">
                <a:solidFill>
                  <a:srgbClr val="BDC3C7"/>
                </a:solidFill>
                <a:latin typeface="Calibri" pitchFamily="34" charset="0"/>
                <a:ea typeface="Calibri" pitchFamily="34" charset="-122"/>
                <a:cs typeface="Calibri" pitchFamily="34" charset="-120"/>
              </a:rPr>
              <a:t>"The castle was destroyed by war."</a:t>
            </a:r>
            <a:endParaRPr lang="en-US" sz="1300" dirty="0"/>
          </a:p>
        </p:txBody>
      </p:sp>
      <p:sp>
        <p:nvSpPr>
          <p:cNvPr id="12" name="Shape 10"/>
          <p:cNvSpPr/>
          <p:nvPr/>
        </p:nvSpPr>
        <p:spPr>
          <a:xfrm>
            <a:off x="4983480" y="1664208"/>
            <a:ext cx="3931920" cy="713232"/>
          </a:xfrm>
          <a:prstGeom prst="rect">
            <a:avLst/>
          </a:prstGeom>
          <a:solidFill>
            <a:srgbClr val="1E2A3A"/>
          </a:solidFill>
          <a:ln w="12700">
            <a:solidFill>
              <a:srgbClr val="334455"/>
            </a:solidFill>
            <a:prstDash val="solid"/>
          </a:ln>
        </p:spPr>
        <p:txBody>
          <a:bodyPr/>
          <a:lstStyle/>
          <a:p>
            <a:endParaRPr lang="en-US"/>
          </a:p>
        </p:txBody>
      </p:sp>
      <p:sp>
        <p:nvSpPr>
          <p:cNvPr id="13" name="Text 11"/>
          <p:cNvSpPr/>
          <p:nvPr/>
        </p:nvSpPr>
        <p:spPr>
          <a:xfrm>
            <a:off x="5102352" y="1709928"/>
            <a:ext cx="3694176" cy="62179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Cracked walls, broken portcullis, abandoned swords, burned banners</a:t>
            </a:r>
            <a:endParaRPr lang="en-US" sz="1300" dirty="0"/>
          </a:p>
        </p:txBody>
      </p:sp>
      <p:sp>
        <p:nvSpPr>
          <p:cNvPr id="14" name="Shape 12"/>
          <p:cNvSpPr/>
          <p:nvPr/>
        </p:nvSpPr>
        <p:spPr>
          <a:xfrm>
            <a:off x="228600" y="2441448"/>
            <a:ext cx="3931920" cy="713232"/>
          </a:xfrm>
          <a:prstGeom prst="rect">
            <a:avLst/>
          </a:prstGeom>
          <a:solidFill>
            <a:srgbClr val="243447"/>
          </a:solidFill>
          <a:ln w="12700">
            <a:solidFill>
              <a:srgbClr val="334455"/>
            </a:solidFill>
            <a:prstDash val="solid"/>
          </a:ln>
        </p:spPr>
        <p:txBody>
          <a:bodyPr/>
          <a:lstStyle/>
          <a:p>
            <a:endParaRPr lang="en-US"/>
          </a:p>
        </p:txBody>
      </p:sp>
      <p:sp>
        <p:nvSpPr>
          <p:cNvPr id="15" name="Text 13"/>
          <p:cNvSpPr/>
          <p:nvPr/>
        </p:nvSpPr>
        <p:spPr>
          <a:xfrm>
            <a:off x="347472" y="2487168"/>
            <a:ext cx="3694176" cy="621792"/>
          </a:xfrm>
          <a:prstGeom prst="rect">
            <a:avLst/>
          </a:prstGeom>
          <a:noFill/>
          <a:ln/>
        </p:spPr>
        <p:txBody>
          <a:bodyPr wrap="square" rtlCol="0" anchor="ctr"/>
          <a:lstStyle/>
          <a:p>
            <a:pPr marL="0" indent="0">
              <a:buNone/>
            </a:pPr>
            <a:r>
              <a:rPr lang="en-US" sz="1300" i="1" dirty="0">
                <a:solidFill>
                  <a:srgbClr val="BDC3C7"/>
                </a:solidFill>
                <a:latin typeface="Calibri" pitchFamily="34" charset="0"/>
                <a:ea typeface="Calibri" pitchFamily="34" charset="-122"/>
                <a:cs typeface="Calibri" pitchFamily="34" charset="-120"/>
              </a:rPr>
              <a:t>"The village was peaceful."</a:t>
            </a:r>
            <a:endParaRPr lang="en-US" sz="1300" dirty="0"/>
          </a:p>
        </p:txBody>
      </p:sp>
      <p:sp>
        <p:nvSpPr>
          <p:cNvPr id="16" name="Shape 14"/>
          <p:cNvSpPr/>
          <p:nvPr/>
        </p:nvSpPr>
        <p:spPr>
          <a:xfrm>
            <a:off x="4983480" y="2441448"/>
            <a:ext cx="3931920" cy="713232"/>
          </a:xfrm>
          <a:prstGeom prst="rect">
            <a:avLst/>
          </a:prstGeom>
          <a:solidFill>
            <a:srgbClr val="243447"/>
          </a:solidFill>
          <a:ln w="12700">
            <a:solidFill>
              <a:srgbClr val="334455"/>
            </a:solidFill>
            <a:prstDash val="solid"/>
          </a:ln>
        </p:spPr>
        <p:txBody>
          <a:bodyPr/>
          <a:lstStyle/>
          <a:p>
            <a:endParaRPr lang="en-US"/>
          </a:p>
        </p:txBody>
      </p:sp>
      <p:sp>
        <p:nvSpPr>
          <p:cNvPr id="17" name="Text 15"/>
          <p:cNvSpPr/>
          <p:nvPr/>
        </p:nvSpPr>
        <p:spPr>
          <a:xfrm>
            <a:off x="5102352" y="2487168"/>
            <a:ext cx="3694176" cy="62179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Flower pots, a well, farmland with crops, lit windows at night</a:t>
            </a:r>
            <a:endParaRPr lang="en-US" sz="1300" dirty="0"/>
          </a:p>
        </p:txBody>
      </p:sp>
      <p:sp>
        <p:nvSpPr>
          <p:cNvPr id="18" name="Shape 16"/>
          <p:cNvSpPr/>
          <p:nvPr/>
        </p:nvSpPr>
        <p:spPr>
          <a:xfrm>
            <a:off x="228600" y="3218688"/>
            <a:ext cx="3931920" cy="713232"/>
          </a:xfrm>
          <a:prstGeom prst="rect">
            <a:avLst/>
          </a:prstGeom>
          <a:solidFill>
            <a:srgbClr val="1E2A3A"/>
          </a:solidFill>
          <a:ln w="12700">
            <a:solidFill>
              <a:srgbClr val="334455"/>
            </a:solidFill>
            <a:prstDash val="solid"/>
          </a:ln>
        </p:spPr>
        <p:txBody>
          <a:bodyPr/>
          <a:lstStyle/>
          <a:p>
            <a:endParaRPr lang="en-US"/>
          </a:p>
        </p:txBody>
      </p:sp>
      <p:sp>
        <p:nvSpPr>
          <p:cNvPr id="19" name="Text 17"/>
          <p:cNvSpPr/>
          <p:nvPr/>
        </p:nvSpPr>
        <p:spPr>
          <a:xfrm>
            <a:off x="347472" y="3264408"/>
            <a:ext cx="3694176" cy="621792"/>
          </a:xfrm>
          <a:prstGeom prst="rect">
            <a:avLst/>
          </a:prstGeom>
          <a:noFill/>
          <a:ln/>
        </p:spPr>
        <p:txBody>
          <a:bodyPr wrap="square" rtlCol="0" anchor="ctr"/>
          <a:lstStyle/>
          <a:p>
            <a:pPr marL="0" indent="0">
              <a:buNone/>
            </a:pPr>
            <a:r>
              <a:rPr lang="en-US" sz="1300" i="1" dirty="0">
                <a:solidFill>
                  <a:srgbClr val="BDC3C7"/>
                </a:solidFill>
                <a:latin typeface="Calibri" pitchFamily="34" charset="0"/>
                <a:ea typeface="Calibri" pitchFamily="34" charset="-122"/>
                <a:cs typeface="Calibri" pitchFamily="34" charset="-120"/>
              </a:rPr>
              <a:t>"Something terrible happened here."</a:t>
            </a:r>
            <a:endParaRPr lang="en-US" sz="1300" dirty="0"/>
          </a:p>
        </p:txBody>
      </p:sp>
      <p:sp>
        <p:nvSpPr>
          <p:cNvPr id="20" name="Shape 18"/>
          <p:cNvSpPr/>
          <p:nvPr/>
        </p:nvSpPr>
        <p:spPr>
          <a:xfrm>
            <a:off x="4983480" y="3218688"/>
            <a:ext cx="3931920" cy="713232"/>
          </a:xfrm>
          <a:prstGeom prst="rect">
            <a:avLst/>
          </a:prstGeom>
          <a:solidFill>
            <a:srgbClr val="1E2A3A"/>
          </a:solidFill>
          <a:ln w="12700">
            <a:solidFill>
              <a:srgbClr val="334455"/>
            </a:solidFill>
            <a:prstDash val="solid"/>
          </a:ln>
        </p:spPr>
        <p:txBody>
          <a:bodyPr/>
          <a:lstStyle/>
          <a:p>
            <a:endParaRPr lang="en-US"/>
          </a:p>
        </p:txBody>
      </p:sp>
      <p:sp>
        <p:nvSpPr>
          <p:cNvPr id="21" name="Text 19"/>
          <p:cNvSpPr/>
          <p:nvPr/>
        </p:nvSpPr>
        <p:spPr>
          <a:xfrm>
            <a:off x="5102352" y="3264408"/>
            <a:ext cx="3694176" cy="62179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 chest left open, scattered armor, a single torch still burning in darkness</a:t>
            </a:r>
            <a:endParaRPr lang="en-US" sz="1300" dirty="0"/>
          </a:p>
        </p:txBody>
      </p:sp>
      <p:sp>
        <p:nvSpPr>
          <p:cNvPr id="22" name="Shape 20"/>
          <p:cNvSpPr/>
          <p:nvPr/>
        </p:nvSpPr>
        <p:spPr>
          <a:xfrm>
            <a:off x="228600" y="4251960"/>
            <a:ext cx="8686800" cy="594360"/>
          </a:xfrm>
          <a:prstGeom prst="roundRect">
            <a:avLst>
              <a:gd name="adj" fmla="val 9231"/>
            </a:avLst>
          </a:prstGeom>
          <a:solidFill>
            <a:srgbClr val="1A1A2A"/>
          </a:solidFill>
          <a:ln/>
        </p:spPr>
        <p:txBody>
          <a:bodyPr/>
          <a:lstStyle/>
          <a:p>
            <a:endParaRPr lang="en-US"/>
          </a:p>
        </p:txBody>
      </p:sp>
      <p:sp>
        <p:nvSpPr>
          <p:cNvPr id="23" name="Text 21"/>
          <p:cNvSpPr/>
          <p:nvPr/>
        </p:nvSpPr>
        <p:spPr>
          <a:xfrm>
            <a:off x="411480" y="4315968"/>
            <a:ext cx="8321040" cy="475488"/>
          </a:xfrm>
          <a:prstGeom prst="rect">
            <a:avLst/>
          </a:prstGeom>
          <a:noFill/>
          <a:ln/>
        </p:spPr>
        <p:txBody>
          <a:bodyPr wrap="square" rtlCol="0" anchor="ctr"/>
          <a:lstStyle/>
          <a:p>
            <a:pPr marL="0" indent="0">
              <a:buNone/>
            </a:pPr>
            <a:r>
              <a:rPr lang="en-US" sz="1400" b="1" i="1" dirty="0">
                <a:solidFill>
                  <a:srgbClr val="F0C040"/>
                </a:solidFill>
                <a:latin typeface="Calibri" pitchFamily="34" charset="0"/>
                <a:ea typeface="Calibri" pitchFamily="34" charset="-122"/>
                <a:cs typeface="Calibri" pitchFamily="34" charset="-120"/>
              </a:rPr>
              <a:t>Ask yourself: If I removed ALL text from my world — what story would the blocks still tell?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332"/>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43447"/>
          </a:solidFill>
          <a:ln w="12700">
            <a:solidFill>
              <a:srgbClr val="243447"/>
            </a:solidFill>
            <a:prstDash val="solid"/>
          </a:ln>
        </p:spPr>
        <p:txBody>
          <a:bodyPr/>
          <a:lstStyle/>
          <a:p>
            <a:endParaRPr lang="en-US"/>
          </a:p>
        </p:txBody>
      </p:sp>
      <p:sp>
        <p:nvSpPr>
          <p:cNvPr id="3" name="Text 1"/>
          <p:cNvSpPr/>
          <p:nvPr/>
        </p:nvSpPr>
        <p:spPr>
          <a:xfrm>
            <a:off x="365760" y="64008"/>
            <a:ext cx="8229600" cy="292608"/>
          </a:xfrm>
          <a:prstGeom prst="rect">
            <a:avLst/>
          </a:prstGeom>
          <a:noFill/>
          <a:ln/>
        </p:spPr>
        <p:txBody>
          <a:bodyPr wrap="square" rtlCol="0" anchor="ctr"/>
          <a:lstStyle/>
          <a:p>
            <a:pPr marL="0" indent="0">
              <a:buNone/>
            </a:pPr>
            <a:r>
              <a:rPr lang="en-US" sz="1100" b="1" kern="0" spc="400" dirty="0">
                <a:solidFill>
                  <a:srgbClr val="8B9BB4"/>
                </a:solidFill>
                <a:latin typeface="Arial" pitchFamily="34" charset="0"/>
                <a:ea typeface="Arial" pitchFamily="34" charset="-122"/>
                <a:cs typeface="Arial" pitchFamily="34" charset="-120"/>
              </a:rPr>
              <a:t>INSPIRATION FROM REAL GAMES</a:t>
            </a:r>
            <a:endParaRPr lang="en-US" sz="1100" dirty="0"/>
          </a:p>
        </p:txBody>
      </p:sp>
      <p:sp>
        <p:nvSpPr>
          <p:cNvPr id="4" name="Text 2"/>
          <p:cNvSpPr/>
          <p:nvPr/>
        </p:nvSpPr>
        <p:spPr>
          <a:xfrm>
            <a:off x="365760" y="347472"/>
            <a:ext cx="8229600" cy="32004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Environmental Storytelling in Action</a:t>
            </a:r>
            <a:endParaRPr lang="en-US" sz="2000" dirty="0"/>
          </a:p>
        </p:txBody>
      </p:sp>
      <p:sp>
        <p:nvSpPr>
          <p:cNvPr id="5" name="Shape 3"/>
          <p:cNvSpPr/>
          <p:nvPr/>
        </p:nvSpPr>
        <p:spPr>
          <a:xfrm>
            <a:off x="228600" y="868680"/>
            <a:ext cx="4114800" cy="1353312"/>
          </a:xfrm>
          <a:prstGeom prst="roundRect">
            <a:avLst>
              <a:gd name="adj" fmla="val 5405"/>
            </a:avLst>
          </a:prstGeom>
          <a:solidFill>
            <a:srgbClr val="2D6A4F"/>
          </a:solidFill>
          <a:ln/>
          <a:effectLst>
            <a:outerShdw blurRad="101600" dist="38100" dir="2700000" algn="bl" rotWithShape="0">
              <a:srgbClr val="000000">
                <a:alpha val="35000"/>
              </a:srgbClr>
            </a:outerShdw>
          </a:effectLst>
        </p:spPr>
        <p:txBody>
          <a:bodyPr/>
          <a:lstStyle/>
          <a:p>
            <a:endParaRPr lang="en-US"/>
          </a:p>
        </p:txBody>
      </p:sp>
      <p:sp>
        <p:nvSpPr>
          <p:cNvPr id="6" name="Text 4"/>
          <p:cNvSpPr/>
          <p:nvPr/>
        </p:nvSpPr>
        <p:spPr>
          <a:xfrm>
            <a:off x="393192" y="978408"/>
            <a:ext cx="3785616" cy="347472"/>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Minecraft Itself</a:t>
            </a:r>
            <a:endParaRPr lang="en-US" sz="1600" dirty="0"/>
          </a:p>
        </p:txBody>
      </p:sp>
      <p:sp>
        <p:nvSpPr>
          <p:cNvPr id="7" name="Text 5"/>
          <p:cNvSpPr/>
          <p:nvPr/>
        </p:nvSpPr>
        <p:spPr>
          <a:xfrm>
            <a:off x="393192" y="1344168"/>
            <a:ext cx="3785616" cy="777240"/>
          </a:xfrm>
          <a:prstGeom prst="rect">
            <a:avLst/>
          </a:prstGeom>
          <a:noFill/>
          <a:ln/>
        </p:spPr>
        <p:txBody>
          <a:bodyPr wrap="square" rtlCol="0" anchor="ctr"/>
          <a:lstStyle/>
          <a:p>
            <a:pPr marL="0" indent="0">
              <a:buNone/>
            </a:pPr>
            <a:r>
              <a:rPr lang="en-US" sz="1300" dirty="0">
                <a:solidFill>
                  <a:srgbClr val="F4EED8"/>
                </a:solidFill>
                <a:latin typeface="Calibri" pitchFamily="34" charset="0"/>
                <a:ea typeface="Calibri" pitchFamily="34" charset="-122"/>
                <a:cs typeface="Calibri" pitchFamily="34" charset="-120"/>
              </a:rPr>
              <a:t>Ancient Cities, buried treasure, ruined portals — all built narrative into the world with zero dialogue</a:t>
            </a:r>
            <a:endParaRPr lang="en-US" sz="1300" dirty="0"/>
          </a:p>
        </p:txBody>
      </p:sp>
      <p:sp>
        <p:nvSpPr>
          <p:cNvPr id="8" name="Shape 6"/>
          <p:cNvSpPr/>
          <p:nvPr/>
        </p:nvSpPr>
        <p:spPr>
          <a:xfrm>
            <a:off x="4709160" y="868680"/>
            <a:ext cx="4114800" cy="1353312"/>
          </a:xfrm>
          <a:prstGeom prst="roundRect">
            <a:avLst>
              <a:gd name="adj" fmla="val 5405"/>
            </a:avLst>
          </a:prstGeom>
          <a:solidFill>
            <a:srgbClr val="4A2D6A"/>
          </a:solidFill>
          <a:ln/>
          <a:effectLst>
            <a:outerShdw blurRad="101600" dist="38100" dir="2700000" algn="bl" rotWithShape="0">
              <a:srgbClr val="000000">
                <a:alpha val="35000"/>
              </a:srgbClr>
            </a:outerShdw>
          </a:effectLst>
        </p:spPr>
        <p:txBody>
          <a:bodyPr/>
          <a:lstStyle/>
          <a:p>
            <a:endParaRPr lang="en-US"/>
          </a:p>
        </p:txBody>
      </p:sp>
      <p:sp>
        <p:nvSpPr>
          <p:cNvPr id="9" name="Text 7"/>
          <p:cNvSpPr/>
          <p:nvPr/>
        </p:nvSpPr>
        <p:spPr>
          <a:xfrm>
            <a:off x="4873752" y="978408"/>
            <a:ext cx="3785616" cy="347472"/>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Hollow Knight</a:t>
            </a:r>
            <a:endParaRPr lang="en-US" sz="1600" dirty="0"/>
          </a:p>
        </p:txBody>
      </p:sp>
      <p:sp>
        <p:nvSpPr>
          <p:cNvPr id="10" name="Text 8"/>
          <p:cNvSpPr/>
          <p:nvPr/>
        </p:nvSpPr>
        <p:spPr>
          <a:xfrm>
            <a:off x="4873752" y="1344168"/>
            <a:ext cx="3785616" cy="777240"/>
          </a:xfrm>
          <a:prstGeom prst="rect">
            <a:avLst/>
          </a:prstGeom>
          <a:noFill/>
          <a:ln/>
        </p:spPr>
        <p:txBody>
          <a:bodyPr wrap="square" rtlCol="0" anchor="ctr"/>
          <a:lstStyle/>
          <a:p>
            <a:pPr marL="0" indent="0">
              <a:buNone/>
            </a:pPr>
            <a:r>
              <a:rPr lang="en-US" sz="1300" dirty="0">
                <a:solidFill>
                  <a:srgbClr val="F4EED8"/>
                </a:solidFill>
                <a:latin typeface="Calibri" pitchFamily="34" charset="0"/>
                <a:ea typeface="Calibri" pitchFamily="34" charset="-122"/>
                <a:cs typeface="Calibri" pitchFamily="34" charset="-120"/>
              </a:rPr>
              <a:t>Crumbling ruins and ghostly NPCs reveal a fallen kingdom — no narrator needed</a:t>
            </a:r>
            <a:endParaRPr lang="en-US" sz="1300" dirty="0"/>
          </a:p>
        </p:txBody>
      </p:sp>
      <p:sp>
        <p:nvSpPr>
          <p:cNvPr id="11" name="Shape 9"/>
          <p:cNvSpPr/>
          <p:nvPr/>
        </p:nvSpPr>
        <p:spPr>
          <a:xfrm>
            <a:off x="228600" y="2377440"/>
            <a:ext cx="4114800" cy="1353312"/>
          </a:xfrm>
          <a:prstGeom prst="roundRect">
            <a:avLst>
              <a:gd name="adj" fmla="val 5405"/>
            </a:avLst>
          </a:prstGeom>
          <a:solidFill>
            <a:srgbClr val="6A3A1A"/>
          </a:solidFill>
          <a:ln/>
          <a:effectLst>
            <a:outerShdw blurRad="101600" dist="38100" dir="2700000" algn="bl" rotWithShape="0">
              <a:srgbClr val="000000">
                <a:alpha val="35000"/>
              </a:srgbClr>
            </a:outerShdw>
          </a:effectLst>
        </p:spPr>
        <p:txBody>
          <a:bodyPr/>
          <a:lstStyle/>
          <a:p>
            <a:endParaRPr lang="en-US"/>
          </a:p>
        </p:txBody>
      </p:sp>
      <p:sp>
        <p:nvSpPr>
          <p:cNvPr id="12" name="Text 10"/>
          <p:cNvSpPr/>
          <p:nvPr/>
        </p:nvSpPr>
        <p:spPr>
          <a:xfrm>
            <a:off x="393192" y="2487168"/>
            <a:ext cx="3785616" cy="347472"/>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The Last of Us</a:t>
            </a:r>
            <a:endParaRPr lang="en-US" sz="1600" dirty="0"/>
          </a:p>
        </p:txBody>
      </p:sp>
      <p:sp>
        <p:nvSpPr>
          <p:cNvPr id="13" name="Text 11"/>
          <p:cNvSpPr/>
          <p:nvPr/>
        </p:nvSpPr>
        <p:spPr>
          <a:xfrm>
            <a:off x="393192" y="2852928"/>
            <a:ext cx="3785616" cy="777240"/>
          </a:xfrm>
          <a:prstGeom prst="rect">
            <a:avLst/>
          </a:prstGeom>
          <a:noFill/>
          <a:ln/>
        </p:spPr>
        <p:txBody>
          <a:bodyPr wrap="square" rtlCol="0" anchor="ctr"/>
          <a:lstStyle/>
          <a:p>
            <a:pPr marL="0" indent="0">
              <a:buNone/>
            </a:pPr>
            <a:r>
              <a:rPr lang="en-US" sz="1300" dirty="0">
                <a:solidFill>
                  <a:srgbClr val="F4EED8"/>
                </a:solidFill>
                <a:latin typeface="Calibri" pitchFamily="34" charset="0"/>
                <a:ea typeface="Calibri" pitchFamily="34" charset="-122"/>
                <a:cs typeface="Calibri" pitchFamily="34" charset="-120"/>
              </a:rPr>
              <a:t>Overgrown buildings and scattered mementos tell human stories silently</a:t>
            </a:r>
            <a:endParaRPr lang="en-US" sz="1300" dirty="0"/>
          </a:p>
        </p:txBody>
      </p:sp>
      <p:sp>
        <p:nvSpPr>
          <p:cNvPr id="14" name="Shape 12"/>
          <p:cNvSpPr/>
          <p:nvPr/>
        </p:nvSpPr>
        <p:spPr>
          <a:xfrm>
            <a:off x="4709160" y="2377440"/>
            <a:ext cx="4114800" cy="1353312"/>
          </a:xfrm>
          <a:prstGeom prst="roundRect">
            <a:avLst>
              <a:gd name="adj" fmla="val 5405"/>
            </a:avLst>
          </a:prstGeom>
          <a:solidFill>
            <a:srgbClr val="1A2D6A"/>
          </a:solidFill>
          <a:ln/>
          <a:effectLst>
            <a:outerShdw blurRad="101600" dist="38100" dir="2700000" algn="bl" rotWithShape="0">
              <a:srgbClr val="000000">
                <a:alpha val="35000"/>
              </a:srgbClr>
            </a:outerShdw>
          </a:effectLst>
        </p:spPr>
        <p:txBody>
          <a:bodyPr/>
          <a:lstStyle/>
          <a:p>
            <a:endParaRPr lang="en-US"/>
          </a:p>
        </p:txBody>
      </p:sp>
      <p:sp>
        <p:nvSpPr>
          <p:cNvPr id="15" name="Text 13"/>
          <p:cNvSpPr/>
          <p:nvPr/>
        </p:nvSpPr>
        <p:spPr>
          <a:xfrm>
            <a:off x="4873752" y="2487168"/>
            <a:ext cx="3785616" cy="347472"/>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Dark Souls</a:t>
            </a:r>
            <a:endParaRPr lang="en-US" sz="1600" dirty="0"/>
          </a:p>
        </p:txBody>
      </p:sp>
      <p:sp>
        <p:nvSpPr>
          <p:cNvPr id="16" name="Text 14"/>
          <p:cNvSpPr/>
          <p:nvPr/>
        </p:nvSpPr>
        <p:spPr>
          <a:xfrm>
            <a:off x="4873752" y="2852928"/>
            <a:ext cx="3785616" cy="777240"/>
          </a:xfrm>
          <a:prstGeom prst="rect">
            <a:avLst/>
          </a:prstGeom>
          <a:noFill/>
          <a:ln/>
        </p:spPr>
        <p:txBody>
          <a:bodyPr wrap="square" rtlCol="0" anchor="ctr"/>
          <a:lstStyle/>
          <a:p>
            <a:pPr marL="0" indent="0">
              <a:buNone/>
            </a:pPr>
            <a:r>
              <a:rPr lang="en-US" sz="1300" dirty="0">
                <a:solidFill>
                  <a:srgbClr val="F4EED8"/>
                </a:solidFill>
                <a:latin typeface="Calibri" pitchFamily="34" charset="0"/>
                <a:ea typeface="Calibri" pitchFamily="34" charset="-122"/>
                <a:cs typeface="Calibri" pitchFamily="34" charset="-120"/>
              </a:rPr>
              <a:t>Item descriptions and placement reveal deep lore without a single cutscene</a:t>
            </a:r>
            <a:endParaRPr lang="en-US" sz="1300" dirty="0"/>
          </a:p>
        </p:txBody>
      </p:sp>
      <p:sp>
        <p:nvSpPr>
          <p:cNvPr id="17" name="Shape 15"/>
          <p:cNvSpPr/>
          <p:nvPr/>
        </p:nvSpPr>
        <p:spPr>
          <a:xfrm>
            <a:off x="228600" y="4251960"/>
            <a:ext cx="8686800" cy="594360"/>
          </a:xfrm>
          <a:prstGeom prst="roundRect">
            <a:avLst>
              <a:gd name="adj" fmla="val 9231"/>
            </a:avLst>
          </a:prstGeom>
          <a:solidFill>
            <a:srgbClr val="1A1A1A"/>
          </a:solidFill>
          <a:ln/>
        </p:spPr>
        <p:txBody>
          <a:bodyPr/>
          <a:lstStyle/>
          <a:p>
            <a:endParaRPr lang="en-US"/>
          </a:p>
        </p:txBody>
      </p:sp>
      <p:sp>
        <p:nvSpPr>
          <p:cNvPr id="18" name="Text 16"/>
          <p:cNvSpPr/>
          <p:nvPr/>
        </p:nvSpPr>
        <p:spPr>
          <a:xfrm>
            <a:off x="411480" y="4315968"/>
            <a:ext cx="8321040" cy="475488"/>
          </a:xfrm>
          <a:prstGeom prst="rect">
            <a:avLst/>
          </a:prstGeom>
          <a:noFill/>
          <a:ln/>
        </p:spPr>
        <p:txBody>
          <a:bodyPr wrap="square" rtlCol="0" anchor="ctr"/>
          <a:lstStyle/>
          <a:p>
            <a:pPr marL="0" indent="0">
              <a:buNone/>
            </a:pPr>
            <a:r>
              <a:rPr lang="en-US" sz="1300" i="1" dirty="0">
                <a:solidFill>
                  <a:srgbClr val="BDC3C7"/>
                </a:solidFill>
                <a:latin typeface="Calibri" pitchFamily="34" charset="0"/>
                <a:ea typeface="Calibri" pitchFamily="34" charset="-122"/>
                <a:cs typeface="Calibri" pitchFamily="34" charset="-120"/>
              </a:rPr>
              <a:t>Notice how NONE of these games tell you what to feel — they make you discover it for yourself</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320040"/>
          </a:xfrm>
          <a:prstGeom prst="rect">
            <a:avLst/>
          </a:prstGeom>
          <a:noFill/>
          <a:ln/>
        </p:spPr>
        <p:txBody>
          <a:bodyPr wrap="square" rtlCol="0" anchor="ctr"/>
          <a:lstStyle/>
          <a:p>
            <a:pPr marL="0" indent="0">
              <a:buNone/>
            </a:pPr>
            <a:r>
              <a:rPr lang="en-US" sz="1200" b="1" kern="0" spc="300" dirty="0">
                <a:solidFill>
                  <a:srgbClr val="8B9BB4"/>
                </a:solidFill>
                <a:latin typeface="Arial" pitchFamily="34" charset="0"/>
                <a:ea typeface="Arial" pitchFamily="34" charset="-122"/>
                <a:cs typeface="Arial" pitchFamily="34" charset="-120"/>
              </a:rPr>
              <a:t>REFLECTION  ·  EXIT TICKET</a:t>
            </a:r>
            <a:endParaRPr lang="en-US" sz="1200" dirty="0"/>
          </a:p>
        </p:txBody>
      </p:sp>
      <p:sp>
        <p:nvSpPr>
          <p:cNvPr id="3" name="Shape 1"/>
          <p:cNvSpPr/>
          <p:nvPr/>
        </p:nvSpPr>
        <p:spPr>
          <a:xfrm>
            <a:off x="457200" y="594360"/>
            <a:ext cx="8229600" cy="1965960"/>
          </a:xfrm>
          <a:prstGeom prst="roundRect">
            <a:avLst>
              <a:gd name="adj" fmla="val 5581"/>
            </a:avLst>
          </a:prstGeom>
          <a:solidFill>
            <a:srgbClr val="243447"/>
          </a:solidFill>
          <a:ln/>
          <a:effectLst>
            <a:outerShdw blurRad="127000" dist="38100" dir="2700000" algn="bl" rotWithShape="0">
              <a:srgbClr val="000000">
                <a:alpha val="40000"/>
              </a:srgbClr>
            </a:outerShdw>
          </a:effectLst>
        </p:spPr>
        <p:txBody>
          <a:bodyPr/>
          <a:lstStyle/>
          <a:p>
            <a:endParaRPr lang="en-US"/>
          </a:p>
        </p:txBody>
      </p:sp>
      <p:sp>
        <p:nvSpPr>
          <p:cNvPr id="5" name="Text 3"/>
          <p:cNvSpPr/>
          <p:nvPr/>
        </p:nvSpPr>
        <p:spPr>
          <a:xfrm>
            <a:off x="1097280" y="731520"/>
            <a:ext cx="7132320" cy="1600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What one block, structure, or detail in your world tells the player something about the story, </a:t>
            </a:r>
            <a:endParaRPr lang="en-US" sz="2000" dirty="0"/>
          </a:p>
          <a:p>
            <a:pPr marL="0" indent="0">
              <a:buNone/>
            </a:pPr>
            <a:r>
              <a:rPr lang="en-US" sz="2000" b="1" dirty="0">
                <a:solidFill>
                  <a:srgbClr val="FFFFFF"/>
                </a:solidFill>
                <a:latin typeface="Cambria" pitchFamily="34" charset="0"/>
                <a:ea typeface="Cambria" pitchFamily="34" charset="-122"/>
                <a:cs typeface="Cambria" pitchFamily="34" charset="-120"/>
              </a:rPr>
              <a:t>without a single word?</a:t>
            </a:r>
            <a:endParaRPr lang="en-US" sz="2000" dirty="0"/>
          </a:p>
        </p:txBody>
      </p:sp>
      <p:sp>
        <p:nvSpPr>
          <p:cNvPr id="6" name="Shape 4"/>
          <p:cNvSpPr/>
          <p:nvPr/>
        </p:nvSpPr>
        <p:spPr>
          <a:xfrm>
            <a:off x="320040" y="2761488"/>
            <a:ext cx="384048" cy="384048"/>
          </a:xfrm>
          <a:prstGeom prst="ellipse">
            <a:avLst/>
          </a:prstGeom>
          <a:solidFill>
            <a:srgbClr val="5D9E3C"/>
          </a:solidFill>
          <a:ln w="12700">
            <a:solidFill>
              <a:srgbClr val="5D9E3C"/>
            </a:solidFill>
            <a:prstDash val="solid"/>
          </a:ln>
        </p:spPr>
        <p:txBody>
          <a:bodyPr/>
          <a:lstStyle/>
          <a:p>
            <a:endParaRPr lang="en-US"/>
          </a:p>
        </p:txBody>
      </p:sp>
      <p:sp>
        <p:nvSpPr>
          <p:cNvPr id="7" name="Text 5"/>
          <p:cNvSpPr/>
          <p:nvPr/>
        </p:nvSpPr>
        <p:spPr>
          <a:xfrm>
            <a:off x="320040" y="2761488"/>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822960" y="2761488"/>
            <a:ext cx="7772400" cy="384048"/>
          </a:xfrm>
          <a:prstGeom prst="rect">
            <a:avLst/>
          </a:prstGeom>
          <a:noFill/>
          <a:ln/>
        </p:spPr>
        <p:txBody>
          <a:bodyPr wrap="square" rtlCol="0" anchor="ctr"/>
          <a:lstStyle/>
          <a:p>
            <a:pPr marL="0" indent="0">
              <a:buNone/>
            </a:pPr>
            <a:r>
              <a:rPr lang="en-US" sz="1500" dirty="0">
                <a:solidFill>
                  <a:srgbClr val="F4EED8"/>
                </a:solidFill>
                <a:latin typeface="Calibri" pitchFamily="34" charset="0"/>
                <a:ea typeface="Calibri" pitchFamily="34" charset="-122"/>
                <a:cs typeface="Calibri" pitchFamily="34" charset="-120"/>
              </a:rPr>
              <a:t>Screen share &amp; point out your detail (2 min)</a:t>
            </a:r>
            <a:endParaRPr lang="en-US" sz="1500" dirty="0"/>
          </a:p>
        </p:txBody>
      </p:sp>
      <p:sp>
        <p:nvSpPr>
          <p:cNvPr id="9" name="Shape 7"/>
          <p:cNvSpPr/>
          <p:nvPr/>
        </p:nvSpPr>
        <p:spPr>
          <a:xfrm>
            <a:off x="320040" y="3291840"/>
            <a:ext cx="384048" cy="384048"/>
          </a:xfrm>
          <a:prstGeom prst="ellipse">
            <a:avLst/>
          </a:prstGeom>
          <a:solidFill>
            <a:srgbClr val="5D9E3C"/>
          </a:solidFill>
          <a:ln w="12700">
            <a:solidFill>
              <a:srgbClr val="5D9E3C"/>
            </a:solidFill>
            <a:prstDash val="solid"/>
          </a:ln>
        </p:spPr>
        <p:txBody>
          <a:bodyPr/>
          <a:lstStyle/>
          <a:p>
            <a:endParaRPr lang="en-US"/>
          </a:p>
        </p:txBody>
      </p:sp>
      <p:sp>
        <p:nvSpPr>
          <p:cNvPr id="10" name="Text 8"/>
          <p:cNvSpPr/>
          <p:nvPr/>
        </p:nvSpPr>
        <p:spPr>
          <a:xfrm>
            <a:off x="320040" y="3291840"/>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822960" y="3291840"/>
            <a:ext cx="7772400" cy="384048"/>
          </a:xfrm>
          <a:prstGeom prst="rect">
            <a:avLst/>
          </a:prstGeom>
          <a:noFill/>
          <a:ln/>
        </p:spPr>
        <p:txBody>
          <a:bodyPr wrap="square" rtlCol="0" anchor="ctr"/>
          <a:lstStyle/>
          <a:p>
            <a:pPr marL="0" indent="0">
              <a:buNone/>
            </a:pPr>
            <a:r>
              <a:rPr lang="en-US" sz="1500" dirty="0">
                <a:solidFill>
                  <a:srgbClr val="F4EED8"/>
                </a:solidFill>
                <a:latin typeface="Calibri" pitchFamily="34" charset="0"/>
                <a:ea typeface="Calibri" pitchFamily="34" charset="-122"/>
                <a:cs typeface="Calibri" pitchFamily="34" charset="-120"/>
              </a:rPr>
              <a:t>Written exit ticket — one sentence</a:t>
            </a:r>
            <a:endParaRPr lang="en-US" sz="1500" dirty="0"/>
          </a:p>
        </p:txBody>
      </p:sp>
      <p:sp>
        <p:nvSpPr>
          <p:cNvPr id="12" name="Shape 10"/>
          <p:cNvSpPr/>
          <p:nvPr/>
        </p:nvSpPr>
        <p:spPr>
          <a:xfrm>
            <a:off x="320040" y="3822192"/>
            <a:ext cx="384048" cy="384048"/>
          </a:xfrm>
          <a:prstGeom prst="ellipse">
            <a:avLst/>
          </a:prstGeom>
          <a:solidFill>
            <a:srgbClr val="5D9E3C"/>
          </a:solidFill>
          <a:ln w="12700">
            <a:solidFill>
              <a:srgbClr val="5D9E3C"/>
            </a:solidFill>
            <a:prstDash val="solid"/>
          </a:ln>
        </p:spPr>
        <p:txBody>
          <a:bodyPr/>
          <a:lstStyle/>
          <a:p>
            <a:endParaRPr lang="en-US"/>
          </a:p>
        </p:txBody>
      </p:sp>
      <p:sp>
        <p:nvSpPr>
          <p:cNvPr id="13" name="Text 11"/>
          <p:cNvSpPr/>
          <p:nvPr/>
        </p:nvSpPr>
        <p:spPr>
          <a:xfrm>
            <a:off x="320040" y="3822192"/>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822960" y="3822192"/>
            <a:ext cx="7772400" cy="384048"/>
          </a:xfrm>
          <a:prstGeom prst="rect">
            <a:avLst/>
          </a:prstGeom>
          <a:noFill/>
          <a:ln/>
        </p:spPr>
        <p:txBody>
          <a:bodyPr wrap="square" rtlCol="0" anchor="ctr"/>
          <a:lstStyle/>
          <a:p>
            <a:pPr marL="0" indent="0">
              <a:buNone/>
            </a:pPr>
            <a:r>
              <a:rPr lang="en-US" sz="1500" dirty="0">
                <a:solidFill>
                  <a:srgbClr val="F4EED8"/>
                </a:solidFill>
                <a:latin typeface="Calibri" pitchFamily="34" charset="0"/>
                <a:ea typeface="Calibri" pitchFamily="34" charset="-122"/>
                <a:cs typeface="Calibri" pitchFamily="34" charset="-120"/>
              </a:rPr>
              <a:t>Pair-share with a classmate first</a:t>
            </a:r>
            <a:endParaRPr lang="en-US" sz="1500" dirty="0"/>
          </a:p>
        </p:txBody>
      </p:sp>
      <p:sp>
        <p:nvSpPr>
          <p:cNvPr id="15" name="Shape 13"/>
          <p:cNvSpPr/>
          <p:nvPr/>
        </p:nvSpPr>
        <p:spPr>
          <a:xfrm>
            <a:off x="274320" y="4224528"/>
            <a:ext cx="8595360" cy="658368"/>
          </a:xfrm>
          <a:prstGeom prst="roundRect">
            <a:avLst>
              <a:gd name="adj" fmla="val 8333"/>
            </a:avLst>
          </a:prstGeom>
          <a:solidFill>
            <a:srgbClr val="1A1E2A"/>
          </a:solidFill>
          <a:ln/>
        </p:spPr>
        <p:txBody>
          <a:bodyPr/>
          <a:lstStyle/>
          <a:p>
            <a:endParaRPr lang="en-US"/>
          </a:p>
        </p:txBody>
      </p:sp>
      <p:sp>
        <p:nvSpPr>
          <p:cNvPr id="16" name="Text 14"/>
          <p:cNvSpPr/>
          <p:nvPr/>
        </p:nvSpPr>
        <p:spPr>
          <a:xfrm>
            <a:off x="457200" y="4279392"/>
            <a:ext cx="8229600" cy="566928"/>
          </a:xfrm>
          <a:prstGeom prst="rect">
            <a:avLst/>
          </a:prstGeom>
          <a:noFill/>
          <a:ln/>
        </p:spPr>
        <p:txBody>
          <a:bodyPr wrap="square" rtlCol="0" anchor="ctr"/>
          <a:lstStyle/>
          <a:p>
            <a:pPr marL="0" indent="0">
              <a:buNone/>
            </a:pPr>
            <a:r>
              <a:rPr lang="en-US" sz="1100" i="1" dirty="0">
                <a:solidFill>
                  <a:srgbClr val="BDC3C7"/>
                </a:solidFill>
                <a:latin typeface="Calibri" pitchFamily="34" charset="0"/>
                <a:ea typeface="Calibri" pitchFamily="34" charset="-122"/>
                <a:cs typeface="Calibri" pitchFamily="34" charset="-120"/>
              </a:rPr>
              <a:t>Debrief: Did anyone change their build based on feedback?  ·  What was harder: dialogue or block placement?  ·  What classmate detail surprised you?</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A2332"/>
        </a:solidFill>
        <a:effectLst/>
      </p:bgPr>
    </p:bg>
    <p:spTree>
      <p:nvGrpSpPr>
        <p:cNvPr id="1" name=""/>
        <p:cNvGrpSpPr/>
        <p:nvPr/>
      </p:nvGrpSpPr>
      <p:grpSpPr>
        <a:xfrm>
          <a:off x="0" y="0"/>
          <a:ext cx="0" cy="0"/>
          <a:chOff x="0" y="0"/>
          <a:chExt cx="0" cy="0"/>
        </a:xfrm>
      </p:grpSpPr>
      <p:sp>
        <p:nvSpPr>
          <p:cNvPr id="18" name="Text 16"/>
          <p:cNvSpPr/>
          <p:nvPr/>
        </p:nvSpPr>
        <p:spPr>
          <a:xfrm>
            <a:off x="228600" y="1186334"/>
            <a:ext cx="8686800" cy="292608"/>
          </a:xfrm>
          <a:prstGeom prst="rect">
            <a:avLst/>
          </a:prstGeom>
          <a:noFill/>
          <a:ln/>
        </p:spPr>
        <p:txBody>
          <a:bodyPr wrap="square" rtlCol="0" anchor="ctr"/>
          <a:lstStyle/>
          <a:p>
            <a:pPr marL="0" indent="0">
              <a:buNone/>
            </a:pPr>
            <a:r>
              <a:rPr lang="en-US" sz="1100" b="1" kern="0" spc="300" dirty="0">
                <a:solidFill>
                  <a:srgbClr val="8B9BB4"/>
                </a:solidFill>
                <a:latin typeface="Arial" pitchFamily="34" charset="0"/>
                <a:ea typeface="Arial" pitchFamily="34" charset="-122"/>
                <a:cs typeface="Arial" pitchFamily="34" charset="-120"/>
              </a:rPr>
              <a:t>EXTENSION CHALLENGES</a:t>
            </a:r>
            <a:endParaRPr lang="en-US" sz="1100" dirty="0"/>
          </a:p>
        </p:txBody>
      </p:sp>
      <p:sp>
        <p:nvSpPr>
          <p:cNvPr id="19" name="Shape 17"/>
          <p:cNvSpPr/>
          <p:nvPr/>
        </p:nvSpPr>
        <p:spPr>
          <a:xfrm>
            <a:off x="228600" y="1552094"/>
            <a:ext cx="4114800" cy="658368"/>
          </a:xfrm>
          <a:prstGeom prst="roundRect">
            <a:avLst>
              <a:gd name="adj" fmla="val 8333"/>
            </a:avLst>
          </a:prstGeom>
          <a:solidFill>
            <a:srgbClr val="243447"/>
          </a:solidFill>
          <a:ln/>
        </p:spPr>
        <p:txBody>
          <a:bodyPr/>
          <a:lstStyle/>
          <a:p>
            <a:endParaRPr lang="en-US"/>
          </a:p>
        </p:txBody>
      </p:sp>
      <p:sp>
        <p:nvSpPr>
          <p:cNvPr id="20" name="Text 18"/>
          <p:cNvSpPr/>
          <p:nvPr/>
        </p:nvSpPr>
        <p:spPr>
          <a:xfrm>
            <a:off x="365760" y="1606958"/>
            <a:ext cx="3840480" cy="237744"/>
          </a:xfrm>
          <a:prstGeom prst="rect">
            <a:avLst/>
          </a:prstGeom>
          <a:noFill/>
          <a:ln/>
        </p:spPr>
        <p:txBody>
          <a:bodyPr wrap="square" rtlCol="0" anchor="ctr"/>
          <a:lstStyle/>
          <a:p>
            <a:pPr marL="0" indent="0">
              <a:buNone/>
            </a:pPr>
            <a:r>
              <a:rPr lang="en-US" sz="1200" b="1" dirty="0">
                <a:solidFill>
                  <a:srgbClr val="F0C040"/>
                </a:solidFill>
                <a:latin typeface="Arial" pitchFamily="34" charset="0"/>
                <a:ea typeface="Arial" pitchFamily="34" charset="-122"/>
                <a:cs typeface="Arial" pitchFamily="34" charset="-120"/>
              </a:rPr>
              <a:t>Redstone Detail</a:t>
            </a:r>
            <a:endParaRPr lang="en-US" sz="1200" dirty="0"/>
          </a:p>
        </p:txBody>
      </p:sp>
      <p:sp>
        <p:nvSpPr>
          <p:cNvPr id="21" name="Text 19"/>
          <p:cNvSpPr/>
          <p:nvPr/>
        </p:nvSpPr>
        <p:spPr>
          <a:xfrm>
            <a:off x="365760" y="1862990"/>
            <a:ext cx="3840480" cy="274320"/>
          </a:xfrm>
          <a:prstGeom prst="rect">
            <a:avLst/>
          </a:prstGeom>
          <a:noFill/>
          <a:ln/>
        </p:spPr>
        <p:txBody>
          <a:bodyPr wrap="square" rtlCol="0" anchor="ctr"/>
          <a:lstStyle/>
          <a:p>
            <a:pPr marL="0" indent="0">
              <a:buNone/>
            </a:pPr>
            <a:r>
              <a:rPr lang="en-US" sz="1100" dirty="0">
                <a:solidFill>
                  <a:srgbClr val="BDC3C7"/>
                </a:solidFill>
                <a:latin typeface="Calibri" pitchFamily="34" charset="0"/>
                <a:ea typeface="Calibri" pitchFamily="34" charset="-122"/>
                <a:cs typeface="Calibri" pitchFamily="34" charset="-120"/>
              </a:rPr>
              <a:t>Flickering torch with repeating redstone or a door that slowly opens</a:t>
            </a:r>
            <a:endParaRPr lang="en-US" sz="1100" dirty="0"/>
          </a:p>
        </p:txBody>
      </p:sp>
      <p:sp>
        <p:nvSpPr>
          <p:cNvPr id="22" name="Shape 20"/>
          <p:cNvSpPr/>
          <p:nvPr/>
        </p:nvSpPr>
        <p:spPr>
          <a:xfrm>
            <a:off x="4709160" y="1552094"/>
            <a:ext cx="4114800" cy="658368"/>
          </a:xfrm>
          <a:prstGeom prst="roundRect">
            <a:avLst>
              <a:gd name="adj" fmla="val 8333"/>
            </a:avLst>
          </a:prstGeom>
          <a:solidFill>
            <a:srgbClr val="243447"/>
          </a:solidFill>
          <a:ln/>
        </p:spPr>
        <p:txBody>
          <a:bodyPr/>
          <a:lstStyle/>
          <a:p>
            <a:endParaRPr lang="en-US"/>
          </a:p>
        </p:txBody>
      </p:sp>
      <p:sp>
        <p:nvSpPr>
          <p:cNvPr id="23" name="Text 21"/>
          <p:cNvSpPr/>
          <p:nvPr/>
        </p:nvSpPr>
        <p:spPr>
          <a:xfrm>
            <a:off x="4846320" y="1606958"/>
            <a:ext cx="3840480" cy="237744"/>
          </a:xfrm>
          <a:prstGeom prst="rect">
            <a:avLst/>
          </a:prstGeom>
          <a:noFill/>
          <a:ln/>
        </p:spPr>
        <p:txBody>
          <a:bodyPr wrap="square" rtlCol="0" anchor="ctr"/>
          <a:lstStyle/>
          <a:p>
            <a:pPr marL="0" indent="0">
              <a:buNone/>
            </a:pPr>
            <a:r>
              <a:rPr lang="en-US" sz="1200" b="1" dirty="0">
                <a:solidFill>
                  <a:srgbClr val="F0C040"/>
                </a:solidFill>
                <a:latin typeface="Arial" pitchFamily="34" charset="0"/>
                <a:ea typeface="Arial" pitchFamily="34" charset="-122"/>
                <a:cs typeface="Arial" pitchFamily="34" charset="-120"/>
              </a:rPr>
              <a:t>Day/Night Mood</a:t>
            </a:r>
            <a:endParaRPr lang="en-US" sz="1200" dirty="0"/>
          </a:p>
        </p:txBody>
      </p:sp>
      <p:sp>
        <p:nvSpPr>
          <p:cNvPr id="24" name="Text 22"/>
          <p:cNvSpPr/>
          <p:nvPr/>
        </p:nvSpPr>
        <p:spPr>
          <a:xfrm>
            <a:off x="4846320" y="1862990"/>
            <a:ext cx="3840480" cy="274320"/>
          </a:xfrm>
          <a:prstGeom prst="rect">
            <a:avLst/>
          </a:prstGeom>
          <a:noFill/>
          <a:ln/>
        </p:spPr>
        <p:txBody>
          <a:bodyPr wrap="square" rtlCol="0" anchor="ctr"/>
          <a:lstStyle/>
          <a:p>
            <a:pPr marL="0" indent="0">
              <a:buNone/>
            </a:pPr>
            <a:r>
              <a:rPr lang="en-US" sz="1100" dirty="0">
                <a:solidFill>
                  <a:srgbClr val="BDC3C7"/>
                </a:solidFill>
                <a:latin typeface="Calibri" pitchFamily="34" charset="0"/>
                <a:ea typeface="Calibri" pitchFamily="34" charset="-122"/>
                <a:cs typeface="Calibri" pitchFamily="34" charset="-120"/>
              </a:rPr>
              <a:t>/time set command tied to entering the area</a:t>
            </a:r>
            <a:endParaRPr lang="en-US" sz="1100" dirty="0"/>
          </a:p>
        </p:txBody>
      </p:sp>
      <p:sp>
        <p:nvSpPr>
          <p:cNvPr id="25" name="Shape 23"/>
          <p:cNvSpPr/>
          <p:nvPr/>
        </p:nvSpPr>
        <p:spPr>
          <a:xfrm>
            <a:off x="228600" y="2301902"/>
            <a:ext cx="4114800" cy="658368"/>
          </a:xfrm>
          <a:prstGeom prst="roundRect">
            <a:avLst>
              <a:gd name="adj" fmla="val 8333"/>
            </a:avLst>
          </a:prstGeom>
          <a:solidFill>
            <a:srgbClr val="243447"/>
          </a:solidFill>
          <a:ln/>
        </p:spPr>
        <p:txBody>
          <a:bodyPr/>
          <a:lstStyle/>
          <a:p>
            <a:endParaRPr lang="en-US"/>
          </a:p>
        </p:txBody>
      </p:sp>
      <p:sp>
        <p:nvSpPr>
          <p:cNvPr id="26" name="Text 24"/>
          <p:cNvSpPr/>
          <p:nvPr/>
        </p:nvSpPr>
        <p:spPr>
          <a:xfrm>
            <a:off x="365760" y="2356766"/>
            <a:ext cx="3840480" cy="237744"/>
          </a:xfrm>
          <a:prstGeom prst="rect">
            <a:avLst/>
          </a:prstGeom>
          <a:noFill/>
          <a:ln/>
        </p:spPr>
        <p:txBody>
          <a:bodyPr wrap="square" rtlCol="0" anchor="ctr"/>
          <a:lstStyle/>
          <a:p>
            <a:pPr marL="0" indent="0">
              <a:buNone/>
            </a:pPr>
            <a:r>
              <a:rPr lang="en-US" sz="1200" b="1" dirty="0">
                <a:solidFill>
                  <a:srgbClr val="F0C040"/>
                </a:solidFill>
                <a:latin typeface="Arial" pitchFamily="34" charset="0"/>
                <a:ea typeface="Arial" pitchFamily="34" charset="-122"/>
                <a:cs typeface="Arial" pitchFamily="34" charset="-120"/>
              </a:rPr>
              <a:t>World Bible</a:t>
            </a:r>
            <a:endParaRPr lang="en-US" sz="1200" dirty="0"/>
          </a:p>
        </p:txBody>
      </p:sp>
      <p:sp>
        <p:nvSpPr>
          <p:cNvPr id="27" name="Text 25"/>
          <p:cNvSpPr/>
          <p:nvPr/>
        </p:nvSpPr>
        <p:spPr>
          <a:xfrm>
            <a:off x="365760" y="2612798"/>
            <a:ext cx="3840480" cy="274320"/>
          </a:xfrm>
          <a:prstGeom prst="rect">
            <a:avLst/>
          </a:prstGeom>
          <a:noFill/>
          <a:ln/>
        </p:spPr>
        <p:txBody>
          <a:bodyPr wrap="square" rtlCol="0" anchor="ctr"/>
          <a:lstStyle/>
          <a:p>
            <a:pPr marL="0" indent="0">
              <a:buNone/>
            </a:pPr>
            <a:r>
              <a:rPr lang="en-US" sz="1100" dirty="0">
                <a:solidFill>
                  <a:srgbClr val="BDC3C7"/>
                </a:solidFill>
                <a:latin typeface="Calibri" pitchFamily="34" charset="0"/>
                <a:ea typeface="Calibri" pitchFamily="34" charset="-122"/>
                <a:cs typeface="Calibri" pitchFamily="34" charset="-120"/>
              </a:rPr>
              <a:t>1-page doc on your world's full history, factions, and events</a:t>
            </a:r>
            <a:endParaRPr lang="en-US" sz="1100" dirty="0"/>
          </a:p>
        </p:txBody>
      </p:sp>
      <p:sp>
        <p:nvSpPr>
          <p:cNvPr id="28" name="Shape 26"/>
          <p:cNvSpPr/>
          <p:nvPr/>
        </p:nvSpPr>
        <p:spPr>
          <a:xfrm>
            <a:off x="4709160" y="2301902"/>
            <a:ext cx="4114800" cy="658368"/>
          </a:xfrm>
          <a:prstGeom prst="roundRect">
            <a:avLst>
              <a:gd name="adj" fmla="val 8333"/>
            </a:avLst>
          </a:prstGeom>
          <a:solidFill>
            <a:srgbClr val="243447"/>
          </a:solidFill>
          <a:ln/>
        </p:spPr>
        <p:txBody>
          <a:bodyPr/>
          <a:lstStyle/>
          <a:p>
            <a:endParaRPr lang="en-US"/>
          </a:p>
        </p:txBody>
      </p:sp>
      <p:sp>
        <p:nvSpPr>
          <p:cNvPr id="29" name="Text 27"/>
          <p:cNvSpPr/>
          <p:nvPr/>
        </p:nvSpPr>
        <p:spPr>
          <a:xfrm>
            <a:off x="4846320" y="2356766"/>
            <a:ext cx="3840480" cy="237744"/>
          </a:xfrm>
          <a:prstGeom prst="rect">
            <a:avLst/>
          </a:prstGeom>
          <a:noFill/>
          <a:ln/>
        </p:spPr>
        <p:txBody>
          <a:bodyPr wrap="square" rtlCol="0" anchor="ctr"/>
          <a:lstStyle/>
          <a:p>
            <a:pPr marL="0" indent="0">
              <a:buNone/>
            </a:pPr>
            <a:r>
              <a:rPr lang="en-US" sz="1200" b="1" dirty="0">
                <a:solidFill>
                  <a:srgbClr val="F0C040"/>
                </a:solidFill>
                <a:latin typeface="Arial" pitchFamily="34" charset="0"/>
                <a:ea typeface="Arial" pitchFamily="34" charset="-122"/>
                <a:cs typeface="Arial" pitchFamily="34" charset="-120"/>
              </a:rPr>
              <a:t>Map Research</a:t>
            </a:r>
            <a:endParaRPr lang="en-US" sz="1200" dirty="0"/>
          </a:p>
        </p:txBody>
      </p:sp>
      <p:sp>
        <p:nvSpPr>
          <p:cNvPr id="30" name="Text 28"/>
          <p:cNvSpPr/>
          <p:nvPr/>
        </p:nvSpPr>
        <p:spPr>
          <a:xfrm>
            <a:off x="4846320" y="2612798"/>
            <a:ext cx="3840480" cy="274320"/>
          </a:xfrm>
          <a:prstGeom prst="rect">
            <a:avLst/>
          </a:prstGeom>
          <a:noFill/>
          <a:ln/>
        </p:spPr>
        <p:txBody>
          <a:bodyPr wrap="square" rtlCol="0" anchor="ctr"/>
          <a:lstStyle/>
          <a:p>
            <a:pPr marL="0" indent="0">
              <a:buNone/>
            </a:pPr>
            <a:r>
              <a:rPr lang="en-US" sz="1100" dirty="0">
                <a:solidFill>
                  <a:srgbClr val="BDC3C7"/>
                </a:solidFill>
                <a:latin typeface="Calibri" pitchFamily="34" charset="0"/>
                <a:ea typeface="Calibri" pitchFamily="34" charset="-122"/>
                <a:cs typeface="Calibri" pitchFamily="34" charset="-120"/>
              </a:rPr>
              <a:t>Find one adventure map with great env. storytelling — present 2 min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1171</Words>
  <Application>Microsoft Macintosh PowerPoint</Application>
  <PresentationFormat>On-screen Show (16:9)</PresentationFormat>
  <Paragraphs>114</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14: World Building &amp; Level Storytelling — Minecraft Education Edition</dc:title>
  <dc:subject>PptxGenJS Presentation</dc:subject>
  <dc:creator>PptxGenJS</dc:creator>
  <cp:lastModifiedBy>Babichenko, Dmitriy</cp:lastModifiedBy>
  <cp:revision>11</cp:revision>
  <dcterms:created xsi:type="dcterms:W3CDTF">2026-06-16T19:13:35Z</dcterms:created>
  <dcterms:modified xsi:type="dcterms:W3CDTF">2026-06-29T22:44:21Z</dcterms:modified>
</cp:coreProperties>
</file>