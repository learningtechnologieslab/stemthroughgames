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1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009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STEM Through Games program and frame today's focus: design thinking through Minecraft. Ask students: What Minecraft maps or game modes have you played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lesson schedule. Read each objective aloud. Ask students: which of these sounds most interesting to you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three Minecraft worlds pre-loaded on student computers or ready to project. After each 2-3 minute session, ask the guiding question aloud and get 2-3 quick answers. Do NOT discuss in depth yet - save vocabulary for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the printed vocab sheet. Introduce each term and immediately connect it back to the mini-games played. Ask students: 'Which of these did you notice in the Parkour Map? In the Puzzle Map?' Let students answer before giving the example.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or demo a Spleef game if possible. Work through each label together. Have students call out which vocab term applies before you reveal it. This is the core practice before they design their 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10 minutes to sketch independently. Circulate and ask 'what's the challenge here?' to every student. Avoid judging complexity - redirect anyone who goes too elaborate: 'What's the ONE thing that makes this fun?'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game design to math. Have students look back at their sketches and literally circle anywhere a number would appear. Pair and share. Typical answers: score, timer, health, coordinates, lives, level number. Validate all of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complete their exit ticket silently. Then do a quick 3-minute share-out using the questions above. Collect tickets at the door. Review before Day 2 to group responses by theme (design-focused, emotion-focused, challenge-focused).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F"/>
        </a:solidFill>
        <a:effectLst/>
      </p:bgPr>
    </p:bg>
    <p:spTree>
      <p:nvGrpSpPr>
        <p:cNvPr id="1" name=""/>
        <p:cNvGrpSpPr/>
        <p:nvPr/>
      </p:nvGrpSpPr>
      <p:grpSpPr>
        <a:xfrm>
          <a:off x="0" y="0"/>
          <a:ext cx="0" cy="0"/>
          <a:chOff x="0" y="0"/>
          <a:chExt cx="0" cy="0"/>
        </a:xfrm>
      </p:grpSpPr>
      <p:sp>
        <p:nvSpPr>
          <p:cNvPr id="2" name="Shape 0"/>
          <p:cNvSpPr/>
          <p:nvPr/>
        </p:nvSpPr>
        <p:spPr>
          <a:xfrm>
            <a:off x="6583680" y="-731520"/>
            <a:ext cx="3200400" cy="3200400"/>
          </a:xfrm>
          <a:prstGeom prst="ellipse">
            <a:avLst/>
          </a:prstGeom>
          <a:solidFill>
            <a:srgbClr val="2D6A4F">
              <a:alpha val="40000"/>
            </a:srgbClr>
          </a:solidFill>
          <a:ln w="12700">
            <a:solidFill>
              <a:srgbClr val="2D6A4F">
                <a:alpha val="40000"/>
              </a:srgbClr>
            </a:solidFill>
            <a:prstDash val="solid"/>
          </a:ln>
        </p:spPr>
        <p:txBody>
          <a:bodyPr/>
          <a:lstStyle/>
          <a:p>
            <a:endParaRPr lang="en-US"/>
          </a:p>
        </p:txBody>
      </p:sp>
      <p:sp>
        <p:nvSpPr>
          <p:cNvPr id="3" name="Shape 1"/>
          <p:cNvSpPr/>
          <p:nvPr/>
        </p:nvSpPr>
        <p:spPr>
          <a:xfrm>
            <a:off x="7498080" y="2926080"/>
            <a:ext cx="2560320" cy="2560320"/>
          </a:xfrm>
          <a:prstGeom prst="ellipse">
            <a:avLst/>
          </a:prstGeom>
          <a:solidFill>
            <a:srgbClr val="028090">
              <a:alpha val="50000"/>
            </a:srgbClr>
          </a:solidFill>
          <a:ln w="12700">
            <a:solidFill>
              <a:srgbClr val="028090">
                <a:alpha val="50000"/>
              </a:srgbClr>
            </a:solidFill>
            <a:prstDash val="solid"/>
          </a:ln>
        </p:spPr>
        <p:txBody>
          <a:bodyPr/>
          <a:lstStyle/>
          <a:p>
            <a:endParaRPr lang="en-US"/>
          </a:p>
        </p:txBody>
      </p:sp>
      <p:sp>
        <p:nvSpPr>
          <p:cNvPr id="4" name="Shape 2"/>
          <p:cNvSpPr/>
          <p:nvPr/>
        </p:nvSpPr>
        <p:spPr>
          <a:xfrm>
            <a:off x="457200" y="320040"/>
            <a:ext cx="2194560" cy="384048"/>
          </a:xfrm>
          <a:prstGeom prst="roundRect">
            <a:avLst>
              <a:gd name="adj" fmla="val 14286"/>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457200" y="320040"/>
            <a:ext cx="219456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STEM THROUGH GAMES</a:t>
            </a:r>
            <a:endParaRPr lang="en-US" sz="1000" dirty="0"/>
          </a:p>
        </p:txBody>
      </p:sp>
      <p:sp>
        <p:nvSpPr>
          <p:cNvPr id="6" name="Text 4"/>
          <p:cNvSpPr/>
          <p:nvPr/>
        </p:nvSpPr>
        <p:spPr>
          <a:xfrm>
            <a:off x="457200" y="868680"/>
            <a:ext cx="5943600" cy="2560320"/>
          </a:xfrm>
          <a:prstGeom prst="rect">
            <a:avLst/>
          </a:prstGeom>
          <a:noFill/>
          <a:ln/>
        </p:spPr>
        <p:txBody>
          <a:bodyPr wrap="square" rtlCol="0" anchor="t"/>
          <a:lstStyle/>
          <a:p>
            <a:pPr marL="0" indent="0" algn="l">
              <a:buNone/>
            </a:pPr>
            <a:r>
              <a:rPr lang="en-US" sz="5800" b="1" dirty="0">
                <a:solidFill>
                  <a:srgbClr val="FFFFFF"/>
                </a:solidFill>
                <a:latin typeface="Arial" pitchFamily="34" charset="0"/>
                <a:ea typeface="Arial" pitchFamily="34" charset="-122"/>
                <a:cs typeface="Arial" pitchFamily="34" charset="-120"/>
              </a:rPr>
              <a:t>What Makes a</a:t>
            </a:r>
            <a:endParaRPr lang="en-US" sz="5800" dirty="0"/>
          </a:p>
          <a:p>
            <a:pPr marL="0" indent="0" algn="l">
              <a:buNone/>
            </a:pPr>
            <a:r>
              <a:rPr lang="en-US" sz="5800" b="1" dirty="0">
                <a:solidFill>
                  <a:srgbClr val="FFFFFF"/>
                </a:solidFill>
                <a:latin typeface="Arial" pitchFamily="34" charset="0"/>
                <a:ea typeface="Arial" pitchFamily="34" charset="-122"/>
                <a:cs typeface="Arial" pitchFamily="34" charset="-120"/>
              </a:rPr>
              <a:t>Game a Game?</a:t>
            </a:r>
            <a:endParaRPr lang="en-US" sz="5800" dirty="0"/>
          </a:p>
        </p:txBody>
      </p:sp>
      <p:sp>
        <p:nvSpPr>
          <p:cNvPr id="7" name="Text 5"/>
          <p:cNvSpPr/>
          <p:nvPr/>
        </p:nvSpPr>
        <p:spPr>
          <a:xfrm>
            <a:off x="457200" y="3520440"/>
            <a:ext cx="5486400" cy="411480"/>
          </a:xfrm>
          <a:prstGeom prst="rect">
            <a:avLst/>
          </a:prstGeom>
          <a:noFill/>
          <a:ln/>
        </p:spPr>
        <p:txBody>
          <a:bodyPr wrap="square" rtlCol="0" anchor="ctr"/>
          <a:lstStyle/>
          <a:p>
            <a:pPr marL="0" indent="0">
              <a:buNone/>
            </a:pPr>
            <a:r>
              <a:rPr lang="en-US" sz="1600" i="1" dirty="0">
                <a:solidFill>
                  <a:srgbClr val="A8D8B9"/>
                </a:solidFill>
                <a:latin typeface="Arial" pitchFamily="34" charset="0"/>
                <a:ea typeface="Arial" pitchFamily="34" charset="-122"/>
                <a:cs typeface="Arial" pitchFamily="34" charset="-120"/>
              </a:rPr>
              <a:t>Unit 1, Day 1  ·  Design Thinking &amp; Game Analysis</a:t>
            </a:r>
            <a:endParaRPr lang="en-US" sz="1600" dirty="0"/>
          </a:p>
        </p:txBody>
      </p:sp>
      <p:sp>
        <p:nvSpPr>
          <p:cNvPr id="8" name="Shape 6"/>
          <p:cNvSpPr/>
          <p:nvPr/>
        </p:nvSpPr>
        <p:spPr>
          <a:xfrm>
            <a:off x="457200" y="4297680"/>
            <a:ext cx="1920240" cy="475488"/>
          </a:xfrm>
          <a:prstGeom prst="roundRect">
            <a:avLst>
              <a:gd name="adj" fmla="val 11538"/>
            </a:avLst>
          </a:prstGeom>
          <a:solidFill>
            <a:srgbClr val="1565C0"/>
          </a:solidFill>
          <a:ln w="12700">
            <a:solidFill>
              <a:srgbClr val="1565C0"/>
            </a:solidFill>
            <a:prstDash val="solid"/>
          </a:ln>
        </p:spPr>
        <p:txBody>
          <a:bodyPr/>
          <a:lstStyle/>
          <a:p>
            <a:endParaRPr lang="en-US"/>
          </a:p>
        </p:txBody>
      </p:sp>
      <p:sp>
        <p:nvSpPr>
          <p:cNvPr id="9" name="Text 7"/>
          <p:cNvSpPr/>
          <p:nvPr/>
        </p:nvSpPr>
        <p:spPr>
          <a:xfrm>
            <a:off x="457200" y="4297680"/>
            <a:ext cx="19202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GAME DESIGN</a:t>
            </a:r>
            <a:endParaRPr lang="en-US" sz="1100" dirty="0"/>
          </a:p>
        </p:txBody>
      </p:sp>
      <p:sp>
        <p:nvSpPr>
          <p:cNvPr id="10" name="Shape 8"/>
          <p:cNvSpPr/>
          <p:nvPr/>
        </p:nvSpPr>
        <p:spPr>
          <a:xfrm>
            <a:off x="2514600" y="4297680"/>
            <a:ext cx="1920240" cy="475488"/>
          </a:xfrm>
          <a:prstGeom prst="roundRect">
            <a:avLst>
              <a:gd name="adj" fmla="val 11538"/>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2514600" y="4297680"/>
            <a:ext cx="19202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MATH</a:t>
            </a:r>
            <a:endParaRPr lang="en-US" sz="1100" dirty="0"/>
          </a:p>
        </p:txBody>
      </p:sp>
      <p:sp>
        <p:nvSpPr>
          <p:cNvPr id="12" name="Shape 10"/>
          <p:cNvSpPr/>
          <p:nvPr/>
        </p:nvSpPr>
        <p:spPr>
          <a:xfrm>
            <a:off x="4572000" y="4297680"/>
            <a:ext cx="1920240" cy="475488"/>
          </a:xfrm>
          <a:prstGeom prst="roundRect">
            <a:avLst>
              <a:gd name="adj" fmla="val 11538"/>
            </a:avLst>
          </a:prstGeom>
          <a:solidFill>
            <a:srgbClr val="6B3FA0"/>
          </a:solidFill>
          <a:ln w="12700">
            <a:solidFill>
              <a:srgbClr val="6B3FA0"/>
            </a:solidFill>
            <a:prstDash val="solid"/>
          </a:ln>
        </p:spPr>
        <p:txBody>
          <a:bodyPr/>
          <a:lstStyle/>
          <a:p>
            <a:endParaRPr lang="en-US"/>
          </a:p>
        </p:txBody>
      </p:sp>
      <p:sp>
        <p:nvSpPr>
          <p:cNvPr id="13" name="Text 11"/>
          <p:cNvSpPr/>
          <p:nvPr/>
        </p:nvSpPr>
        <p:spPr>
          <a:xfrm>
            <a:off x="4572000" y="4297680"/>
            <a:ext cx="19202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PHYSICS</a:t>
            </a:r>
            <a:endParaRPr lang="en-US" sz="1100" dirty="0"/>
          </a:p>
        </p:txBody>
      </p:sp>
      <p:sp>
        <p:nvSpPr>
          <p:cNvPr id="14" name="Shape 12"/>
          <p:cNvSpPr/>
          <p:nvPr/>
        </p:nvSpPr>
        <p:spPr>
          <a:xfrm>
            <a:off x="6629400" y="4297680"/>
            <a:ext cx="1920240" cy="475488"/>
          </a:xfrm>
          <a:prstGeom prst="roundRect">
            <a:avLst>
              <a:gd name="adj" fmla="val 11538"/>
            </a:avLst>
          </a:prstGeom>
          <a:solidFill>
            <a:srgbClr val="C0392B"/>
          </a:solidFill>
          <a:ln w="12700">
            <a:solidFill>
              <a:srgbClr val="C0392B"/>
            </a:solidFill>
            <a:prstDash val="solid"/>
          </a:ln>
        </p:spPr>
        <p:txBody>
          <a:bodyPr/>
          <a:lstStyle/>
          <a:p>
            <a:endParaRPr lang="en-US"/>
          </a:p>
        </p:txBody>
      </p:sp>
      <p:sp>
        <p:nvSpPr>
          <p:cNvPr id="15" name="Text 13"/>
          <p:cNvSpPr/>
          <p:nvPr/>
        </p:nvSpPr>
        <p:spPr>
          <a:xfrm>
            <a:off x="6629400" y="4297680"/>
            <a:ext cx="19202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NARRATIVE</a:t>
            </a:r>
            <a:endParaRPr lang="en-US" sz="1100" dirty="0"/>
          </a:p>
        </p:txBody>
      </p:sp>
      <p:pic>
        <p:nvPicPr>
          <p:cNvPr id="16" name="Image 0" descr="preencoded.png"/>
          <p:cNvPicPr>
            <a:picLocks noChangeAspect="1"/>
          </p:cNvPicPr>
          <p:nvPr/>
        </p:nvPicPr>
        <p:blipFill>
          <a:blip r:embed="rId3"/>
          <a:stretch>
            <a:fillRect/>
          </a:stretch>
        </p:blipFill>
        <p:spPr>
          <a:xfrm>
            <a:off x="6949440" y="1645920"/>
            <a:ext cx="1828800" cy="1828800"/>
          </a:xfrm>
          <a:prstGeom prst="rect">
            <a:avLst/>
          </a:prstGeom>
        </p:spPr>
      </p:pic>
      <p:sp>
        <p:nvSpPr>
          <p:cNvPr id="17" name="Text 14"/>
          <p:cNvSpPr/>
          <p:nvPr/>
        </p:nvSpPr>
        <p:spPr>
          <a:xfrm>
            <a:off x="5486400" y="4892040"/>
            <a:ext cx="3474720" cy="201168"/>
          </a:xfrm>
          <a:prstGeom prst="rect">
            <a:avLst/>
          </a:prstGeom>
          <a:noFill/>
          <a:ln/>
        </p:spPr>
        <p:txBody>
          <a:bodyPr wrap="square" rtlCol="0" anchor="ctr"/>
          <a:lstStyle/>
          <a:p>
            <a:pPr marL="0" indent="0" algn="r">
              <a:buNone/>
            </a:pPr>
            <a:r>
              <a:rPr lang="en-US" sz="900" dirty="0">
                <a:solidFill>
                  <a:srgbClr val="5A9070"/>
                </a:solidFill>
                <a:latin typeface="Arial" pitchFamily="34" charset="0"/>
                <a:ea typeface="Arial" pitchFamily="34" charset="-122"/>
                <a:cs typeface="Arial" pitchFamily="34" charset="-120"/>
              </a:rPr>
              <a:t>Powered by Minecraft Education Edition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6"/>
        </a:solidFill>
        <a:effectLst/>
      </p:bgPr>
    </p:bg>
    <p:spTree>
      <p:nvGrpSpPr>
        <p:cNvPr id="1" name=""/>
        <p:cNvGrpSpPr/>
        <p:nvPr/>
      </p:nvGrpSpPr>
      <p:grpSpPr>
        <a:xfrm>
          <a:off x="0" y="0"/>
          <a:ext cx="0" cy="0"/>
          <a:chOff x="0" y="0"/>
          <a:chExt cx="0" cy="0"/>
        </a:xfrm>
      </p:grpSpPr>
      <p:sp>
        <p:nvSpPr>
          <p:cNvPr id="2" name="Shape 0"/>
          <p:cNvSpPr/>
          <p:nvPr/>
        </p:nvSpPr>
        <p:spPr>
          <a:xfrm>
            <a:off x="0" y="0"/>
            <a:ext cx="2651760" cy="5143500"/>
          </a:xfrm>
          <a:prstGeom prst="rect">
            <a:avLst/>
          </a:prstGeom>
          <a:solidFill>
            <a:srgbClr val="1B3A2F"/>
          </a:solidFill>
          <a:ln w="12700">
            <a:solidFill>
              <a:srgbClr val="1B3A2F"/>
            </a:solidFill>
            <a:prstDash val="solid"/>
          </a:ln>
        </p:spPr>
        <p:txBody>
          <a:bodyPr/>
          <a:lstStyle/>
          <a:p>
            <a:endParaRPr lang="en-US"/>
          </a:p>
        </p:txBody>
      </p:sp>
      <p:sp>
        <p:nvSpPr>
          <p:cNvPr id="3" name="Text 1"/>
          <p:cNvSpPr/>
          <p:nvPr/>
        </p:nvSpPr>
        <p:spPr>
          <a:xfrm>
            <a:off x="91440" y="365760"/>
            <a:ext cx="2468880" cy="100584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TODAY'S</a:t>
            </a:r>
            <a:endParaRPr lang="en-US" sz="2600" dirty="0"/>
          </a:p>
          <a:p>
            <a:pPr marL="0" indent="0" algn="ctr">
              <a:buNone/>
            </a:pPr>
            <a:r>
              <a:rPr lang="en-US" sz="2600" b="1" dirty="0">
                <a:solidFill>
                  <a:srgbClr val="FFFFFF"/>
                </a:solidFill>
                <a:latin typeface="Arial" pitchFamily="34" charset="0"/>
                <a:ea typeface="Arial" pitchFamily="34" charset="-122"/>
                <a:cs typeface="Arial" pitchFamily="34" charset="-120"/>
              </a:rPr>
              <a:t>LESSON</a:t>
            </a:r>
            <a:endParaRPr lang="en-US" sz="2600" dirty="0"/>
          </a:p>
        </p:txBody>
      </p:sp>
      <p:sp>
        <p:nvSpPr>
          <p:cNvPr id="4" name="Shape 2"/>
          <p:cNvSpPr/>
          <p:nvPr/>
        </p:nvSpPr>
        <p:spPr>
          <a:xfrm>
            <a:off x="164592" y="1554480"/>
            <a:ext cx="2331720" cy="896112"/>
          </a:xfrm>
          <a:prstGeom prst="roundRect">
            <a:avLst>
              <a:gd name="adj" fmla="val 6122"/>
            </a:avLst>
          </a:prstGeom>
          <a:solidFill>
            <a:srgbClr val="E76F00"/>
          </a:solidFill>
          <a:ln w="12700">
            <a:solidFill>
              <a:srgbClr val="E76F00"/>
            </a:solidFill>
            <a:prstDash val="solid"/>
          </a:ln>
        </p:spPr>
        <p:txBody>
          <a:bodyPr/>
          <a:lstStyle/>
          <a:p>
            <a:endParaRPr lang="en-US"/>
          </a:p>
        </p:txBody>
      </p:sp>
      <p:sp>
        <p:nvSpPr>
          <p:cNvPr id="5" name="Text 3"/>
          <p:cNvSpPr/>
          <p:nvPr/>
        </p:nvSpPr>
        <p:spPr>
          <a:xfrm>
            <a:off x="164592" y="1627632"/>
            <a:ext cx="233172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0-10 min</a:t>
            </a:r>
            <a:endParaRPr lang="en-US" sz="1100" dirty="0"/>
          </a:p>
        </p:txBody>
      </p:sp>
      <p:sp>
        <p:nvSpPr>
          <p:cNvPr id="6" name="Text 4"/>
          <p:cNvSpPr/>
          <p:nvPr/>
        </p:nvSpPr>
        <p:spPr>
          <a:xfrm>
            <a:off x="164592" y="1938528"/>
            <a:ext cx="23317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Warm-Up</a:t>
            </a:r>
            <a:endParaRPr lang="en-US" sz="1600" dirty="0"/>
          </a:p>
        </p:txBody>
      </p:sp>
      <p:sp>
        <p:nvSpPr>
          <p:cNvPr id="7" name="Shape 5"/>
          <p:cNvSpPr/>
          <p:nvPr/>
        </p:nvSpPr>
        <p:spPr>
          <a:xfrm>
            <a:off x="164592" y="2606040"/>
            <a:ext cx="2331720" cy="896112"/>
          </a:xfrm>
          <a:prstGeom prst="roundRect">
            <a:avLst>
              <a:gd name="adj" fmla="val 6122"/>
            </a:avLst>
          </a:prstGeom>
          <a:solidFill>
            <a:srgbClr val="1565C0"/>
          </a:solidFill>
          <a:ln w="12700">
            <a:solidFill>
              <a:srgbClr val="1565C0"/>
            </a:solidFill>
            <a:prstDash val="solid"/>
          </a:ln>
        </p:spPr>
        <p:txBody>
          <a:bodyPr/>
          <a:lstStyle/>
          <a:p>
            <a:endParaRPr lang="en-US"/>
          </a:p>
        </p:txBody>
      </p:sp>
      <p:sp>
        <p:nvSpPr>
          <p:cNvPr id="8" name="Text 6"/>
          <p:cNvSpPr/>
          <p:nvPr/>
        </p:nvSpPr>
        <p:spPr>
          <a:xfrm>
            <a:off x="164592" y="2679192"/>
            <a:ext cx="233172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10-35 min</a:t>
            </a:r>
            <a:endParaRPr lang="en-US" sz="1100" dirty="0"/>
          </a:p>
        </p:txBody>
      </p:sp>
      <p:sp>
        <p:nvSpPr>
          <p:cNvPr id="9" name="Text 7"/>
          <p:cNvSpPr/>
          <p:nvPr/>
        </p:nvSpPr>
        <p:spPr>
          <a:xfrm>
            <a:off x="164592" y="2990088"/>
            <a:ext cx="23317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Main Activity</a:t>
            </a:r>
            <a:endParaRPr lang="en-US" sz="1600" dirty="0"/>
          </a:p>
        </p:txBody>
      </p:sp>
      <p:sp>
        <p:nvSpPr>
          <p:cNvPr id="10" name="Shape 8"/>
          <p:cNvSpPr/>
          <p:nvPr/>
        </p:nvSpPr>
        <p:spPr>
          <a:xfrm>
            <a:off x="164592" y="3657600"/>
            <a:ext cx="2331720" cy="896112"/>
          </a:xfrm>
          <a:prstGeom prst="roundRect">
            <a:avLst>
              <a:gd name="adj" fmla="val 6122"/>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164592" y="3730752"/>
            <a:ext cx="233172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35-45 min</a:t>
            </a:r>
            <a:endParaRPr lang="en-US" sz="1100" dirty="0"/>
          </a:p>
        </p:txBody>
      </p:sp>
      <p:sp>
        <p:nvSpPr>
          <p:cNvPr id="12" name="Text 10"/>
          <p:cNvSpPr/>
          <p:nvPr/>
        </p:nvSpPr>
        <p:spPr>
          <a:xfrm>
            <a:off x="164592" y="4041648"/>
            <a:ext cx="23317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Reflection</a:t>
            </a:r>
            <a:endParaRPr lang="en-US" sz="1600" dirty="0"/>
          </a:p>
        </p:txBody>
      </p:sp>
      <p:sp>
        <p:nvSpPr>
          <p:cNvPr id="13" name="Text 11"/>
          <p:cNvSpPr/>
          <p:nvPr/>
        </p:nvSpPr>
        <p:spPr>
          <a:xfrm>
            <a:off x="2834640" y="256032"/>
            <a:ext cx="6035040" cy="548640"/>
          </a:xfrm>
          <a:prstGeom prst="rect">
            <a:avLst/>
          </a:prstGeom>
          <a:noFill/>
          <a:ln/>
        </p:spPr>
        <p:txBody>
          <a:bodyPr wrap="square" rtlCol="0" anchor="ctr"/>
          <a:lstStyle/>
          <a:p>
            <a:pPr marL="0" indent="0">
              <a:buNone/>
            </a:pPr>
            <a:r>
              <a:rPr lang="en-US" sz="3000" b="1" dirty="0">
                <a:solidFill>
                  <a:srgbClr val="0D2818"/>
                </a:solidFill>
                <a:latin typeface="Arial" pitchFamily="34" charset="0"/>
                <a:ea typeface="Arial" pitchFamily="34" charset="-122"/>
                <a:cs typeface="Arial" pitchFamily="34" charset="-120"/>
              </a:rPr>
              <a:t>Learning Objectives</a:t>
            </a:r>
            <a:endParaRPr lang="en-US" sz="3000" dirty="0"/>
          </a:p>
        </p:txBody>
      </p:sp>
      <p:sp>
        <p:nvSpPr>
          <p:cNvPr id="14" name="Shape 12"/>
          <p:cNvSpPr/>
          <p:nvPr/>
        </p:nvSpPr>
        <p:spPr>
          <a:xfrm>
            <a:off x="2834640" y="914400"/>
            <a:ext cx="384048" cy="384048"/>
          </a:xfrm>
          <a:prstGeom prst="ellipse">
            <a:avLst/>
          </a:prstGeom>
          <a:solidFill>
            <a:srgbClr val="2D6A4F"/>
          </a:solidFill>
          <a:ln w="12700">
            <a:solidFill>
              <a:srgbClr val="2D6A4F"/>
            </a:solidFill>
            <a:prstDash val="solid"/>
          </a:ln>
        </p:spPr>
        <p:txBody>
          <a:bodyPr/>
          <a:lstStyle/>
          <a:p>
            <a:endParaRPr lang="en-US"/>
          </a:p>
        </p:txBody>
      </p:sp>
      <p:sp>
        <p:nvSpPr>
          <p:cNvPr id="15" name="Text 13"/>
          <p:cNvSpPr/>
          <p:nvPr/>
        </p:nvSpPr>
        <p:spPr>
          <a:xfrm>
            <a:off x="2834640" y="914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6" name="Shape 14"/>
          <p:cNvSpPr/>
          <p:nvPr/>
        </p:nvSpPr>
        <p:spPr>
          <a:xfrm>
            <a:off x="3337560" y="914400"/>
            <a:ext cx="5577840" cy="384048"/>
          </a:xfrm>
          <a:prstGeom prst="roundRect">
            <a:avLst>
              <a:gd name="adj" fmla="val 9524"/>
            </a:avLst>
          </a:prstGeom>
          <a:solidFill>
            <a:srgbClr val="FFFFFF"/>
          </a:solidFill>
          <a:ln w="12700">
            <a:solidFill>
              <a:srgbClr val="DDEEDF"/>
            </a:solidFill>
            <a:prstDash val="solid"/>
          </a:ln>
          <a:effectLst>
            <a:outerShdw blurRad="50800" dist="12700" dir="2700000" algn="bl" rotWithShape="0">
              <a:srgbClr val="000000">
                <a:alpha val="8000"/>
              </a:srgbClr>
            </a:outerShdw>
          </a:effectLst>
        </p:spPr>
        <p:txBody>
          <a:bodyPr/>
          <a:lstStyle/>
          <a:p>
            <a:endParaRPr lang="en-US"/>
          </a:p>
        </p:txBody>
      </p:sp>
      <p:sp>
        <p:nvSpPr>
          <p:cNvPr id="17" name="Text 15"/>
          <p:cNvSpPr/>
          <p:nvPr/>
        </p:nvSpPr>
        <p:spPr>
          <a:xfrm>
            <a:off x="3401568" y="914400"/>
            <a:ext cx="5449824" cy="384048"/>
          </a:xfrm>
          <a:prstGeom prst="rect">
            <a:avLst/>
          </a:prstGeom>
          <a:noFill/>
          <a:ln/>
        </p:spPr>
        <p:txBody>
          <a:bodyPr wrap="square" rtlCol="0" anchor="ctr"/>
          <a:lstStyle/>
          <a:p>
            <a:pPr marL="0" indent="0" algn="l">
              <a:buNone/>
            </a:pPr>
            <a:r>
              <a:rPr lang="en-US" sz="1300" dirty="0">
                <a:solidFill>
                  <a:srgbClr val="0D2818"/>
                </a:solidFill>
                <a:latin typeface="Arial" pitchFamily="34" charset="0"/>
                <a:ea typeface="Arial" pitchFamily="34" charset="-122"/>
                <a:cs typeface="Arial" pitchFamily="34" charset="-120"/>
              </a:rPr>
              <a:t>Define key properties of games: rules, goals, feedback, challenge</a:t>
            </a:r>
            <a:endParaRPr lang="en-US" sz="1300" dirty="0"/>
          </a:p>
        </p:txBody>
      </p:sp>
      <p:sp>
        <p:nvSpPr>
          <p:cNvPr id="18" name="Shape 16"/>
          <p:cNvSpPr/>
          <p:nvPr/>
        </p:nvSpPr>
        <p:spPr>
          <a:xfrm>
            <a:off x="2834640" y="1682496"/>
            <a:ext cx="384048" cy="384048"/>
          </a:xfrm>
          <a:prstGeom prst="ellipse">
            <a:avLst/>
          </a:prstGeom>
          <a:solidFill>
            <a:srgbClr val="2D6A4F"/>
          </a:solidFill>
          <a:ln w="12700">
            <a:solidFill>
              <a:srgbClr val="2D6A4F"/>
            </a:solidFill>
            <a:prstDash val="solid"/>
          </a:ln>
        </p:spPr>
        <p:txBody>
          <a:bodyPr/>
          <a:lstStyle/>
          <a:p>
            <a:endParaRPr lang="en-US"/>
          </a:p>
        </p:txBody>
      </p:sp>
      <p:sp>
        <p:nvSpPr>
          <p:cNvPr id="19" name="Text 17"/>
          <p:cNvSpPr/>
          <p:nvPr/>
        </p:nvSpPr>
        <p:spPr>
          <a:xfrm>
            <a:off x="2834640" y="16824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0" name="Shape 18"/>
          <p:cNvSpPr/>
          <p:nvPr/>
        </p:nvSpPr>
        <p:spPr>
          <a:xfrm>
            <a:off x="3337560" y="1682496"/>
            <a:ext cx="5577840" cy="384048"/>
          </a:xfrm>
          <a:prstGeom prst="roundRect">
            <a:avLst>
              <a:gd name="adj" fmla="val 9524"/>
            </a:avLst>
          </a:prstGeom>
          <a:solidFill>
            <a:srgbClr val="FFFFFF"/>
          </a:solidFill>
          <a:ln w="12700">
            <a:solidFill>
              <a:srgbClr val="DDEEDF"/>
            </a:solidFill>
            <a:prstDash val="solid"/>
          </a:ln>
          <a:effectLst>
            <a:outerShdw blurRad="50800" dist="12700" dir="2700000" algn="bl" rotWithShape="0">
              <a:srgbClr val="000000">
                <a:alpha val="8000"/>
              </a:srgbClr>
            </a:outerShdw>
          </a:effectLst>
        </p:spPr>
        <p:txBody>
          <a:bodyPr/>
          <a:lstStyle/>
          <a:p>
            <a:endParaRPr lang="en-US"/>
          </a:p>
        </p:txBody>
      </p:sp>
      <p:sp>
        <p:nvSpPr>
          <p:cNvPr id="21" name="Text 19"/>
          <p:cNvSpPr/>
          <p:nvPr/>
        </p:nvSpPr>
        <p:spPr>
          <a:xfrm>
            <a:off x="3401568" y="1682496"/>
            <a:ext cx="5449824" cy="384048"/>
          </a:xfrm>
          <a:prstGeom prst="rect">
            <a:avLst/>
          </a:prstGeom>
          <a:noFill/>
          <a:ln/>
        </p:spPr>
        <p:txBody>
          <a:bodyPr wrap="square" rtlCol="0" anchor="ctr"/>
          <a:lstStyle/>
          <a:p>
            <a:pPr marL="0" indent="0" algn="l">
              <a:buNone/>
            </a:pPr>
            <a:r>
              <a:rPr lang="en-US" sz="1300" dirty="0">
                <a:solidFill>
                  <a:srgbClr val="0D2818"/>
                </a:solidFill>
                <a:latin typeface="Arial" pitchFamily="34" charset="0"/>
                <a:ea typeface="Arial" pitchFamily="34" charset="-122"/>
                <a:cs typeface="Arial" pitchFamily="34" charset="-120"/>
              </a:rPr>
              <a:t>Compare different Minecraft game modes and design choices</a:t>
            </a:r>
            <a:endParaRPr lang="en-US" sz="1300" dirty="0"/>
          </a:p>
        </p:txBody>
      </p:sp>
      <p:sp>
        <p:nvSpPr>
          <p:cNvPr id="22" name="Shape 20"/>
          <p:cNvSpPr/>
          <p:nvPr/>
        </p:nvSpPr>
        <p:spPr>
          <a:xfrm>
            <a:off x="2834640" y="2450592"/>
            <a:ext cx="384048" cy="384048"/>
          </a:xfrm>
          <a:prstGeom prst="ellipse">
            <a:avLst/>
          </a:prstGeom>
          <a:solidFill>
            <a:srgbClr val="2D6A4F"/>
          </a:solidFill>
          <a:ln w="12700">
            <a:solidFill>
              <a:srgbClr val="2D6A4F"/>
            </a:solidFill>
            <a:prstDash val="solid"/>
          </a:ln>
        </p:spPr>
        <p:txBody>
          <a:bodyPr/>
          <a:lstStyle/>
          <a:p>
            <a:endParaRPr lang="en-US"/>
          </a:p>
        </p:txBody>
      </p:sp>
      <p:sp>
        <p:nvSpPr>
          <p:cNvPr id="23" name="Text 21"/>
          <p:cNvSpPr/>
          <p:nvPr/>
        </p:nvSpPr>
        <p:spPr>
          <a:xfrm>
            <a:off x="2834640" y="2450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Shape 22"/>
          <p:cNvSpPr/>
          <p:nvPr/>
        </p:nvSpPr>
        <p:spPr>
          <a:xfrm>
            <a:off x="3337560" y="2450592"/>
            <a:ext cx="5577840" cy="384048"/>
          </a:xfrm>
          <a:prstGeom prst="roundRect">
            <a:avLst>
              <a:gd name="adj" fmla="val 9524"/>
            </a:avLst>
          </a:prstGeom>
          <a:solidFill>
            <a:srgbClr val="FFFFFF"/>
          </a:solidFill>
          <a:ln w="12700">
            <a:solidFill>
              <a:srgbClr val="DDEEDF"/>
            </a:solidFill>
            <a:prstDash val="solid"/>
          </a:ln>
          <a:effectLst>
            <a:outerShdw blurRad="50800" dist="12700" dir="2700000" algn="bl" rotWithShape="0">
              <a:srgbClr val="000000">
                <a:alpha val="8000"/>
              </a:srgbClr>
            </a:outerShdw>
          </a:effectLst>
        </p:spPr>
        <p:txBody>
          <a:bodyPr/>
          <a:lstStyle/>
          <a:p>
            <a:endParaRPr lang="en-US"/>
          </a:p>
        </p:txBody>
      </p:sp>
      <p:sp>
        <p:nvSpPr>
          <p:cNvPr id="25" name="Text 23"/>
          <p:cNvSpPr/>
          <p:nvPr/>
        </p:nvSpPr>
        <p:spPr>
          <a:xfrm>
            <a:off x="3401568" y="2450592"/>
            <a:ext cx="5449824" cy="384048"/>
          </a:xfrm>
          <a:prstGeom prst="rect">
            <a:avLst/>
          </a:prstGeom>
          <a:noFill/>
          <a:ln/>
        </p:spPr>
        <p:txBody>
          <a:bodyPr wrap="square" rtlCol="0" anchor="ctr"/>
          <a:lstStyle/>
          <a:p>
            <a:pPr marL="0" indent="0" algn="l">
              <a:buNone/>
            </a:pPr>
            <a:r>
              <a:rPr lang="en-US" sz="1300" dirty="0">
                <a:solidFill>
                  <a:srgbClr val="0D2818"/>
                </a:solidFill>
                <a:latin typeface="Arial" pitchFamily="34" charset="0"/>
                <a:ea typeface="Arial" pitchFamily="34" charset="-122"/>
                <a:cs typeface="Arial" pitchFamily="34" charset="-120"/>
              </a:rPr>
              <a:t>Analyze a published Minecraft mini-game using design vocabulary</a:t>
            </a:r>
            <a:endParaRPr lang="en-US" sz="1300" dirty="0"/>
          </a:p>
        </p:txBody>
      </p:sp>
      <p:sp>
        <p:nvSpPr>
          <p:cNvPr id="26" name="Shape 24"/>
          <p:cNvSpPr/>
          <p:nvPr/>
        </p:nvSpPr>
        <p:spPr>
          <a:xfrm>
            <a:off x="2834640" y="3218688"/>
            <a:ext cx="384048" cy="384048"/>
          </a:xfrm>
          <a:prstGeom prst="ellipse">
            <a:avLst/>
          </a:prstGeom>
          <a:solidFill>
            <a:srgbClr val="2D6A4F"/>
          </a:solidFill>
          <a:ln w="12700">
            <a:solidFill>
              <a:srgbClr val="2D6A4F"/>
            </a:solidFill>
            <a:prstDash val="solid"/>
          </a:ln>
        </p:spPr>
        <p:txBody>
          <a:bodyPr/>
          <a:lstStyle/>
          <a:p>
            <a:endParaRPr lang="en-US"/>
          </a:p>
        </p:txBody>
      </p:sp>
      <p:sp>
        <p:nvSpPr>
          <p:cNvPr id="27" name="Text 25"/>
          <p:cNvSpPr/>
          <p:nvPr/>
        </p:nvSpPr>
        <p:spPr>
          <a:xfrm>
            <a:off x="2834640" y="32186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Shape 26"/>
          <p:cNvSpPr/>
          <p:nvPr/>
        </p:nvSpPr>
        <p:spPr>
          <a:xfrm>
            <a:off x="3337560" y="3218688"/>
            <a:ext cx="5577840" cy="384048"/>
          </a:xfrm>
          <a:prstGeom prst="roundRect">
            <a:avLst>
              <a:gd name="adj" fmla="val 9524"/>
            </a:avLst>
          </a:prstGeom>
          <a:solidFill>
            <a:srgbClr val="FFFFFF"/>
          </a:solidFill>
          <a:ln w="12700">
            <a:solidFill>
              <a:srgbClr val="DDEEDF"/>
            </a:solidFill>
            <a:prstDash val="solid"/>
          </a:ln>
          <a:effectLst>
            <a:outerShdw blurRad="50800" dist="12700" dir="2700000" algn="bl" rotWithShape="0">
              <a:srgbClr val="000000">
                <a:alpha val="8000"/>
              </a:srgbClr>
            </a:outerShdw>
          </a:effectLst>
        </p:spPr>
        <p:txBody>
          <a:bodyPr/>
          <a:lstStyle/>
          <a:p>
            <a:endParaRPr lang="en-US"/>
          </a:p>
        </p:txBody>
      </p:sp>
      <p:sp>
        <p:nvSpPr>
          <p:cNvPr id="29" name="Text 27"/>
          <p:cNvSpPr/>
          <p:nvPr/>
        </p:nvSpPr>
        <p:spPr>
          <a:xfrm>
            <a:off x="3401568" y="3218688"/>
            <a:ext cx="5449824" cy="384048"/>
          </a:xfrm>
          <a:prstGeom prst="rect">
            <a:avLst/>
          </a:prstGeom>
          <a:noFill/>
          <a:ln/>
        </p:spPr>
        <p:txBody>
          <a:bodyPr wrap="square" rtlCol="0" anchor="ctr"/>
          <a:lstStyle/>
          <a:p>
            <a:pPr marL="0" indent="0" algn="l">
              <a:buNone/>
            </a:pPr>
            <a:r>
              <a:rPr lang="en-US" sz="1300" dirty="0">
                <a:solidFill>
                  <a:srgbClr val="0D2818"/>
                </a:solidFill>
                <a:latin typeface="Arial" pitchFamily="34" charset="0"/>
                <a:ea typeface="Arial" pitchFamily="34" charset="-122"/>
                <a:cs typeface="Arial" pitchFamily="34" charset="-120"/>
              </a:rPr>
              <a:t>Sketch an original 1-zone Minecraft world concept on paper</a:t>
            </a:r>
            <a:endParaRPr lang="en-US" sz="1300" dirty="0"/>
          </a:p>
        </p:txBody>
      </p:sp>
      <p:sp>
        <p:nvSpPr>
          <p:cNvPr id="30" name="Shape 28"/>
          <p:cNvSpPr/>
          <p:nvPr/>
        </p:nvSpPr>
        <p:spPr>
          <a:xfrm>
            <a:off x="2834640" y="3986784"/>
            <a:ext cx="384048" cy="384048"/>
          </a:xfrm>
          <a:prstGeom prst="ellipse">
            <a:avLst/>
          </a:prstGeom>
          <a:solidFill>
            <a:srgbClr val="2D6A4F"/>
          </a:solidFill>
          <a:ln w="12700">
            <a:solidFill>
              <a:srgbClr val="2D6A4F"/>
            </a:solidFill>
            <a:prstDash val="solid"/>
          </a:ln>
        </p:spPr>
        <p:txBody>
          <a:bodyPr/>
          <a:lstStyle/>
          <a:p>
            <a:endParaRPr lang="en-US"/>
          </a:p>
        </p:txBody>
      </p:sp>
      <p:sp>
        <p:nvSpPr>
          <p:cNvPr id="31" name="Text 29"/>
          <p:cNvSpPr/>
          <p:nvPr/>
        </p:nvSpPr>
        <p:spPr>
          <a:xfrm>
            <a:off x="2834640" y="39867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2" name="Shape 30"/>
          <p:cNvSpPr/>
          <p:nvPr/>
        </p:nvSpPr>
        <p:spPr>
          <a:xfrm>
            <a:off x="3337560" y="3986784"/>
            <a:ext cx="5577840" cy="384048"/>
          </a:xfrm>
          <a:prstGeom prst="roundRect">
            <a:avLst>
              <a:gd name="adj" fmla="val 9524"/>
            </a:avLst>
          </a:prstGeom>
          <a:solidFill>
            <a:srgbClr val="FFFFFF"/>
          </a:solidFill>
          <a:ln w="12700">
            <a:solidFill>
              <a:srgbClr val="DDEEDF"/>
            </a:solidFill>
            <a:prstDash val="solid"/>
          </a:ln>
          <a:effectLst>
            <a:outerShdw blurRad="50800" dist="12700" dir="2700000" algn="bl" rotWithShape="0">
              <a:srgbClr val="000000">
                <a:alpha val="8000"/>
              </a:srgbClr>
            </a:outerShdw>
          </a:effectLst>
        </p:spPr>
        <p:txBody>
          <a:bodyPr/>
          <a:lstStyle/>
          <a:p>
            <a:endParaRPr lang="en-US"/>
          </a:p>
        </p:txBody>
      </p:sp>
      <p:sp>
        <p:nvSpPr>
          <p:cNvPr id="33" name="Text 31"/>
          <p:cNvSpPr/>
          <p:nvPr/>
        </p:nvSpPr>
        <p:spPr>
          <a:xfrm>
            <a:off x="3401568" y="3986784"/>
            <a:ext cx="5449824" cy="384048"/>
          </a:xfrm>
          <a:prstGeom prst="rect">
            <a:avLst/>
          </a:prstGeom>
          <a:noFill/>
          <a:ln/>
        </p:spPr>
        <p:txBody>
          <a:bodyPr wrap="square" rtlCol="0" anchor="ctr"/>
          <a:lstStyle/>
          <a:p>
            <a:pPr marL="0" indent="0" algn="l">
              <a:buNone/>
            </a:pPr>
            <a:r>
              <a:rPr lang="en-US" sz="1300" dirty="0">
                <a:solidFill>
                  <a:srgbClr val="0D2818"/>
                </a:solidFill>
                <a:latin typeface="Arial" pitchFamily="34" charset="0"/>
                <a:ea typeface="Arial" pitchFamily="34" charset="-122"/>
                <a:cs typeface="Arial" pitchFamily="34" charset="-120"/>
              </a:rPr>
              <a:t>Identify where math appears in Minecraft game systems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2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76F00"/>
          </a:solidFill>
          <a:ln w="12700">
            <a:solidFill>
              <a:srgbClr val="E76F00"/>
            </a:solidFill>
            <a:prstDash val="solid"/>
          </a:ln>
        </p:spPr>
        <p:txBody>
          <a:bodyPr/>
          <a:lstStyle/>
          <a:p>
            <a:endParaRPr lang="en-US"/>
          </a:p>
        </p:txBody>
      </p:sp>
      <p:sp>
        <p:nvSpPr>
          <p:cNvPr id="3" name="Text 1"/>
          <p:cNvSpPr/>
          <p:nvPr/>
        </p:nvSpPr>
        <p:spPr>
          <a:xfrm>
            <a:off x="365760" y="0"/>
            <a:ext cx="841248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Arial" pitchFamily="34" charset="0"/>
                <a:ea typeface="Arial" pitchFamily="34" charset="-122"/>
                <a:cs typeface="Arial" pitchFamily="34" charset="-120"/>
              </a:rPr>
              <a:t>WARM-UP   ·   0-10 MINUTES</a:t>
            </a:r>
            <a:endParaRPr lang="en-US" sz="1300" dirty="0"/>
          </a:p>
        </p:txBody>
      </p:sp>
      <p:sp>
        <p:nvSpPr>
          <p:cNvPr id="4" name="Shape 2"/>
          <p:cNvSpPr/>
          <p:nvPr/>
        </p:nvSpPr>
        <p:spPr>
          <a:xfrm>
            <a:off x="0" y="502920"/>
            <a:ext cx="9144000" cy="749808"/>
          </a:xfrm>
          <a:prstGeom prst="rect">
            <a:avLst/>
          </a:prstGeom>
          <a:solidFill>
            <a:srgbClr val="E76F00"/>
          </a:solidFill>
          <a:ln w="12700">
            <a:solidFill>
              <a:srgbClr val="E76F00"/>
            </a:solidFill>
            <a:prstDash val="solid"/>
          </a:ln>
        </p:spPr>
        <p:txBody>
          <a:bodyPr/>
          <a:lstStyle/>
          <a:p>
            <a:endParaRPr lang="en-US"/>
          </a:p>
        </p:txBody>
      </p:sp>
      <p:sp>
        <p:nvSpPr>
          <p:cNvPr id="5" name="Text 3"/>
          <p:cNvSpPr/>
          <p:nvPr/>
        </p:nvSpPr>
        <p:spPr>
          <a:xfrm>
            <a:off x="365760" y="502920"/>
            <a:ext cx="8412480" cy="74980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Play 3 Mini-Games</a:t>
            </a:r>
            <a:endParaRPr lang="en-US" sz="3200" dirty="0"/>
          </a:p>
        </p:txBody>
      </p:sp>
      <p:sp>
        <p:nvSpPr>
          <p:cNvPr id="6" name="Shape 4"/>
          <p:cNvSpPr/>
          <p:nvPr/>
        </p:nvSpPr>
        <p:spPr>
          <a:xfrm>
            <a:off x="228600" y="1371600"/>
            <a:ext cx="2743200" cy="457200"/>
          </a:xfrm>
          <a:prstGeom prst="rect">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228600" y="1371600"/>
            <a:ext cx="2743200" cy="45720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PARKOUR MAP</a:t>
            </a:r>
            <a:endParaRPr lang="en-US" sz="1200" dirty="0"/>
          </a:p>
        </p:txBody>
      </p:sp>
      <p:sp>
        <p:nvSpPr>
          <p:cNvPr id="8" name="Shape 6"/>
          <p:cNvSpPr/>
          <p:nvPr/>
        </p:nvSpPr>
        <p:spPr>
          <a:xfrm>
            <a:off x="228600" y="1828800"/>
            <a:ext cx="2743200" cy="1280160"/>
          </a:xfrm>
          <a:prstGeom prst="rect">
            <a:avLst/>
          </a:prstGeom>
          <a:solidFill>
            <a:srgbClr val="1565C0">
              <a:alpha val="75000"/>
            </a:srgbClr>
          </a:solidFill>
          <a:ln w="12700">
            <a:solidFill>
              <a:srgbClr val="1565C0"/>
            </a:solidFill>
            <a:prstDash val="solid"/>
          </a:ln>
        </p:spPr>
        <p:txBody>
          <a:bodyPr/>
          <a:lstStyle/>
          <a:p>
            <a:endParaRPr lang="en-US"/>
          </a:p>
        </p:txBody>
      </p:sp>
      <p:sp>
        <p:nvSpPr>
          <p:cNvPr id="9" name="Text 7"/>
          <p:cNvSpPr/>
          <p:nvPr/>
        </p:nvSpPr>
        <p:spPr>
          <a:xfrm>
            <a:off x="228600" y="1828800"/>
            <a:ext cx="2743200" cy="1280160"/>
          </a:xfrm>
          <a:prstGeom prst="rect">
            <a:avLst/>
          </a:prstGeom>
          <a:noFill/>
          <a:ln/>
        </p:spPr>
        <p:txBody>
          <a:bodyPr wrap="square"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Jump across blocks,</a:t>
            </a:r>
            <a:endParaRPr lang="en-US" sz="1600" dirty="0"/>
          </a:p>
          <a:p>
            <a:pPr marL="0" indent="0" algn="ctr">
              <a:buNone/>
            </a:pPr>
            <a:r>
              <a:rPr lang="en-US" sz="1600" dirty="0">
                <a:solidFill>
                  <a:srgbClr val="FFFFFF"/>
                </a:solidFill>
                <a:latin typeface="Arial" pitchFamily="34" charset="0"/>
                <a:ea typeface="Arial" pitchFamily="34" charset="-122"/>
                <a:cs typeface="Arial" pitchFamily="34" charset="-120"/>
              </a:rPr>
              <a:t>reach the end zone</a:t>
            </a:r>
            <a:endParaRPr lang="en-US" sz="1600" dirty="0"/>
          </a:p>
        </p:txBody>
      </p:sp>
      <p:sp>
        <p:nvSpPr>
          <p:cNvPr id="10" name="Shape 8"/>
          <p:cNvSpPr/>
          <p:nvPr/>
        </p:nvSpPr>
        <p:spPr>
          <a:xfrm>
            <a:off x="228600" y="3108960"/>
            <a:ext cx="2743200" cy="1143000"/>
          </a:xfrm>
          <a:prstGeom prst="rect">
            <a:avLst/>
          </a:prstGeom>
          <a:solidFill>
            <a:srgbClr val="1565C0">
              <a:alpha val="50000"/>
            </a:srgbClr>
          </a:solidFill>
          <a:ln w="12700">
            <a:solidFill>
              <a:srgbClr val="1565C0"/>
            </a:solidFill>
            <a:prstDash val="solid"/>
          </a:ln>
        </p:spPr>
        <p:txBody>
          <a:bodyPr/>
          <a:lstStyle/>
          <a:p>
            <a:endParaRPr lang="en-US"/>
          </a:p>
        </p:txBody>
      </p:sp>
      <p:sp>
        <p:nvSpPr>
          <p:cNvPr id="11" name="Text 9"/>
          <p:cNvSpPr/>
          <p:nvPr/>
        </p:nvSpPr>
        <p:spPr>
          <a:xfrm>
            <a:off x="228600" y="3108960"/>
            <a:ext cx="2743200" cy="114300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What does the</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player control?</a:t>
            </a:r>
            <a:endParaRPr lang="en-US" sz="1500" dirty="0"/>
          </a:p>
        </p:txBody>
      </p:sp>
      <p:sp>
        <p:nvSpPr>
          <p:cNvPr id="12" name="Shape 10"/>
          <p:cNvSpPr/>
          <p:nvPr/>
        </p:nvSpPr>
        <p:spPr>
          <a:xfrm>
            <a:off x="3200400" y="1371600"/>
            <a:ext cx="2743200" cy="45720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3200400" y="1371600"/>
            <a:ext cx="2743200" cy="45720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PUZZLE MAP</a:t>
            </a:r>
            <a:endParaRPr lang="en-US" sz="1200" dirty="0"/>
          </a:p>
        </p:txBody>
      </p:sp>
      <p:sp>
        <p:nvSpPr>
          <p:cNvPr id="14" name="Shape 12"/>
          <p:cNvSpPr/>
          <p:nvPr/>
        </p:nvSpPr>
        <p:spPr>
          <a:xfrm>
            <a:off x="3200400" y="1828800"/>
            <a:ext cx="2743200" cy="1280160"/>
          </a:xfrm>
          <a:prstGeom prst="rect">
            <a:avLst/>
          </a:prstGeom>
          <a:solidFill>
            <a:srgbClr val="028090">
              <a:alpha val="75000"/>
            </a:srgbClr>
          </a:solidFill>
          <a:ln w="12700">
            <a:solidFill>
              <a:srgbClr val="028090"/>
            </a:solidFill>
            <a:prstDash val="solid"/>
          </a:ln>
        </p:spPr>
        <p:txBody>
          <a:bodyPr/>
          <a:lstStyle/>
          <a:p>
            <a:endParaRPr lang="en-US"/>
          </a:p>
        </p:txBody>
      </p:sp>
      <p:sp>
        <p:nvSpPr>
          <p:cNvPr id="15" name="Text 13"/>
          <p:cNvSpPr/>
          <p:nvPr/>
        </p:nvSpPr>
        <p:spPr>
          <a:xfrm>
            <a:off x="3200400" y="1828800"/>
            <a:ext cx="2743200" cy="1280160"/>
          </a:xfrm>
          <a:prstGeom prst="rect">
            <a:avLst/>
          </a:prstGeom>
          <a:noFill/>
          <a:ln/>
        </p:spPr>
        <p:txBody>
          <a:bodyPr wrap="square"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Solve redstone clues</a:t>
            </a:r>
            <a:endParaRPr lang="en-US" sz="1600" dirty="0"/>
          </a:p>
          <a:p>
            <a:pPr marL="0" indent="0" algn="ctr">
              <a:buNone/>
            </a:pPr>
            <a:r>
              <a:rPr lang="en-US" sz="1600" dirty="0">
                <a:solidFill>
                  <a:srgbClr val="FFFFFF"/>
                </a:solidFill>
                <a:latin typeface="Arial" pitchFamily="34" charset="0"/>
                <a:ea typeface="Arial" pitchFamily="34" charset="-122"/>
                <a:cs typeface="Arial" pitchFamily="34" charset="-120"/>
              </a:rPr>
              <a:t>to unlock a door</a:t>
            </a:r>
            <a:endParaRPr lang="en-US" sz="1600" dirty="0"/>
          </a:p>
        </p:txBody>
      </p:sp>
      <p:sp>
        <p:nvSpPr>
          <p:cNvPr id="16" name="Shape 14"/>
          <p:cNvSpPr/>
          <p:nvPr/>
        </p:nvSpPr>
        <p:spPr>
          <a:xfrm>
            <a:off x="3200400" y="3108960"/>
            <a:ext cx="2743200" cy="1143000"/>
          </a:xfrm>
          <a:prstGeom prst="rect">
            <a:avLst/>
          </a:prstGeom>
          <a:solidFill>
            <a:srgbClr val="028090">
              <a:alpha val="50000"/>
            </a:srgbClr>
          </a:solidFill>
          <a:ln w="12700">
            <a:solidFill>
              <a:srgbClr val="028090"/>
            </a:solidFill>
            <a:prstDash val="solid"/>
          </a:ln>
        </p:spPr>
        <p:txBody>
          <a:bodyPr/>
          <a:lstStyle/>
          <a:p>
            <a:endParaRPr lang="en-US"/>
          </a:p>
        </p:txBody>
      </p:sp>
      <p:sp>
        <p:nvSpPr>
          <p:cNvPr id="17" name="Text 15"/>
          <p:cNvSpPr/>
          <p:nvPr/>
        </p:nvSpPr>
        <p:spPr>
          <a:xfrm>
            <a:off x="3200400" y="3108960"/>
            <a:ext cx="2743200" cy="114300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Where is</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the challenge?</a:t>
            </a:r>
            <a:endParaRPr lang="en-US" sz="1500" dirty="0"/>
          </a:p>
        </p:txBody>
      </p:sp>
      <p:sp>
        <p:nvSpPr>
          <p:cNvPr id="18" name="Shape 16"/>
          <p:cNvSpPr/>
          <p:nvPr/>
        </p:nvSpPr>
        <p:spPr>
          <a:xfrm>
            <a:off x="6172200" y="1371600"/>
            <a:ext cx="2743200" cy="457200"/>
          </a:xfrm>
          <a:prstGeom prst="rect">
            <a:avLst/>
          </a:prstGeom>
          <a:solidFill>
            <a:srgbClr val="6B3FA0"/>
          </a:solidFill>
          <a:ln w="12700">
            <a:solidFill>
              <a:srgbClr val="6B3FA0"/>
            </a:solidFill>
            <a:prstDash val="solid"/>
          </a:ln>
        </p:spPr>
        <p:txBody>
          <a:bodyPr/>
          <a:lstStyle/>
          <a:p>
            <a:endParaRPr lang="en-US"/>
          </a:p>
        </p:txBody>
      </p:sp>
      <p:sp>
        <p:nvSpPr>
          <p:cNvPr id="19" name="Text 17"/>
          <p:cNvSpPr/>
          <p:nvPr/>
        </p:nvSpPr>
        <p:spPr>
          <a:xfrm>
            <a:off x="6172200" y="1371600"/>
            <a:ext cx="2743200" cy="45720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SURVIVAL ARENA</a:t>
            </a:r>
            <a:endParaRPr lang="en-US" sz="1200" dirty="0"/>
          </a:p>
        </p:txBody>
      </p:sp>
      <p:sp>
        <p:nvSpPr>
          <p:cNvPr id="20" name="Shape 18"/>
          <p:cNvSpPr/>
          <p:nvPr/>
        </p:nvSpPr>
        <p:spPr>
          <a:xfrm>
            <a:off x="6172200" y="1828800"/>
            <a:ext cx="2743200" cy="1280160"/>
          </a:xfrm>
          <a:prstGeom prst="rect">
            <a:avLst/>
          </a:prstGeom>
          <a:solidFill>
            <a:srgbClr val="6B3FA0">
              <a:alpha val="75000"/>
            </a:srgbClr>
          </a:solidFill>
          <a:ln w="12700">
            <a:solidFill>
              <a:srgbClr val="6B3FA0"/>
            </a:solidFill>
            <a:prstDash val="solid"/>
          </a:ln>
        </p:spPr>
        <p:txBody>
          <a:bodyPr/>
          <a:lstStyle/>
          <a:p>
            <a:endParaRPr lang="en-US"/>
          </a:p>
        </p:txBody>
      </p:sp>
      <p:sp>
        <p:nvSpPr>
          <p:cNvPr id="21" name="Text 19"/>
          <p:cNvSpPr/>
          <p:nvPr/>
        </p:nvSpPr>
        <p:spPr>
          <a:xfrm>
            <a:off x="6172200" y="1828800"/>
            <a:ext cx="2743200" cy="1280160"/>
          </a:xfrm>
          <a:prstGeom prst="rect">
            <a:avLst/>
          </a:prstGeom>
          <a:noFill/>
          <a:ln/>
        </p:spPr>
        <p:txBody>
          <a:bodyPr wrap="square"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Avoid mobs,</a:t>
            </a:r>
            <a:endParaRPr lang="en-US" sz="1600" dirty="0"/>
          </a:p>
          <a:p>
            <a:pPr marL="0" indent="0" algn="ctr">
              <a:buNone/>
            </a:pPr>
            <a:r>
              <a:rPr lang="en-US" sz="1600" dirty="0">
                <a:solidFill>
                  <a:srgbClr val="FFFFFF"/>
                </a:solidFill>
                <a:latin typeface="Arial" pitchFamily="34" charset="0"/>
                <a:ea typeface="Arial" pitchFamily="34" charset="-122"/>
                <a:cs typeface="Arial" pitchFamily="34" charset="-120"/>
              </a:rPr>
              <a:t>collect diamonds</a:t>
            </a:r>
            <a:endParaRPr lang="en-US" sz="1600" dirty="0"/>
          </a:p>
        </p:txBody>
      </p:sp>
      <p:sp>
        <p:nvSpPr>
          <p:cNvPr id="22" name="Shape 20"/>
          <p:cNvSpPr/>
          <p:nvPr/>
        </p:nvSpPr>
        <p:spPr>
          <a:xfrm>
            <a:off x="6172200" y="3108960"/>
            <a:ext cx="2743200" cy="1143000"/>
          </a:xfrm>
          <a:prstGeom prst="rect">
            <a:avLst/>
          </a:prstGeom>
          <a:solidFill>
            <a:srgbClr val="6B3FA0">
              <a:alpha val="50000"/>
            </a:srgbClr>
          </a:solidFill>
          <a:ln w="12700">
            <a:solidFill>
              <a:srgbClr val="6B3FA0"/>
            </a:solidFill>
            <a:prstDash val="solid"/>
          </a:ln>
        </p:spPr>
        <p:txBody>
          <a:bodyPr/>
          <a:lstStyle/>
          <a:p>
            <a:endParaRPr lang="en-US"/>
          </a:p>
        </p:txBody>
      </p:sp>
      <p:sp>
        <p:nvSpPr>
          <p:cNvPr id="23" name="Text 21"/>
          <p:cNvSpPr/>
          <p:nvPr/>
        </p:nvSpPr>
        <p:spPr>
          <a:xfrm>
            <a:off x="6172200" y="3108960"/>
            <a:ext cx="2743200" cy="114300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How do you</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win or lose?</a:t>
            </a:r>
            <a:endParaRPr lang="en-US" sz="1500" dirty="0"/>
          </a:p>
        </p:txBody>
      </p:sp>
      <p:sp>
        <p:nvSpPr>
          <p:cNvPr id="24" name="Text 22"/>
          <p:cNvSpPr/>
          <p:nvPr/>
        </p:nvSpPr>
        <p:spPr>
          <a:xfrm>
            <a:off x="457200" y="4846320"/>
            <a:ext cx="8229600" cy="256032"/>
          </a:xfrm>
          <a:prstGeom prst="rect">
            <a:avLst/>
          </a:prstGeom>
          <a:noFill/>
          <a:ln/>
        </p:spPr>
        <p:txBody>
          <a:bodyPr wrap="square" rtlCol="0" anchor="ctr"/>
          <a:lstStyle/>
          <a:p>
            <a:pPr marL="0" indent="0" algn="ctr">
              <a:buNone/>
            </a:pPr>
            <a:r>
              <a:rPr lang="en-US" sz="1200" i="1" dirty="0">
                <a:solidFill>
                  <a:srgbClr val="A8D8B9"/>
                </a:solidFill>
                <a:latin typeface="Arial" pitchFamily="34" charset="0"/>
                <a:ea typeface="Arial" pitchFamily="34" charset="-122"/>
                <a:cs typeface="Arial" pitchFamily="34" charset="-120"/>
              </a:rPr>
              <a:t>Play each map for 2-3 minutes  ·  Quick share-out after each one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65C0"/>
          </a:solidFill>
          <a:ln w="12700">
            <a:solidFill>
              <a:srgbClr val="1565C0"/>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lIns="0" tIns="0" rIns="0" bIns="0" rtlCol="0" anchor="ctr"/>
          <a:lstStyle/>
          <a:p>
            <a:pPr marL="0" indent="0">
              <a:buNone/>
            </a:pPr>
            <a:r>
              <a:rPr lang="en-US" sz="2000" b="1" kern="0" spc="300" dirty="0">
                <a:solidFill>
                  <a:srgbClr val="FFFFFF"/>
                </a:solidFill>
                <a:latin typeface="Arial" pitchFamily="34" charset="0"/>
                <a:ea typeface="Arial" pitchFamily="34" charset="-122"/>
                <a:cs typeface="Arial" pitchFamily="34" charset="-120"/>
              </a:rPr>
              <a:t>GAME DESIGN VOCABULARY</a:t>
            </a:r>
            <a:endParaRPr lang="en-US" sz="2000" dirty="0"/>
          </a:p>
        </p:txBody>
      </p:sp>
      <p:sp>
        <p:nvSpPr>
          <p:cNvPr id="4" name="Shape 2"/>
          <p:cNvSpPr/>
          <p:nvPr/>
        </p:nvSpPr>
        <p:spPr>
          <a:xfrm>
            <a:off x="164592" y="8046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5" name="Shape 3"/>
          <p:cNvSpPr/>
          <p:nvPr/>
        </p:nvSpPr>
        <p:spPr>
          <a:xfrm>
            <a:off x="164592" y="804672"/>
            <a:ext cx="2834640" cy="420624"/>
          </a:xfrm>
          <a:prstGeom prst="roundRect">
            <a:avLst>
              <a:gd name="adj" fmla="val 13043"/>
            </a:avLst>
          </a:prstGeom>
          <a:solidFill>
            <a:srgbClr val="1565C0"/>
          </a:solidFill>
          <a:ln w="12700">
            <a:solidFill>
              <a:srgbClr val="1565C0"/>
            </a:solidFill>
            <a:prstDash val="solid"/>
          </a:ln>
        </p:spPr>
        <p:txBody>
          <a:bodyPr/>
          <a:lstStyle/>
          <a:p>
            <a:endParaRPr lang="en-US"/>
          </a:p>
        </p:txBody>
      </p:sp>
      <p:sp>
        <p:nvSpPr>
          <p:cNvPr id="6" name="Shape 4"/>
          <p:cNvSpPr/>
          <p:nvPr/>
        </p:nvSpPr>
        <p:spPr>
          <a:xfrm>
            <a:off x="164592" y="1024128"/>
            <a:ext cx="2834640" cy="201168"/>
          </a:xfrm>
          <a:prstGeom prst="rect">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164592" y="8046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RULES</a:t>
            </a:r>
            <a:endParaRPr lang="en-US" sz="1300" dirty="0"/>
          </a:p>
        </p:txBody>
      </p:sp>
      <p:sp>
        <p:nvSpPr>
          <p:cNvPr id="8" name="Text 6"/>
          <p:cNvSpPr/>
          <p:nvPr/>
        </p:nvSpPr>
        <p:spPr>
          <a:xfrm>
            <a:off x="274320" y="12801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Constraints that structure what players can and cannot do</a:t>
            </a:r>
            <a:endParaRPr lang="en-US" sz="1300" dirty="0"/>
          </a:p>
        </p:txBody>
      </p:sp>
      <p:sp>
        <p:nvSpPr>
          <p:cNvPr id="9" name="Shape 7"/>
          <p:cNvSpPr/>
          <p:nvPr/>
        </p:nvSpPr>
        <p:spPr>
          <a:xfrm>
            <a:off x="3127248" y="8046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0" name="Shape 8"/>
          <p:cNvSpPr/>
          <p:nvPr/>
        </p:nvSpPr>
        <p:spPr>
          <a:xfrm>
            <a:off x="3127248" y="804672"/>
            <a:ext cx="2834640" cy="420624"/>
          </a:xfrm>
          <a:prstGeom prst="roundRect">
            <a:avLst>
              <a:gd name="adj" fmla="val 13043"/>
            </a:avLst>
          </a:prstGeom>
          <a:solidFill>
            <a:srgbClr val="028090"/>
          </a:solidFill>
          <a:ln w="12700">
            <a:solidFill>
              <a:srgbClr val="028090"/>
            </a:solidFill>
            <a:prstDash val="solid"/>
          </a:ln>
        </p:spPr>
        <p:txBody>
          <a:bodyPr/>
          <a:lstStyle/>
          <a:p>
            <a:endParaRPr lang="en-US"/>
          </a:p>
        </p:txBody>
      </p:sp>
      <p:sp>
        <p:nvSpPr>
          <p:cNvPr id="11" name="Shape 9"/>
          <p:cNvSpPr/>
          <p:nvPr/>
        </p:nvSpPr>
        <p:spPr>
          <a:xfrm>
            <a:off x="3127248" y="1024128"/>
            <a:ext cx="2834640" cy="201168"/>
          </a:xfrm>
          <a:prstGeom prst="rect">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3127248" y="8046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GOALS</a:t>
            </a:r>
            <a:endParaRPr lang="en-US" sz="1300" dirty="0"/>
          </a:p>
        </p:txBody>
      </p:sp>
      <p:sp>
        <p:nvSpPr>
          <p:cNvPr id="13" name="Text 11"/>
          <p:cNvSpPr/>
          <p:nvPr/>
        </p:nvSpPr>
        <p:spPr>
          <a:xfrm>
            <a:off x="3236976" y="12801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The objective the player works toward</a:t>
            </a:r>
            <a:endParaRPr lang="en-US" sz="1300" dirty="0"/>
          </a:p>
        </p:txBody>
      </p:sp>
      <p:sp>
        <p:nvSpPr>
          <p:cNvPr id="14" name="Shape 12"/>
          <p:cNvSpPr/>
          <p:nvPr/>
        </p:nvSpPr>
        <p:spPr>
          <a:xfrm>
            <a:off x="6089904" y="8046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5" name="Shape 13"/>
          <p:cNvSpPr/>
          <p:nvPr/>
        </p:nvSpPr>
        <p:spPr>
          <a:xfrm>
            <a:off x="6089904" y="804672"/>
            <a:ext cx="2834640" cy="420624"/>
          </a:xfrm>
          <a:prstGeom prst="roundRect">
            <a:avLst>
              <a:gd name="adj" fmla="val 13043"/>
            </a:avLst>
          </a:prstGeom>
          <a:solidFill>
            <a:srgbClr val="6B3FA0"/>
          </a:solidFill>
          <a:ln w="12700">
            <a:solidFill>
              <a:srgbClr val="6B3FA0"/>
            </a:solidFill>
            <a:prstDash val="solid"/>
          </a:ln>
        </p:spPr>
        <p:txBody>
          <a:bodyPr/>
          <a:lstStyle/>
          <a:p>
            <a:endParaRPr lang="en-US"/>
          </a:p>
        </p:txBody>
      </p:sp>
      <p:sp>
        <p:nvSpPr>
          <p:cNvPr id="16" name="Shape 14"/>
          <p:cNvSpPr/>
          <p:nvPr/>
        </p:nvSpPr>
        <p:spPr>
          <a:xfrm>
            <a:off x="6089904" y="1024128"/>
            <a:ext cx="2834640" cy="201168"/>
          </a:xfrm>
          <a:prstGeom prst="rect">
            <a:avLst/>
          </a:prstGeom>
          <a:solidFill>
            <a:srgbClr val="6B3FA0"/>
          </a:solidFill>
          <a:ln w="12700">
            <a:solidFill>
              <a:srgbClr val="6B3FA0"/>
            </a:solidFill>
            <a:prstDash val="solid"/>
          </a:ln>
        </p:spPr>
        <p:txBody>
          <a:bodyPr/>
          <a:lstStyle/>
          <a:p>
            <a:endParaRPr lang="en-US"/>
          </a:p>
        </p:txBody>
      </p:sp>
      <p:sp>
        <p:nvSpPr>
          <p:cNvPr id="17" name="Text 15"/>
          <p:cNvSpPr/>
          <p:nvPr/>
        </p:nvSpPr>
        <p:spPr>
          <a:xfrm>
            <a:off x="6089904" y="8046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OBSTACLES</a:t>
            </a:r>
            <a:endParaRPr lang="en-US" sz="1300" dirty="0"/>
          </a:p>
        </p:txBody>
      </p:sp>
      <p:sp>
        <p:nvSpPr>
          <p:cNvPr id="18" name="Text 16"/>
          <p:cNvSpPr/>
          <p:nvPr/>
        </p:nvSpPr>
        <p:spPr>
          <a:xfrm>
            <a:off x="6199632" y="12801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Challenges that make achieving the goal difficult</a:t>
            </a:r>
            <a:endParaRPr lang="en-US" sz="1300" dirty="0"/>
          </a:p>
        </p:txBody>
      </p:sp>
      <p:sp>
        <p:nvSpPr>
          <p:cNvPr id="19" name="Shape 17"/>
          <p:cNvSpPr/>
          <p:nvPr/>
        </p:nvSpPr>
        <p:spPr>
          <a:xfrm>
            <a:off x="164592" y="28620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0" name="Shape 18"/>
          <p:cNvSpPr/>
          <p:nvPr/>
        </p:nvSpPr>
        <p:spPr>
          <a:xfrm>
            <a:off x="164592" y="2862072"/>
            <a:ext cx="2834640" cy="420624"/>
          </a:xfrm>
          <a:prstGeom prst="roundRect">
            <a:avLst>
              <a:gd name="adj" fmla="val 13043"/>
            </a:avLst>
          </a:prstGeom>
          <a:solidFill>
            <a:srgbClr val="E76F00"/>
          </a:solidFill>
          <a:ln w="12700">
            <a:solidFill>
              <a:srgbClr val="E76F00"/>
            </a:solidFill>
            <a:prstDash val="solid"/>
          </a:ln>
        </p:spPr>
        <p:txBody>
          <a:bodyPr/>
          <a:lstStyle/>
          <a:p>
            <a:endParaRPr lang="en-US"/>
          </a:p>
        </p:txBody>
      </p:sp>
      <p:sp>
        <p:nvSpPr>
          <p:cNvPr id="21" name="Shape 19"/>
          <p:cNvSpPr/>
          <p:nvPr/>
        </p:nvSpPr>
        <p:spPr>
          <a:xfrm>
            <a:off x="164592" y="3081528"/>
            <a:ext cx="2834640" cy="201168"/>
          </a:xfrm>
          <a:prstGeom prst="rect">
            <a:avLst/>
          </a:prstGeom>
          <a:solidFill>
            <a:srgbClr val="E76F00"/>
          </a:solidFill>
          <a:ln w="12700">
            <a:solidFill>
              <a:srgbClr val="E76F00"/>
            </a:solidFill>
            <a:prstDash val="solid"/>
          </a:ln>
        </p:spPr>
        <p:txBody>
          <a:bodyPr/>
          <a:lstStyle/>
          <a:p>
            <a:endParaRPr lang="en-US"/>
          </a:p>
        </p:txBody>
      </p:sp>
      <p:sp>
        <p:nvSpPr>
          <p:cNvPr id="22" name="Text 20"/>
          <p:cNvSpPr/>
          <p:nvPr/>
        </p:nvSpPr>
        <p:spPr>
          <a:xfrm>
            <a:off x="164592" y="28620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FEEDBACK</a:t>
            </a:r>
            <a:endParaRPr lang="en-US" sz="1300" dirty="0"/>
          </a:p>
        </p:txBody>
      </p:sp>
      <p:sp>
        <p:nvSpPr>
          <p:cNvPr id="23" name="Text 21"/>
          <p:cNvSpPr/>
          <p:nvPr/>
        </p:nvSpPr>
        <p:spPr>
          <a:xfrm>
            <a:off x="274320" y="33375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Information the game gives the player about their actions</a:t>
            </a:r>
            <a:endParaRPr lang="en-US" sz="1300" dirty="0"/>
          </a:p>
        </p:txBody>
      </p:sp>
      <p:sp>
        <p:nvSpPr>
          <p:cNvPr id="24" name="Shape 22"/>
          <p:cNvSpPr/>
          <p:nvPr/>
        </p:nvSpPr>
        <p:spPr>
          <a:xfrm>
            <a:off x="3127248" y="28620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5" name="Shape 23"/>
          <p:cNvSpPr/>
          <p:nvPr/>
        </p:nvSpPr>
        <p:spPr>
          <a:xfrm>
            <a:off x="3127248" y="2862072"/>
            <a:ext cx="2834640" cy="420624"/>
          </a:xfrm>
          <a:prstGeom prst="roundRect">
            <a:avLst>
              <a:gd name="adj" fmla="val 13043"/>
            </a:avLst>
          </a:prstGeom>
          <a:solidFill>
            <a:srgbClr val="2D6A4F"/>
          </a:solidFill>
          <a:ln w="12700">
            <a:solidFill>
              <a:srgbClr val="2D6A4F"/>
            </a:solidFill>
            <a:prstDash val="solid"/>
          </a:ln>
        </p:spPr>
        <p:txBody>
          <a:bodyPr/>
          <a:lstStyle/>
          <a:p>
            <a:endParaRPr lang="en-US"/>
          </a:p>
        </p:txBody>
      </p:sp>
      <p:sp>
        <p:nvSpPr>
          <p:cNvPr id="26" name="Shape 24"/>
          <p:cNvSpPr/>
          <p:nvPr/>
        </p:nvSpPr>
        <p:spPr>
          <a:xfrm>
            <a:off x="3127248" y="3081528"/>
            <a:ext cx="2834640" cy="201168"/>
          </a:xfrm>
          <a:prstGeom prst="rect">
            <a:avLst/>
          </a:prstGeom>
          <a:solidFill>
            <a:srgbClr val="2D6A4F"/>
          </a:solidFill>
          <a:ln w="12700">
            <a:solidFill>
              <a:srgbClr val="2D6A4F"/>
            </a:solidFill>
            <a:prstDash val="solid"/>
          </a:ln>
        </p:spPr>
        <p:txBody>
          <a:bodyPr/>
          <a:lstStyle/>
          <a:p>
            <a:endParaRPr lang="en-US"/>
          </a:p>
        </p:txBody>
      </p:sp>
      <p:sp>
        <p:nvSpPr>
          <p:cNvPr id="27" name="Text 25"/>
          <p:cNvSpPr/>
          <p:nvPr/>
        </p:nvSpPr>
        <p:spPr>
          <a:xfrm>
            <a:off x="3127248" y="28620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WIN STATE</a:t>
            </a:r>
            <a:endParaRPr lang="en-US" sz="1300" dirty="0"/>
          </a:p>
        </p:txBody>
      </p:sp>
      <p:sp>
        <p:nvSpPr>
          <p:cNvPr id="28" name="Text 26"/>
          <p:cNvSpPr/>
          <p:nvPr/>
        </p:nvSpPr>
        <p:spPr>
          <a:xfrm>
            <a:off x="3236976" y="33375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The condition that triggers player success</a:t>
            </a:r>
            <a:endParaRPr lang="en-US" sz="1300" dirty="0"/>
          </a:p>
        </p:txBody>
      </p:sp>
      <p:sp>
        <p:nvSpPr>
          <p:cNvPr id="29" name="Shape 27"/>
          <p:cNvSpPr/>
          <p:nvPr/>
        </p:nvSpPr>
        <p:spPr>
          <a:xfrm>
            <a:off x="6089904" y="2862072"/>
            <a:ext cx="2834640" cy="1920240"/>
          </a:xfrm>
          <a:prstGeom prst="roundRect">
            <a:avLst>
              <a:gd name="adj" fmla="val 2857"/>
            </a:avLst>
          </a:prstGeom>
          <a:solidFill>
            <a:srgbClr val="FFFFFF"/>
          </a:solidFill>
          <a:ln w="1270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8"/>
          <p:cNvSpPr/>
          <p:nvPr/>
        </p:nvSpPr>
        <p:spPr>
          <a:xfrm>
            <a:off x="6089904" y="2862072"/>
            <a:ext cx="2834640" cy="420624"/>
          </a:xfrm>
          <a:prstGeom prst="roundRect">
            <a:avLst>
              <a:gd name="adj" fmla="val 13043"/>
            </a:avLst>
          </a:prstGeom>
          <a:solidFill>
            <a:srgbClr val="C0392B"/>
          </a:solidFill>
          <a:ln w="12700">
            <a:solidFill>
              <a:srgbClr val="C0392B"/>
            </a:solidFill>
            <a:prstDash val="solid"/>
          </a:ln>
        </p:spPr>
        <p:txBody>
          <a:bodyPr/>
          <a:lstStyle/>
          <a:p>
            <a:endParaRPr lang="en-US"/>
          </a:p>
        </p:txBody>
      </p:sp>
      <p:sp>
        <p:nvSpPr>
          <p:cNvPr id="31" name="Shape 29"/>
          <p:cNvSpPr/>
          <p:nvPr/>
        </p:nvSpPr>
        <p:spPr>
          <a:xfrm>
            <a:off x="6089904" y="3081528"/>
            <a:ext cx="2834640" cy="201168"/>
          </a:xfrm>
          <a:prstGeom prst="rect">
            <a:avLst/>
          </a:prstGeom>
          <a:solidFill>
            <a:srgbClr val="C0392B"/>
          </a:solidFill>
          <a:ln w="12700">
            <a:solidFill>
              <a:srgbClr val="C0392B"/>
            </a:solidFill>
            <a:prstDash val="solid"/>
          </a:ln>
        </p:spPr>
        <p:txBody>
          <a:bodyPr/>
          <a:lstStyle/>
          <a:p>
            <a:endParaRPr lang="en-US"/>
          </a:p>
        </p:txBody>
      </p:sp>
      <p:sp>
        <p:nvSpPr>
          <p:cNvPr id="32" name="Text 30"/>
          <p:cNvSpPr/>
          <p:nvPr/>
        </p:nvSpPr>
        <p:spPr>
          <a:xfrm>
            <a:off x="6089904" y="2862072"/>
            <a:ext cx="2834640" cy="420624"/>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Arial" pitchFamily="34" charset="0"/>
                <a:ea typeface="Arial" pitchFamily="34" charset="-122"/>
                <a:cs typeface="Arial" pitchFamily="34" charset="-120"/>
              </a:rPr>
              <a:t>LOSE STATE</a:t>
            </a:r>
            <a:endParaRPr lang="en-US" sz="1300" dirty="0"/>
          </a:p>
        </p:txBody>
      </p:sp>
      <p:sp>
        <p:nvSpPr>
          <p:cNvPr id="33" name="Text 31"/>
          <p:cNvSpPr/>
          <p:nvPr/>
        </p:nvSpPr>
        <p:spPr>
          <a:xfrm>
            <a:off x="6199632" y="3337560"/>
            <a:ext cx="2615184" cy="1371600"/>
          </a:xfrm>
          <a:prstGeom prst="rect">
            <a:avLst/>
          </a:prstGeom>
          <a:noFill/>
          <a:ln/>
        </p:spPr>
        <p:txBody>
          <a:bodyPr wrap="square" rtlCol="0" anchor="t"/>
          <a:lstStyle/>
          <a:p>
            <a:pPr marL="0" indent="0" algn="l">
              <a:buNone/>
            </a:pPr>
            <a:r>
              <a:rPr lang="en-US" sz="1300" dirty="0">
                <a:solidFill>
                  <a:srgbClr val="0D2818"/>
                </a:solidFill>
                <a:latin typeface="Arial" pitchFamily="34" charset="0"/>
                <a:ea typeface="Arial" pitchFamily="34" charset="-122"/>
                <a:cs typeface="Arial" pitchFamily="34" charset="-120"/>
              </a:rPr>
              <a:t>The condition that triggers failure or restart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2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1565C0"/>
          </a:solidFill>
          <a:ln w="12700">
            <a:solidFill>
              <a:srgbClr val="1565C0"/>
            </a:solidFill>
            <a:prstDash val="solid"/>
          </a:ln>
        </p:spPr>
        <p:txBody>
          <a:bodyPr/>
          <a:lstStyle/>
          <a:p>
            <a:endParaRPr lang="en-US"/>
          </a:p>
        </p:txBody>
      </p:sp>
      <p:sp>
        <p:nvSpPr>
          <p:cNvPr id="3" name="Text 1"/>
          <p:cNvSpPr/>
          <p:nvPr/>
        </p:nvSpPr>
        <p:spPr>
          <a:xfrm>
            <a:off x="365760" y="0"/>
            <a:ext cx="8412480" cy="457200"/>
          </a:xfrm>
          <a:prstGeom prst="rect">
            <a:avLst/>
          </a:prstGeom>
          <a:noFill/>
          <a:ln/>
        </p:spPr>
        <p:txBody>
          <a:bodyPr wrap="square" lIns="0" tIns="0" rIns="0" bIns="0" rtlCol="0" anchor="ctr"/>
          <a:lstStyle/>
          <a:p>
            <a:pPr marL="0" indent="0">
              <a:buNone/>
            </a:pPr>
            <a:r>
              <a:rPr lang="en-US" sz="1300" b="1" kern="0" spc="300" dirty="0">
                <a:solidFill>
                  <a:srgbClr val="FFFFFF"/>
                </a:solidFill>
                <a:latin typeface="Arial" pitchFamily="34" charset="0"/>
                <a:ea typeface="Arial" pitchFamily="34" charset="-122"/>
                <a:cs typeface="Arial" pitchFamily="34" charset="-120"/>
              </a:rPr>
              <a:t>MAIN ACTIVITY   ·   CLASS GAME ANALYSIS</a:t>
            </a:r>
            <a:endParaRPr lang="en-US" sz="1300" dirty="0"/>
          </a:p>
        </p:txBody>
      </p:sp>
      <p:sp>
        <p:nvSpPr>
          <p:cNvPr id="4" name="Text 2"/>
          <p:cNvSpPr/>
          <p:nvPr/>
        </p:nvSpPr>
        <p:spPr>
          <a:xfrm>
            <a:off x="365760" y="548640"/>
            <a:ext cx="8412480" cy="658368"/>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Let's Analyze: Spleef</a:t>
            </a:r>
            <a:endParaRPr lang="en-US" sz="3200" dirty="0"/>
          </a:p>
        </p:txBody>
      </p:sp>
      <p:sp>
        <p:nvSpPr>
          <p:cNvPr id="5" name="Shape 3"/>
          <p:cNvSpPr/>
          <p:nvPr/>
        </p:nvSpPr>
        <p:spPr>
          <a:xfrm>
            <a:off x="274320" y="1371600"/>
            <a:ext cx="4206240" cy="1005840"/>
          </a:xfrm>
          <a:prstGeom prst="roundRect">
            <a:avLst>
              <a:gd name="adj" fmla="val 5455"/>
            </a:avLst>
          </a:prstGeom>
          <a:solidFill>
            <a:srgbClr val="1E2A22"/>
          </a:solidFill>
          <a:ln w="12700">
            <a:solidFill>
              <a:srgbClr val="1565C0"/>
            </a:solidFill>
            <a:prstDash val="solid"/>
          </a:ln>
        </p:spPr>
        <p:txBody>
          <a:bodyPr/>
          <a:lstStyle/>
          <a:p>
            <a:endParaRPr lang="en-US"/>
          </a:p>
        </p:txBody>
      </p:sp>
      <p:sp>
        <p:nvSpPr>
          <p:cNvPr id="6" name="Shape 4"/>
          <p:cNvSpPr/>
          <p:nvPr/>
        </p:nvSpPr>
        <p:spPr>
          <a:xfrm>
            <a:off x="274320" y="1371600"/>
            <a:ext cx="109728" cy="1005840"/>
          </a:xfrm>
          <a:prstGeom prst="rect">
            <a:avLst/>
          </a:prstGeom>
          <a:solidFill>
            <a:srgbClr val="1565C0"/>
          </a:solidFill>
          <a:ln w="12700">
            <a:solidFill>
              <a:srgbClr val="1565C0"/>
            </a:solidFill>
            <a:prstDash val="solid"/>
          </a:ln>
        </p:spPr>
        <p:txBody>
          <a:bodyPr/>
          <a:lstStyle/>
          <a:p>
            <a:endParaRPr lang="en-US"/>
          </a:p>
        </p:txBody>
      </p:sp>
      <p:sp>
        <p:nvSpPr>
          <p:cNvPr id="7" name="Text 5"/>
          <p:cNvSpPr/>
          <p:nvPr/>
        </p:nvSpPr>
        <p:spPr>
          <a:xfrm>
            <a:off x="457200" y="1444752"/>
            <a:ext cx="3840480" cy="274320"/>
          </a:xfrm>
          <a:prstGeom prst="rect">
            <a:avLst/>
          </a:prstGeom>
          <a:noFill/>
          <a:ln/>
        </p:spPr>
        <p:txBody>
          <a:bodyPr wrap="square" rtlCol="0" anchor="ctr"/>
          <a:lstStyle/>
          <a:p>
            <a:pPr marL="0" indent="0">
              <a:buNone/>
            </a:pPr>
            <a:r>
              <a:rPr lang="en-US" sz="1100" b="1" kern="0" spc="200" dirty="0">
                <a:solidFill>
                  <a:srgbClr val="1565C0"/>
                </a:solidFill>
                <a:latin typeface="Arial" pitchFamily="34" charset="0"/>
                <a:ea typeface="Arial" pitchFamily="34" charset="-122"/>
                <a:cs typeface="Arial" pitchFamily="34" charset="-120"/>
              </a:rPr>
              <a:t>RULES</a:t>
            </a:r>
            <a:endParaRPr lang="en-US" sz="1100" dirty="0"/>
          </a:p>
        </p:txBody>
      </p:sp>
      <p:sp>
        <p:nvSpPr>
          <p:cNvPr id="8" name="Text 6"/>
          <p:cNvSpPr/>
          <p:nvPr/>
        </p:nvSpPr>
        <p:spPr>
          <a:xfrm>
            <a:off x="457200" y="1755648"/>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Use shovels to break snow blocks beneath opponents; no placing blocks</a:t>
            </a:r>
            <a:endParaRPr lang="en-US" sz="1200" dirty="0"/>
          </a:p>
        </p:txBody>
      </p:sp>
      <p:sp>
        <p:nvSpPr>
          <p:cNvPr id="9" name="Shape 7"/>
          <p:cNvSpPr/>
          <p:nvPr/>
        </p:nvSpPr>
        <p:spPr>
          <a:xfrm>
            <a:off x="4754880" y="1371600"/>
            <a:ext cx="4206240" cy="1005840"/>
          </a:xfrm>
          <a:prstGeom prst="roundRect">
            <a:avLst>
              <a:gd name="adj" fmla="val 5455"/>
            </a:avLst>
          </a:prstGeom>
          <a:solidFill>
            <a:srgbClr val="1E2A22"/>
          </a:solidFill>
          <a:ln w="12700">
            <a:solidFill>
              <a:srgbClr val="028090"/>
            </a:solidFill>
            <a:prstDash val="solid"/>
          </a:ln>
        </p:spPr>
        <p:txBody>
          <a:bodyPr/>
          <a:lstStyle/>
          <a:p>
            <a:endParaRPr lang="en-US"/>
          </a:p>
        </p:txBody>
      </p:sp>
      <p:sp>
        <p:nvSpPr>
          <p:cNvPr id="10" name="Shape 8"/>
          <p:cNvSpPr/>
          <p:nvPr/>
        </p:nvSpPr>
        <p:spPr>
          <a:xfrm>
            <a:off x="4754880" y="1371600"/>
            <a:ext cx="109728" cy="100584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937760" y="1444752"/>
            <a:ext cx="3840480" cy="274320"/>
          </a:xfrm>
          <a:prstGeom prst="rect">
            <a:avLst/>
          </a:prstGeom>
          <a:noFill/>
          <a:ln/>
        </p:spPr>
        <p:txBody>
          <a:bodyPr wrap="square" rtlCol="0" anchor="ctr"/>
          <a:lstStyle/>
          <a:p>
            <a:pPr marL="0" indent="0">
              <a:buNone/>
            </a:pPr>
            <a:r>
              <a:rPr lang="en-US" sz="1100" b="1" kern="0" spc="200" dirty="0">
                <a:solidFill>
                  <a:srgbClr val="028090"/>
                </a:solidFill>
                <a:latin typeface="Arial" pitchFamily="34" charset="0"/>
                <a:ea typeface="Arial" pitchFamily="34" charset="-122"/>
                <a:cs typeface="Arial" pitchFamily="34" charset="-120"/>
              </a:rPr>
              <a:t>GOAL</a:t>
            </a:r>
            <a:endParaRPr lang="en-US" sz="1100" dirty="0"/>
          </a:p>
        </p:txBody>
      </p:sp>
      <p:sp>
        <p:nvSpPr>
          <p:cNvPr id="12" name="Text 10"/>
          <p:cNvSpPr/>
          <p:nvPr/>
        </p:nvSpPr>
        <p:spPr>
          <a:xfrm>
            <a:off x="4937760" y="1755648"/>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Be the last player standing on the platform</a:t>
            </a:r>
            <a:endParaRPr lang="en-US" sz="1200" dirty="0"/>
          </a:p>
        </p:txBody>
      </p:sp>
      <p:sp>
        <p:nvSpPr>
          <p:cNvPr id="13" name="Shape 11"/>
          <p:cNvSpPr/>
          <p:nvPr/>
        </p:nvSpPr>
        <p:spPr>
          <a:xfrm>
            <a:off x="274320" y="2542032"/>
            <a:ext cx="4206240" cy="1005840"/>
          </a:xfrm>
          <a:prstGeom prst="roundRect">
            <a:avLst>
              <a:gd name="adj" fmla="val 5455"/>
            </a:avLst>
          </a:prstGeom>
          <a:solidFill>
            <a:srgbClr val="1E2A22"/>
          </a:solidFill>
          <a:ln w="12700">
            <a:solidFill>
              <a:srgbClr val="6B3FA0"/>
            </a:solidFill>
            <a:prstDash val="solid"/>
          </a:ln>
        </p:spPr>
        <p:txBody>
          <a:bodyPr/>
          <a:lstStyle/>
          <a:p>
            <a:endParaRPr lang="en-US"/>
          </a:p>
        </p:txBody>
      </p:sp>
      <p:sp>
        <p:nvSpPr>
          <p:cNvPr id="14" name="Shape 12"/>
          <p:cNvSpPr/>
          <p:nvPr/>
        </p:nvSpPr>
        <p:spPr>
          <a:xfrm>
            <a:off x="274320" y="2542032"/>
            <a:ext cx="109728" cy="1005840"/>
          </a:xfrm>
          <a:prstGeom prst="rect">
            <a:avLst/>
          </a:prstGeom>
          <a:solidFill>
            <a:srgbClr val="6B3FA0"/>
          </a:solidFill>
          <a:ln w="12700">
            <a:solidFill>
              <a:srgbClr val="6B3FA0"/>
            </a:solidFill>
            <a:prstDash val="solid"/>
          </a:ln>
        </p:spPr>
        <p:txBody>
          <a:bodyPr/>
          <a:lstStyle/>
          <a:p>
            <a:endParaRPr lang="en-US"/>
          </a:p>
        </p:txBody>
      </p:sp>
      <p:sp>
        <p:nvSpPr>
          <p:cNvPr id="15" name="Text 13"/>
          <p:cNvSpPr/>
          <p:nvPr/>
        </p:nvSpPr>
        <p:spPr>
          <a:xfrm>
            <a:off x="457200" y="2615184"/>
            <a:ext cx="3840480" cy="274320"/>
          </a:xfrm>
          <a:prstGeom prst="rect">
            <a:avLst/>
          </a:prstGeom>
          <a:noFill/>
          <a:ln/>
        </p:spPr>
        <p:txBody>
          <a:bodyPr wrap="square" rtlCol="0" anchor="ctr"/>
          <a:lstStyle/>
          <a:p>
            <a:pPr marL="0" indent="0">
              <a:buNone/>
            </a:pPr>
            <a:r>
              <a:rPr lang="en-US" sz="1100" b="1" kern="0" spc="200" dirty="0">
                <a:solidFill>
                  <a:srgbClr val="6B3FA0"/>
                </a:solidFill>
                <a:latin typeface="Arial" pitchFamily="34" charset="0"/>
                <a:ea typeface="Arial" pitchFamily="34" charset="-122"/>
                <a:cs typeface="Arial" pitchFamily="34" charset="-120"/>
              </a:rPr>
              <a:t>OBSTACLES</a:t>
            </a:r>
            <a:endParaRPr lang="en-US" sz="1100" dirty="0"/>
          </a:p>
        </p:txBody>
      </p:sp>
      <p:sp>
        <p:nvSpPr>
          <p:cNvPr id="16" name="Text 14"/>
          <p:cNvSpPr/>
          <p:nvPr/>
        </p:nvSpPr>
        <p:spPr>
          <a:xfrm>
            <a:off x="457200" y="2926080"/>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Opponents attacking your platform, limited supplies, shrinking arena</a:t>
            </a:r>
            <a:endParaRPr lang="en-US" sz="1200" dirty="0"/>
          </a:p>
        </p:txBody>
      </p:sp>
      <p:sp>
        <p:nvSpPr>
          <p:cNvPr id="17" name="Shape 15"/>
          <p:cNvSpPr/>
          <p:nvPr/>
        </p:nvSpPr>
        <p:spPr>
          <a:xfrm>
            <a:off x="4754880" y="2542032"/>
            <a:ext cx="4206240" cy="1005840"/>
          </a:xfrm>
          <a:prstGeom prst="roundRect">
            <a:avLst>
              <a:gd name="adj" fmla="val 5455"/>
            </a:avLst>
          </a:prstGeom>
          <a:solidFill>
            <a:srgbClr val="1E2A22"/>
          </a:solidFill>
          <a:ln w="12700">
            <a:solidFill>
              <a:srgbClr val="E76F00"/>
            </a:solidFill>
            <a:prstDash val="solid"/>
          </a:ln>
        </p:spPr>
        <p:txBody>
          <a:bodyPr/>
          <a:lstStyle/>
          <a:p>
            <a:endParaRPr lang="en-US"/>
          </a:p>
        </p:txBody>
      </p:sp>
      <p:sp>
        <p:nvSpPr>
          <p:cNvPr id="18" name="Shape 16"/>
          <p:cNvSpPr/>
          <p:nvPr/>
        </p:nvSpPr>
        <p:spPr>
          <a:xfrm>
            <a:off x="4754880" y="2542032"/>
            <a:ext cx="109728" cy="1005840"/>
          </a:xfrm>
          <a:prstGeom prst="rect">
            <a:avLst/>
          </a:prstGeom>
          <a:solidFill>
            <a:srgbClr val="E76F00"/>
          </a:solidFill>
          <a:ln w="12700">
            <a:solidFill>
              <a:srgbClr val="E76F00"/>
            </a:solidFill>
            <a:prstDash val="solid"/>
          </a:ln>
        </p:spPr>
        <p:txBody>
          <a:bodyPr/>
          <a:lstStyle/>
          <a:p>
            <a:endParaRPr lang="en-US"/>
          </a:p>
        </p:txBody>
      </p:sp>
      <p:sp>
        <p:nvSpPr>
          <p:cNvPr id="19" name="Text 17"/>
          <p:cNvSpPr/>
          <p:nvPr/>
        </p:nvSpPr>
        <p:spPr>
          <a:xfrm>
            <a:off x="4937760" y="2615184"/>
            <a:ext cx="3840480" cy="274320"/>
          </a:xfrm>
          <a:prstGeom prst="rect">
            <a:avLst/>
          </a:prstGeom>
          <a:noFill/>
          <a:ln/>
        </p:spPr>
        <p:txBody>
          <a:bodyPr wrap="square" rtlCol="0" anchor="ctr"/>
          <a:lstStyle/>
          <a:p>
            <a:pPr marL="0" indent="0">
              <a:buNone/>
            </a:pPr>
            <a:r>
              <a:rPr lang="en-US" sz="1100" b="1" kern="0" spc="200" dirty="0">
                <a:solidFill>
                  <a:srgbClr val="E76F00"/>
                </a:solidFill>
                <a:latin typeface="Arial" pitchFamily="34" charset="0"/>
                <a:ea typeface="Arial" pitchFamily="34" charset="-122"/>
                <a:cs typeface="Arial" pitchFamily="34" charset="-120"/>
              </a:rPr>
              <a:t>FEEDBACK</a:t>
            </a:r>
            <a:endParaRPr lang="en-US" sz="1100" dirty="0"/>
          </a:p>
        </p:txBody>
      </p:sp>
      <p:sp>
        <p:nvSpPr>
          <p:cNvPr id="20" name="Text 18"/>
          <p:cNvSpPr/>
          <p:nvPr/>
        </p:nvSpPr>
        <p:spPr>
          <a:xfrm>
            <a:off x="4937760" y="2926080"/>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Blocks disappear when broken, fall sounds play, scoreboard shows eliminations</a:t>
            </a:r>
            <a:endParaRPr lang="en-US" sz="1200" dirty="0"/>
          </a:p>
        </p:txBody>
      </p:sp>
      <p:sp>
        <p:nvSpPr>
          <p:cNvPr id="21" name="Shape 19"/>
          <p:cNvSpPr/>
          <p:nvPr/>
        </p:nvSpPr>
        <p:spPr>
          <a:xfrm>
            <a:off x="274320" y="3712464"/>
            <a:ext cx="4206240" cy="1005840"/>
          </a:xfrm>
          <a:prstGeom prst="roundRect">
            <a:avLst>
              <a:gd name="adj" fmla="val 5455"/>
            </a:avLst>
          </a:prstGeom>
          <a:solidFill>
            <a:srgbClr val="1E2A22"/>
          </a:solidFill>
          <a:ln w="12700">
            <a:solidFill>
              <a:srgbClr val="2D6A4F"/>
            </a:solidFill>
            <a:prstDash val="solid"/>
          </a:ln>
        </p:spPr>
        <p:txBody>
          <a:bodyPr/>
          <a:lstStyle/>
          <a:p>
            <a:endParaRPr lang="en-US"/>
          </a:p>
        </p:txBody>
      </p:sp>
      <p:sp>
        <p:nvSpPr>
          <p:cNvPr id="22" name="Shape 20"/>
          <p:cNvSpPr/>
          <p:nvPr/>
        </p:nvSpPr>
        <p:spPr>
          <a:xfrm>
            <a:off x="274320" y="3712464"/>
            <a:ext cx="109728" cy="1005840"/>
          </a:xfrm>
          <a:prstGeom prst="rect">
            <a:avLst/>
          </a:prstGeom>
          <a:solidFill>
            <a:srgbClr val="2D6A4F"/>
          </a:solidFill>
          <a:ln w="12700">
            <a:solidFill>
              <a:srgbClr val="2D6A4F"/>
            </a:solidFill>
            <a:prstDash val="solid"/>
          </a:ln>
        </p:spPr>
        <p:txBody>
          <a:bodyPr/>
          <a:lstStyle/>
          <a:p>
            <a:endParaRPr lang="en-US"/>
          </a:p>
        </p:txBody>
      </p:sp>
      <p:sp>
        <p:nvSpPr>
          <p:cNvPr id="23" name="Text 21"/>
          <p:cNvSpPr/>
          <p:nvPr/>
        </p:nvSpPr>
        <p:spPr>
          <a:xfrm>
            <a:off x="457200" y="3785616"/>
            <a:ext cx="3840480" cy="274320"/>
          </a:xfrm>
          <a:prstGeom prst="rect">
            <a:avLst/>
          </a:prstGeom>
          <a:noFill/>
          <a:ln/>
        </p:spPr>
        <p:txBody>
          <a:bodyPr wrap="square" rtlCol="0" anchor="ctr"/>
          <a:lstStyle/>
          <a:p>
            <a:pPr marL="0" indent="0">
              <a:buNone/>
            </a:pPr>
            <a:r>
              <a:rPr lang="en-US" sz="1100" b="1" kern="0" spc="200" dirty="0">
                <a:solidFill>
                  <a:srgbClr val="2D6A4F"/>
                </a:solidFill>
                <a:latin typeface="Arial" pitchFamily="34" charset="0"/>
                <a:ea typeface="Arial" pitchFamily="34" charset="-122"/>
                <a:cs typeface="Arial" pitchFamily="34" charset="-120"/>
              </a:rPr>
              <a:t>WIN STATE</a:t>
            </a:r>
            <a:endParaRPr lang="en-US" sz="1100" dirty="0"/>
          </a:p>
        </p:txBody>
      </p:sp>
      <p:sp>
        <p:nvSpPr>
          <p:cNvPr id="24" name="Text 22"/>
          <p:cNvSpPr/>
          <p:nvPr/>
        </p:nvSpPr>
        <p:spPr>
          <a:xfrm>
            <a:off x="457200" y="4096512"/>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All other players have fallen — you remain on the platform</a:t>
            </a:r>
            <a:endParaRPr lang="en-US" sz="1200" dirty="0"/>
          </a:p>
        </p:txBody>
      </p:sp>
      <p:sp>
        <p:nvSpPr>
          <p:cNvPr id="25" name="Shape 23"/>
          <p:cNvSpPr/>
          <p:nvPr/>
        </p:nvSpPr>
        <p:spPr>
          <a:xfrm>
            <a:off x="4754880" y="3712464"/>
            <a:ext cx="4206240" cy="1005840"/>
          </a:xfrm>
          <a:prstGeom prst="roundRect">
            <a:avLst>
              <a:gd name="adj" fmla="val 5455"/>
            </a:avLst>
          </a:prstGeom>
          <a:solidFill>
            <a:srgbClr val="1E2A22"/>
          </a:solidFill>
          <a:ln w="12700">
            <a:solidFill>
              <a:srgbClr val="C0392B"/>
            </a:solidFill>
            <a:prstDash val="solid"/>
          </a:ln>
        </p:spPr>
        <p:txBody>
          <a:bodyPr/>
          <a:lstStyle/>
          <a:p>
            <a:endParaRPr lang="en-US"/>
          </a:p>
        </p:txBody>
      </p:sp>
      <p:sp>
        <p:nvSpPr>
          <p:cNvPr id="26" name="Shape 24"/>
          <p:cNvSpPr/>
          <p:nvPr/>
        </p:nvSpPr>
        <p:spPr>
          <a:xfrm>
            <a:off x="4754880" y="3712464"/>
            <a:ext cx="109728" cy="100584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4937760" y="3785616"/>
            <a:ext cx="3840480" cy="274320"/>
          </a:xfrm>
          <a:prstGeom prst="rect">
            <a:avLst/>
          </a:prstGeom>
          <a:noFill/>
          <a:ln/>
        </p:spPr>
        <p:txBody>
          <a:bodyPr wrap="square" rtlCol="0" anchor="ctr"/>
          <a:lstStyle/>
          <a:p>
            <a:pPr marL="0" indent="0">
              <a:buNone/>
            </a:pPr>
            <a:r>
              <a:rPr lang="en-US" sz="1100" b="1" kern="0" spc="200" dirty="0">
                <a:solidFill>
                  <a:srgbClr val="C0392B"/>
                </a:solidFill>
                <a:latin typeface="Arial" pitchFamily="34" charset="0"/>
                <a:ea typeface="Arial" pitchFamily="34" charset="-122"/>
                <a:cs typeface="Arial" pitchFamily="34" charset="-120"/>
              </a:rPr>
              <a:t>LOSE STATE</a:t>
            </a:r>
            <a:endParaRPr lang="en-US" sz="1100" dirty="0"/>
          </a:p>
        </p:txBody>
      </p:sp>
      <p:sp>
        <p:nvSpPr>
          <p:cNvPr id="28" name="Text 26"/>
          <p:cNvSpPr/>
          <p:nvPr/>
        </p:nvSpPr>
        <p:spPr>
          <a:xfrm>
            <a:off x="4937760" y="4096512"/>
            <a:ext cx="3840480" cy="530352"/>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You fall through the platform into the void below</a:t>
            </a:r>
            <a:endParaRPr lang="en-US" sz="1200" dirty="0"/>
          </a:p>
        </p:txBody>
      </p:sp>
      <p:sp>
        <p:nvSpPr>
          <p:cNvPr id="29" name="Text 27"/>
          <p:cNvSpPr/>
          <p:nvPr/>
        </p:nvSpPr>
        <p:spPr>
          <a:xfrm>
            <a:off x="457200" y="4864608"/>
            <a:ext cx="8229600" cy="237744"/>
          </a:xfrm>
          <a:prstGeom prst="rect">
            <a:avLst/>
          </a:prstGeom>
          <a:noFill/>
          <a:ln/>
        </p:spPr>
        <p:txBody>
          <a:bodyPr wrap="square" rtlCol="0" anchor="ctr"/>
          <a:lstStyle/>
          <a:p>
            <a:pPr marL="0" indent="0" algn="ctr">
              <a:buNone/>
            </a:pPr>
            <a:r>
              <a:rPr lang="en-US" sz="1100" i="1" dirty="0">
                <a:solidFill>
                  <a:srgbClr val="5A9070"/>
                </a:solidFill>
                <a:latin typeface="Arial" pitchFamily="34" charset="0"/>
                <a:ea typeface="Arial" pitchFamily="34" charset="-122"/>
                <a:cs typeface="Arial" pitchFamily="34" charset="-120"/>
              </a:rPr>
              <a:t>Use the Game Design Vocabulary sheet to label each element as a class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6"/>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6B3FA0"/>
          </a:solidFill>
          <a:ln w="12700">
            <a:solidFill>
              <a:srgbClr val="6B3FA0"/>
            </a:solidFill>
            <a:prstDash val="solid"/>
          </a:ln>
        </p:spPr>
        <p:txBody>
          <a:bodyPr/>
          <a:lstStyle/>
          <a:p>
            <a:endParaRPr lang="en-US"/>
          </a:p>
        </p:txBody>
      </p:sp>
      <p:sp>
        <p:nvSpPr>
          <p:cNvPr id="3" name="Text 1"/>
          <p:cNvSpPr/>
          <p:nvPr/>
        </p:nvSpPr>
        <p:spPr>
          <a:xfrm>
            <a:off x="365760" y="0"/>
            <a:ext cx="841248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Arial" pitchFamily="34" charset="0"/>
                <a:ea typeface="Arial" pitchFamily="34" charset="-122"/>
                <a:cs typeface="Arial" pitchFamily="34" charset="-120"/>
              </a:rPr>
              <a:t>YOUR TURN   ·   DESIGN A 1-ZONE MINECRAFT WORLD   ·   10 MINUTES</a:t>
            </a:r>
            <a:endParaRPr lang="en-US" sz="1200" dirty="0"/>
          </a:p>
        </p:txBody>
      </p:sp>
      <p:sp>
        <p:nvSpPr>
          <p:cNvPr id="4" name="Text 2"/>
          <p:cNvSpPr/>
          <p:nvPr/>
        </p:nvSpPr>
        <p:spPr>
          <a:xfrm>
            <a:off x="365760" y="594360"/>
            <a:ext cx="3840480" cy="475488"/>
          </a:xfrm>
          <a:prstGeom prst="rect">
            <a:avLst/>
          </a:prstGeom>
          <a:noFill/>
          <a:ln/>
        </p:spPr>
        <p:txBody>
          <a:bodyPr wrap="square" rtlCol="0" anchor="ctr"/>
          <a:lstStyle/>
          <a:p>
            <a:pPr marL="0" indent="0">
              <a:buNone/>
            </a:pPr>
            <a:r>
              <a:rPr lang="en-US" sz="2400" b="1" dirty="0">
                <a:solidFill>
                  <a:srgbClr val="0D2818"/>
                </a:solidFill>
                <a:latin typeface="Arial" pitchFamily="34" charset="0"/>
                <a:ea typeface="Arial" pitchFamily="34" charset="-122"/>
                <a:cs typeface="Arial" pitchFamily="34" charset="-120"/>
              </a:rPr>
              <a:t>Sketch Prompts</a:t>
            </a:r>
            <a:endParaRPr lang="en-US" sz="2400" dirty="0"/>
          </a:p>
        </p:txBody>
      </p:sp>
      <p:sp>
        <p:nvSpPr>
          <p:cNvPr id="5" name="Shape 3"/>
          <p:cNvSpPr/>
          <p:nvPr/>
        </p:nvSpPr>
        <p:spPr>
          <a:xfrm>
            <a:off x="365760" y="1170432"/>
            <a:ext cx="347472" cy="347472"/>
          </a:xfrm>
          <a:prstGeom prst="ellipse">
            <a:avLst/>
          </a:prstGeom>
          <a:solidFill>
            <a:srgbClr val="6B3FA0"/>
          </a:solidFill>
          <a:ln w="12700">
            <a:solidFill>
              <a:srgbClr val="6B3FA0"/>
            </a:solidFill>
            <a:prstDash val="solid"/>
          </a:ln>
        </p:spPr>
        <p:txBody>
          <a:bodyPr/>
          <a:lstStyle/>
          <a:p>
            <a:endParaRPr lang="en-US"/>
          </a:p>
        </p:txBody>
      </p:sp>
      <p:sp>
        <p:nvSpPr>
          <p:cNvPr id="6" name="Text 4"/>
          <p:cNvSpPr/>
          <p:nvPr/>
        </p:nvSpPr>
        <p:spPr>
          <a:xfrm>
            <a:off x="365760" y="1170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804672" y="1188720"/>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What is the player's main goal?</a:t>
            </a:r>
            <a:endParaRPr lang="en-US" sz="1400" dirty="0"/>
          </a:p>
        </p:txBody>
      </p:sp>
      <p:sp>
        <p:nvSpPr>
          <p:cNvPr id="8" name="Shape 6"/>
          <p:cNvSpPr/>
          <p:nvPr/>
        </p:nvSpPr>
        <p:spPr>
          <a:xfrm>
            <a:off x="365760" y="1755648"/>
            <a:ext cx="347472" cy="347472"/>
          </a:xfrm>
          <a:prstGeom prst="ellipse">
            <a:avLst/>
          </a:prstGeom>
          <a:solidFill>
            <a:srgbClr val="6B3FA0"/>
          </a:solidFill>
          <a:ln w="12700">
            <a:solidFill>
              <a:srgbClr val="6B3FA0"/>
            </a:solidFill>
            <a:prstDash val="solid"/>
          </a:ln>
        </p:spPr>
        <p:txBody>
          <a:bodyPr/>
          <a:lstStyle/>
          <a:p>
            <a:endParaRPr lang="en-US"/>
          </a:p>
        </p:txBody>
      </p:sp>
      <p:sp>
        <p:nvSpPr>
          <p:cNvPr id="9" name="Text 7"/>
          <p:cNvSpPr/>
          <p:nvPr/>
        </p:nvSpPr>
        <p:spPr>
          <a:xfrm>
            <a:off x="365760" y="17556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804672" y="1773936"/>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What can the player character do?</a:t>
            </a:r>
            <a:endParaRPr lang="en-US" sz="1400" dirty="0"/>
          </a:p>
        </p:txBody>
      </p:sp>
      <p:sp>
        <p:nvSpPr>
          <p:cNvPr id="11" name="Shape 9"/>
          <p:cNvSpPr/>
          <p:nvPr/>
        </p:nvSpPr>
        <p:spPr>
          <a:xfrm>
            <a:off x="365760" y="2340864"/>
            <a:ext cx="347472" cy="347472"/>
          </a:xfrm>
          <a:prstGeom prst="ellipse">
            <a:avLst/>
          </a:prstGeom>
          <a:solidFill>
            <a:srgbClr val="6B3FA0"/>
          </a:solidFill>
          <a:ln w="12700">
            <a:solidFill>
              <a:srgbClr val="6B3FA0"/>
            </a:solidFill>
            <a:prstDash val="solid"/>
          </a:ln>
        </p:spPr>
        <p:txBody>
          <a:bodyPr/>
          <a:lstStyle/>
          <a:p>
            <a:endParaRPr lang="en-US"/>
          </a:p>
        </p:txBody>
      </p:sp>
      <p:sp>
        <p:nvSpPr>
          <p:cNvPr id="12" name="Text 10"/>
          <p:cNvSpPr/>
          <p:nvPr/>
        </p:nvSpPr>
        <p:spPr>
          <a:xfrm>
            <a:off x="365760" y="234086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804672" y="2359152"/>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What obstacles will stop them?</a:t>
            </a:r>
            <a:endParaRPr lang="en-US" sz="1400" dirty="0"/>
          </a:p>
        </p:txBody>
      </p:sp>
      <p:sp>
        <p:nvSpPr>
          <p:cNvPr id="14" name="Shape 12"/>
          <p:cNvSpPr/>
          <p:nvPr/>
        </p:nvSpPr>
        <p:spPr>
          <a:xfrm>
            <a:off x="365760" y="2926080"/>
            <a:ext cx="347472" cy="347472"/>
          </a:xfrm>
          <a:prstGeom prst="ellipse">
            <a:avLst/>
          </a:prstGeom>
          <a:solidFill>
            <a:srgbClr val="6B3FA0"/>
          </a:solidFill>
          <a:ln w="12700">
            <a:solidFill>
              <a:srgbClr val="6B3FA0"/>
            </a:solidFill>
            <a:prstDash val="solid"/>
          </a:ln>
        </p:spPr>
        <p:txBody>
          <a:bodyPr/>
          <a:lstStyle/>
          <a:p>
            <a:endParaRPr lang="en-US"/>
          </a:p>
        </p:txBody>
      </p:sp>
      <p:sp>
        <p:nvSpPr>
          <p:cNvPr id="15" name="Text 13"/>
          <p:cNvSpPr/>
          <p:nvPr/>
        </p:nvSpPr>
        <p:spPr>
          <a:xfrm>
            <a:off x="365760" y="29260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p:nvPr/>
        </p:nvSpPr>
        <p:spPr>
          <a:xfrm>
            <a:off x="804672" y="2944368"/>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How does the player win?</a:t>
            </a:r>
            <a:endParaRPr lang="en-US" sz="1400" dirty="0"/>
          </a:p>
        </p:txBody>
      </p:sp>
      <p:sp>
        <p:nvSpPr>
          <p:cNvPr id="17" name="Shape 15"/>
          <p:cNvSpPr/>
          <p:nvPr/>
        </p:nvSpPr>
        <p:spPr>
          <a:xfrm>
            <a:off x="365760" y="3511296"/>
            <a:ext cx="347472" cy="347472"/>
          </a:xfrm>
          <a:prstGeom prst="ellipse">
            <a:avLst/>
          </a:prstGeom>
          <a:solidFill>
            <a:srgbClr val="6B3FA0"/>
          </a:solidFill>
          <a:ln w="12700">
            <a:solidFill>
              <a:srgbClr val="6B3FA0"/>
            </a:solidFill>
            <a:prstDash val="solid"/>
          </a:ln>
        </p:spPr>
        <p:txBody>
          <a:bodyPr/>
          <a:lstStyle/>
          <a:p>
            <a:endParaRPr lang="en-US"/>
          </a:p>
        </p:txBody>
      </p:sp>
      <p:sp>
        <p:nvSpPr>
          <p:cNvPr id="18" name="Text 16"/>
          <p:cNvSpPr/>
          <p:nvPr/>
        </p:nvSpPr>
        <p:spPr>
          <a:xfrm>
            <a:off x="365760" y="351129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Text 17"/>
          <p:cNvSpPr/>
          <p:nvPr/>
        </p:nvSpPr>
        <p:spPr>
          <a:xfrm>
            <a:off x="804672" y="3529584"/>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How does the player lose?</a:t>
            </a:r>
            <a:endParaRPr lang="en-US" sz="1400" dirty="0"/>
          </a:p>
        </p:txBody>
      </p:sp>
      <p:sp>
        <p:nvSpPr>
          <p:cNvPr id="20" name="Shape 18"/>
          <p:cNvSpPr/>
          <p:nvPr/>
        </p:nvSpPr>
        <p:spPr>
          <a:xfrm>
            <a:off x="365760" y="4096512"/>
            <a:ext cx="347472" cy="347472"/>
          </a:xfrm>
          <a:prstGeom prst="ellipse">
            <a:avLst/>
          </a:prstGeom>
          <a:solidFill>
            <a:srgbClr val="6B3FA0"/>
          </a:solidFill>
          <a:ln w="12700">
            <a:solidFill>
              <a:srgbClr val="6B3FA0"/>
            </a:solidFill>
            <a:prstDash val="solid"/>
          </a:ln>
        </p:spPr>
        <p:txBody>
          <a:bodyPr/>
          <a:lstStyle/>
          <a:p>
            <a:endParaRPr lang="en-US"/>
          </a:p>
        </p:txBody>
      </p:sp>
      <p:sp>
        <p:nvSpPr>
          <p:cNvPr id="21" name="Text 19"/>
          <p:cNvSpPr/>
          <p:nvPr/>
        </p:nvSpPr>
        <p:spPr>
          <a:xfrm>
            <a:off x="365760" y="409651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2" name="Text 20"/>
          <p:cNvSpPr/>
          <p:nvPr/>
        </p:nvSpPr>
        <p:spPr>
          <a:xfrm>
            <a:off x="804672" y="4114800"/>
            <a:ext cx="3383280" cy="329184"/>
          </a:xfrm>
          <a:prstGeom prst="rect">
            <a:avLst/>
          </a:prstGeom>
          <a:noFill/>
          <a:ln/>
        </p:spPr>
        <p:txBody>
          <a:bodyPr wrap="square" rtlCol="0" anchor="ctr"/>
          <a:lstStyle/>
          <a:p>
            <a:pPr marL="0" indent="0">
              <a:buNone/>
            </a:pPr>
            <a:r>
              <a:rPr lang="en-US" sz="1400" dirty="0">
                <a:solidFill>
                  <a:srgbClr val="0D2818"/>
                </a:solidFill>
                <a:latin typeface="Arial" pitchFamily="34" charset="0"/>
                <a:ea typeface="Arial" pitchFamily="34" charset="-122"/>
                <a:cs typeface="Arial" pitchFamily="34" charset="-120"/>
              </a:rPr>
              <a:t>What feedback will they receive?</a:t>
            </a:r>
            <a:endParaRPr lang="en-US" sz="1400" dirty="0"/>
          </a:p>
        </p:txBody>
      </p:sp>
      <p:sp>
        <p:nvSpPr>
          <p:cNvPr id="23" name="Text 21"/>
          <p:cNvSpPr/>
          <p:nvPr/>
        </p:nvSpPr>
        <p:spPr>
          <a:xfrm>
            <a:off x="365760" y="4754880"/>
            <a:ext cx="3840480" cy="292608"/>
          </a:xfrm>
          <a:prstGeom prst="rect">
            <a:avLst/>
          </a:prstGeom>
          <a:noFill/>
          <a:ln/>
        </p:spPr>
        <p:txBody>
          <a:bodyPr wrap="square" rtlCol="0" anchor="ctr"/>
          <a:lstStyle/>
          <a:p>
            <a:pPr marL="0" indent="0">
              <a:buNone/>
            </a:pPr>
            <a:r>
              <a:rPr lang="en-US" sz="1200" i="1" dirty="0">
                <a:solidFill>
                  <a:srgbClr val="6B3FA0"/>
                </a:solidFill>
                <a:latin typeface="Arial" pitchFamily="34" charset="0"/>
                <a:ea typeface="Arial" pitchFamily="34" charset="-122"/>
                <a:cs typeface="Arial" pitchFamily="34" charset="-120"/>
              </a:rPr>
              <a:t>No wrong answers — simplicity is the goal!</a:t>
            </a:r>
            <a:endParaRPr lang="en-US" sz="1200" dirty="0"/>
          </a:p>
        </p:txBody>
      </p:sp>
      <p:sp>
        <p:nvSpPr>
          <p:cNvPr id="24" name="Shape 22"/>
          <p:cNvSpPr/>
          <p:nvPr/>
        </p:nvSpPr>
        <p:spPr>
          <a:xfrm>
            <a:off x="4663440" y="502920"/>
            <a:ext cx="4206240" cy="4206240"/>
          </a:xfrm>
          <a:prstGeom prst="roundRect">
            <a:avLst>
              <a:gd name="adj" fmla="val 1304"/>
            </a:avLst>
          </a:prstGeom>
          <a:solidFill>
            <a:srgbClr val="FFFFFF"/>
          </a:solidFill>
          <a:ln w="12700">
            <a:solidFill>
              <a:srgbClr val="CCCCCC"/>
            </a:solidFill>
            <a:prstDash val="solid"/>
          </a:ln>
        </p:spPr>
        <p:txBody>
          <a:bodyPr/>
          <a:lstStyle/>
          <a:p>
            <a:endParaRPr lang="en-US"/>
          </a:p>
        </p:txBody>
      </p:sp>
      <p:sp>
        <p:nvSpPr>
          <p:cNvPr id="25" name="Text 23"/>
          <p:cNvSpPr/>
          <p:nvPr/>
        </p:nvSpPr>
        <p:spPr>
          <a:xfrm>
            <a:off x="4663440" y="612648"/>
            <a:ext cx="4206240" cy="320040"/>
          </a:xfrm>
          <a:prstGeom prst="rect">
            <a:avLst/>
          </a:prstGeom>
          <a:noFill/>
          <a:ln/>
        </p:spPr>
        <p:txBody>
          <a:bodyPr wrap="square" rtlCol="0" anchor="ctr"/>
          <a:lstStyle/>
          <a:p>
            <a:pPr marL="0" indent="0" algn="ctr">
              <a:buNone/>
            </a:pPr>
            <a:r>
              <a:rPr lang="en-US" sz="1200" b="1" kern="0" spc="300" dirty="0">
                <a:solidFill>
                  <a:srgbClr val="AAAAAA"/>
                </a:solidFill>
                <a:latin typeface="Arial" pitchFamily="34" charset="0"/>
                <a:ea typeface="Arial" pitchFamily="34" charset="-122"/>
                <a:cs typeface="Arial" pitchFamily="34" charset="-120"/>
              </a:rPr>
              <a:t>GAME SKETCH AREA</a:t>
            </a:r>
            <a:endParaRPr lang="en-US" sz="1200" dirty="0"/>
          </a:p>
        </p:txBody>
      </p:sp>
      <p:sp>
        <p:nvSpPr>
          <p:cNvPr id="26" name="Shape 24"/>
          <p:cNvSpPr/>
          <p:nvPr/>
        </p:nvSpPr>
        <p:spPr>
          <a:xfrm>
            <a:off x="5715000" y="1005840"/>
            <a:ext cx="0" cy="3337560"/>
          </a:xfrm>
          <a:prstGeom prst="line">
            <a:avLst/>
          </a:prstGeom>
          <a:noFill/>
          <a:ln w="6350">
            <a:solidFill>
              <a:srgbClr val="DDDDDD"/>
            </a:solidFill>
            <a:prstDash val="dash"/>
          </a:ln>
        </p:spPr>
        <p:txBody>
          <a:bodyPr/>
          <a:lstStyle/>
          <a:p>
            <a:endParaRPr lang="en-US"/>
          </a:p>
        </p:txBody>
      </p:sp>
      <p:sp>
        <p:nvSpPr>
          <p:cNvPr id="27" name="Shape 25"/>
          <p:cNvSpPr/>
          <p:nvPr/>
        </p:nvSpPr>
        <p:spPr>
          <a:xfrm>
            <a:off x="6766560" y="1005840"/>
            <a:ext cx="0" cy="3337560"/>
          </a:xfrm>
          <a:prstGeom prst="line">
            <a:avLst/>
          </a:prstGeom>
          <a:noFill/>
          <a:ln w="6350">
            <a:solidFill>
              <a:srgbClr val="DDDDDD"/>
            </a:solidFill>
            <a:prstDash val="dash"/>
          </a:ln>
        </p:spPr>
        <p:txBody>
          <a:bodyPr/>
          <a:lstStyle/>
          <a:p>
            <a:endParaRPr lang="en-US"/>
          </a:p>
        </p:txBody>
      </p:sp>
      <p:sp>
        <p:nvSpPr>
          <p:cNvPr id="28" name="Shape 26"/>
          <p:cNvSpPr/>
          <p:nvPr/>
        </p:nvSpPr>
        <p:spPr>
          <a:xfrm>
            <a:off x="7818120" y="1005840"/>
            <a:ext cx="0" cy="3337560"/>
          </a:xfrm>
          <a:prstGeom prst="line">
            <a:avLst/>
          </a:prstGeom>
          <a:noFill/>
          <a:ln w="6350">
            <a:solidFill>
              <a:srgbClr val="DDDDDD"/>
            </a:solidFill>
            <a:prstDash val="dash"/>
          </a:ln>
        </p:spPr>
        <p:txBody>
          <a:bodyPr/>
          <a:lstStyle/>
          <a:p>
            <a:endParaRPr lang="en-US"/>
          </a:p>
        </p:txBody>
      </p:sp>
      <p:sp>
        <p:nvSpPr>
          <p:cNvPr id="29" name="Shape 27"/>
          <p:cNvSpPr/>
          <p:nvPr/>
        </p:nvSpPr>
        <p:spPr>
          <a:xfrm>
            <a:off x="4754880" y="1840230"/>
            <a:ext cx="4023360" cy="0"/>
          </a:xfrm>
          <a:prstGeom prst="line">
            <a:avLst/>
          </a:prstGeom>
          <a:noFill/>
          <a:ln w="6350">
            <a:solidFill>
              <a:srgbClr val="DDDDDD"/>
            </a:solidFill>
            <a:prstDash val="dash"/>
          </a:ln>
        </p:spPr>
        <p:txBody>
          <a:bodyPr/>
          <a:lstStyle/>
          <a:p>
            <a:endParaRPr lang="en-US"/>
          </a:p>
        </p:txBody>
      </p:sp>
      <p:sp>
        <p:nvSpPr>
          <p:cNvPr id="30" name="Shape 28"/>
          <p:cNvSpPr/>
          <p:nvPr/>
        </p:nvSpPr>
        <p:spPr>
          <a:xfrm>
            <a:off x="4754880" y="2674620"/>
            <a:ext cx="4023360" cy="0"/>
          </a:xfrm>
          <a:prstGeom prst="line">
            <a:avLst/>
          </a:prstGeom>
          <a:noFill/>
          <a:ln w="6350">
            <a:solidFill>
              <a:srgbClr val="DDDDDD"/>
            </a:solidFill>
            <a:prstDash val="dash"/>
          </a:ln>
        </p:spPr>
        <p:txBody>
          <a:bodyPr/>
          <a:lstStyle/>
          <a:p>
            <a:endParaRPr lang="en-US"/>
          </a:p>
        </p:txBody>
      </p:sp>
      <p:sp>
        <p:nvSpPr>
          <p:cNvPr id="31" name="Shape 29"/>
          <p:cNvSpPr/>
          <p:nvPr/>
        </p:nvSpPr>
        <p:spPr>
          <a:xfrm>
            <a:off x="4754880" y="3509010"/>
            <a:ext cx="4023360" cy="0"/>
          </a:xfrm>
          <a:prstGeom prst="line">
            <a:avLst/>
          </a:prstGeom>
          <a:noFill/>
          <a:ln w="6350">
            <a:solidFill>
              <a:srgbClr val="DDDDDD"/>
            </a:solidFill>
            <a:prstDash val="dash"/>
          </a:ln>
        </p:spPr>
        <p:txBody>
          <a:bodyPr/>
          <a:lstStyle/>
          <a:p>
            <a:endParaRPr lang="en-US"/>
          </a:p>
        </p:txBody>
      </p:sp>
      <p:sp>
        <p:nvSpPr>
          <p:cNvPr id="32" name="Text 30"/>
          <p:cNvSpPr/>
          <p:nvPr/>
        </p:nvSpPr>
        <p:spPr>
          <a:xfrm>
            <a:off x="4754880" y="4416552"/>
            <a:ext cx="1280160" cy="256032"/>
          </a:xfrm>
          <a:prstGeom prst="rect">
            <a:avLst/>
          </a:prstGeom>
          <a:noFill/>
          <a:ln/>
        </p:spPr>
        <p:txBody>
          <a:bodyPr wrap="square" rtlCol="0" anchor="ctr"/>
          <a:lstStyle/>
          <a:p>
            <a:pPr marL="0" indent="0" algn="ctr">
              <a:buNone/>
            </a:pPr>
            <a:r>
              <a:rPr lang="en-US" sz="1000" i="1" dirty="0">
                <a:solidFill>
                  <a:srgbClr val="AAAAAA"/>
                </a:solidFill>
                <a:latin typeface="Arial" pitchFamily="34" charset="0"/>
                <a:ea typeface="Arial" pitchFamily="34" charset="-122"/>
                <a:cs typeface="Arial" pitchFamily="34" charset="-120"/>
              </a:rPr>
              <a:t>Goal?</a:t>
            </a:r>
            <a:endParaRPr lang="en-US" sz="1000" dirty="0"/>
          </a:p>
        </p:txBody>
      </p:sp>
      <p:sp>
        <p:nvSpPr>
          <p:cNvPr id="33" name="Text 31"/>
          <p:cNvSpPr/>
          <p:nvPr/>
        </p:nvSpPr>
        <p:spPr>
          <a:xfrm>
            <a:off x="6126480" y="4416552"/>
            <a:ext cx="1280160" cy="256032"/>
          </a:xfrm>
          <a:prstGeom prst="rect">
            <a:avLst/>
          </a:prstGeom>
          <a:noFill/>
          <a:ln/>
        </p:spPr>
        <p:txBody>
          <a:bodyPr wrap="square" rtlCol="0" anchor="ctr"/>
          <a:lstStyle/>
          <a:p>
            <a:pPr marL="0" indent="0" algn="ctr">
              <a:buNone/>
            </a:pPr>
            <a:r>
              <a:rPr lang="en-US" sz="1000" i="1" dirty="0">
                <a:solidFill>
                  <a:srgbClr val="AAAAAA"/>
                </a:solidFill>
                <a:latin typeface="Arial" pitchFamily="34" charset="0"/>
                <a:ea typeface="Arial" pitchFamily="34" charset="-122"/>
                <a:cs typeface="Arial" pitchFamily="34" charset="-120"/>
              </a:rPr>
              <a:t>Obstacles?</a:t>
            </a:r>
            <a:endParaRPr lang="en-US" sz="1000" dirty="0"/>
          </a:p>
        </p:txBody>
      </p:sp>
      <p:sp>
        <p:nvSpPr>
          <p:cNvPr id="34" name="Text 32"/>
          <p:cNvSpPr/>
          <p:nvPr/>
        </p:nvSpPr>
        <p:spPr>
          <a:xfrm>
            <a:off x="7498080" y="4416552"/>
            <a:ext cx="1280160" cy="256032"/>
          </a:xfrm>
          <a:prstGeom prst="rect">
            <a:avLst/>
          </a:prstGeom>
          <a:noFill/>
          <a:ln/>
        </p:spPr>
        <p:txBody>
          <a:bodyPr wrap="square" rtlCol="0" anchor="ctr"/>
          <a:lstStyle/>
          <a:p>
            <a:pPr marL="0" indent="0" algn="ctr">
              <a:buNone/>
            </a:pPr>
            <a:r>
              <a:rPr lang="en-US" sz="1000" i="1" dirty="0">
                <a:solidFill>
                  <a:srgbClr val="AAAAAA"/>
                </a:solidFill>
                <a:latin typeface="Arial" pitchFamily="34" charset="0"/>
                <a:ea typeface="Arial" pitchFamily="34" charset="-122"/>
                <a:cs typeface="Arial" pitchFamily="34" charset="-120"/>
              </a:rPr>
              <a:t>Win / Lose?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F"/>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365760" y="0"/>
            <a:ext cx="8412480" cy="475488"/>
          </a:xfrm>
          <a:prstGeom prst="rect">
            <a:avLst/>
          </a:prstGeom>
          <a:noFill/>
          <a:ln/>
        </p:spPr>
        <p:txBody>
          <a:bodyPr wrap="square" lIns="0" tIns="0" rIns="0" bIns="0" rtlCol="0" anchor="ctr"/>
          <a:lstStyle/>
          <a:p>
            <a:pPr marL="0" indent="0">
              <a:buNone/>
            </a:pPr>
            <a:r>
              <a:rPr lang="en-US" sz="1400" b="1" kern="0" spc="400" dirty="0">
                <a:solidFill>
                  <a:srgbClr val="FFFFFF"/>
                </a:solidFill>
                <a:latin typeface="Arial" pitchFamily="34" charset="0"/>
                <a:ea typeface="Arial" pitchFamily="34" charset="-122"/>
                <a:cs typeface="Arial" pitchFamily="34" charset="-120"/>
              </a:rPr>
              <a:t>MATH CONNECTION</a:t>
            </a:r>
            <a:endParaRPr lang="en-US" sz="1400" dirty="0"/>
          </a:p>
        </p:txBody>
      </p:sp>
      <p:sp>
        <p:nvSpPr>
          <p:cNvPr id="4" name="Text 2"/>
          <p:cNvSpPr/>
          <p:nvPr/>
        </p:nvSpPr>
        <p:spPr>
          <a:xfrm>
            <a:off x="365760" y="594360"/>
            <a:ext cx="8412480" cy="658368"/>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Where do numbers appear in games?</a:t>
            </a:r>
            <a:endParaRPr lang="en-US" sz="2800" dirty="0"/>
          </a:p>
        </p:txBody>
      </p:sp>
      <p:sp>
        <p:nvSpPr>
          <p:cNvPr id="5" name="Shape 3"/>
          <p:cNvSpPr/>
          <p:nvPr/>
        </p:nvSpPr>
        <p:spPr>
          <a:xfrm>
            <a:off x="228600" y="1371600"/>
            <a:ext cx="2011680" cy="3200400"/>
          </a:xfrm>
          <a:prstGeom prst="roundRect">
            <a:avLst>
              <a:gd name="adj" fmla="val 2727"/>
            </a:avLst>
          </a:prstGeom>
          <a:solidFill>
            <a:srgbClr val="1E2A22"/>
          </a:solidFill>
          <a:ln w="12700">
            <a:solidFill>
              <a:srgbClr val="1565C0"/>
            </a:solidFill>
            <a:prstDash val="solid"/>
          </a:ln>
        </p:spPr>
        <p:txBody>
          <a:bodyPr/>
          <a:lstStyle/>
          <a:p>
            <a:endParaRPr lang="en-US"/>
          </a:p>
        </p:txBody>
      </p:sp>
      <p:sp>
        <p:nvSpPr>
          <p:cNvPr id="6" name="Shape 4"/>
          <p:cNvSpPr/>
          <p:nvPr/>
        </p:nvSpPr>
        <p:spPr>
          <a:xfrm>
            <a:off x="228600" y="1371600"/>
            <a:ext cx="2011680" cy="475488"/>
          </a:xfrm>
          <a:prstGeom prst="roundRect">
            <a:avLst>
              <a:gd name="adj" fmla="val 11538"/>
            </a:avLst>
          </a:prstGeom>
          <a:solidFill>
            <a:srgbClr val="1565C0"/>
          </a:solidFill>
          <a:ln w="12700">
            <a:solidFill>
              <a:srgbClr val="1565C0"/>
            </a:solidFill>
            <a:prstDash val="solid"/>
          </a:ln>
        </p:spPr>
        <p:txBody>
          <a:bodyPr/>
          <a:lstStyle/>
          <a:p>
            <a:endParaRPr lang="en-US"/>
          </a:p>
        </p:txBody>
      </p:sp>
      <p:sp>
        <p:nvSpPr>
          <p:cNvPr id="7" name="Shape 5"/>
          <p:cNvSpPr/>
          <p:nvPr/>
        </p:nvSpPr>
        <p:spPr>
          <a:xfrm>
            <a:off x="228600" y="1591056"/>
            <a:ext cx="2011680" cy="256032"/>
          </a:xfrm>
          <a:prstGeom prst="rect">
            <a:avLst/>
          </a:prstGeom>
          <a:solidFill>
            <a:srgbClr val="1565C0"/>
          </a:solidFill>
          <a:ln w="12700">
            <a:solidFill>
              <a:srgbClr val="1565C0"/>
            </a:solidFill>
            <a:prstDash val="solid"/>
          </a:ln>
        </p:spPr>
        <p:txBody>
          <a:bodyPr/>
          <a:lstStyle/>
          <a:p>
            <a:endParaRPr lang="en-US"/>
          </a:p>
        </p:txBody>
      </p:sp>
      <p:sp>
        <p:nvSpPr>
          <p:cNvPr id="8" name="Text 6"/>
          <p:cNvSpPr/>
          <p:nvPr/>
        </p:nvSpPr>
        <p:spPr>
          <a:xfrm>
            <a:off x="228600" y="1371600"/>
            <a:ext cx="2011680" cy="47548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SCORES</a:t>
            </a:r>
            <a:endParaRPr lang="en-US" sz="1200" dirty="0"/>
          </a:p>
        </p:txBody>
      </p:sp>
      <p:sp>
        <p:nvSpPr>
          <p:cNvPr id="9" name="Text 7"/>
          <p:cNvSpPr/>
          <p:nvPr/>
        </p:nvSpPr>
        <p:spPr>
          <a:xfrm>
            <a:off x="338328" y="1920240"/>
            <a:ext cx="1792224" cy="2560320"/>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Scoreboards, XP, kill counts, leaderboard rankings</a:t>
            </a:r>
            <a:endParaRPr lang="en-US" sz="1200" dirty="0"/>
          </a:p>
        </p:txBody>
      </p:sp>
      <p:sp>
        <p:nvSpPr>
          <p:cNvPr id="10" name="Shape 8"/>
          <p:cNvSpPr/>
          <p:nvPr/>
        </p:nvSpPr>
        <p:spPr>
          <a:xfrm>
            <a:off x="2404872" y="1371600"/>
            <a:ext cx="2011680" cy="3200400"/>
          </a:xfrm>
          <a:prstGeom prst="roundRect">
            <a:avLst>
              <a:gd name="adj" fmla="val 2727"/>
            </a:avLst>
          </a:prstGeom>
          <a:solidFill>
            <a:srgbClr val="1E2A22"/>
          </a:solidFill>
          <a:ln w="12700">
            <a:solidFill>
              <a:srgbClr val="028090"/>
            </a:solidFill>
            <a:prstDash val="solid"/>
          </a:ln>
        </p:spPr>
        <p:txBody>
          <a:bodyPr/>
          <a:lstStyle/>
          <a:p>
            <a:endParaRPr lang="en-US"/>
          </a:p>
        </p:txBody>
      </p:sp>
      <p:sp>
        <p:nvSpPr>
          <p:cNvPr id="11" name="Shape 9"/>
          <p:cNvSpPr/>
          <p:nvPr/>
        </p:nvSpPr>
        <p:spPr>
          <a:xfrm>
            <a:off x="2404872" y="1371600"/>
            <a:ext cx="2011680" cy="475488"/>
          </a:xfrm>
          <a:prstGeom prst="roundRect">
            <a:avLst>
              <a:gd name="adj" fmla="val 11538"/>
            </a:avLst>
          </a:prstGeom>
          <a:solidFill>
            <a:srgbClr val="028090"/>
          </a:solidFill>
          <a:ln w="12700">
            <a:solidFill>
              <a:srgbClr val="028090"/>
            </a:solidFill>
            <a:prstDash val="solid"/>
          </a:ln>
        </p:spPr>
        <p:txBody>
          <a:bodyPr/>
          <a:lstStyle/>
          <a:p>
            <a:endParaRPr lang="en-US"/>
          </a:p>
        </p:txBody>
      </p:sp>
      <p:sp>
        <p:nvSpPr>
          <p:cNvPr id="12" name="Shape 10"/>
          <p:cNvSpPr/>
          <p:nvPr/>
        </p:nvSpPr>
        <p:spPr>
          <a:xfrm>
            <a:off x="2404872" y="1591056"/>
            <a:ext cx="2011680" cy="256032"/>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2404872" y="1371600"/>
            <a:ext cx="2011680" cy="47548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TIMERS</a:t>
            </a:r>
            <a:endParaRPr lang="en-US" sz="1200" dirty="0"/>
          </a:p>
        </p:txBody>
      </p:sp>
      <p:sp>
        <p:nvSpPr>
          <p:cNvPr id="14" name="Text 12"/>
          <p:cNvSpPr/>
          <p:nvPr/>
        </p:nvSpPr>
        <p:spPr>
          <a:xfrm>
            <a:off x="2514600" y="1920240"/>
            <a:ext cx="1792224" cy="2560320"/>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Countdown clocks, day/night cycle, respawn timers</a:t>
            </a:r>
            <a:endParaRPr lang="en-US" sz="1200" dirty="0"/>
          </a:p>
        </p:txBody>
      </p:sp>
      <p:sp>
        <p:nvSpPr>
          <p:cNvPr id="15" name="Shape 13"/>
          <p:cNvSpPr/>
          <p:nvPr/>
        </p:nvSpPr>
        <p:spPr>
          <a:xfrm>
            <a:off x="4581144" y="1371600"/>
            <a:ext cx="2011680" cy="3200400"/>
          </a:xfrm>
          <a:prstGeom prst="roundRect">
            <a:avLst>
              <a:gd name="adj" fmla="val 2727"/>
            </a:avLst>
          </a:prstGeom>
          <a:solidFill>
            <a:srgbClr val="1E2A22"/>
          </a:solidFill>
          <a:ln w="12700">
            <a:solidFill>
              <a:srgbClr val="6B3FA0"/>
            </a:solidFill>
            <a:prstDash val="solid"/>
          </a:ln>
        </p:spPr>
        <p:txBody>
          <a:bodyPr/>
          <a:lstStyle/>
          <a:p>
            <a:endParaRPr lang="en-US"/>
          </a:p>
        </p:txBody>
      </p:sp>
      <p:sp>
        <p:nvSpPr>
          <p:cNvPr id="16" name="Shape 14"/>
          <p:cNvSpPr/>
          <p:nvPr/>
        </p:nvSpPr>
        <p:spPr>
          <a:xfrm>
            <a:off x="4581144" y="1371600"/>
            <a:ext cx="2011680" cy="475488"/>
          </a:xfrm>
          <a:prstGeom prst="roundRect">
            <a:avLst>
              <a:gd name="adj" fmla="val 11538"/>
            </a:avLst>
          </a:prstGeom>
          <a:solidFill>
            <a:srgbClr val="6B3FA0"/>
          </a:solidFill>
          <a:ln w="12700">
            <a:solidFill>
              <a:srgbClr val="6B3FA0"/>
            </a:solidFill>
            <a:prstDash val="solid"/>
          </a:ln>
        </p:spPr>
        <p:txBody>
          <a:bodyPr/>
          <a:lstStyle/>
          <a:p>
            <a:endParaRPr lang="en-US"/>
          </a:p>
        </p:txBody>
      </p:sp>
      <p:sp>
        <p:nvSpPr>
          <p:cNvPr id="17" name="Shape 15"/>
          <p:cNvSpPr/>
          <p:nvPr/>
        </p:nvSpPr>
        <p:spPr>
          <a:xfrm>
            <a:off x="4581144" y="1591056"/>
            <a:ext cx="2011680" cy="256032"/>
          </a:xfrm>
          <a:prstGeom prst="rect">
            <a:avLst/>
          </a:prstGeom>
          <a:solidFill>
            <a:srgbClr val="6B3FA0"/>
          </a:solidFill>
          <a:ln w="12700">
            <a:solidFill>
              <a:srgbClr val="6B3FA0"/>
            </a:solidFill>
            <a:prstDash val="solid"/>
          </a:ln>
        </p:spPr>
        <p:txBody>
          <a:bodyPr/>
          <a:lstStyle/>
          <a:p>
            <a:endParaRPr lang="en-US"/>
          </a:p>
        </p:txBody>
      </p:sp>
      <p:sp>
        <p:nvSpPr>
          <p:cNvPr id="18" name="Text 16"/>
          <p:cNvSpPr/>
          <p:nvPr/>
        </p:nvSpPr>
        <p:spPr>
          <a:xfrm>
            <a:off x="4581144" y="1371600"/>
            <a:ext cx="2011680" cy="47548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COORDINATES</a:t>
            </a:r>
            <a:endParaRPr lang="en-US" sz="1200" dirty="0"/>
          </a:p>
        </p:txBody>
      </p:sp>
      <p:sp>
        <p:nvSpPr>
          <p:cNvPr id="19" name="Text 17"/>
          <p:cNvSpPr/>
          <p:nvPr/>
        </p:nvSpPr>
        <p:spPr>
          <a:xfrm>
            <a:off x="4690872" y="1920240"/>
            <a:ext cx="1792224" cy="2560320"/>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X/Y/Z position in the world, distance between points</a:t>
            </a:r>
            <a:endParaRPr lang="en-US" sz="1200" dirty="0"/>
          </a:p>
        </p:txBody>
      </p:sp>
      <p:sp>
        <p:nvSpPr>
          <p:cNvPr id="20" name="Shape 18"/>
          <p:cNvSpPr/>
          <p:nvPr/>
        </p:nvSpPr>
        <p:spPr>
          <a:xfrm>
            <a:off x="6757416" y="1371600"/>
            <a:ext cx="2011680" cy="3200400"/>
          </a:xfrm>
          <a:prstGeom prst="roundRect">
            <a:avLst>
              <a:gd name="adj" fmla="val 2727"/>
            </a:avLst>
          </a:prstGeom>
          <a:solidFill>
            <a:srgbClr val="1E2A22"/>
          </a:solidFill>
          <a:ln w="12700">
            <a:solidFill>
              <a:srgbClr val="C0392B"/>
            </a:solidFill>
            <a:prstDash val="solid"/>
          </a:ln>
        </p:spPr>
        <p:txBody>
          <a:bodyPr/>
          <a:lstStyle/>
          <a:p>
            <a:endParaRPr lang="en-US"/>
          </a:p>
        </p:txBody>
      </p:sp>
      <p:sp>
        <p:nvSpPr>
          <p:cNvPr id="21" name="Shape 19"/>
          <p:cNvSpPr/>
          <p:nvPr/>
        </p:nvSpPr>
        <p:spPr>
          <a:xfrm>
            <a:off x="6757416" y="1371600"/>
            <a:ext cx="2011680" cy="475488"/>
          </a:xfrm>
          <a:prstGeom prst="roundRect">
            <a:avLst>
              <a:gd name="adj" fmla="val 11538"/>
            </a:avLst>
          </a:prstGeom>
          <a:solidFill>
            <a:srgbClr val="C0392B"/>
          </a:solidFill>
          <a:ln w="12700">
            <a:solidFill>
              <a:srgbClr val="C0392B"/>
            </a:solidFill>
            <a:prstDash val="solid"/>
          </a:ln>
        </p:spPr>
        <p:txBody>
          <a:bodyPr/>
          <a:lstStyle/>
          <a:p>
            <a:endParaRPr lang="en-US"/>
          </a:p>
        </p:txBody>
      </p:sp>
      <p:sp>
        <p:nvSpPr>
          <p:cNvPr id="22" name="Shape 20"/>
          <p:cNvSpPr/>
          <p:nvPr/>
        </p:nvSpPr>
        <p:spPr>
          <a:xfrm>
            <a:off x="6757416" y="1591056"/>
            <a:ext cx="2011680" cy="256032"/>
          </a:xfrm>
          <a:prstGeom prst="rect">
            <a:avLst/>
          </a:prstGeom>
          <a:solidFill>
            <a:srgbClr val="C0392B"/>
          </a:solidFill>
          <a:ln w="12700">
            <a:solidFill>
              <a:srgbClr val="C0392B"/>
            </a:solidFill>
            <a:prstDash val="solid"/>
          </a:ln>
        </p:spPr>
        <p:txBody>
          <a:bodyPr/>
          <a:lstStyle/>
          <a:p>
            <a:endParaRPr lang="en-US"/>
          </a:p>
        </p:txBody>
      </p:sp>
      <p:sp>
        <p:nvSpPr>
          <p:cNvPr id="23" name="Text 21"/>
          <p:cNvSpPr/>
          <p:nvPr/>
        </p:nvSpPr>
        <p:spPr>
          <a:xfrm>
            <a:off x="6757416" y="1371600"/>
            <a:ext cx="2011680" cy="47548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HEALTH BARS</a:t>
            </a:r>
            <a:endParaRPr lang="en-US" sz="1200" dirty="0"/>
          </a:p>
        </p:txBody>
      </p:sp>
      <p:sp>
        <p:nvSpPr>
          <p:cNvPr id="24" name="Text 22"/>
          <p:cNvSpPr/>
          <p:nvPr/>
        </p:nvSpPr>
        <p:spPr>
          <a:xfrm>
            <a:off x="6867144" y="1920240"/>
            <a:ext cx="1792224" cy="2560320"/>
          </a:xfrm>
          <a:prstGeom prst="rect">
            <a:avLst/>
          </a:prstGeom>
          <a:noFill/>
          <a:ln/>
        </p:spPr>
        <p:txBody>
          <a:bodyPr wrap="square" rtlCol="0" anchor="ctr"/>
          <a:lstStyle/>
          <a:p>
            <a:pPr marL="0" indent="0">
              <a:buNone/>
            </a:pPr>
            <a:r>
              <a:rPr lang="en-US" sz="1200" dirty="0">
                <a:solidFill>
                  <a:srgbClr val="C8E6D0"/>
                </a:solidFill>
                <a:latin typeface="Arial" pitchFamily="34" charset="0"/>
                <a:ea typeface="Arial" pitchFamily="34" charset="-122"/>
                <a:cs typeface="Arial" pitchFamily="34" charset="-120"/>
              </a:rPr>
              <a:t>Heart values, fractions of max health, armor points</a:t>
            </a:r>
            <a:endParaRPr lang="en-US" sz="1200" dirty="0"/>
          </a:p>
        </p:txBody>
      </p:sp>
      <p:sp>
        <p:nvSpPr>
          <p:cNvPr id="25" name="Shape 23"/>
          <p:cNvSpPr/>
          <p:nvPr/>
        </p:nvSpPr>
        <p:spPr>
          <a:xfrm>
            <a:off x="228600" y="4663440"/>
            <a:ext cx="8686800" cy="402336"/>
          </a:xfrm>
          <a:prstGeom prst="roundRect">
            <a:avLst>
              <a:gd name="adj" fmla="val 9091"/>
            </a:avLst>
          </a:prstGeom>
          <a:solidFill>
            <a:srgbClr val="028090">
              <a:alpha val="30000"/>
            </a:srgbClr>
          </a:solidFill>
          <a:ln w="12700">
            <a:solidFill>
              <a:srgbClr val="028090"/>
            </a:solidFill>
            <a:prstDash val="solid"/>
          </a:ln>
        </p:spPr>
        <p:txBody>
          <a:bodyPr/>
          <a:lstStyle/>
          <a:p>
            <a:endParaRPr lang="en-US"/>
          </a:p>
        </p:txBody>
      </p:sp>
      <p:sp>
        <p:nvSpPr>
          <p:cNvPr id="26" name="Text 24"/>
          <p:cNvSpPr/>
          <p:nvPr/>
        </p:nvSpPr>
        <p:spPr>
          <a:xfrm>
            <a:off x="320040" y="4663440"/>
            <a:ext cx="8503920" cy="402336"/>
          </a:xfrm>
          <a:prstGeom prst="rect">
            <a:avLst/>
          </a:prstGeom>
          <a:noFill/>
          <a:ln/>
        </p:spPr>
        <p:txBody>
          <a:bodyPr wrap="square" rtlCol="0" anchor="ctr"/>
          <a:lstStyle/>
          <a:p>
            <a:pPr marL="0" indent="0" algn="ctr">
              <a:buNone/>
            </a:pPr>
            <a:r>
              <a:rPr lang="en-US" sz="1200" i="1" dirty="0">
                <a:solidFill>
                  <a:srgbClr val="FFFFFF"/>
                </a:solidFill>
                <a:latin typeface="Arial" pitchFamily="34" charset="0"/>
                <a:ea typeface="Arial" pitchFamily="34" charset="-122"/>
                <a:cs typeface="Arial" pitchFamily="34" charset="-120"/>
              </a:rPr>
              <a:t>Discussion: Circle every place a number would appear in your game sketch - how many did you find?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6"/>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E76F00"/>
          </a:solidFill>
          <a:ln w="12700">
            <a:solidFill>
              <a:srgbClr val="E76F00"/>
            </a:solidFill>
            <a:prstDash val="solid"/>
          </a:ln>
        </p:spPr>
        <p:txBody>
          <a:bodyPr/>
          <a:lstStyle/>
          <a:p>
            <a:endParaRPr lang="en-US"/>
          </a:p>
        </p:txBody>
      </p:sp>
      <p:sp>
        <p:nvSpPr>
          <p:cNvPr id="3" name="Text 1"/>
          <p:cNvSpPr/>
          <p:nvPr/>
        </p:nvSpPr>
        <p:spPr>
          <a:xfrm>
            <a:off x="365760" y="0"/>
            <a:ext cx="8412480" cy="475488"/>
          </a:xfrm>
          <a:prstGeom prst="rect">
            <a:avLst/>
          </a:prstGeom>
          <a:noFill/>
          <a:ln/>
        </p:spPr>
        <p:txBody>
          <a:bodyPr wrap="square" lIns="0" tIns="0" rIns="0" bIns="0" rtlCol="0" anchor="ctr"/>
          <a:lstStyle/>
          <a:p>
            <a:pPr marL="0" indent="0">
              <a:buNone/>
            </a:pPr>
            <a:r>
              <a:rPr lang="en-US" sz="1400" b="1" kern="0" spc="300" dirty="0">
                <a:solidFill>
                  <a:srgbClr val="FFFFFF"/>
                </a:solidFill>
                <a:latin typeface="Arial" pitchFamily="34" charset="0"/>
                <a:ea typeface="Arial" pitchFamily="34" charset="-122"/>
                <a:cs typeface="Arial" pitchFamily="34" charset="-120"/>
              </a:rPr>
              <a:t>REFLECTION   ·   35-45 MINUTES</a:t>
            </a:r>
            <a:endParaRPr lang="en-US" sz="1400" dirty="0"/>
          </a:p>
        </p:txBody>
      </p:sp>
      <p:sp>
        <p:nvSpPr>
          <p:cNvPr id="4" name="Shape 2"/>
          <p:cNvSpPr/>
          <p:nvPr/>
        </p:nvSpPr>
        <p:spPr>
          <a:xfrm>
            <a:off x="548640" y="640080"/>
            <a:ext cx="8046720" cy="2331720"/>
          </a:xfrm>
          <a:prstGeom prst="roundRect">
            <a:avLst>
              <a:gd name="adj" fmla="val 3922"/>
            </a:avLst>
          </a:prstGeom>
          <a:solidFill>
            <a:srgbClr val="FFFFFF"/>
          </a:solidFill>
          <a:ln w="12700">
            <a:solidFill>
              <a:srgbClr val="DDDDDD"/>
            </a:solidFill>
            <a:prstDash val="solid"/>
          </a:ln>
          <a:effectLst>
            <a:outerShdw blurRad="101600" dist="38100" dir="2700000" algn="bl" rotWithShape="0">
              <a:srgbClr val="000000">
                <a:alpha val="10000"/>
              </a:srgbClr>
            </a:outerShdw>
          </a:effectLst>
        </p:spPr>
        <p:txBody>
          <a:bodyPr/>
          <a:lstStyle/>
          <a:p>
            <a:endParaRPr lang="en-US"/>
          </a:p>
        </p:txBody>
      </p:sp>
      <p:sp>
        <p:nvSpPr>
          <p:cNvPr id="5" name="Shape 3"/>
          <p:cNvSpPr/>
          <p:nvPr/>
        </p:nvSpPr>
        <p:spPr>
          <a:xfrm>
            <a:off x="548640" y="640080"/>
            <a:ext cx="8046720" cy="475488"/>
          </a:xfrm>
          <a:prstGeom prst="roundRect">
            <a:avLst>
              <a:gd name="adj" fmla="val 19231"/>
            </a:avLst>
          </a:prstGeom>
          <a:solidFill>
            <a:srgbClr val="E76F00"/>
          </a:solidFill>
          <a:ln w="12700">
            <a:solidFill>
              <a:srgbClr val="E76F00"/>
            </a:solidFill>
            <a:prstDash val="solid"/>
          </a:ln>
        </p:spPr>
        <p:txBody>
          <a:bodyPr/>
          <a:lstStyle/>
          <a:p>
            <a:endParaRPr lang="en-US"/>
          </a:p>
        </p:txBody>
      </p:sp>
      <p:sp>
        <p:nvSpPr>
          <p:cNvPr id="6" name="Shape 4"/>
          <p:cNvSpPr/>
          <p:nvPr/>
        </p:nvSpPr>
        <p:spPr>
          <a:xfrm>
            <a:off x="548640" y="877824"/>
            <a:ext cx="8046720" cy="237744"/>
          </a:xfrm>
          <a:prstGeom prst="rect">
            <a:avLst/>
          </a:prstGeom>
          <a:solidFill>
            <a:srgbClr val="E76F00"/>
          </a:solidFill>
          <a:ln w="12700">
            <a:solidFill>
              <a:srgbClr val="E76F00"/>
            </a:solidFill>
            <a:prstDash val="solid"/>
          </a:ln>
        </p:spPr>
        <p:txBody>
          <a:bodyPr/>
          <a:lstStyle/>
          <a:p>
            <a:endParaRPr lang="en-US"/>
          </a:p>
        </p:txBody>
      </p:sp>
      <p:sp>
        <p:nvSpPr>
          <p:cNvPr id="7" name="Text 5"/>
          <p:cNvSpPr/>
          <p:nvPr/>
        </p:nvSpPr>
        <p:spPr>
          <a:xfrm>
            <a:off x="548640" y="640080"/>
            <a:ext cx="8046720" cy="475488"/>
          </a:xfrm>
          <a:prstGeom prst="rect">
            <a:avLst/>
          </a:prstGeom>
          <a:noFill/>
          <a:ln/>
        </p:spPr>
        <p:txBody>
          <a:bodyPr wrap="square" lIns="0" tIns="0" rIns="0" bIns="0" rtlCol="0" anchor="ctr"/>
          <a:lstStyle/>
          <a:p>
            <a:pPr marL="0" indent="0" algn="ctr">
              <a:buNone/>
            </a:pPr>
            <a:r>
              <a:rPr lang="en-US" sz="1400" b="1" kern="0" spc="400" dirty="0">
                <a:solidFill>
                  <a:srgbClr val="FFFFFF"/>
                </a:solidFill>
                <a:latin typeface="Arial" pitchFamily="34" charset="0"/>
                <a:ea typeface="Arial" pitchFamily="34" charset="-122"/>
                <a:cs typeface="Arial" pitchFamily="34" charset="-120"/>
              </a:rPr>
              <a:t>EXIT TICKET</a:t>
            </a:r>
            <a:endParaRPr lang="en-US" sz="1400" dirty="0"/>
          </a:p>
        </p:txBody>
      </p:sp>
      <p:sp>
        <p:nvSpPr>
          <p:cNvPr id="8" name="Text 6"/>
          <p:cNvSpPr/>
          <p:nvPr/>
        </p:nvSpPr>
        <p:spPr>
          <a:xfrm>
            <a:off x="822960" y="1234440"/>
            <a:ext cx="7498080" cy="457200"/>
          </a:xfrm>
          <a:prstGeom prst="rect">
            <a:avLst/>
          </a:prstGeom>
          <a:noFill/>
          <a:ln/>
        </p:spPr>
        <p:txBody>
          <a:bodyPr wrap="square" rtlCol="0" anchor="ctr"/>
          <a:lstStyle/>
          <a:p>
            <a:pPr marL="0" indent="0">
              <a:buNone/>
            </a:pPr>
            <a:r>
              <a:rPr lang="en-US" sz="1800" i="1" dirty="0">
                <a:solidFill>
                  <a:srgbClr val="0D2818"/>
                </a:solidFill>
                <a:latin typeface="Arial" pitchFamily="34" charset="0"/>
                <a:ea typeface="Arial" pitchFamily="34" charset="-122"/>
                <a:cs typeface="Arial" pitchFamily="34" charset="-120"/>
              </a:rPr>
              <a:t>"A game is fun when  ___________________________</a:t>
            </a:r>
            <a:endParaRPr lang="en-US" sz="1800" dirty="0"/>
          </a:p>
        </p:txBody>
      </p:sp>
      <p:sp>
        <p:nvSpPr>
          <p:cNvPr id="9" name="Text 7"/>
          <p:cNvSpPr/>
          <p:nvPr/>
        </p:nvSpPr>
        <p:spPr>
          <a:xfrm>
            <a:off x="822960" y="1719072"/>
            <a:ext cx="7498080" cy="384048"/>
          </a:xfrm>
          <a:prstGeom prst="rect">
            <a:avLst/>
          </a:prstGeom>
          <a:noFill/>
          <a:ln/>
        </p:spPr>
        <p:txBody>
          <a:bodyPr wrap="square" rtlCol="0" anchor="ctr"/>
          <a:lstStyle/>
          <a:p>
            <a:pPr marL="0" indent="0" algn="ctr">
              <a:buNone/>
            </a:pPr>
            <a:r>
              <a:rPr lang="en-US" sz="1800" i="1" dirty="0">
                <a:solidFill>
                  <a:srgbClr val="0D2818"/>
                </a:solidFill>
                <a:latin typeface="Arial" pitchFamily="34" charset="0"/>
                <a:ea typeface="Arial" pitchFamily="34" charset="-122"/>
                <a:cs typeface="Arial" pitchFamily="34" charset="-120"/>
              </a:rPr>
              <a:t>because</a:t>
            </a:r>
            <a:endParaRPr lang="en-US" sz="1800" dirty="0"/>
          </a:p>
        </p:txBody>
      </p:sp>
      <p:sp>
        <p:nvSpPr>
          <p:cNvPr id="10" name="Text 8"/>
          <p:cNvSpPr/>
          <p:nvPr/>
        </p:nvSpPr>
        <p:spPr>
          <a:xfrm>
            <a:off x="822960" y="2121408"/>
            <a:ext cx="7498080" cy="438912"/>
          </a:xfrm>
          <a:prstGeom prst="rect">
            <a:avLst/>
          </a:prstGeom>
          <a:noFill/>
          <a:ln/>
        </p:spPr>
        <p:txBody>
          <a:bodyPr wrap="square" rtlCol="0" anchor="ctr"/>
          <a:lstStyle/>
          <a:p>
            <a:pPr marL="0" indent="0" algn="r">
              <a:buNone/>
            </a:pPr>
            <a:r>
              <a:rPr lang="en-US" sz="1800" i="1" dirty="0">
                <a:solidFill>
                  <a:srgbClr val="0D2818"/>
                </a:solidFill>
                <a:latin typeface="Arial" pitchFamily="34" charset="0"/>
                <a:ea typeface="Arial" pitchFamily="34" charset="-122"/>
                <a:cs typeface="Arial" pitchFamily="34" charset="-120"/>
              </a:rPr>
              <a:t>___________________________________ "</a:t>
            </a:r>
            <a:endParaRPr lang="en-US" sz="1800" dirty="0"/>
          </a:p>
        </p:txBody>
      </p:sp>
      <p:sp>
        <p:nvSpPr>
          <p:cNvPr id="11" name="Text 9"/>
          <p:cNvSpPr/>
          <p:nvPr/>
        </p:nvSpPr>
        <p:spPr>
          <a:xfrm>
            <a:off x="548640" y="3090672"/>
            <a:ext cx="8046720" cy="347472"/>
          </a:xfrm>
          <a:prstGeom prst="rect">
            <a:avLst/>
          </a:prstGeom>
          <a:noFill/>
          <a:ln/>
        </p:spPr>
        <p:txBody>
          <a:bodyPr wrap="square" rtlCol="0" anchor="ctr"/>
          <a:lstStyle/>
          <a:p>
            <a:pPr marL="0" indent="0" algn="ctr">
              <a:buNone/>
            </a:pPr>
            <a:r>
              <a:rPr lang="en-US" sz="1200" i="1" dirty="0">
                <a:solidFill>
                  <a:srgbClr val="888888"/>
                </a:solidFill>
                <a:latin typeface="Arial" pitchFamily="34" charset="0"/>
                <a:ea typeface="Arial" pitchFamily="34" charset="-122"/>
                <a:cs typeface="Arial" pitchFamily="34" charset="-120"/>
              </a:rPr>
              <a:t>Write your response on an index card or sticky note and hand it in as you leave.</a:t>
            </a:r>
            <a:endParaRPr lang="en-US" sz="1200" dirty="0"/>
          </a:p>
        </p:txBody>
      </p:sp>
      <p:sp>
        <p:nvSpPr>
          <p:cNvPr id="12" name="Text 10"/>
          <p:cNvSpPr/>
          <p:nvPr/>
        </p:nvSpPr>
        <p:spPr>
          <a:xfrm>
            <a:off x="365760" y="3547872"/>
            <a:ext cx="4572000" cy="402336"/>
          </a:xfrm>
          <a:prstGeom prst="rect">
            <a:avLst/>
          </a:prstGeom>
          <a:noFill/>
          <a:ln/>
        </p:spPr>
        <p:txBody>
          <a:bodyPr wrap="square" rtlCol="0" anchor="ctr"/>
          <a:lstStyle/>
          <a:p>
            <a:pPr marL="0" indent="0">
              <a:buNone/>
            </a:pPr>
            <a:r>
              <a:rPr lang="en-US" sz="1900" b="1" dirty="0">
                <a:solidFill>
                  <a:srgbClr val="0D2818"/>
                </a:solidFill>
                <a:latin typeface="Arial" pitchFamily="34" charset="0"/>
                <a:ea typeface="Arial" pitchFamily="34" charset="-122"/>
                <a:cs typeface="Arial" pitchFamily="34" charset="-120"/>
              </a:rPr>
              <a:t>Quick Share-Out Before Tickets</a:t>
            </a:r>
            <a:endParaRPr lang="en-US" sz="1900" dirty="0"/>
          </a:p>
        </p:txBody>
      </p:sp>
      <p:sp>
        <p:nvSpPr>
          <p:cNvPr id="13" name="Text 11"/>
          <p:cNvSpPr/>
          <p:nvPr/>
        </p:nvSpPr>
        <p:spPr>
          <a:xfrm>
            <a:off x="365760" y="4041648"/>
            <a:ext cx="8412480" cy="310896"/>
          </a:xfrm>
          <a:prstGeom prst="rect">
            <a:avLst/>
          </a:prstGeom>
          <a:noFill/>
          <a:ln/>
        </p:spPr>
        <p:txBody>
          <a:bodyPr wrap="square" rtlCol="0" anchor="ctr"/>
          <a:lstStyle/>
          <a:p>
            <a:pPr marL="0" indent="0">
              <a:buNone/>
            </a:pPr>
            <a:r>
              <a:rPr lang="en-US" sz="1300" dirty="0">
                <a:solidFill>
                  <a:srgbClr val="0D2818"/>
                </a:solidFill>
                <a:latin typeface="Arial" pitchFamily="34" charset="0"/>
                <a:ea typeface="Arial" pitchFamily="34" charset="-122"/>
                <a:cs typeface="Arial" pitchFamily="34" charset="-120"/>
              </a:rPr>
              <a:t>1.  What surprised you most about how Minecraft games are designed?</a:t>
            </a:r>
            <a:endParaRPr lang="en-US" sz="1300" dirty="0"/>
          </a:p>
        </p:txBody>
      </p:sp>
      <p:sp>
        <p:nvSpPr>
          <p:cNvPr id="14" name="Text 12"/>
          <p:cNvSpPr/>
          <p:nvPr/>
        </p:nvSpPr>
        <p:spPr>
          <a:xfrm>
            <a:off x="365760" y="4389120"/>
            <a:ext cx="8412480" cy="310896"/>
          </a:xfrm>
          <a:prstGeom prst="rect">
            <a:avLst/>
          </a:prstGeom>
          <a:noFill/>
          <a:ln/>
        </p:spPr>
        <p:txBody>
          <a:bodyPr wrap="square" rtlCol="0" anchor="ctr"/>
          <a:lstStyle/>
          <a:p>
            <a:pPr marL="0" indent="0">
              <a:buNone/>
            </a:pPr>
            <a:r>
              <a:rPr lang="en-US" sz="1300" dirty="0">
                <a:solidFill>
                  <a:srgbClr val="0D2818"/>
                </a:solidFill>
                <a:latin typeface="Arial" pitchFamily="34" charset="0"/>
                <a:ea typeface="Arial" pitchFamily="34" charset="-122"/>
                <a:cs typeface="Arial" pitchFamily="34" charset="-120"/>
              </a:rPr>
              <a:t>2.  Which vocabulary term best describes YOUR game sketch?</a:t>
            </a:r>
            <a:endParaRPr lang="en-US" sz="1300" dirty="0"/>
          </a:p>
        </p:txBody>
      </p:sp>
      <p:sp>
        <p:nvSpPr>
          <p:cNvPr id="15" name="Text 13"/>
          <p:cNvSpPr/>
          <p:nvPr/>
        </p:nvSpPr>
        <p:spPr>
          <a:xfrm>
            <a:off x="365760" y="4736592"/>
            <a:ext cx="8412480" cy="310896"/>
          </a:xfrm>
          <a:prstGeom prst="rect">
            <a:avLst/>
          </a:prstGeom>
          <a:noFill/>
          <a:ln/>
        </p:spPr>
        <p:txBody>
          <a:bodyPr wrap="square" rtlCol="0" anchor="ctr"/>
          <a:lstStyle/>
          <a:p>
            <a:pPr marL="0" indent="0">
              <a:buNone/>
            </a:pPr>
            <a:r>
              <a:rPr lang="en-US" sz="1300" dirty="0">
                <a:solidFill>
                  <a:srgbClr val="0D2818"/>
                </a:solidFill>
                <a:latin typeface="Arial" pitchFamily="34" charset="0"/>
                <a:ea typeface="Arial" pitchFamily="34" charset="-122"/>
                <a:cs typeface="Arial" pitchFamily="34" charset="-120"/>
              </a:rPr>
              <a:t>3.  Where did you find the most math in your design?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861</Words>
  <Application>Microsoft Macintosh PowerPoint</Application>
  <PresentationFormat>On-screen Show (16:9)</PresentationFormat>
  <Paragraphs>130</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STEM Through Games - Minecraft Unit 1 Day 1</dc:title>
  <dc:subject>PptxGenJS Presentation</dc:subject>
  <dc:creator>PptxGenJS</dc:creator>
  <cp:lastModifiedBy>Babichenko, Dmitriy</cp:lastModifiedBy>
  <cp:revision>2</cp:revision>
  <dcterms:created xsi:type="dcterms:W3CDTF">2026-06-16T13:54:01Z</dcterms:created>
  <dcterms:modified xsi:type="dcterms:W3CDTF">2026-06-28T12:30:30Z</dcterms:modified>
</cp:coreProperties>
</file>