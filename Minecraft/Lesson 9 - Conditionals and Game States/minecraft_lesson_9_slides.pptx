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8640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928" y="174928"/>
            <a:ext cx="8810045" cy="4826441"/>
          </a:xfrm>
          <a:prstGeom prst="rect">
            <a:avLst/>
          </a:prstGeom>
          <a:solidFill>
            <a:srgbClr val="2D6B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19" y="1737360"/>
            <a:ext cx="8583433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Conditionals &amp;</a:t>
            </a:r>
            <a:r>
              <a:rPr lang="en-US" sz="3600" dirty="0"/>
              <a:t> </a:t>
            </a:r>
            <a:r>
              <a:rPr lang="en-US" sz="3600" b="1" dirty="0">
                <a:solidFill>
                  <a:srgbClr val="FFFFFF"/>
                </a:solidFill>
              </a:rPr>
              <a:t>Game States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74320" y="3154680"/>
            <a:ext cx="858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E6C0"/>
                </a:solidFill>
              </a:rPr>
              <a:t>Boolean Logic and Branching  |  Python  |  Minecraft Education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Today's Lesson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8F5E3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D0A"/>
                </a:solidFill>
              </a:rPr>
              <a:t>Warm-Up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2240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6B1C"/>
                </a:solidFill>
              </a:rPr>
              <a:t>Real-life if/else thinking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5B8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7–10 minutes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91440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D4EDD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2316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D0A"/>
                </a:solidFill>
              </a:rPr>
              <a:t>Coding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23160" y="2240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6B1C"/>
                </a:solidFill>
              </a:rPr>
              <a:t>Health system in Python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292608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5B8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5176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25–30 minutes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91440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C0E5B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D0A"/>
                </a:solidFill>
              </a:rPr>
              <a:t>Math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2240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6B1C"/>
                </a:solidFill>
              </a:rPr>
              <a:t>Operators &amp; Boolean logic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92608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5B8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8–10 minutes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20840" y="91440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ACDCA6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2084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D0A"/>
                </a:solidFill>
              </a:rPr>
              <a:t>Challenge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20840" y="2240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6B1C"/>
                </a:solidFill>
              </a:rPr>
              <a:t>Win condition &amp; extensions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292608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5B8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4944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10–12 minutes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16052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EEF5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D0A"/>
                </a:solidFill>
              </a:rPr>
              <a:t>Focus: Use conditionals to make Minecraft respond differently to different player situations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Learning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0" y="54864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2D6B1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703320" y="685800"/>
            <a:ext cx="502920" cy="502920"/>
          </a:xfrm>
          <a:prstGeom prst="ellipse">
            <a:avLst/>
          </a:prstGeom>
          <a:solidFill>
            <a:srgbClr val="7CB8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0332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43400" y="621792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Write if/elif/else statements in Python to control Minecraft game behavior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155448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2D6B1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03320" y="1691640"/>
            <a:ext cx="502920" cy="502920"/>
          </a:xfrm>
          <a:prstGeom prst="ellipse">
            <a:avLst/>
          </a:prstGeom>
          <a:solidFill>
            <a:srgbClr val="7CB8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033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627632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Track game states: playing, game over, and win using Agent scripts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256032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2D6B1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03320" y="2697480"/>
            <a:ext cx="502920" cy="502920"/>
          </a:xfrm>
          <a:prstGeom prst="ellipse">
            <a:avLst/>
          </a:prstGeom>
          <a:solidFill>
            <a:srgbClr val="7CB8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033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43400" y="2633472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Change world behavior based on runtime conditions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0" y="356616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2D6B1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03320" y="3703320"/>
            <a:ext cx="502920" cy="502920"/>
          </a:xfrm>
          <a:prstGeom prst="ellipse">
            <a:avLst/>
          </a:prstGeom>
          <a:solidFill>
            <a:srgbClr val="7CB8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0332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43400" y="3639312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Use comparison operators (==, !=, &lt;, &gt;, &lt;=, &gt;=) and Boolean logic (and, or, not)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Warm-Up: Real-World If/Else  (7–10 min)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1A3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7CB849"/>
                </a:solidFill>
              </a:rPr>
              <a:t>"IF it is raining THEN take an umbrella ELSE wear sunglasses."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EEF5E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D0A"/>
                </a:solidFill>
              </a:rPr>
              <a:t>Example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6B1C"/>
                </a:solidFill>
              </a:rPr>
              <a:t>IF the player touches lava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6B1C"/>
                </a:solidFill>
              </a:rPr>
              <a:t>THEN take damage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6B1C"/>
                </a:solidFill>
              </a:rPr>
              <a:t>ELSE keep walking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64592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EEF5E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54680" y="2331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D0A"/>
                </a:solidFill>
              </a:rPr>
              <a:t>Example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26517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6B1C"/>
                </a:solidFill>
              </a:rPr>
              <a:t>IF score reaches 10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6B1C"/>
                </a:solidFill>
              </a:rPr>
              <a:t>THEN display "Level Up!"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6B1C"/>
                </a:solidFill>
              </a:rPr>
              <a:t>ELSE continue playing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64592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EEF5E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2331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D0A"/>
                </a:solidFill>
              </a:rPr>
              <a:t>Example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6517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6B1C"/>
                </a:solidFill>
              </a:rPr>
              <a:t>IF a Zombie sees the player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6B1C"/>
                </a:solidFill>
              </a:rPr>
              <a:t>THEN chase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6B1C"/>
                </a:solidFill>
              </a:rPr>
              <a:t>ELSE wander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069080"/>
            <a:ext cx="8595360" cy="731520"/>
          </a:xfrm>
          <a:prstGeom prst="roundRect">
            <a:avLst>
              <a:gd name="adj" fmla="val 10000"/>
            </a:avLst>
          </a:prstGeom>
          <a:solidFill>
            <a:srgbClr val="2D6B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Now YOU try: Come up with your own Minecraft if/else example!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Are Conditionals?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A3D0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Condition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Checked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2148840" y="1234438"/>
            <a:ext cx="1440180" cy="2"/>
          </a:xfrm>
          <a:prstGeom prst="line">
            <a:avLst/>
          </a:prstGeom>
          <a:noFill/>
          <a:ln w="25400">
            <a:solidFill>
              <a:srgbClr val="1A3D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589020" y="8229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7CB849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89020" y="8229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TRUE →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Run block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flipV="1">
            <a:off x="5509260" y="1234438"/>
            <a:ext cx="1440180" cy="1"/>
          </a:xfrm>
          <a:prstGeom prst="line">
            <a:avLst/>
          </a:prstGeom>
          <a:noFill/>
          <a:ln w="25400">
            <a:solidFill>
              <a:srgbClr val="1A3D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49440" y="8229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5B8C5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49440" y="8229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FALSE →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Skip / try elif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18288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D0A"/>
                </a:solidFill>
              </a:rPr>
              <a:t>The Three Branches of Python Conditionals: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8595360" cy="731520"/>
          </a:xfrm>
          <a:prstGeom prst="roundRect">
            <a:avLst>
              <a:gd name="adj" fmla="val 7500"/>
            </a:avLst>
          </a:prstGeom>
          <a:solidFill>
            <a:srgbClr val="EEF5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423160"/>
            <a:ext cx="822960" cy="548640"/>
          </a:xfrm>
          <a:prstGeom prst="roundRect">
            <a:avLst>
              <a:gd name="adj" fmla="val 6667"/>
            </a:avLst>
          </a:prstGeom>
          <a:solidFill>
            <a:srgbClr val="1A3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423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if: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2331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1A"/>
                </a:solidFill>
              </a:rPr>
              <a:t>Checks the first condition. Runs its block if True.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8595360" cy="731520"/>
          </a:xfrm>
          <a:prstGeom prst="roundRect">
            <a:avLst>
              <a:gd name="adj" fmla="val 7500"/>
            </a:avLst>
          </a:prstGeom>
          <a:solidFill>
            <a:srgbClr val="E0EE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291840"/>
            <a:ext cx="822960" cy="548640"/>
          </a:xfrm>
          <a:prstGeom prst="roundRect">
            <a:avLst>
              <a:gd name="adj" fmla="val 6667"/>
            </a:avLst>
          </a:prstGeom>
          <a:solidFill>
            <a:srgbClr val="2D6B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918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elif: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1A"/>
                </a:solidFill>
              </a:rPr>
              <a:t>Only checked if the previous condition was False. Can chain multiple.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069080"/>
            <a:ext cx="8595360" cy="731520"/>
          </a:xfrm>
          <a:prstGeom prst="roundRect">
            <a:avLst>
              <a:gd name="adj" fmla="val 7500"/>
            </a:avLst>
          </a:prstGeom>
          <a:solidFill>
            <a:srgbClr val="EEF5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4160520"/>
            <a:ext cx="822960" cy="548640"/>
          </a:xfrm>
          <a:prstGeom prst="roundRect">
            <a:avLst>
              <a:gd name="adj" fmla="val 6667"/>
            </a:avLst>
          </a:prstGeom>
          <a:solidFill>
            <a:srgbClr val="5B8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41605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else: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4069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1A"/>
                </a:solidFill>
              </a:rPr>
              <a:t>Catch-all. Runs only when ALL previous conditions were False.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B849"/>
                </a:solidFill>
              </a:rPr>
              <a:t>Let's Write It: Health System in Python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754880" cy="4114800"/>
          </a:xfrm>
          <a:prstGeom prst="roundRect">
            <a:avLst>
              <a:gd name="adj" fmla="val 1778"/>
            </a:avLst>
          </a:prstGeom>
          <a:solidFill>
            <a:srgbClr val="1E2D16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4389120" cy="3931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F6A"/>
                </a:solidFill>
              </a:rPr>
              <a:t># Player variables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5A2"/>
                </a:solidFill>
              </a:rPr>
              <a:t>health = 100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5A2"/>
                </a:solidFill>
              </a:rPr>
              <a:t>score =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5A2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B8FF"/>
                </a:solidFill>
              </a:rPr>
              <a:t>def take_damage(amount):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5A2"/>
                </a:solidFill>
              </a:rPr>
              <a:t>    global health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5A2"/>
                </a:solidFill>
              </a:rPr>
              <a:t>    health -= amount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5A2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7583"/>
                </a:solidFill>
              </a:rPr>
              <a:t>    if health &lt;= 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5A2"/>
                </a:solidFill>
              </a:rPr>
              <a:t>        player.say('Game Over!')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5A2"/>
                </a:solidFill>
              </a:rPr>
              <a:t>        mobs.spawn(ZOMBIE, pos(0,0,0))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5A2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AB70"/>
                </a:solidFill>
              </a:rPr>
              <a:t>    elif health &lt; 30: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5A2"/>
                </a:solidFill>
              </a:rPr>
              <a:t>        player.say('Warning: Low health!')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5A2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392F0"/>
                </a:solidFill>
              </a:rPr>
              <a:t>    else: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5A2"/>
                </a:solidFill>
              </a:rPr>
              <a:t>        player.say('Health: ' + str(health))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66360" y="960120"/>
            <a:ext cx="3657600" cy="658368"/>
          </a:xfrm>
          <a:prstGeom prst="roundRect">
            <a:avLst>
              <a:gd name="adj" fmla="val 8333"/>
            </a:avLst>
          </a:prstGeom>
          <a:solidFill>
            <a:srgbClr val="1A35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57800" y="1005840"/>
            <a:ext cx="34747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B849"/>
                </a:solidFill>
              </a:rPr>
              <a:t>Variables
</a:t>
            </a:r>
            <a:r>
              <a:rPr lang="en-US" sz="1000" dirty="0">
                <a:solidFill>
                  <a:srgbClr val="C8E6C0"/>
                </a:solidFill>
              </a:rPr>
              <a:t>Track health &amp; score state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66360" y="1600200"/>
            <a:ext cx="3657600" cy="658368"/>
          </a:xfrm>
          <a:prstGeom prst="roundRect">
            <a:avLst>
              <a:gd name="adj" fmla="val 8333"/>
            </a:avLst>
          </a:prstGeom>
          <a:solidFill>
            <a:srgbClr val="1A35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57800" y="1645920"/>
            <a:ext cx="34747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9B8FF"/>
                </a:solidFill>
              </a:rPr>
              <a:t>Function
</a:t>
            </a:r>
            <a:r>
              <a:rPr lang="en-US" sz="1000" dirty="0">
                <a:solidFill>
                  <a:srgbClr val="C8E6C0"/>
                </a:solidFill>
              </a:rPr>
              <a:t>Called whenever damage happens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66360" y="2331720"/>
            <a:ext cx="3657600" cy="658368"/>
          </a:xfrm>
          <a:prstGeom prst="roundRect">
            <a:avLst>
              <a:gd name="adj" fmla="val 8333"/>
            </a:avLst>
          </a:prstGeom>
          <a:solidFill>
            <a:srgbClr val="1A35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57800" y="2377440"/>
            <a:ext cx="34747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583"/>
                </a:solidFill>
              </a:rPr>
              <a:t>if branch
</a:t>
            </a:r>
            <a:r>
              <a:rPr lang="en-US" sz="1000" dirty="0">
                <a:solidFill>
                  <a:srgbClr val="C8E6C0"/>
                </a:solidFill>
              </a:rPr>
              <a:t>Player dead → Game Over + spawn Zombie!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66360" y="3246120"/>
            <a:ext cx="3657600" cy="658368"/>
          </a:xfrm>
          <a:prstGeom prst="roundRect">
            <a:avLst>
              <a:gd name="adj" fmla="val 8333"/>
            </a:avLst>
          </a:prstGeom>
          <a:solidFill>
            <a:srgbClr val="1A35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57800" y="3291840"/>
            <a:ext cx="34747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B70"/>
                </a:solidFill>
              </a:rPr>
              <a:t>elif branch
</a:t>
            </a:r>
            <a:r>
              <a:rPr lang="en-US" sz="1000" dirty="0">
                <a:solidFill>
                  <a:srgbClr val="C8E6C0"/>
                </a:solidFill>
              </a:rPr>
              <a:t>Low health warning (&lt; 30)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66360" y="4069080"/>
            <a:ext cx="3657600" cy="658368"/>
          </a:xfrm>
          <a:prstGeom prst="roundRect">
            <a:avLst>
              <a:gd name="adj" fmla="val 8333"/>
            </a:avLst>
          </a:prstGeom>
          <a:solidFill>
            <a:srgbClr val="1A35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57800" y="4114800"/>
            <a:ext cx="34747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92F0"/>
                </a:solidFill>
              </a:rPr>
              <a:t>else branch
</a:t>
            </a:r>
            <a:r>
              <a:rPr lang="en-US" sz="1000" dirty="0">
                <a:solidFill>
                  <a:srgbClr val="C8E6C0"/>
                </a:solidFill>
              </a:rPr>
              <a:t>Normal: show health value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Code Walk-Through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685800"/>
          </a:xfrm>
          <a:prstGeom prst="roundRect">
            <a:avLst>
              <a:gd name="adj" fmla="val 8000"/>
            </a:avLst>
          </a:prstGeom>
          <a:solidFill>
            <a:srgbClr val="EEF5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2560320" cy="530352"/>
          </a:xfrm>
          <a:prstGeom prst="roundRect">
            <a:avLst>
              <a:gd name="adj" fmla="val 6897"/>
            </a:avLst>
          </a:prstGeom>
          <a:solidFill>
            <a:srgbClr val="1E2D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2468880" cy="53035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5A2"/>
                </a:solidFill>
              </a:rPr>
              <a:t>health -= amount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63240" y="82296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1A"/>
                </a:solidFill>
              </a:rPr>
              <a:t>Subtract damage from health. Math: subtraction + variable tracking.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27632"/>
            <a:ext cx="8595360" cy="685800"/>
          </a:xfrm>
          <a:prstGeom prst="roundRect">
            <a:avLst>
              <a:gd name="adj" fmla="val 8000"/>
            </a:avLst>
          </a:prstGeom>
          <a:solidFill>
            <a:srgbClr val="E0EE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700784"/>
            <a:ext cx="2560320" cy="530352"/>
          </a:xfrm>
          <a:prstGeom prst="roundRect">
            <a:avLst>
              <a:gd name="adj" fmla="val 6897"/>
            </a:avLst>
          </a:prstGeom>
          <a:solidFill>
            <a:srgbClr val="1E2D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700784"/>
            <a:ext cx="2468880" cy="53035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5A2"/>
                </a:solidFill>
              </a:rPr>
              <a:t>if health &lt;= 0: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63240" y="1627632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1A"/>
                </a:solidFill>
              </a:rPr>
              <a:t>First check: is the player dead? Uses &lt;= operator — returns True or False.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432304"/>
            <a:ext cx="8595360" cy="685800"/>
          </a:xfrm>
          <a:prstGeom prst="roundRect">
            <a:avLst>
              <a:gd name="adj" fmla="val 8000"/>
            </a:avLst>
          </a:prstGeom>
          <a:solidFill>
            <a:srgbClr val="EEF5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505456"/>
            <a:ext cx="2560320" cy="530352"/>
          </a:xfrm>
          <a:prstGeom prst="roundRect">
            <a:avLst>
              <a:gd name="adj" fmla="val 6897"/>
            </a:avLst>
          </a:prstGeom>
          <a:solidFill>
            <a:srgbClr val="1E2D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505456"/>
            <a:ext cx="2468880" cy="53035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5A2"/>
                </a:solidFill>
              </a:rPr>
              <a:t>mobs.spawn(ZOMBIE...)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63240" y="2432304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1A"/>
                </a:solidFill>
              </a:rPr>
              <a:t>Minecraft Education built-in: spawns a Zombie as our visual 'Game Over' signal.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236976"/>
            <a:ext cx="8595360" cy="685800"/>
          </a:xfrm>
          <a:prstGeom prst="roundRect">
            <a:avLst>
              <a:gd name="adj" fmla="val 8000"/>
            </a:avLst>
          </a:prstGeom>
          <a:solidFill>
            <a:srgbClr val="E0EE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310128"/>
            <a:ext cx="2560320" cy="530352"/>
          </a:xfrm>
          <a:prstGeom prst="roundRect">
            <a:avLst>
              <a:gd name="adj" fmla="val 6897"/>
            </a:avLst>
          </a:prstGeom>
          <a:solidFill>
            <a:srgbClr val="1E2D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310128"/>
            <a:ext cx="2468880" cy="53035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5A2"/>
                </a:solidFill>
              </a:rPr>
              <a:t>elif health &lt; 30: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63240" y="3236976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1A"/>
                </a:solidFill>
              </a:rPr>
              <a:t>Only runs if first check was False. Danger zone warning for the player.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041648"/>
            <a:ext cx="8595360" cy="685800"/>
          </a:xfrm>
          <a:prstGeom prst="roundRect">
            <a:avLst>
              <a:gd name="adj" fmla="val 8000"/>
            </a:avLst>
          </a:prstGeom>
          <a:solidFill>
            <a:srgbClr val="EEF5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2560320" cy="530352"/>
          </a:xfrm>
          <a:prstGeom prst="roundRect">
            <a:avLst>
              <a:gd name="adj" fmla="val 6897"/>
            </a:avLst>
          </a:prstGeom>
          <a:solidFill>
            <a:srgbClr val="1E2D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4114800"/>
            <a:ext cx="2468880" cy="53035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5A2"/>
                </a:solidFill>
              </a:rPr>
              <a:t>else: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63240" y="4041648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1A"/>
                </a:solidFill>
              </a:rPr>
              <a:t>Catch-all: runs when ALL conditions are False. Normal gameplay continues.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Connection: Comparison Operators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D0A"/>
                </a:solidFill>
              </a:rPr>
              <a:t>Every condition evaluates to True or False — these are Boolean values!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097280" cy="411480"/>
          </a:xfrm>
          <a:prstGeom prst="rect">
            <a:avLst/>
          </a:prstGeom>
          <a:solidFill>
            <a:srgbClr val="1A3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1234440"/>
            <a:ext cx="1828800" cy="411480"/>
          </a:xfrm>
          <a:prstGeom prst="rect">
            <a:avLst/>
          </a:prstGeom>
          <a:solidFill>
            <a:srgbClr val="1A3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1234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Math Meaning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5577840" cy="411480"/>
          </a:xfrm>
          <a:prstGeom prst="rect">
            <a:avLst/>
          </a:prstGeom>
          <a:solidFill>
            <a:srgbClr val="1A3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2344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Minecraft Example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1097280" cy="457200"/>
          </a:xfrm>
          <a:prstGeom prst="rect">
            <a:avLst/>
          </a:prstGeom>
          <a:solidFill>
            <a:srgbClr val="D4ED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16459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D0A"/>
                </a:solidFill>
              </a:rPr>
              <a:t>==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1645920"/>
            <a:ext cx="1828800" cy="457200"/>
          </a:xfrm>
          <a:prstGeom prst="rect">
            <a:avLst/>
          </a:prstGeom>
          <a:solidFill>
            <a:srgbClr val="EEF5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17320" y="1645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1A"/>
                </a:solidFill>
              </a:rPr>
              <a:t>Equal 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645920"/>
            <a:ext cx="5577840" cy="457200"/>
          </a:xfrm>
          <a:prstGeom prst="rect">
            <a:avLst/>
          </a:prstGeom>
          <a:solidFill>
            <a:srgbClr val="EEF5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4612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1A"/>
                </a:solidFill>
              </a:rPr>
              <a:t>if score == 0: player.say('Start tutorial')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157984"/>
            <a:ext cx="1097280" cy="457200"/>
          </a:xfrm>
          <a:prstGeom prst="rect">
            <a:avLst/>
          </a:prstGeom>
          <a:solidFill>
            <a:srgbClr val="D4ED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15798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D0A"/>
                </a:solidFill>
              </a:rPr>
              <a:t>!=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71600" y="2157984"/>
            <a:ext cx="18288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17320" y="215798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1A"/>
                </a:solidFill>
              </a:rPr>
              <a:t>Not equal 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157984"/>
            <a:ext cx="55778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46120" y="215798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1A"/>
                </a:solidFill>
              </a:rPr>
              <a:t>if weapon != 'sword': disable_attack()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670048"/>
            <a:ext cx="1097280" cy="457200"/>
          </a:xfrm>
          <a:prstGeom prst="rect">
            <a:avLst/>
          </a:prstGeom>
          <a:solidFill>
            <a:srgbClr val="D4ED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67004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D0A"/>
                </a:solidFill>
              </a:rPr>
              <a:t>&lt;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71600" y="2670048"/>
            <a:ext cx="1828800" cy="457200"/>
          </a:xfrm>
          <a:prstGeom prst="rect">
            <a:avLst/>
          </a:prstGeom>
          <a:solidFill>
            <a:srgbClr val="EEF5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417320" y="26700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1A"/>
                </a:solidFill>
              </a:rPr>
              <a:t>Less than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0" y="2670048"/>
            <a:ext cx="5577840" cy="457200"/>
          </a:xfrm>
          <a:prstGeom prst="rect">
            <a:avLst/>
          </a:prstGeom>
          <a:solidFill>
            <a:srgbClr val="EEF5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46120" y="267004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1A"/>
                </a:solidFill>
              </a:rPr>
              <a:t>if time_left &lt; 10: player.say('Hurry!')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182112"/>
            <a:ext cx="1097280" cy="457200"/>
          </a:xfrm>
          <a:prstGeom prst="rect">
            <a:avLst/>
          </a:prstGeom>
          <a:solidFill>
            <a:srgbClr val="D4ED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318211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D0A"/>
                </a:solidFill>
              </a:rPr>
              <a:t>&gt;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371600" y="3182112"/>
            <a:ext cx="18288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417320" y="318211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1A"/>
                </a:solidFill>
              </a:rPr>
              <a:t>Greater than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0" y="3182112"/>
            <a:ext cx="55778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46120" y="318211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1A"/>
                </a:solidFill>
              </a:rPr>
              <a:t>if score &gt; high_score: save_record()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694176"/>
            <a:ext cx="1097280" cy="457200"/>
          </a:xfrm>
          <a:prstGeom prst="rect">
            <a:avLst/>
          </a:prstGeom>
          <a:solidFill>
            <a:srgbClr val="D4ED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0040" y="369417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D0A"/>
                </a:solidFill>
              </a:rPr>
              <a:t>&lt;=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371600" y="3694176"/>
            <a:ext cx="1828800" cy="457200"/>
          </a:xfrm>
          <a:prstGeom prst="rect">
            <a:avLst/>
          </a:prstGeom>
          <a:solidFill>
            <a:srgbClr val="EEF5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417320" y="369417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1A"/>
                </a:solidFill>
              </a:rPr>
              <a:t>Less than or equal to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0" y="3694176"/>
            <a:ext cx="5577840" cy="457200"/>
          </a:xfrm>
          <a:prstGeom prst="rect">
            <a:avLst/>
          </a:prstGeom>
          <a:solidFill>
            <a:srgbClr val="EEF5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46120" y="369417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1A"/>
                </a:solidFill>
              </a:rPr>
              <a:t>if health &lt;= 0: mobs.spawn(ZOMBIE, pos(0,0,0))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4206240"/>
            <a:ext cx="1097280" cy="457200"/>
          </a:xfrm>
          <a:prstGeom prst="rect">
            <a:avLst/>
          </a:prstGeom>
          <a:solidFill>
            <a:srgbClr val="D4ED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0040" y="42062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D0A"/>
                </a:solidFill>
              </a:rPr>
              <a:t>&gt;=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371600" y="4206240"/>
            <a:ext cx="18288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417320" y="4206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1A"/>
                </a:solidFill>
              </a:rPr>
              <a:t>Greater than or equal to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0" y="4206240"/>
            <a:ext cx="55778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46120" y="4206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1A"/>
                </a:solidFill>
              </a:rPr>
              <a:t>if score &gt;= 10: player_wins()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Boolean Logic: Combining Conditions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D0A"/>
                </a:solidFill>
              </a:rPr>
              <a:t>Use these operators to combine multiple conditions in a single check: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EEF5E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1A3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25880" y="1371600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1E2D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2588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B849"/>
                </a:solidFill>
              </a:rPr>
              <a:t>and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1325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D0A"/>
                </a:solidFill>
              </a:rPr>
              <a:t>BOTH conditions must be true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53312"/>
            <a:ext cx="3931920" cy="502920"/>
          </a:xfrm>
          <a:prstGeom prst="roundRect">
            <a:avLst>
              <a:gd name="adj" fmla="val 9091"/>
            </a:avLst>
          </a:prstGeom>
          <a:solidFill>
            <a:srgbClr val="1E2D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353312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B8FF"/>
                </a:solidFill>
              </a:rPr>
              <a:t>if health &gt; 0 and has_key: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E6C0"/>
                </a:solidFill>
              </a:rPr>
              <a:t>← Player alive AND carrying key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EEF5E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2D6B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560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25880" y="2560320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1E2D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25880" y="2560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B849"/>
                </a:solidFill>
              </a:rPr>
              <a:t>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03120" y="2514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D0A"/>
                </a:solidFill>
              </a:rPr>
              <a:t>EITHER condition can be true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542032"/>
            <a:ext cx="3931920" cy="502920"/>
          </a:xfrm>
          <a:prstGeom prst="roundRect">
            <a:avLst>
              <a:gd name="adj" fmla="val 9091"/>
            </a:avLst>
          </a:prstGeom>
          <a:solidFill>
            <a:srgbClr val="1E2D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2542032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B8FF"/>
                </a:solidFill>
              </a:rPr>
              <a:t>if is_jumping or is_crouching: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E6C0"/>
                </a:solidFill>
              </a:rPr>
              <a:t>← Player jumping OR crouching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EEF5E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74904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5B8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749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NOT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325880" y="3749040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1E2D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25880" y="3749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B849"/>
                </a:solidFill>
              </a:rPr>
              <a:t>not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103120" y="3703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D0A"/>
                </a:solidFill>
              </a:rPr>
              <a:t>Inverts the truth value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730752"/>
            <a:ext cx="3931920" cy="502920"/>
          </a:xfrm>
          <a:prstGeom prst="roundRect">
            <a:avLst>
              <a:gd name="adj" fmla="val 9091"/>
            </a:avLst>
          </a:prstGeom>
          <a:solidFill>
            <a:srgbClr val="1E2D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3730752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B8FF"/>
                </a:solidFill>
              </a:rPr>
              <a:t>if not is_game_over: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E6C0"/>
                </a:solidFill>
              </a:rPr>
              <a:t>← Only if game is NOT over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Understanding Game States in Minecraft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3D7A2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PLAYING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DD0"/>
                </a:solidFill>
              </a:rPr>
              <a:t>Normal gameplay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4EDD0"/>
                </a:solidFill>
              </a:rPr>
              <a:t>health &gt; 0, score &lt; 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12848" y="1645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B849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23160" y="82296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B8860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23160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LOW HEALTH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23160" y="19659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DD0"/>
                </a:solidFill>
              </a:rPr>
              <a:t>Warning state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4EDD0"/>
                </a:solidFill>
              </a:rPr>
              <a:t>health &lt; 30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61688" y="1645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B849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0" y="82296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8B1A1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GAME OVER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19659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DD0"/>
                </a:solidFill>
              </a:rPr>
              <a:t>health &lt;= 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4EDD0"/>
                </a:solidFill>
              </a:rPr>
              <a:t>spawn Zombie signal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10528" y="1645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B849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720840" y="82296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2D6B1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0840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YOU WIN!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19659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DD0"/>
                </a:solidFill>
              </a:rPr>
              <a:t>score &gt;= 10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4EDD0"/>
                </a:solidFill>
              </a:rPr>
              <a:t>Agent.stop()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474720"/>
            <a:ext cx="8595360" cy="1371600"/>
          </a:xfrm>
          <a:prstGeom prst="roundRect">
            <a:avLst>
              <a:gd name="adj" fmla="val 6667"/>
            </a:avLst>
          </a:prstGeom>
          <a:solidFill>
            <a:srgbClr val="EEF5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D0A"/>
                </a:solidFill>
              </a:rPr>
              <a:t>Key Insight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C2B1A"/>
                </a:solidFill>
              </a:rPr>
              <a:t>Variables store the state.  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C2B1A"/>
                </a:solidFill>
              </a:rPr>
              <a:t>Conditionals CHECK the state.  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C2B1A"/>
                </a:solidFill>
              </a:rPr>
              <a:t>Code REACTS based on what the conditional finds.  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C2B1A"/>
                </a:solidFill>
              </a:rPr>
              <a:t>This is how every game — including Minecraft — manages game flow!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B849"/>
                </a:solidFill>
              </a:rPr>
              <a:t>Challenge: Add a Win Condition  (10–12 min)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480560" cy="3200400"/>
          </a:xfrm>
          <a:prstGeom prst="roundRect">
            <a:avLst>
              <a:gd name="adj" fmla="val 2286"/>
            </a:avLst>
          </a:prstGeom>
          <a:solidFill>
            <a:srgbClr val="1E2D16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4206240" cy="2971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F6A"/>
                </a:solidFill>
              </a:rPr>
              <a:t># Add to your player script
</a:t>
            </a:r>
            <a:r>
              <a:rPr lang="en-US" sz="1100" dirty="0">
                <a:solidFill>
                  <a:srgbClr val="79B8FF"/>
                </a:solidFill>
              </a:rPr>
              <a:t>def add_score(points):
</a:t>
            </a:r>
            <a:r>
              <a:rPr lang="en-US" sz="1100" dirty="0">
                <a:solidFill>
                  <a:srgbClr val="A8D5A2"/>
                </a:solidFill>
              </a:rPr>
              <a:t>    global score
    score += points
</a:t>
            </a:r>
            <a:r>
              <a:rPr lang="en-US" sz="1100" dirty="0">
                <a:solidFill>
                  <a:srgbClr val="F97583"/>
                </a:solidFill>
              </a:rPr>
              <a:t>    if score &gt;= 10:
</a:t>
            </a:r>
            <a:r>
              <a:rPr lang="en-US" sz="1100" dirty="0">
                <a:solidFill>
                  <a:srgbClr val="A8D5A2"/>
                </a:solidFill>
              </a:rPr>
              <a:t>        player.say('You Win!')
</a:t>
            </a:r>
            <a:r>
              <a:rPr lang="en-US" sz="1100" dirty="0">
                <a:solidFill>
                  <a:srgbClr val="6A9F6A"/>
                </a:solidFill>
              </a:rPr>
              <a:t>        agent.stop()  # Stop Agent
</a:t>
            </a:r>
            <a:r>
              <a:rPr lang="en-US" sz="1100" dirty="0">
                <a:solidFill>
                  <a:srgbClr val="B392F0"/>
                </a:solidFill>
              </a:rPr>
              <a:t>    else:
</a:t>
            </a:r>
            <a:r>
              <a:rPr lang="en-US" sz="1100" dirty="0">
                <a:solidFill>
                  <a:srgbClr val="A8D5A2"/>
                </a:solidFill>
              </a:rPr>
              <a:t>        player.say('Score: ' + str(score))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37760" y="5009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B849"/>
                </a:solidFill>
              </a:rPr>
              <a:t>Extension Challenges: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937760" y="958132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1A35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10912" y="1049572"/>
            <a:ext cx="438912" cy="438912"/>
          </a:xfrm>
          <a:prstGeom prst="ellipse">
            <a:avLst/>
          </a:prstGeom>
          <a:solidFill>
            <a:srgbClr val="7CB8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10912" y="10495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32120" y="958132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C0"/>
                </a:solidFill>
              </a:rPr>
              <a:t>Add a tier: if score &gt;= 20, player.say('Perfect Score!') using elif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70794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1A35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10912" y="1799380"/>
            <a:ext cx="438912" cy="438912"/>
          </a:xfrm>
          <a:prstGeom prst="ellipse">
            <a:avLst/>
          </a:prstGeom>
          <a:solidFill>
            <a:srgbClr val="7CB8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10912" y="17993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32120" y="17079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C0"/>
                </a:solidFill>
              </a:rPr>
              <a:t>Combine: win only if score &gt;= 10 and health &gt; 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457748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1A35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10912" y="2549188"/>
            <a:ext cx="438912" cy="438912"/>
          </a:xfrm>
          <a:prstGeom prst="ellipse">
            <a:avLst/>
          </a:prstGeom>
          <a:solidFill>
            <a:srgbClr val="7CB8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10912" y="25491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245774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C0"/>
                </a:solidFill>
              </a:rPr>
              <a:t>Add a 'close call' message if player wins but health &lt; 10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3207556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1A35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10912" y="3298996"/>
            <a:ext cx="438912" cy="438912"/>
          </a:xfrm>
          <a:prstGeom prst="ellipse">
            <a:avLst/>
          </a:prstGeom>
          <a:solidFill>
            <a:srgbClr val="7CB8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10912" y="32989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32120" y="3207556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C0"/>
                </a:solidFill>
              </a:rPr>
              <a:t>Design your own state: PAUSED, LEVEL_COMPLETE, or BONUS_ROUND and trigger a Minecraft event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11480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2D6B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After typing your code, test it: call add_score(5) twice and watch Minecraft react!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Reflection &amp; 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EEF5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41832"/>
            <a:ext cx="502920" cy="502920"/>
          </a:xfrm>
          <a:prstGeom prst="ellipse">
            <a:avLst/>
          </a:prstGeom>
          <a:solidFill>
            <a:srgbClr val="1A3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941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822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1A"/>
                </a:solidFill>
              </a:rPr>
              <a:t>How do conditionals let Minecraft respond differently to different situations?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E0EE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" y="1856232"/>
            <a:ext cx="502920" cy="502920"/>
          </a:xfrm>
          <a:prstGeom prst="ellipse">
            <a:avLst/>
          </a:prstGeom>
          <a:solidFill>
            <a:srgbClr val="1A3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7373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1A"/>
                </a:solidFill>
              </a:rPr>
              <a:t>What would a Minecraft world without if/else look like? What events would be missing?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651760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EEF5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7472" y="2770632"/>
            <a:ext cx="502920" cy="502920"/>
          </a:xfrm>
          <a:prstGeom prst="ellipse">
            <a:avLst/>
          </a:prstGeom>
          <a:solidFill>
            <a:srgbClr val="1A3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6517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1A"/>
                </a:solidFill>
              </a:rPr>
              <a:t>Can you think of a Minecraft mechanic that uses branching logic?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E0EE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3685032"/>
            <a:ext cx="502920" cy="502920"/>
          </a:xfrm>
          <a:prstGeom prst="ellipse">
            <a:avLst/>
          </a:prstGeom>
          <a:solidFill>
            <a:srgbClr val="1A3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5661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1A"/>
                </a:solidFill>
              </a:rPr>
              <a:t>How is an if/elif/else chain similar to a decision tree in math?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38912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A3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Exit Ticket: Name one thing you coded with a conditional today, and explain the difference between if, elif, and else.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1035</Words>
  <Application>Microsoft Macintosh PowerPoint</Application>
  <PresentationFormat>On-screen Show (16:9)</PresentationFormat>
  <Paragraphs>184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 – Day 9 – Minecraft</dc:title>
  <dc:subject>PptxGenJS Presentation</dc:subject>
  <dc:creator>PptxGenJS</dc:creator>
  <cp:lastModifiedBy>Babichenko, Dmitriy</cp:lastModifiedBy>
  <cp:revision>5</cp:revision>
  <dcterms:created xsi:type="dcterms:W3CDTF">2026-06-16T16:48:10Z</dcterms:created>
  <dcterms:modified xsi:type="dcterms:W3CDTF">2026-06-29T12:27:28Z</dcterms:modified>
</cp:coreProperties>
</file>