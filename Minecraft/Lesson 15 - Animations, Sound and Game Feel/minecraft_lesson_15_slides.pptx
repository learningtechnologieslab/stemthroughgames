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9865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D2D"/>
          </a:solidFill>
          <a:ln w="12700">
            <a:solidFill>
              <a:srgbClr val="2D7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0"/>
            <a:ext cx="384048" cy="384048"/>
          </a:xfrm>
          <a:prstGeom prst="rect">
            <a:avLst/>
          </a:prstGeom>
          <a:solidFill>
            <a:srgbClr val="5A9A27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534656" y="0"/>
            <a:ext cx="384048" cy="384048"/>
          </a:xfrm>
          <a:prstGeom prst="rect">
            <a:avLst/>
          </a:prstGeom>
          <a:solidFill>
            <a:srgbClr val="2D7D2D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936992" y="0"/>
            <a:ext cx="384048" cy="384048"/>
          </a:xfrm>
          <a:prstGeom prst="rect">
            <a:avLst/>
          </a:prstGeom>
          <a:solidFill>
            <a:srgbClr val="8BC34A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339328" y="0"/>
            <a:ext cx="384048" cy="384048"/>
          </a:xfrm>
          <a:prstGeom prst="rect">
            <a:avLst/>
          </a:prstGeom>
          <a:solidFill>
            <a:srgbClr val="3E7A1C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741664" y="0"/>
            <a:ext cx="384048" cy="384048"/>
          </a:xfrm>
          <a:prstGeom prst="rect">
            <a:avLst/>
          </a:prstGeom>
          <a:solidFill>
            <a:srgbClr val="6BBF30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0" y="402336"/>
            <a:ext cx="384048" cy="384048"/>
          </a:xfrm>
          <a:prstGeom prst="rect">
            <a:avLst/>
          </a:prstGeom>
          <a:solidFill>
            <a:srgbClr val="2D7D2D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534656" y="402336"/>
            <a:ext cx="384048" cy="384048"/>
          </a:xfrm>
          <a:prstGeom prst="rect">
            <a:avLst/>
          </a:prstGeom>
          <a:solidFill>
            <a:srgbClr val="8BC34A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936992" y="402336"/>
            <a:ext cx="384048" cy="384048"/>
          </a:xfrm>
          <a:prstGeom prst="rect">
            <a:avLst/>
          </a:prstGeom>
          <a:solidFill>
            <a:srgbClr val="3E7A1C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39328" y="402336"/>
            <a:ext cx="384048" cy="384048"/>
          </a:xfrm>
          <a:prstGeom prst="rect">
            <a:avLst/>
          </a:prstGeom>
          <a:solidFill>
            <a:srgbClr val="6BBF30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41664" y="402336"/>
            <a:ext cx="384048" cy="384048"/>
          </a:xfrm>
          <a:prstGeom prst="rect">
            <a:avLst/>
          </a:prstGeom>
          <a:solidFill>
            <a:srgbClr val="5A9A27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0" y="804672"/>
            <a:ext cx="384048" cy="384048"/>
          </a:xfrm>
          <a:prstGeom prst="rect">
            <a:avLst/>
          </a:prstGeom>
          <a:solidFill>
            <a:srgbClr val="8BC34A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534656" y="804672"/>
            <a:ext cx="384048" cy="384048"/>
          </a:xfrm>
          <a:prstGeom prst="rect">
            <a:avLst/>
          </a:prstGeom>
          <a:solidFill>
            <a:srgbClr val="3E7A1C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936992" y="804672"/>
            <a:ext cx="384048" cy="384048"/>
          </a:xfrm>
          <a:prstGeom prst="rect">
            <a:avLst/>
          </a:prstGeom>
          <a:solidFill>
            <a:srgbClr val="6BBF30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39328" y="804672"/>
            <a:ext cx="384048" cy="384048"/>
          </a:xfrm>
          <a:prstGeom prst="rect">
            <a:avLst/>
          </a:prstGeom>
          <a:solidFill>
            <a:srgbClr val="5A9A27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41664" y="804672"/>
            <a:ext cx="384048" cy="384048"/>
          </a:xfrm>
          <a:prstGeom prst="rect">
            <a:avLst/>
          </a:prstGeom>
          <a:solidFill>
            <a:srgbClr val="2D7D2D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32320" y="1207008"/>
            <a:ext cx="384048" cy="384048"/>
          </a:xfrm>
          <a:prstGeom prst="rect">
            <a:avLst/>
          </a:prstGeom>
          <a:solidFill>
            <a:srgbClr val="3E7A1C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534656" y="1207008"/>
            <a:ext cx="384048" cy="384048"/>
          </a:xfrm>
          <a:prstGeom prst="rect">
            <a:avLst/>
          </a:prstGeom>
          <a:solidFill>
            <a:srgbClr val="6BBF30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936992" y="1207008"/>
            <a:ext cx="384048" cy="384048"/>
          </a:xfrm>
          <a:prstGeom prst="rect">
            <a:avLst/>
          </a:prstGeom>
          <a:solidFill>
            <a:srgbClr val="5A9A27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339328" y="1207008"/>
            <a:ext cx="384048" cy="384048"/>
          </a:xfrm>
          <a:prstGeom prst="rect">
            <a:avLst/>
          </a:prstGeom>
          <a:solidFill>
            <a:srgbClr val="2D7D2D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741664" y="1207008"/>
            <a:ext cx="384048" cy="384048"/>
          </a:xfrm>
          <a:prstGeom prst="rect">
            <a:avLst/>
          </a:prstGeom>
          <a:solidFill>
            <a:srgbClr val="8BC34A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32320" y="1609344"/>
            <a:ext cx="384048" cy="384048"/>
          </a:xfrm>
          <a:prstGeom prst="rect">
            <a:avLst/>
          </a:prstGeom>
          <a:solidFill>
            <a:srgbClr val="6BBF30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534656" y="1609344"/>
            <a:ext cx="384048" cy="384048"/>
          </a:xfrm>
          <a:prstGeom prst="rect">
            <a:avLst/>
          </a:prstGeom>
          <a:solidFill>
            <a:srgbClr val="5A9A27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936992" y="1609344"/>
            <a:ext cx="384048" cy="384048"/>
          </a:xfrm>
          <a:prstGeom prst="rect">
            <a:avLst/>
          </a:prstGeom>
          <a:solidFill>
            <a:srgbClr val="2D7D2D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39328" y="1609344"/>
            <a:ext cx="384048" cy="384048"/>
          </a:xfrm>
          <a:prstGeom prst="rect">
            <a:avLst/>
          </a:prstGeom>
          <a:solidFill>
            <a:srgbClr val="8BC34A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741664" y="1609344"/>
            <a:ext cx="384048" cy="384048"/>
          </a:xfrm>
          <a:prstGeom prst="rect">
            <a:avLst/>
          </a:prstGeom>
          <a:solidFill>
            <a:srgbClr val="3E7A1C">
              <a:alpha val="30000"/>
            </a:srgbClr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548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kern="0" spc="6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 THROUGH GAMES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38912" y="1143000"/>
            <a:ext cx="705916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Animations,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Sound &amp;</a:t>
            </a:r>
            <a:endParaRPr lang="en-US" sz="4600" dirty="0"/>
          </a:p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Feel</a:t>
            </a:r>
            <a:endParaRPr lang="en-US" sz="4600" dirty="0"/>
          </a:p>
        </p:txBody>
      </p:sp>
      <p:sp>
        <p:nvSpPr>
          <p:cNvPr id="33" name="Text 31"/>
          <p:cNvSpPr/>
          <p:nvPr/>
        </p:nvSpPr>
        <p:spPr>
          <a:xfrm>
            <a:off x="577121" y="3520440"/>
            <a:ext cx="692095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Timing, rhythm, and emotional design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7D2D"/>
          </a:solidFill>
          <a:ln w="12700">
            <a:solidFill>
              <a:srgbClr val="2D7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students will achieve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EEF8EE"/>
          </a:solidFill>
          <a:ln w="6350">
            <a:solidFill>
              <a:srgbClr val="DDE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42210" y="1188720"/>
            <a:ext cx="82445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 custom resource pack with walk, idle, and jump sound events in Minecraft's sounds.json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874520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E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2210" y="1920240"/>
            <a:ext cx="82445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command block logic to trigger sound states based on player movement scoreboards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606040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EEF8EE"/>
          </a:solidFill>
          <a:ln w="6350">
            <a:solidFill>
              <a:srgbClr val="DDE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2210" y="2651760"/>
            <a:ext cx="82445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sound effects and background music using /playsound and resource pack audio files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337560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E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2210" y="3383280"/>
            <a:ext cx="82445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how audio and visual feedback create emotional tone and player experience in Minecraft worlds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069080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EEF8EE"/>
          </a:solidFill>
          <a:ln w="6350">
            <a:solidFill>
              <a:srgbClr val="DDEE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42210" y="4114800"/>
            <a:ext cx="824459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animation loop duration using frames ÷ FPS and ticks ÷ 20 = seconds math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ACTIVITY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vs. Sound: What's the Difference?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023360" cy="2971800"/>
          </a:xfrm>
          <a:prstGeom prst="roundRect">
            <a:avLst>
              <a:gd name="adj" fmla="val 2778"/>
            </a:avLst>
          </a:prstGeom>
          <a:solidFill>
            <a:srgbClr val="2C2C2C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56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World · No Custom Audio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21705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Default Minecraft textures only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25180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custom background music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28655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custom jump or collect sounds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2129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Character moves in silence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5604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World feels flat and lifeless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846320" y="1097280"/>
            <a:ext cx="4023360" cy="2971800"/>
          </a:xfrm>
          <a:prstGeom prst="roundRect">
            <a:avLst>
              <a:gd name="adj" fmla="val 2778"/>
            </a:avLst>
          </a:prstGeom>
          <a:solidFill>
            <a:srgbClr val="1A2E1A"/>
          </a:solidFill>
          <a:ln w="254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11430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568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Resource Pack + Audio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1705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resource pack adds visual life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5180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Background music sets the mood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8655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Jump and footstep sounds respond to you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2129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action has audio + visual feedback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35604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World feels alive and responsive!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What specifically makes Version 2 feel different? List 3 things.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7D2D"/>
          </a:solidFill>
          <a:ln w="12700">
            <a:solidFill>
              <a:srgbClr val="2D7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— PART 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a Custom Resource Pack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25880" y="12070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the Folder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5361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your .minecraft/resourcepacks/ folder, create MyGamePack/. Add pack.mcmeta to describe your pack — Minecraft won't recognize it without this file.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3317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25880" y="24414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sounds.json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7706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assets/minecraft/sounds.json. Define each custom sound event with a name and path to your .ogg file. All audio must be .ogg format.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66160"/>
            <a:ext cx="5029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914400" cy="1097280"/>
          </a:xfrm>
          <a:prstGeom prst="roundRect">
            <a:avLst>
              <a:gd name="adj" fmla="val 8000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356616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25880" y="36758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Audio Files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0050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your .ogg files at assets/minecraft/sounds/custom/. The path in sounds.json must exactly match the file location.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7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Reference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32120" y="1417320"/>
            <a:ext cx="3383280" cy="530352"/>
          </a:xfrm>
          <a:prstGeom prst="rect">
            <a:avLst/>
          </a:prstGeom>
          <a:solidFill>
            <a:srgbClr val="2D7D2D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77840" y="149047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Event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4904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55280" y="149047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32120" y="1984248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577840" y="20574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custom.footstep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2057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footstep.ogg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205740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 score &gt; 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32120" y="2551176"/>
            <a:ext cx="3383280" cy="530352"/>
          </a:xfrm>
          <a:prstGeom prst="rect">
            <a:avLst/>
          </a:prstGeom>
          <a:solidFill>
            <a:srgbClr val="EEF8EE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77840" y="26243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custom.jump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26243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jump.ogg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55280" y="26243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jump input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32120" y="3118104"/>
            <a:ext cx="33832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577840" y="31912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custom.hurt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319125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hurt.ogg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955280" y="319125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Damage event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32120" y="3685032"/>
            <a:ext cx="3383280" cy="530352"/>
          </a:xfrm>
          <a:prstGeom prst="rect">
            <a:avLst/>
          </a:prstGeom>
          <a:solidFill>
            <a:srgbClr val="EEF8EE"/>
          </a:solidFill>
          <a:ln w="635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577840" y="375818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custom.theme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49440" y="37581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theme.ogg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955280" y="375818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World load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32120" y="4251960"/>
            <a:ext cx="3383280" cy="640080"/>
          </a:xfrm>
          <a:prstGeom prst="roundRect">
            <a:avLst>
              <a:gd name="adj" fmla="val 8571"/>
            </a:avLst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77840" y="4315968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</a:t>
            </a:r>
            <a:r>
              <a:rPr lang="en-US" sz="11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File paths are case-sensitive on Mac/Linux servers!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BLOCKS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Trigger Logic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5943600" cy="3840480"/>
          </a:xfrm>
          <a:prstGeom prst="roundRect">
            <a:avLst>
              <a:gd name="adj" fmla="val 2381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 – Create motion scoreboard 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3959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C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/scoreboard objectives add motion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636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7C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minecraft.custom:walk_one_cm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 – Repeating CB: play footstep while walking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2357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/execute as @a[scores={motion=1..}]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4597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@s run playsound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68376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custom.footstep player @s ~ ~ ~ 1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318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3 – Reset motion score each tick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35584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10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/scoreboard players set @a motion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039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8E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4 – Jump trigger (chain CB)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0279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/execute as @a[nbt={OnGround:0b}]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2519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at @s run playsound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44759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custom.jump player @s ~ ~ ~ 1 1.2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55080" y="14630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C3A1C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55080" y="1463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Track how far player walks each tick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55080" y="21488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C3A1C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Fire when motion score is above 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55080" y="35204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C3A1C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35204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Reset every tick — keeps it per-tick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55080" y="420624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1C3A1C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OnGround:0b means player is in the air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102412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Flow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66003" y="2691479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66003" y="2691479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23203" y="314867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566003" y="3422999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566003" y="3422999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3203" y="3880199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E9E9E"/>
                </a:solidFill>
              </a:rPr>
              <a:t>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66003" y="4154519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566003" y="4154519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7D2D"/>
          </a:solidFill>
          <a:ln w="12700">
            <a:solidFill>
              <a:srgbClr val="2D7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ACTIVITY — PART 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303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Sound with /playsound and Resource Packs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275519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CEEC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318387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Footstep Sound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542636"/>
            <a:ext cx="685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17950" y="25426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footstep.ogg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816956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17950" y="28169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custom.footstep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091276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2230" y="309127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scoreboard &gt;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/execute + playsound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743200" cy="275519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CEEC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0" y="1318387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Sound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58" y="25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58" y="252764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jump.ogg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280196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58" y="2801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custom.jump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59" y="3076288"/>
            <a:ext cx="75475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023360" y="3076288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 OnGround:0b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/execute + playsound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097280"/>
            <a:ext cx="2743200" cy="2755192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CEECC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26480" y="1318387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7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 Music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255013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95160" y="25501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theme.ogg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2824452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95160" y="28244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custom.theme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09877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95160" y="309877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load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/playsound @a on join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126792"/>
            <a:ext cx="8595360" cy="884120"/>
          </a:xfrm>
          <a:prstGeom prst="roundRect">
            <a:avLst>
              <a:gd name="adj" fmla="val 14286"/>
            </a:avLst>
          </a:prstGeom>
          <a:solidFill>
            <a:srgbClr val="0D111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57200" y="4190809"/>
            <a:ext cx="8229600" cy="8018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C6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Trigger jump sound:  /execute as @a[nbt={OnGround:0b}] at @s run playsound custom.jump player @s ~ ~ ~ 1 1.2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7D2D"/>
          </a:solidFill>
          <a:ln w="12700">
            <a:solidFill>
              <a:srgbClr val="2D7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CONNECTION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 Timing: Frames ÷ FPS = Loop Duration  |  Ticks ÷ 20 = Seconds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840480" cy="1371600"/>
          </a:xfrm>
          <a:prstGeom prst="roundRect">
            <a:avLst>
              <a:gd name="adj" fmla="val 6667"/>
            </a:avLst>
          </a:prstGeom>
          <a:solidFill>
            <a:srgbClr val="2D7D2D"/>
          </a:solidFill>
          <a:ln w="12700">
            <a:solidFill>
              <a:srgbClr val="2D7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704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Time =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 ÷ FPS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74320" y="2578608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A3A1A"/>
          </a:solidFill>
          <a:ln w="1905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36576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Minecraft: 20 ticks/sec → Ticks ÷ 20 = Seconds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EF8EE"/>
          </a:solidFill>
          <a:ln w="1270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35935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7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— Run Cycle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frames at 12 FPS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2245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7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÷ 12 = 0.67 seconds per loop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0560" y="1078992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7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Problems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434840" y="1554480"/>
            <a:ext cx="44348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34840" y="1554480"/>
            <a:ext cx="502920" cy="804672"/>
          </a:xfrm>
          <a:prstGeom prst="roundRect">
            <a:avLst>
              <a:gd name="adj" fmla="val 12727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5544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60020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Idle: 4 frames at 6 FPS — how long is one loop?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1975104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9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4 ÷ 6 = 0.67 sec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2450592"/>
            <a:ext cx="44348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34840" y="2450592"/>
            <a:ext cx="502920" cy="804672"/>
          </a:xfrm>
          <a:prstGeom prst="roundRect">
            <a:avLst>
              <a:gd name="adj" fmla="val 12727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34840" y="2450592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4963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Jump: 5 frames at 15 FPS — how long does it play?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2871216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9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5 ÷ 15 = 0.33 sec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3346704"/>
            <a:ext cx="44348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34840" y="3346704"/>
            <a:ext cx="502920" cy="804672"/>
          </a:xfrm>
          <a:prstGeom prst="roundRect">
            <a:avLst>
              <a:gd name="adj" fmla="val 12727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34840" y="3346704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39242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repeating CB fires every 10 ticks — how many seconds?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376732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9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10 ÷ 20 = 0.5 sec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34840" y="4242816"/>
            <a:ext cx="4434840" cy="804672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434840" y="4242816"/>
            <a:ext cx="502920" cy="804672"/>
          </a:xfrm>
          <a:prstGeom prst="roundRect">
            <a:avLst>
              <a:gd name="adj" fmla="val 12727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434840" y="4242816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4288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= 0.5 sec at 8 FPS — how many frames?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663440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9A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0.5 × 8 = 4 frames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E9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Sound Creates Feeling in Your Minecraft World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2852628"/>
          </a:xfrm>
          <a:prstGeom prst="roundRect">
            <a:avLst>
              <a:gd name="adj" fmla="val 4545"/>
            </a:avLst>
          </a:prstGeom>
          <a:solidFill>
            <a:srgbClr val="3D1A1A"/>
          </a:solidFill>
          <a:ln w="25400">
            <a:solidFill>
              <a:srgbClr val="AA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4453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Tense / Scary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025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Low cave ambience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3780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Irregular heartbeat sounds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535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Sparse, sudden sounds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3290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Minor key stingers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097280"/>
            <a:ext cx="2011680" cy="2852628"/>
          </a:xfrm>
          <a:prstGeom prst="roundRect">
            <a:avLst>
              <a:gd name="adj" fmla="val 4545"/>
            </a:avLst>
          </a:prstGeom>
          <a:solidFill>
            <a:srgbClr val="1A2E1A"/>
          </a:solidFill>
          <a:ln w="254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450592" y="14453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Joyful / Playful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42032" y="19025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Fast, bouncy tempo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42032" y="23780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High-pitched chimes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28535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Short, punchy SFX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42032" y="33290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Major key melody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26864" y="1097280"/>
            <a:ext cx="2011680" cy="2852628"/>
          </a:xfrm>
          <a:prstGeom prst="roundRect">
            <a:avLst>
              <a:gd name="adj" fmla="val 4545"/>
            </a:avLst>
          </a:prstGeom>
          <a:solidFill>
            <a:srgbClr val="2A2A1A"/>
          </a:solidFill>
          <a:ln w="254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626864" y="14453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Energized / Urgent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18304" y="19025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 BPM (140+)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18304" y="23780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Driving percussion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18304" y="28535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Loud, snappy sounds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8304" y="33290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Ascending melodies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03136" y="1097280"/>
            <a:ext cx="2011680" cy="2852628"/>
          </a:xfrm>
          <a:prstGeom prst="roundRect">
            <a:avLst>
              <a:gd name="adj" fmla="val 4545"/>
            </a:avLst>
          </a:prstGeom>
          <a:solidFill>
            <a:srgbClr val="1A2535"/>
          </a:solidFill>
          <a:ln w="25400">
            <a:solidFill>
              <a:srgbClr val="4488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03136" y="14453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/ Peaceful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94576" y="190255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Slow, flowing music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94576" y="237804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Ambient wind &amp; birds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94576" y="285353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Minimal SFX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94576" y="332902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Soft dynamics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297984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What emotion does your Minecraft world create? What sound choices support that?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F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D7D2D"/>
          </a:solidFill>
          <a:ln w="12700">
            <a:solidFill>
              <a:srgbClr val="2D7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+ Discussion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48640" cy="713232"/>
          </a:xfrm>
          <a:prstGeom prst="roundRect">
            <a:avLst>
              <a:gd name="adj" fmla="val 11667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1097280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18872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emotion did your sound choices create? Was that intentional?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548640" cy="713232"/>
          </a:xfrm>
          <a:prstGeom prst="roundRect">
            <a:avLst>
              <a:gd name="adj" fmla="val 11667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901952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199339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command block clock speed change how a Minecraft mechanic feels to interact with?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2706624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706624"/>
            <a:ext cx="548640" cy="713232"/>
          </a:xfrm>
          <a:prstGeom prst="roundRect">
            <a:avLst>
              <a:gd name="adj" fmla="val 11667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706624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79806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horror Minecraft map played cheerful music, what effect would that create?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511296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CCEECC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3511296"/>
            <a:ext cx="548640" cy="713232"/>
          </a:xfrm>
          <a:prstGeom prst="roundRect">
            <a:avLst>
              <a:gd name="adj" fmla="val 11667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3511296"/>
            <a:ext cx="548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60273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a Minecraft map or modpack you love — what would change if ALL custom audio was removed?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77840" y="1051560"/>
            <a:ext cx="33375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5400">
            <a:solidFill>
              <a:srgbClr val="5A9A27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77840" y="1051560"/>
            <a:ext cx="3337560" cy="475488"/>
          </a:xfrm>
          <a:prstGeom prst="rect">
            <a:avLst/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77840" y="1078992"/>
            <a:ext cx="3337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15000" y="1664208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7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I learned today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15000" y="2011680"/>
            <a:ext cx="2926080" cy="0"/>
          </a:xfrm>
          <a:prstGeom prst="line">
            <a:avLst/>
          </a:prstGeom>
          <a:noFill/>
          <a:ln w="1270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15000" y="232257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7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emotion my sound creates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715000" y="2670048"/>
            <a:ext cx="2926080" cy="0"/>
          </a:xfrm>
          <a:prstGeom prst="line">
            <a:avLst/>
          </a:prstGeom>
          <a:noFill/>
          <a:ln w="1270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715000" y="298094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7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 I still have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715000" y="3328416"/>
            <a:ext cx="2926080" cy="0"/>
          </a:xfrm>
          <a:prstGeom prst="line">
            <a:avLst/>
          </a:prstGeom>
          <a:noFill/>
          <a:ln w="12700">
            <a:solidFill>
              <a:srgbClr val="CCEE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256032"/>
          </a:xfrm>
          <a:prstGeom prst="rect">
            <a:avLst/>
          </a:prstGeom>
          <a:solidFill>
            <a:srgbClr val="2D7D2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65760" y="0"/>
            <a:ext cx="365760" cy="256032"/>
          </a:xfrm>
          <a:prstGeom prst="rect">
            <a:avLst/>
          </a:prstGeom>
          <a:solidFill>
            <a:srgbClr val="3A9A3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0"/>
            <a:ext cx="365760" cy="256032"/>
          </a:xfrm>
          <a:prstGeom prst="rect">
            <a:avLst/>
          </a:prstGeom>
          <a:solidFill>
            <a:srgbClr val="5A9A27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97280" y="0"/>
            <a:ext cx="365760" cy="256032"/>
          </a:xfrm>
          <a:prstGeom prst="rect">
            <a:avLst/>
          </a:prstGeom>
          <a:solidFill>
            <a:srgbClr val="4A8A20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63040" y="0"/>
            <a:ext cx="365760" cy="256032"/>
          </a:xfrm>
          <a:prstGeom prst="rect">
            <a:avLst/>
          </a:prstGeom>
          <a:solidFill>
            <a:srgbClr val="357A1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0" y="0"/>
            <a:ext cx="365760" cy="256032"/>
          </a:xfrm>
          <a:prstGeom prst="rect">
            <a:avLst/>
          </a:prstGeom>
          <a:solidFill>
            <a:srgbClr val="2D7D2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94560" y="0"/>
            <a:ext cx="365760" cy="256032"/>
          </a:xfrm>
          <a:prstGeom prst="rect">
            <a:avLst/>
          </a:prstGeom>
          <a:solidFill>
            <a:srgbClr val="3A9A3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0"/>
            <a:ext cx="365760" cy="256032"/>
          </a:xfrm>
          <a:prstGeom prst="rect">
            <a:avLst/>
          </a:prstGeom>
          <a:solidFill>
            <a:srgbClr val="5A9A27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926080" y="0"/>
            <a:ext cx="365760" cy="256032"/>
          </a:xfrm>
          <a:prstGeom prst="rect">
            <a:avLst/>
          </a:prstGeom>
          <a:solidFill>
            <a:srgbClr val="4A8A20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0"/>
            <a:ext cx="365760" cy="256032"/>
          </a:xfrm>
          <a:prstGeom prst="rect">
            <a:avLst/>
          </a:prstGeom>
          <a:solidFill>
            <a:srgbClr val="357A1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0"/>
            <a:ext cx="365760" cy="256032"/>
          </a:xfrm>
          <a:prstGeom prst="rect">
            <a:avLst/>
          </a:prstGeom>
          <a:solidFill>
            <a:srgbClr val="2D7D2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23360" y="0"/>
            <a:ext cx="365760" cy="256032"/>
          </a:xfrm>
          <a:prstGeom prst="rect">
            <a:avLst/>
          </a:prstGeom>
          <a:solidFill>
            <a:srgbClr val="3A9A3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389120" y="0"/>
            <a:ext cx="365760" cy="256032"/>
          </a:xfrm>
          <a:prstGeom prst="rect">
            <a:avLst/>
          </a:prstGeom>
          <a:solidFill>
            <a:srgbClr val="5A9A27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0"/>
            <a:ext cx="365760" cy="256032"/>
          </a:xfrm>
          <a:prstGeom prst="rect">
            <a:avLst/>
          </a:prstGeom>
          <a:solidFill>
            <a:srgbClr val="4A8A20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20640" y="0"/>
            <a:ext cx="365760" cy="256032"/>
          </a:xfrm>
          <a:prstGeom prst="rect">
            <a:avLst/>
          </a:prstGeom>
          <a:solidFill>
            <a:srgbClr val="357A1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0" y="0"/>
            <a:ext cx="365760" cy="256032"/>
          </a:xfrm>
          <a:prstGeom prst="rect">
            <a:avLst/>
          </a:prstGeom>
          <a:solidFill>
            <a:srgbClr val="2D7D2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52160" y="0"/>
            <a:ext cx="365760" cy="256032"/>
          </a:xfrm>
          <a:prstGeom prst="rect">
            <a:avLst/>
          </a:prstGeom>
          <a:solidFill>
            <a:srgbClr val="3A9A3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0"/>
            <a:ext cx="365760" cy="256032"/>
          </a:xfrm>
          <a:prstGeom prst="rect">
            <a:avLst/>
          </a:prstGeom>
          <a:solidFill>
            <a:srgbClr val="5A9A27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83680" y="0"/>
            <a:ext cx="365760" cy="256032"/>
          </a:xfrm>
          <a:prstGeom prst="rect">
            <a:avLst/>
          </a:prstGeom>
          <a:solidFill>
            <a:srgbClr val="4A8A20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49440" y="0"/>
            <a:ext cx="365760" cy="256032"/>
          </a:xfrm>
          <a:prstGeom prst="rect">
            <a:avLst/>
          </a:prstGeom>
          <a:solidFill>
            <a:srgbClr val="357A1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15200" y="0"/>
            <a:ext cx="365760" cy="256032"/>
          </a:xfrm>
          <a:prstGeom prst="rect">
            <a:avLst/>
          </a:prstGeom>
          <a:solidFill>
            <a:srgbClr val="2D7D2D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0" y="0"/>
            <a:ext cx="365760" cy="256032"/>
          </a:xfrm>
          <a:prstGeom prst="rect">
            <a:avLst/>
          </a:prstGeom>
          <a:solidFill>
            <a:srgbClr val="3A9A3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46720" y="0"/>
            <a:ext cx="365760" cy="256032"/>
          </a:xfrm>
          <a:prstGeom prst="rect">
            <a:avLst/>
          </a:prstGeom>
          <a:solidFill>
            <a:srgbClr val="5A9A27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412480" y="0"/>
            <a:ext cx="365760" cy="256032"/>
          </a:xfrm>
          <a:prstGeom prst="rect">
            <a:avLst/>
          </a:prstGeom>
          <a:solidFill>
            <a:srgbClr val="4A8A20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778240" y="0"/>
            <a:ext cx="365760" cy="256032"/>
          </a:xfrm>
          <a:prstGeom prst="rect">
            <a:avLst/>
          </a:prstGeom>
          <a:solidFill>
            <a:srgbClr val="357A1A"/>
          </a:solidFill>
          <a:ln w="635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65760" y="320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C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Learned: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74320" y="868680"/>
            <a:ext cx="5029200" cy="576072"/>
          </a:xfrm>
          <a:prstGeom prst="roundRect">
            <a:avLst>
              <a:gd name="adj" fmla="val 9524"/>
            </a:avLst>
          </a:prstGeom>
          <a:solidFill>
            <a:srgbClr val="1C2E1C"/>
          </a:solidFill>
          <a:ln w="6350">
            <a:solidFill>
              <a:srgbClr val="2D4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868680"/>
            <a:ext cx="411480" cy="576072"/>
          </a:xfrm>
          <a:prstGeom prst="roundRect">
            <a:avLst>
              <a:gd name="adj" fmla="val 13333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868680"/>
            <a:ext cx="411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886968"/>
            <a:ext cx="4434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resource pack structure with sounds.json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74320" y="1536192"/>
            <a:ext cx="5029200" cy="576072"/>
          </a:xfrm>
          <a:prstGeom prst="roundRect">
            <a:avLst>
              <a:gd name="adj" fmla="val 9524"/>
            </a:avLst>
          </a:prstGeom>
          <a:solidFill>
            <a:srgbClr val="142814"/>
          </a:solidFill>
          <a:ln w="6350">
            <a:solidFill>
              <a:srgbClr val="2D4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" y="1536192"/>
            <a:ext cx="411480" cy="576072"/>
          </a:xfrm>
          <a:prstGeom prst="roundRect">
            <a:avLst>
              <a:gd name="adj" fmla="val 13333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4320" y="1536192"/>
            <a:ext cx="411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77240" y="1554480"/>
            <a:ext cx="4434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Scoreboard motion tracking + /playsound triggers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" y="2203704"/>
            <a:ext cx="5029200" cy="576072"/>
          </a:xfrm>
          <a:prstGeom prst="roundRect">
            <a:avLst>
              <a:gd name="adj" fmla="val 9524"/>
            </a:avLst>
          </a:prstGeom>
          <a:solidFill>
            <a:srgbClr val="1C2E1C"/>
          </a:solidFill>
          <a:ln w="6350">
            <a:solidFill>
              <a:srgbClr val="2D4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2203704"/>
            <a:ext cx="411480" cy="576072"/>
          </a:xfrm>
          <a:prstGeom prst="roundRect">
            <a:avLst>
              <a:gd name="adj" fmla="val 13333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74320" y="2203704"/>
            <a:ext cx="411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77240" y="2221992"/>
            <a:ext cx="4434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sound events: footstep, jump, background music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4320" y="2871216"/>
            <a:ext cx="5029200" cy="576072"/>
          </a:xfrm>
          <a:prstGeom prst="roundRect">
            <a:avLst>
              <a:gd name="adj" fmla="val 9524"/>
            </a:avLst>
          </a:prstGeom>
          <a:solidFill>
            <a:srgbClr val="142814"/>
          </a:solidFill>
          <a:ln w="6350">
            <a:solidFill>
              <a:srgbClr val="2D4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74320" y="2871216"/>
            <a:ext cx="411480" cy="576072"/>
          </a:xfrm>
          <a:prstGeom prst="roundRect">
            <a:avLst>
              <a:gd name="adj" fmla="val 13333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74320" y="2871216"/>
            <a:ext cx="411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77240" y="2889504"/>
            <a:ext cx="4434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FPS math: Frames ÷ FPS = loop duration (seconds)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274320" y="3538728"/>
            <a:ext cx="5029200" cy="576072"/>
          </a:xfrm>
          <a:prstGeom prst="roundRect">
            <a:avLst>
              <a:gd name="adj" fmla="val 9524"/>
            </a:avLst>
          </a:prstGeom>
          <a:solidFill>
            <a:srgbClr val="1C2E1C"/>
          </a:solidFill>
          <a:ln w="6350">
            <a:solidFill>
              <a:srgbClr val="2D4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74320" y="3538728"/>
            <a:ext cx="411480" cy="576072"/>
          </a:xfrm>
          <a:prstGeom prst="roundRect">
            <a:avLst>
              <a:gd name="adj" fmla="val 13333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3538728"/>
            <a:ext cx="411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77240" y="3557016"/>
            <a:ext cx="4434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Minecraft: 20 ticks/sec — Ticks ÷ 20 = seconds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74320" y="4206240"/>
            <a:ext cx="5029200" cy="576072"/>
          </a:xfrm>
          <a:prstGeom prst="roundRect">
            <a:avLst>
              <a:gd name="adj" fmla="val 9524"/>
            </a:avLst>
          </a:prstGeom>
          <a:solidFill>
            <a:srgbClr val="142814"/>
          </a:solidFill>
          <a:ln w="6350">
            <a:solidFill>
              <a:srgbClr val="2D4A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274320" y="4206240"/>
            <a:ext cx="411480" cy="576072"/>
          </a:xfrm>
          <a:prstGeom prst="roundRect">
            <a:avLst>
              <a:gd name="adj" fmla="val 13333"/>
            </a:avLst>
          </a:prstGeom>
          <a:solidFill>
            <a:srgbClr val="5A9A27"/>
          </a:solidFill>
          <a:ln w="12700">
            <a:solidFill>
              <a:srgbClr val="5A9A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74320" y="4206240"/>
            <a:ext cx="4114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77240" y="4224528"/>
            <a:ext cx="4434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&amp; animation directly shape player emotion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5577840" y="320040"/>
            <a:ext cx="3337560" cy="4572000"/>
          </a:xfrm>
          <a:prstGeom prst="roundRect">
            <a:avLst>
              <a:gd name="adj" fmla="val 3288"/>
            </a:avLst>
          </a:prstGeom>
          <a:solidFill>
            <a:srgbClr val="5A9A27"/>
          </a:solidFill>
          <a:ln w="25400">
            <a:solidFill>
              <a:srgbClr val="2D7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669280" y="144475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Game Feel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669280" y="196596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0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invisible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0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magic that makes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E0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game feel alive.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5669280" y="301752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not one thing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animation +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+ timing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FF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together.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1100</Words>
  <Application>Microsoft Macintosh PowerPoint</Application>
  <PresentationFormat>On-screen Show (16:9)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STEM Through Games - Day 15 - Minecraft Edition</dc:title>
  <dc:subject>PptxGenJS Presentation</dc:subject>
  <dc:creator>PptxGenJS</dc:creator>
  <cp:lastModifiedBy>Babichenko, Dmitriy</cp:lastModifiedBy>
  <cp:revision>8</cp:revision>
  <dcterms:created xsi:type="dcterms:W3CDTF">2026-06-16T21:12:29Z</dcterms:created>
  <dcterms:modified xsi:type="dcterms:W3CDTF">2026-06-30T14:50:59Z</dcterms:modified>
</cp:coreProperties>
</file>