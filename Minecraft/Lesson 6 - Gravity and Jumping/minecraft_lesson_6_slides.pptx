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1" d="100"/>
          <a:sy n="161" d="100"/>
        </p:scale>
        <p:origin x="216"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495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the day's topic. Ask if anyone has played Minecraft and noticed how jumping feels. Explain we'll be exploring the physics behind that today using MakeCode in Minecraft Education.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objective. Emphasize that these are the same physics concepts as in the Godot lesson but explored through the Minecraft context students may already know.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physical ball drop demo. Then connect to Minecraft: students have all jumped off blocks and noticed they speed up as they fall. That's the same constant acceleration we'll model in code today.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difference from Godot: in Minecraft, Y increases upward, so jump force is POSITIVE and gravity is NEGATIVE. The physics and math are identical — only the sign convention differs. Draw both diagrams side by side if students are confused.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code section. Highlight the key difference from Godot: GRAVITY is negative here, JUMP_FORCE is positive. The loops.everyInterval replaces Godot's _physics_process(delta). The physics logic is identical.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conceptual slide. Students coming from Godot may be confused about the sign flip. Draw both diagrams side by side. Emphasize: same real-world physics, same parabola shape, just described with different coordinate conventions.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10 minutes to type and run the code. Circulate the room. Common issue: students forget the negative sign on GRAVITY. Remind them: in our Minecraft simulation, gravity must be negative to pull downward.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the parabola formula. Ask students to calculate: with GRAVITY = -0.6 and JUMP_FORCE = 10, how many ticks until peak? (Answer: when velocityY = 0, so 10 / 0.6 ≈ 17 ticks.) This is the acceleration concept in action.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think about their own Minecraft adventure map concepts. What biome or dimension? What gravity would fit? Connect physics choices to narrative and world-building decisions.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3-4 minutes for the exit ticket, then 3 minutes for class discussion. Collect sticky notes or check journals. The key concepts to verify: gravity changes velocity (not just position), and understanding why the sign differs from Godot.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20"/>
        </a:solidFill>
        <a:effectLst/>
      </p:bgPr>
    </p:bg>
    <p:spTree>
      <p:nvGrpSpPr>
        <p:cNvPr id="1" name=""/>
        <p:cNvGrpSpPr/>
        <p:nvPr/>
      </p:nvGrpSpPr>
      <p:grpSpPr>
        <a:xfrm>
          <a:off x="0" y="0"/>
          <a:ext cx="0" cy="0"/>
          <a:chOff x="0" y="0"/>
          <a:chExt cx="0" cy="0"/>
        </a:xfrm>
      </p:grpSpPr>
      <p:sp>
        <p:nvSpPr>
          <p:cNvPr id="28" name="Text 26"/>
          <p:cNvSpPr/>
          <p:nvPr/>
        </p:nvSpPr>
        <p:spPr>
          <a:xfrm>
            <a:off x="457200" y="902473"/>
            <a:ext cx="8229600" cy="1828800"/>
          </a:xfrm>
          <a:prstGeom prst="rect">
            <a:avLst/>
          </a:prstGeom>
          <a:noFill/>
          <a:ln/>
        </p:spPr>
        <p:txBody>
          <a:bodyPr wrap="square" rtlCol="0" anchor="ctr"/>
          <a:lstStyle/>
          <a:p>
            <a:pPr marL="0" indent="0" algn="ctr">
              <a:buNone/>
            </a:pPr>
            <a:r>
              <a:rPr lang="en-US" sz="6400" b="1" dirty="0">
                <a:solidFill>
                  <a:srgbClr val="FFFFFF"/>
                </a:solidFill>
                <a:latin typeface="Arial" pitchFamily="34" charset="0"/>
                <a:ea typeface="Arial" pitchFamily="34" charset="-122"/>
                <a:cs typeface="Arial" pitchFamily="34" charset="-120"/>
              </a:rPr>
              <a:t>Gravity &amp;</a:t>
            </a:r>
            <a:endParaRPr lang="en-US" sz="6400" dirty="0"/>
          </a:p>
          <a:p>
            <a:pPr marL="0" indent="0" algn="ctr">
              <a:buNone/>
            </a:pPr>
            <a:r>
              <a:rPr lang="en-US" sz="6400" b="1" dirty="0">
                <a:solidFill>
                  <a:srgbClr val="FFFFFF"/>
                </a:solidFill>
                <a:latin typeface="Arial" pitchFamily="34" charset="0"/>
                <a:ea typeface="Arial" pitchFamily="34" charset="-122"/>
                <a:cs typeface="Arial" pitchFamily="34" charset="-120"/>
              </a:rPr>
              <a:t>Jumping</a:t>
            </a:r>
            <a:endParaRPr lang="en-US" sz="6400" dirty="0"/>
          </a:p>
        </p:txBody>
      </p:sp>
      <p:sp>
        <p:nvSpPr>
          <p:cNvPr id="29" name="Text 27"/>
          <p:cNvSpPr/>
          <p:nvPr/>
        </p:nvSpPr>
        <p:spPr>
          <a:xfrm>
            <a:off x="457200" y="2834640"/>
            <a:ext cx="8229600" cy="548640"/>
          </a:xfrm>
          <a:prstGeom prst="rect">
            <a:avLst/>
          </a:prstGeom>
          <a:noFill/>
          <a:ln/>
        </p:spPr>
        <p:txBody>
          <a:bodyPr wrap="square" rtlCol="0" anchor="ctr"/>
          <a:lstStyle/>
          <a:p>
            <a:pPr marL="0" indent="0" algn="ctr">
              <a:buNone/>
            </a:pPr>
            <a:r>
              <a:rPr lang="en-US" sz="2600" dirty="0">
                <a:solidFill>
                  <a:srgbClr val="C8E6C9"/>
                </a:solidFill>
                <a:latin typeface="Arial" pitchFamily="34" charset="0"/>
                <a:ea typeface="Arial" pitchFamily="34" charset="-122"/>
                <a:cs typeface="Arial" pitchFamily="34" charset="-120"/>
              </a:rPr>
              <a:t>Forces in Action</a:t>
            </a:r>
            <a:endParaRPr lang="en-US" sz="2600" dirty="0"/>
          </a:p>
        </p:txBody>
      </p:sp>
      <p:sp>
        <p:nvSpPr>
          <p:cNvPr id="30" name="Text 28"/>
          <p:cNvSpPr/>
          <p:nvPr/>
        </p:nvSpPr>
        <p:spPr>
          <a:xfrm>
            <a:off x="457200" y="3337560"/>
            <a:ext cx="8229600" cy="365760"/>
          </a:xfrm>
          <a:prstGeom prst="rect">
            <a:avLst/>
          </a:prstGeom>
          <a:noFill/>
          <a:ln/>
        </p:spPr>
        <p:txBody>
          <a:bodyPr wrap="square" rtlCol="0" anchor="ctr"/>
          <a:lstStyle/>
          <a:p>
            <a:pPr marL="0" indent="0" algn="ctr">
              <a:buNone/>
            </a:pPr>
            <a:r>
              <a:rPr lang="en-US" sz="1600" i="1" dirty="0">
                <a:solidFill>
                  <a:srgbClr val="A5D6A7"/>
                </a:solidFill>
                <a:latin typeface="Arial" pitchFamily="34" charset="0"/>
                <a:ea typeface="Arial" pitchFamily="34" charset="-122"/>
                <a:cs typeface="Arial" pitchFamily="34" charset="-120"/>
              </a:rPr>
              <a:t>Focus: Gravity as Constant Acceleration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5E20"/>
          </a:solidFill>
          <a:ln w="12700">
            <a:solidFill>
              <a:srgbClr val="000000"/>
            </a:solidFill>
            <a:prstDash val="solid"/>
          </a:ln>
        </p:spPr>
        <p:txBody>
          <a:bodyPr/>
          <a:lstStyle/>
          <a:p>
            <a:endParaRPr lang="en-US"/>
          </a:p>
        </p:txBody>
      </p:sp>
      <p:sp>
        <p:nvSpPr>
          <p:cNvPr id="3" name="Text 1"/>
          <p:cNvSpPr/>
          <p:nvPr/>
        </p:nvSpPr>
        <p:spPr>
          <a:xfrm>
            <a:off x="365760" y="137160"/>
            <a:ext cx="8229600" cy="64008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Learning Objectives</a:t>
            </a:r>
            <a:endParaRPr lang="en-US" sz="3200" dirty="0"/>
          </a:p>
        </p:txBody>
      </p:sp>
      <p:sp>
        <p:nvSpPr>
          <p:cNvPr id="4" name="Shape 2"/>
          <p:cNvSpPr/>
          <p:nvPr/>
        </p:nvSpPr>
        <p:spPr>
          <a:xfrm>
            <a:off x="274320" y="1051560"/>
            <a:ext cx="8595360" cy="658368"/>
          </a:xfrm>
          <a:prstGeom prst="roundRect">
            <a:avLst>
              <a:gd name="adj" fmla="val 8333"/>
            </a:avLst>
          </a:prstGeom>
          <a:solidFill>
            <a:srgbClr val="C8E6C9"/>
          </a:solidFill>
          <a:ln/>
          <a:effectLst>
            <a:outerShdw blurRad="63500" dist="25400" dir="2700000" algn="bl" rotWithShape="0">
              <a:srgbClr val="000000">
                <a:alpha val="12000"/>
              </a:srgbClr>
            </a:outerShdw>
          </a:effectLst>
        </p:spPr>
        <p:txBody>
          <a:bodyPr/>
          <a:lstStyle/>
          <a:p>
            <a:endParaRPr lang="en-US"/>
          </a:p>
        </p:txBody>
      </p:sp>
      <p:sp>
        <p:nvSpPr>
          <p:cNvPr id="6" name="Text 4"/>
          <p:cNvSpPr/>
          <p:nvPr/>
        </p:nvSpPr>
        <p:spPr>
          <a:xfrm>
            <a:off x="1005840" y="1097280"/>
            <a:ext cx="7680960" cy="50292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Observe gravity as constant downward acceleration in a Minecraft Education world</a:t>
            </a:r>
            <a:endParaRPr lang="en-US" sz="1500" dirty="0"/>
          </a:p>
        </p:txBody>
      </p:sp>
      <p:sp>
        <p:nvSpPr>
          <p:cNvPr id="7" name="Shape 5"/>
          <p:cNvSpPr/>
          <p:nvPr/>
        </p:nvSpPr>
        <p:spPr>
          <a:xfrm>
            <a:off x="274320" y="1810512"/>
            <a:ext cx="8595360" cy="658368"/>
          </a:xfrm>
          <a:prstGeom prst="roundRect">
            <a:avLst>
              <a:gd name="adj" fmla="val 8333"/>
            </a:avLst>
          </a:prstGeom>
          <a:solidFill>
            <a:srgbClr val="FFFFFF"/>
          </a:solidFill>
          <a:ln/>
          <a:effectLst>
            <a:outerShdw blurRad="63500" dist="25400" dir="2700000" algn="bl" rotWithShape="0">
              <a:srgbClr val="000000">
                <a:alpha val="12000"/>
              </a:srgbClr>
            </a:outerShdw>
          </a:effectLst>
        </p:spPr>
        <p:txBody>
          <a:bodyPr/>
          <a:lstStyle/>
          <a:p>
            <a:endParaRPr lang="en-US"/>
          </a:p>
        </p:txBody>
      </p:sp>
      <p:sp>
        <p:nvSpPr>
          <p:cNvPr id="9" name="Text 7"/>
          <p:cNvSpPr/>
          <p:nvPr/>
        </p:nvSpPr>
        <p:spPr>
          <a:xfrm>
            <a:off x="1005840" y="1856232"/>
            <a:ext cx="7680960" cy="50292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Understand that jumping applies an upward force that gravity continuously counteracts each tick</a:t>
            </a:r>
            <a:endParaRPr lang="en-US" sz="1500" dirty="0"/>
          </a:p>
        </p:txBody>
      </p:sp>
      <p:sp>
        <p:nvSpPr>
          <p:cNvPr id="10" name="Shape 8"/>
          <p:cNvSpPr/>
          <p:nvPr/>
        </p:nvSpPr>
        <p:spPr>
          <a:xfrm>
            <a:off x="274320" y="2569464"/>
            <a:ext cx="8595360" cy="658368"/>
          </a:xfrm>
          <a:prstGeom prst="roundRect">
            <a:avLst>
              <a:gd name="adj" fmla="val 8333"/>
            </a:avLst>
          </a:prstGeom>
          <a:solidFill>
            <a:srgbClr val="C8E6C9"/>
          </a:solidFill>
          <a:ln/>
          <a:effectLst>
            <a:outerShdw blurRad="63500" dist="25400" dir="2700000" algn="bl" rotWithShape="0">
              <a:srgbClr val="000000">
                <a:alpha val="12000"/>
              </a:srgbClr>
            </a:outerShdw>
          </a:effectLst>
        </p:spPr>
        <p:txBody>
          <a:bodyPr/>
          <a:lstStyle/>
          <a:p>
            <a:endParaRPr lang="en-US"/>
          </a:p>
        </p:txBody>
      </p:sp>
      <p:sp>
        <p:nvSpPr>
          <p:cNvPr id="12" name="Text 10"/>
          <p:cNvSpPr/>
          <p:nvPr/>
        </p:nvSpPr>
        <p:spPr>
          <a:xfrm>
            <a:off x="1005840" y="2615184"/>
            <a:ext cx="7680960" cy="50292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Relate the player's jump arc to the mathematical concept of a parabola</a:t>
            </a:r>
            <a:endParaRPr lang="en-US" sz="1500" dirty="0"/>
          </a:p>
        </p:txBody>
      </p:sp>
      <p:sp>
        <p:nvSpPr>
          <p:cNvPr id="13" name="Shape 11"/>
          <p:cNvSpPr/>
          <p:nvPr/>
        </p:nvSpPr>
        <p:spPr>
          <a:xfrm>
            <a:off x="274320" y="3328416"/>
            <a:ext cx="8595360" cy="658368"/>
          </a:xfrm>
          <a:prstGeom prst="roundRect">
            <a:avLst>
              <a:gd name="adj" fmla="val 8333"/>
            </a:avLst>
          </a:prstGeom>
          <a:solidFill>
            <a:srgbClr val="FFFFFF"/>
          </a:solidFill>
          <a:ln/>
          <a:effectLst>
            <a:outerShdw blurRad="63500" dist="25400" dir="2700000" algn="bl" rotWithShape="0">
              <a:srgbClr val="000000">
                <a:alpha val="12000"/>
              </a:srgbClr>
            </a:outerShdw>
          </a:effectLst>
        </p:spPr>
        <p:txBody>
          <a:bodyPr/>
          <a:lstStyle/>
          <a:p>
            <a:endParaRPr lang="en-US"/>
          </a:p>
        </p:txBody>
      </p:sp>
      <p:sp>
        <p:nvSpPr>
          <p:cNvPr id="15" name="Text 13"/>
          <p:cNvSpPr/>
          <p:nvPr/>
        </p:nvSpPr>
        <p:spPr>
          <a:xfrm>
            <a:off x="1005840" y="3374136"/>
            <a:ext cx="7680960" cy="50292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Use MakeCode to simulate and modify gravity and jump force in a custom agent behavior</a:t>
            </a:r>
            <a:endParaRPr lang="en-US" sz="1500" dirty="0"/>
          </a:p>
        </p:txBody>
      </p:sp>
      <p:sp>
        <p:nvSpPr>
          <p:cNvPr id="16" name="Shape 14"/>
          <p:cNvSpPr/>
          <p:nvPr/>
        </p:nvSpPr>
        <p:spPr>
          <a:xfrm>
            <a:off x="274320" y="4087368"/>
            <a:ext cx="8595360" cy="658368"/>
          </a:xfrm>
          <a:prstGeom prst="roundRect">
            <a:avLst>
              <a:gd name="adj" fmla="val 8333"/>
            </a:avLst>
          </a:prstGeom>
          <a:solidFill>
            <a:srgbClr val="C8E6C9"/>
          </a:solidFill>
          <a:ln/>
          <a:effectLst>
            <a:outerShdw blurRad="63500" dist="25400" dir="2700000" algn="bl" rotWithShape="0">
              <a:srgbClr val="000000">
                <a:alpha val="12000"/>
              </a:srgbClr>
            </a:outerShdw>
          </a:effectLst>
        </p:spPr>
        <p:txBody>
          <a:bodyPr/>
          <a:lstStyle/>
          <a:p>
            <a:endParaRPr lang="en-US"/>
          </a:p>
        </p:txBody>
      </p:sp>
      <p:sp>
        <p:nvSpPr>
          <p:cNvPr id="18" name="Text 16"/>
          <p:cNvSpPr/>
          <p:nvPr/>
        </p:nvSpPr>
        <p:spPr>
          <a:xfrm>
            <a:off x="1005840" y="4133088"/>
            <a:ext cx="7680960" cy="50292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Experiment with gravity and jump values to tune game feel in their own Minecraft world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558B2F"/>
          </a:solidFill>
          <a:ln w="12700">
            <a:solidFill>
              <a:srgbClr val="000000"/>
            </a:solidFill>
            <a:prstDash val="solid"/>
          </a:ln>
        </p:spPr>
        <p:txBody>
          <a:bodyPr/>
          <a:lstStyle/>
          <a:p>
            <a:endParaRPr lang="en-US"/>
          </a:p>
        </p:txBody>
      </p:sp>
      <p:sp>
        <p:nvSpPr>
          <p:cNvPr id="3" name="Text 1"/>
          <p:cNvSpPr/>
          <p:nvPr/>
        </p:nvSpPr>
        <p:spPr>
          <a:xfrm>
            <a:off x="365760" y="137160"/>
            <a:ext cx="8229600" cy="64008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Warm-Up  (10 min)  ·  Drop the Ball</a:t>
            </a:r>
            <a:endParaRPr lang="en-US" sz="2800" dirty="0"/>
          </a:p>
        </p:txBody>
      </p:sp>
      <p:sp>
        <p:nvSpPr>
          <p:cNvPr id="4" name="Shape 2"/>
          <p:cNvSpPr/>
          <p:nvPr/>
        </p:nvSpPr>
        <p:spPr>
          <a:xfrm>
            <a:off x="274320" y="1005840"/>
            <a:ext cx="8595360" cy="502920"/>
          </a:xfrm>
          <a:prstGeom prst="roundRect">
            <a:avLst>
              <a:gd name="adj" fmla="val 10909"/>
            </a:avLst>
          </a:prstGeom>
          <a:solidFill>
            <a:srgbClr val="C8E6C9"/>
          </a:solidFill>
          <a:ln/>
        </p:spPr>
        <p:txBody>
          <a:bodyPr/>
          <a:lstStyle/>
          <a:p>
            <a:endParaRPr lang="en-US"/>
          </a:p>
        </p:txBody>
      </p:sp>
      <p:sp>
        <p:nvSpPr>
          <p:cNvPr id="5" name="Text 3"/>
          <p:cNvSpPr/>
          <p:nvPr/>
        </p:nvSpPr>
        <p:spPr>
          <a:xfrm>
            <a:off x="411480" y="1024128"/>
            <a:ext cx="8321040" cy="438912"/>
          </a:xfrm>
          <a:prstGeom prst="rect">
            <a:avLst/>
          </a:prstGeom>
          <a:noFill/>
          <a:ln/>
        </p:spPr>
        <p:txBody>
          <a:bodyPr wrap="square" rtlCol="0" anchor="ctr"/>
          <a:lstStyle/>
          <a:p>
            <a:pPr marL="0" indent="0">
              <a:buNone/>
            </a:pPr>
            <a:r>
              <a:rPr lang="en-US" sz="1300" i="1" dirty="0">
                <a:solidFill>
                  <a:srgbClr val="1B5E20"/>
                </a:solidFill>
                <a:latin typeface="Arial" pitchFamily="34" charset="0"/>
                <a:ea typeface="Arial" pitchFamily="34" charset="-122"/>
                <a:cs typeface="Arial" pitchFamily="34" charset="-120"/>
              </a:rPr>
              <a:t>TEACHER: Drop a rubber ball from different heights — let students observe what happens</a:t>
            </a:r>
            <a:endParaRPr lang="en-US" sz="1300" dirty="0"/>
          </a:p>
        </p:txBody>
      </p:sp>
      <p:sp>
        <p:nvSpPr>
          <p:cNvPr id="6" name="Shape 4"/>
          <p:cNvSpPr/>
          <p:nvPr/>
        </p:nvSpPr>
        <p:spPr>
          <a:xfrm>
            <a:off x="274320" y="1645920"/>
            <a:ext cx="4160520" cy="1234440"/>
          </a:xfrm>
          <a:prstGeom prst="roundRect">
            <a:avLst>
              <a:gd name="adj" fmla="val 5926"/>
            </a:avLst>
          </a:prstGeom>
          <a:solidFill>
            <a:srgbClr val="FFFFFF"/>
          </a:solidFill>
          <a:ln/>
          <a:effectLst>
            <a:outerShdw blurRad="63500" dist="25400" dir="2700000" algn="bl" rotWithShape="0">
              <a:srgbClr val="000000">
                <a:alpha val="12000"/>
              </a:srgbClr>
            </a:outerShdw>
          </a:effectLst>
        </p:spPr>
        <p:txBody>
          <a:bodyPr/>
          <a:lstStyle/>
          <a:p>
            <a:endParaRPr lang="en-US"/>
          </a:p>
        </p:txBody>
      </p:sp>
      <p:sp>
        <p:nvSpPr>
          <p:cNvPr id="7" name="Shape 5"/>
          <p:cNvSpPr/>
          <p:nvPr/>
        </p:nvSpPr>
        <p:spPr>
          <a:xfrm>
            <a:off x="365760" y="1719072"/>
            <a:ext cx="594360" cy="502920"/>
          </a:xfrm>
          <a:prstGeom prst="roundRect">
            <a:avLst>
              <a:gd name="adj" fmla="val 10909"/>
            </a:avLst>
          </a:prstGeom>
          <a:solidFill>
            <a:srgbClr val="1B5E20"/>
          </a:solidFill>
          <a:ln/>
        </p:spPr>
        <p:txBody>
          <a:bodyPr/>
          <a:lstStyle/>
          <a:p>
            <a:endParaRPr lang="en-US"/>
          </a:p>
        </p:txBody>
      </p:sp>
      <p:sp>
        <p:nvSpPr>
          <p:cNvPr id="8" name="Text 6"/>
          <p:cNvSpPr/>
          <p:nvPr/>
        </p:nvSpPr>
        <p:spPr>
          <a:xfrm>
            <a:off x="365760" y="1719072"/>
            <a:ext cx="59436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Q1</a:t>
            </a:r>
            <a:endParaRPr lang="en-US" sz="1400" dirty="0"/>
          </a:p>
        </p:txBody>
      </p:sp>
      <p:sp>
        <p:nvSpPr>
          <p:cNvPr id="9" name="Text 7"/>
          <p:cNvSpPr/>
          <p:nvPr/>
        </p:nvSpPr>
        <p:spPr>
          <a:xfrm>
            <a:off x="1051560" y="1719072"/>
            <a:ext cx="3273552" cy="1051560"/>
          </a:xfrm>
          <a:prstGeom prst="rect">
            <a:avLst/>
          </a:prstGeom>
          <a:noFill/>
          <a:ln/>
        </p:spPr>
        <p:txBody>
          <a:bodyPr wrap="square" rtlCol="0" anchor="ctr"/>
          <a:lstStyle/>
          <a:p>
            <a:pPr marL="0" indent="0">
              <a:buNone/>
            </a:pPr>
            <a:r>
              <a:rPr lang="en-US" sz="1300" dirty="0">
                <a:solidFill>
                  <a:srgbClr val="1A1A1A"/>
                </a:solidFill>
                <a:latin typeface="Arial" pitchFamily="34" charset="0"/>
                <a:ea typeface="Arial" pitchFamily="34" charset="-122"/>
                <a:cs typeface="Arial" pitchFamily="34" charset="-120"/>
              </a:rPr>
              <a:t>Why does the ball always fall down?</a:t>
            </a:r>
            <a:endParaRPr lang="en-US" sz="1300" dirty="0"/>
          </a:p>
          <a:p>
            <a:pPr marL="0" indent="0">
              <a:buNone/>
            </a:pPr>
            <a:r>
              <a:rPr lang="en-US" sz="1300" dirty="0">
                <a:solidFill>
                  <a:srgbClr val="1A1A1A"/>
                </a:solidFill>
                <a:latin typeface="Arial" pitchFamily="34" charset="0"/>
                <a:ea typeface="Arial" pitchFamily="34" charset="-122"/>
                <a:cs typeface="Arial" pitchFamily="34" charset="-120"/>
              </a:rPr>
              <a:t>What force is acting on it?</a:t>
            </a:r>
            <a:endParaRPr lang="en-US" sz="1300" dirty="0"/>
          </a:p>
        </p:txBody>
      </p:sp>
      <p:sp>
        <p:nvSpPr>
          <p:cNvPr id="10" name="Shape 8"/>
          <p:cNvSpPr/>
          <p:nvPr/>
        </p:nvSpPr>
        <p:spPr>
          <a:xfrm>
            <a:off x="4709160" y="1645920"/>
            <a:ext cx="4160520" cy="1234440"/>
          </a:xfrm>
          <a:prstGeom prst="roundRect">
            <a:avLst>
              <a:gd name="adj" fmla="val 5926"/>
            </a:avLst>
          </a:prstGeom>
          <a:solidFill>
            <a:srgbClr val="FFFFFF"/>
          </a:solidFill>
          <a:ln/>
          <a:effectLst>
            <a:outerShdw blurRad="63500" dist="25400" dir="2700000" algn="bl" rotWithShape="0">
              <a:srgbClr val="000000">
                <a:alpha val="12000"/>
              </a:srgbClr>
            </a:outerShdw>
          </a:effectLst>
        </p:spPr>
        <p:txBody>
          <a:bodyPr/>
          <a:lstStyle/>
          <a:p>
            <a:endParaRPr lang="en-US"/>
          </a:p>
        </p:txBody>
      </p:sp>
      <p:sp>
        <p:nvSpPr>
          <p:cNvPr id="11" name="Shape 9"/>
          <p:cNvSpPr/>
          <p:nvPr/>
        </p:nvSpPr>
        <p:spPr>
          <a:xfrm>
            <a:off x="4800600" y="1719072"/>
            <a:ext cx="594360" cy="502920"/>
          </a:xfrm>
          <a:prstGeom prst="roundRect">
            <a:avLst>
              <a:gd name="adj" fmla="val 10909"/>
            </a:avLst>
          </a:prstGeom>
          <a:solidFill>
            <a:srgbClr val="1B5E20"/>
          </a:solidFill>
          <a:ln/>
        </p:spPr>
        <p:txBody>
          <a:bodyPr/>
          <a:lstStyle/>
          <a:p>
            <a:endParaRPr lang="en-US"/>
          </a:p>
        </p:txBody>
      </p:sp>
      <p:sp>
        <p:nvSpPr>
          <p:cNvPr id="12" name="Text 10"/>
          <p:cNvSpPr/>
          <p:nvPr/>
        </p:nvSpPr>
        <p:spPr>
          <a:xfrm>
            <a:off x="4800600" y="1719072"/>
            <a:ext cx="59436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Q2</a:t>
            </a:r>
            <a:endParaRPr lang="en-US" sz="1400" dirty="0"/>
          </a:p>
        </p:txBody>
      </p:sp>
      <p:sp>
        <p:nvSpPr>
          <p:cNvPr id="13" name="Text 11"/>
          <p:cNvSpPr/>
          <p:nvPr/>
        </p:nvSpPr>
        <p:spPr>
          <a:xfrm>
            <a:off x="5486400" y="1719072"/>
            <a:ext cx="3273552" cy="1051560"/>
          </a:xfrm>
          <a:prstGeom prst="rect">
            <a:avLst/>
          </a:prstGeom>
          <a:noFill/>
          <a:ln/>
        </p:spPr>
        <p:txBody>
          <a:bodyPr wrap="square" rtlCol="0" anchor="ctr"/>
          <a:lstStyle/>
          <a:p>
            <a:pPr marL="0" indent="0">
              <a:buNone/>
            </a:pPr>
            <a:r>
              <a:rPr lang="en-US" sz="1300" dirty="0">
                <a:solidFill>
                  <a:srgbClr val="1A1A1A"/>
                </a:solidFill>
                <a:latin typeface="Arial" pitchFamily="34" charset="0"/>
                <a:ea typeface="Arial" pitchFamily="34" charset="-122"/>
                <a:cs typeface="Arial" pitchFamily="34" charset="-120"/>
              </a:rPr>
              <a:t>What happens to speed as it falls?</a:t>
            </a:r>
            <a:endParaRPr lang="en-US" sz="1300" dirty="0"/>
          </a:p>
          <a:p>
            <a:pPr marL="0" indent="0">
              <a:buNone/>
            </a:pPr>
            <a:r>
              <a:rPr lang="en-US" sz="1300" dirty="0">
                <a:solidFill>
                  <a:srgbClr val="1A1A1A"/>
                </a:solidFill>
                <a:latin typeface="Arial" pitchFamily="34" charset="0"/>
                <a:ea typeface="Arial" pitchFamily="34" charset="-122"/>
                <a:cs typeface="Arial" pitchFamily="34" charset="-120"/>
              </a:rPr>
              <a:t>Is it constant or changing over time?</a:t>
            </a:r>
            <a:endParaRPr lang="en-US" sz="1300" dirty="0"/>
          </a:p>
        </p:txBody>
      </p:sp>
      <p:sp>
        <p:nvSpPr>
          <p:cNvPr id="14" name="Shape 12"/>
          <p:cNvSpPr/>
          <p:nvPr/>
        </p:nvSpPr>
        <p:spPr>
          <a:xfrm>
            <a:off x="274320" y="3017520"/>
            <a:ext cx="4160520" cy="1234440"/>
          </a:xfrm>
          <a:prstGeom prst="roundRect">
            <a:avLst>
              <a:gd name="adj" fmla="val 5926"/>
            </a:avLst>
          </a:prstGeom>
          <a:solidFill>
            <a:srgbClr val="FFFFFF"/>
          </a:solidFill>
          <a:ln/>
          <a:effectLst>
            <a:outerShdw blurRad="63500" dist="25400" dir="2700000" algn="bl" rotWithShape="0">
              <a:srgbClr val="000000">
                <a:alpha val="12000"/>
              </a:srgbClr>
            </a:outerShdw>
          </a:effectLst>
        </p:spPr>
        <p:txBody>
          <a:bodyPr/>
          <a:lstStyle/>
          <a:p>
            <a:endParaRPr lang="en-US"/>
          </a:p>
        </p:txBody>
      </p:sp>
      <p:sp>
        <p:nvSpPr>
          <p:cNvPr id="15" name="Shape 13"/>
          <p:cNvSpPr/>
          <p:nvPr/>
        </p:nvSpPr>
        <p:spPr>
          <a:xfrm>
            <a:off x="365760" y="3090672"/>
            <a:ext cx="594360" cy="502920"/>
          </a:xfrm>
          <a:prstGeom prst="roundRect">
            <a:avLst>
              <a:gd name="adj" fmla="val 10909"/>
            </a:avLst>
          </a:prstGeom>
          <a:solidFill>
            <a:srgbClr val="1B5E20"/>
          </a:solidFill>
          <a:ln/>
        </p:spPr>
        <p:txBody>
          <a:bodyPr/>
          <a:lstStyle/>
          <a:p>
            <a:endParaRPr lang="en-US"/>
          </a:p>
        </p:txBody>
      </p:sp>
      <p:sp>
        <p:nvSpPr>
          <p:cNvPr id="16" name="Text 14"/>
          <p:cNvSpPr/>
          <p:nvPr/>
        </p:nvSpPr>
        <p:spPr>
          <a:xfrm>
            <a:off x="365760" y="3090672"/>
            <a:ext cx="59436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Q3</a:t>
            </a:r>
            <a:endParaRPr lang="en-US" sz="1400" dirty="0"/>
          </a:p>
        </p:txBody>
      </p:sp>
      <p:sp>
        <p:nvSpPr>
          <p:cNvPr id="17" name="Text 15"/>
          <p:cNvSpPr/>
          <p:nvPr/>
        </p:nvSpPr>
        <p:spPr>
          <a:xfrm>
            <a:off x="1051560" y="3090672"/>
            <a:ext cx="3273552" cy="1051560"/>
          </a:xfrm>
          <a:prstGeom prst="rect">
            <a:avLst/>
          </a:prstGeom>
          <a:noFill/>
          <a:ln/>
        </p:spPr>
        <p:txBody>
          <a:bodyPr wrap="square" rtlCol="0" anchor="ctr"/>
          <a:lstStyle/>
          <a:p>
            <a:pPr marL="0" indent="0">
              <a:buNone/>
            </a:pPr>
            <a:r>
              <a:rPr lang="en-US" sz="1300" dirty="0">
                <a:solidFill>
                  <a:srgbClr val="1A1A1A"/>
                </a:solidFill>
                <a:latin typeface="Arial" pitchFamily="34" charset="0"/>
                <a:ea typeface="Arial" pitchFamily="34" charset="-122"/>
                <a:cs typeface="Arial" pitchFamily="34" charset="-120"/>
              </a:rPr>
              <a:t>If dropped from twice as high…</a:t>
            </a:r>
            <a:endParaRPr lang="en-US" sz="1300" dirty="0"/>
          </a:p>
          <a:p>
            <a:pPr marL="0" indent="0">
              <a:buNone/>
            </a:pPr>
            <a:r>
              <a:rPr lang="en-US" sz="1300" dirty="0">
                <a:solidFill>
                  <a:srgbClr val="1A1A1A"/>
                </a:solidFill>
                <a:latin typeface="Arial" pitchFamily="34" charset="0"/>
                <a:ea typeface="Arial" pitchFamily="34" charset="-122"/>
                <a:cs typeface="Arial" pitchFamily="34" charset="-120"/>
              </a:rPr>
              <a:t>How would it be different when it lands?</a:t>
            </a:r>
            <a:endParaRPr lang="en-US" sz="1300" dirty="0"/>
          </a:p>
        </p:txBody>
      </p:sp>
      <p:sp>
        <p:nvSpPr>
          <p:cNvPr id="18" name="Shape 16"/>
          <p:cNvSpPr/>
          <p:nvPr/>
        </p:nvSpPr>
        <p:spPr>
          <a:xfrm>
            <a:off x="4709160" y="3017520"/>
            <a:ext cx="4160520" cy="1234440"/>
          </a:xfrm>
          <a:prstGeom prst="roundRect">
            <a:avLst>
              <a:gd name="adj" fmla="val 5926"/>
            </a:avLst>
          </a:prstGeom>
          <a:solidFill>
            <a:srgbClr val="FFFFFF"/>
          </a:solidFill>
          <a:ln/>
          <a:effectLst>
            <a:outerShdw blurRad="63500" dist="25400" dir="2700000" algn="bl" rotWithShape="0">
              <a:srgbClr val="000000">
                <a:alpha val="12000"/>
              </a:srgbClr>
            </a:outerShdw>
          </a:effectLst>
        </p:spPr>
        <p:txBody>
          <a:bodyPr/>
          <a:lstStyle/>
          <a:p>
            <a:endParaRPr lang="en-US"/>
          </a:p>
        </p:txBody>
      </p:sp>
      <p:sp>
        <p:nvSpPr>
          <p:cNvPr id="19" name="Shape 17"/>
          <p:cNvSpPr/>
          <p:nvPr/>
        </p:nvSpPr>
        <p:spPr>
          <a:xfrm>
            <a:off x="4800600" y="3090672"/>
            <a:ext cx="594360" cy="502920"/>
          </a:xfrm>
          <a:prstGeom prst="roundRect">
            <a:avLst>
              <a:gd name="adj" fmla="val 10909"/>
            </a:avLst>
          </a:prstGeom>
          <a:solidFill>
            <a:srgbClr val="1B5E20"/>
          </a:solidFill>
          <a:ln/>
        </p:spPr>
        <p:txBody>
          <a:bodyPr/>
          <a:lstStyle/>
          <a:p>
            <a:endParaRPr lang="en-US"/>
          </a:p>
        </p:txBody>
      </p:sp>
      <p:sp>
        <p:nvSpPr>
          <p:cNvPr id="20" name="Text 18"/>
          <p:cNvSpPr/>
          <p:nvPr/>
        </p:nvSpPr>
        <p:spPr>
          <a:xfrm>
            <a:off x="4800600" y="3090672"/>
            <a:ext cx="59436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Q4</a:t>
            </a:r>
            <a:endParaRPr lang="en-US" sz="1400" dirty="0"/>
          </a:p>
        </p:txBody>
      </p:sp>
      <p:sp>
        <p:nvSpPr>
          <p:cNvPr id="21" name="Text 19"/>
          <p:cNvSpPr/>
          <p:nvPr/>
        </p:nvSpPr>
        <p:spPr>
          <a:xfrm>
            <a:off x="5486400" y="3090672"/>
            <a:ext cx="3273552" cy="1051560"/>
          </a:xfrm>
          <a:prstGeom prst="rect">
            <a:avLst/>
          </a:prstGeom>
          <a:noFill/>
          <a:ln/>
        </p:spPr>
        <p:txBody>
          <a:bodyPr wrap="square" rtlCol="0" anchor="ctr"/>
          <a:lstStyle/>
          <a:p>
            <a:pPr marL="0" indent="0">
              <a:buNone/>
            </a:pPr>
            <a:r>
              <a:rPr lang="en-US" sz="1300" dirty="0">
                <a:solidFill>
                  <a:srgbClr val="1A1A1A"/>
                </a:solidFill>
                <a:latin typeface="Arial" pitchFamily="34" charset="0"/>
                <a:ea typeface="Arial" pitchFamily="34" charset="-122"/>
                <a:cs typeface="Arial" pitchFamily="34" charset="-120"/>
              </a:rPr>
              <a:t>In Minecraft, when you jump off a cliff—</a:t>
            </a:r>
            <a:endParaRPr lang="en-US" sz="1300" dirty="0"/>
          </a:p>
          <a:p>
            <a:pPr marL="0" indent="0">
              <a:buNone/>
            </a:pPr>
            <a:r>
              <a:rPr lang="en-US" sz="1300" dirty="0">
                <a:solidFill>
                  <a:srgbClr val="1A1A1A"/>
                </a:solidFill>
                <a:latin typeface="Arial" pitchFamily="34" charset="0"/>
                <a:ea typeface="Arial" pitchFamily="34" charset="-122"/>
                <a:cs typeface="Arial" pitchFamily="34" charset="-120"/>
              </a:rPr>
              <a:t>what do you notice about how you fall?</a:t>
            </a:r>
            <a:endParaRPr lang="en-US" sz="1300" dirty="0"/>
          </a:p>
        </p:txBody>
      </p:sp>
      <p:sp>
        <p:nvSpPr>
          <p:cNvPr id="22" name="Shape 20"/>
          <p:cNvSpPr/>
          <p:nvPr/>
        </p:nvSpPr>
        <p:spPr>
          <a:xfrm>
            <a:off x="274320" y="4315968"/>
            <a:ext cx="8595360" cy="594360"/>
          </a:xfrm>
          <a:prstGeom prst="roundRect">
            <a:avLst>
              <a:gd name="adj" fmla="val 9231"/>
            </a:avLst>
          </a:prstGeom>
          <a:solidFill>
            <a:srgbClr val="1B5E20"/>
          </a:solidFill>
          <a:ln/>
        </p:spPr>
        <p:txBody>
          <a:bodyPr/>
          <a:lstStyle/>
          <a:p>
            <a:endParaRPr lang="en-US"/>
          </a:p>
        </p:txBody>
      </p:sp>
      <p:sp>
        <p:nvSpPr>
          <p:cNvPr id="23" name="Text 21"/>
          <p:cNvSpPr/>
          <p:nvPr/>
        </p:nvSpPr>
        <p:spPr>
          <a:xfrm>
            <a:off x="411480" y="4343400"/>
            <a:ext cx="8321040" cy="5029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Key Takeaway: Gravity doesn't just move objects — it continuously accelerates them downward. Minecraft follows this exact real-world rule!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5E20"/>
          </a:solidFill>
          <a:ln w="12700">
            <a:solidFill>
              <a:srgbClr val="000000"/>
            </a:solidFill>
            <a:prstDash val="solid"/>
          </a:ln>
        </p:spPr>
        <p:txBody>
          <a:bodyPr/>
          <a:lstStyle/>
          <a:p>
            <a:endParaRPr lang="en-US"/>
          </a:p>
        </p:txBody>
      </p:sp>
      <p:sp>
        <p:nvSpPr>
          <p:cNvPr id="3" name="Text 1"/>
          <p:cNvSpPr/>
          <p:nvPr/>
        </p:nvSpPr>
        <p:spPr>
          <a:xfrm>
            <a:off x="365760" y="137160"/>
            <a:ext cx="8229600" cy="64008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Phase 1: Physics Concepts in Minecraft</a:t>
            </a:r>
            <a:endParaRPr lang="en-US" sz="2800" dirty="0"/>
          </a:p>
        </p:txBody>
      </p:sp>
      <p:sp>
        <p:nvSpPr>
          <p:cNvPr id="4" name="Shape 2"/>
          <p:cNvSpPr/>
          <p:nvPr/>
        </p:nvSpPr>
        <p:spPr>
          <a:xfrm>
            <a:off x="274320" y="1005840"/>
            <a:ext cx="3840480" cy="3749040"/>
          </a:xfrm>
          <a:prstGeom prst="roundRect">
            <a:avLst>
              <a:gd name="adj" fmla="val 2439"/>
            </a:avLst>
          </a:prstGeom>
          <a:solidFill>
            <a:srgbClr val="C8E6C9"/>
          </a:solidFill>
          <a:ln/>
          <a:effectLst>
            <a:outerShdw blurRad="63500" dist="25400" dir="2700000" algn="bl" rotWithShape="0">
              <a:srgbClr val="000000">
                <a:alpha val="12000"/>
              </a:srgbClr>
            </a:outerShdw>
          </a:effectLst>
        </p:spPr>
        <p:txBody>
          <a:bodyPr/>
          <a:lstStyle/>
          <a:p>
            <a:endParaRPr lang="en-US"/>
          </a:p>
        </p:txBody>
      </p:sp>
      <p:sp>
        <p:nvSpPr>
          <p:cNvPr id="5" name="Text 3"/>
          <p:cNvSpPr/>
          <p:nvPr/>
        </p:nvSpPr>
        <p:spPr>
          <a:xfrm>
            <a:off x="411480" y="1078992"/>
            <a:ext cx="3566160" cy="347472"/>
          </a:xfrm>
          <a:prstGeom prst="rect">
            <a:avLst/>
          </a:prstGeom>
          <a:noFill/>
          <a:ln/>
        </p:spPr>
        <p:txBody>
          <a:bodyPr wrap="square" rtlCol="0" anchor="ctr"/>
          <a:lstStyle/>
          <a:p>
            <a:pPr marL="0" indent="0" algn="ctr">
              <a:buNone/>
            </a:pPr>
            <a:r>
              <a:rPr lang="en-US" sz="1300" b="1" dirty="0">
                <a:solidFill>
                  <a:srgbClr val="1B5E20"/>
                </a:solidFill>
                <a:latin typeface="Arial" pitchFamily="34" charset="0"/>
                <a:ea typeface="Arial" pitchFamily="34" charset="-122"/>
                <a:cs typeface="Arial" pitchFamily="34" charset="-120"/>
              </a:rPr>
              <a:t>MINECRAFT WORLD</a:t>
            </a:r>
            <a:endParaRPr lang="en-US" sz="1300" dirty="0"/>
          </a:p>
        </p:txBody>
      </p:sp>
      <p:sp>
        <p:nvSpPr>
          <p:cNvPr id="6" name="Text 4"/>
          <p:cNvSpPr/>
          <p:nvPr/>
        </p:nvSpPr>
        <p:spPr>
          <a:xfrm>
            <a:off x="411480" y="1444752"/>
            <a:ext cx="3566160" cy="365760"/>
          </a:xfrm>
          <a:prstGeom prst="rect">
            <a:avLst/>
          </a:prstGeom>
          <a:noFill/>
          <a:ln/>
        </p:spPr>
        <p:txBody>
          <a:bodyPr wrap="square" rtlCol="0" anchor="ctr"/>
          <a:lstStyle/>
          <a:p>
            <a:pPr marL="0" indent="0" algn="ctr">
              <a:buNone/>
            </a:pPr>
            <a:r>
              <a:rPr lang="en-US" sz="1800" b="1" dirty="0">
                <a:solidFill>
                  <a:srgbClr val="2E7D32"/>
                </a:solidFill>
                <a:latin typeface="Arial" pitchFamily="34" charset="0"/>
                <a:ea typeface="Arial" pitchFamily="34" charset="-122"/>
                <a:cs typeface="Arial" pitchFamily="34" charset="-120"/>
              </a:rPr>
              <a:t>Y+ = UP  ↑</a:t>
            </a:r>
            <a:endParaRPr lang="en-US" sz="1800" dirty="0"/>
          </a:p>
        </p:txBody>
      </p:sp>
      <p:sp>
        <p:nvSpPr>
          <p:cNvPr id="7" name="Shape 5"/>
          <p:cNvSpPr/>
          <p:nvPr/>
        </p:nvSpPr>
        <p:spPr>
          <a:xfrm>
            <a:off x="2194560" y="1920240"/>
            <a:ext cx="0" cy="1463040"/>
          </a:xfrm>
          <a:prstGeom prst="line">
            <a:avLst/>
          </a:prstGeom>
          <a:noFill/>
          <a:ln w="25400">
            <a:solidFill>
              <a:srgbClr val="2E7D32"/>
            </a:solidFill>
            <a:prstDash val="solid"/>
          </a:ln>
        </p:spPr>
        <p:txBody>
          <a:bodyPr/>
          <a:lstStyle/>
          <a:p>
            <a:endParaRPr lang="en-US"/>
          </a:p>
        </p:txBody>
      </p:sp>
      <p:sp>
        <p:nvSpPr>
          <p:cNvPr id="8" name="Shape 6"/>
          <p:cNvSpPr/>
          <p:nvPr/>
        </p:nvSpPr>
        <p:spPr>
          <a:xfrm>
            <a:off x="1371600" y="3383280"/>
            <a:ext cx="1645920" cy="0"/>
          </a:xfrm>
          <a:prstGeom prst="line">
            <a:avLst/>
          </a:prstGeom>
          <a:noFill/>
          <a:ln w="25400">
            <a:solidFill>
              <a:srgbClr val="5D4037"/>
            </a:solidFill>
            <a:prstDash val="solid"/>
          </a:ln>
        </p:spPr>
        <p:txBody>
          <a:bodyPr/>
          <a:lstStyle/>
          <a:p>
            <a:endParaRPr lang="en-US"/>
          </a:p>
        </p:txBody>
      </p:sp>
      <p:sp>
        <p:nvSpPr>
          <p:cNvPr id="9" name="Text 7"/>
          <p:cNvSpPr/>
          <p:nvPr/>
        </p:nvSpPr>
        <p:spPr>
          <a:xfrm>
            <a:off x="1697604" y="1828800"/>
            <a:ext cx="1645920" cy="502920"/>
          </a:xfrm>
          <a:prstGeom prst="rect">
            <a:avLst/>
          </a:prstGeom>
          <a:noFill/>
          <a:ln/>
        </p:spPr>
        <p:txBody>
          <a:bodyPr wrap="square" rtlCol="0" anchor="ctr"/>
          <a:lstStyle/>
          <a:p>
            <a:pPr marL="0" indent="0" algn="ctr">
              <a:buNone/>
            </a:pPr>
            <a:r>
              <a:rPr lang="en-US" sz="1000" dirty="0">
                <a:solidFill>
                  <a:srgbClr val="546E7A"/>
                </a:solidFill>
                <a:latin typeface="Arial" pitchFamily="34" charset="0"/>
                <a:ea typeface="Arial" pitchFamily="34" charset="-122"/>
                <a:cs typeface="Arial" pitchFamily="34" charset="-120"/>
              </a:rPr>
              <a:t>sky</a:t>
            </a:r>
            <a:endParaRPr lang="en-US" sz="1000" dirty="0"/>
          </a:p>
          <a:p>
            <a:pPr marL="0" indent="0" algn="ctr">
              <a:buNone/>
            </a:pPr>
            <a:r>
              <a:rPr lang="en-US" sz="1000" dirty="0">
                <a:solidFill>
                  <a:srgbClr val="546E7A"/>
                </a:solidFill>
                <a:latin typeface="Arial" pitchFamily="34" charset="0"/>
                <a:ea typeface="Arial" pitchFamily="34" charset="-122"/>
                <a:cs typeface="Arial" pitchFamily="34" charset="-120"/>
              </a:rPr>
              <a:t>(high Y)</a:t>
            </a:r>
            <a:endParaRPr lang="en-US" sz="1000" dirty="0"/>
          </a:p>
        </p:txBody>
      </p:sp>
      <p:sp>
        <p:nvSpPr>
          <p:cNvPr id="10" name="Text 8"/>
          <p:cNvSpPr/>
          <p:nvPr/>
        </p:nvSpPr>
        <p:spPr>
          <a:xfrm>
            <a:off x="1920240" y="2331720"/>
            <a:ext cx="548640" cy="4572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1" name="Text 9"/>
          <p:cNvSpPr/>
          <p:nvPr/>
        </p:nvSpPr>
        <p:spPr>
          <a:xfrm>
            <a:off x="1371600" y="3383280"/>
            <a:ext cx="1645920" cy="457200"/>
          </a:xfrm>
          <a:prstGeom prst="rect">
            <a:avLst/>
          </a:prstGeom>
          <a:noFill/>
          <a:ln/>
        </p:spPr>
        <p:txBody>
          <a:bodyPr wrap="square" rtlCol="0" anchor="ctr"/>
          <a:lstStyle/>
          <a:p>
            <a:pPr marL="0" indent="0" algn="ctr">
              <a:buNone/>
            </a:pPr>
            <a:r>
              <a:rPr lang="en-US" sz="1000" dirty="0">
                <a:solidFill>
                  <a:srgbClr val="546E7A"/>
                </a:solidFill>
                <a:latin typeface="Arial" pitchFamily="34" charset="0"/>
                <a:ea typeface="Arial" pitchFamily="34" charset="-122"/>
                <a:cs typeface="Arial" pitchFamily="34" charset="-120"/>
              </a:rPr>
              <a:t>ground</a:t>
            </a:r>
            <a:endParaRPr lang="en-US" sz="1000" dirty="0"/>
          </a:p>
          <a:p>
            <a:pPr marL="0" indent="0" algn="ctr">
              <a:buNone/>
            </a:pPr>
            <a:r>
              <a:rPr lang="en-US" sz="1000" dirty="0">
                <a:solidFill>
                  <a:srgbClr val="546E7A"/>
                </a:solidFill>
                <a:latin typeface="Arial" pitchFamily="34" charset="0"/>
                <a:ea typeface="Arial" pitchFamily="34" charset="-122"/>
                <a:cs typeface="Arial" pitchFamily="34" charset="-120"/>
              </a:rPr>
              <a:t>(low Y)</a:t>
            </a:r>
            <a:endParaRPr lang="en-US" sz="1000" dirty="0"/>
          </a:p>
        </p:txBody>
      </p:sp>
      <p:sp>
        <p:nvSpPr>
          <p:cNvPr id="12" name="Text 10"/>
          <p:cNvSpPr/>
          <p:nvPr/>
        </p:nvSpPr>
        <p:spPr>
          <a:xfrm>
            <a:off x="411480" y="3886200"/>
            <a:ext cx="3566160" cy="320040"/>
          </a:xfrm>
          <a:prstGeom prst="rect">
            <a:avLst/>
          </a:prstGeom>
          <a:noFill/>
          <a:ln/>
        </p:spPr>
        <p:txBody>
          <a:bodyPr wrap="square" rtlCol="0" anchor="ctr"/>
          <a:lstStyle/>
          <a:p>
            <a:pPr marL="0" indent="0" algn="ctr">
              <a:buNone/>
            </a:pPr>
            <a:r>
              <a:rPr lang="en-US" sz="1100" b="1" dirty="0">
                <a:solidFill>
                  <a:srgbClr val="558B2F"/>
                </a:solidFill>
                <a:latin typeface="Arial" pitchFamily="34" charset="0"/>
                <a:ea typeface="Arial" pitchFamily="34" charset="-122"/>
                <a:cs typeface="Arial" pitchFamily="34" charset="-120"/>
              </a:rPr>
              <a:t>Jump force: POSITIVE ↑</a:t>
            </a:r>
            <a:endParaRPr lang="en-US" sz="1100" dirty="0"/>
          </a:p>
        </p:txBody>
      </p:sp>
      <p:sp>
        <p:nvSpPr>
          <p:cNvPr id="13" name="Text 11"/>
          <p:cNvSpPr/>
          <p:nvPr/>
        </p:nvSpPr>
        <p:spPr>
          <a:xfrm>
            <a:off x="411480" y="4206240"/>
            <a:ext cx="3566160" cy="320040"/>
          </a:xfrm>
          <a:prstGeom prst="rect">
            <a:avLst/>
          </a:prstGeom>
          <a:noFill/>
          <a:ln/>
        </p:spPr>
        <p:txBody>
          <a:bodyPr wrap="square" rtlCol="0" anchor="ctr"/>
          <a:lstStyle/>
          <a:p>
            <a:pPr marL="0" indent="0" algn="ctr">
              <a:buNone/>
            </a:pPr>
            <a:r>
              <a:rPr lang="en-US" sz="1100" b="1" dirty="0">
                <a:solidFill>
                  <a:srgbClr val="C62828"/>
                </a:solidFill>
                <a:latin typeface="Arial" pitchFamily="34" charset="0"/>
                <a:ea typeface="Arial" pitchFamily="34" charset="-122"/>
                <a:cs typeface="Arial" pitchFamily="34" charset="-120"/>
              </a:rPr>
              <a:t>Gravity: NEGATIVE ↓</a:t>
            </a:r>
            <a:endParaRPr lang="en-US" sz="1100" dirty="0"/>
          </a:p>
        </p:txBody>
      </p:sp>
      <p:sp>
        <p:nvSpPr>
          <p:cNvPr id="14" name="Shape 12"/>
          <p:cNvSpPr/>
          <p:nvPr/>
        </p:nvSpPr>
        <p:spPr>
          <a:xfrm>
            <a:off x="4389120" y="1005840"/>
            <a:ext cx="4480560" cy="850392"/>
          </a:xfrm>
          <a:prstGeom prst="roundRect">
            <a:avLst>
              <a:gd name="adj" fmla="val 7527"/>
            </a:avLst>
          </a:prstGeom>
          <a:solidFill>
            <a:srgbClr val="C8E6C9"/>
          </a:solidFill>
          <a:ln/>
          <a:effectLst>
            <a:outerShdw blurRad="63500" dist="25400" dir="2700000" algn="bl" rotWithShape="0">
              <a:srgbClr val="000000">
                <a:alpha val="12000"/>
              </a:srgbClr>
            </a:outerShdw>
          </a:effectLst>
        </p:spPr>
        <p:txBody>
          <a:bodyPr/>
          <a:lstStyle/>
          <a:p>
            <a:endParaRPr lang="en-US"/>
          </a:p>
        </p:txBody>
      </p:sp>
      <p:sp>
        <p:nvSpPr>
          <p:cNvPr id="15" name="Text 13"/>
          <p:cNvSpPr/>
          <p:nvPr/>
        </p:nvSpPr>
        <p:spPr>
          <a:xfrm>
            <a:off x="4572000" y="1051560"/>
            <a:ext cx="4114800" cy="301752"/>
          </a:xfrm>
          <a:prstGeom prst="rect">
            <a:avLst/>
          </a:prstGeom>
          <a:noFill/>
          <a:ln/>
        </p:spPr>
        <p:txBody>
          <a:bodyPr wrap="square" rtlCol="0" anchor="ctr"/>
          <a:lstStyle/>
          <a:p>
            <a:pPr marL="0" indent="0">
              <a:buNone/>
            </a:pPr>
            <a:r>
              <a:rPr lang="en-US" sz="1300" b="1" dirty="0">
                <a:solidFill>
                  <a:srgbClr val="1B5E20"/>
                </a:solidFill>
                <a:latin typeface="Arial" pitchFamily="34" charset="0"/>
                <a:ea typeface="Arial" pitchFamily="34" charset="-122"/>
                <a:cs typeface="Arial" pitchFamily="34" charset="-120"/>
              </a:rPr>
              <a:t>Gravity every tick</a:t>
            </a:r>
            <a:endParaRPr lang="en-US" sz="1300" dirty="0"/>
          </a:p>
        </p:txBody>
      </p:sp>
      <p:sp>
        <p:nvSpPr>
          <p:cNvPr id="16" name="Text 14"/>
          <p:cNvSpPr/>
          <p:nvPr/>
        </p:nvSpPr>
        <p:spPr>
          <a:xfrm>
            <a:off x="4572000" y="1325880"/>
            <a:ext cx="4114800" cy="457200"/>
          </a:xfrm>
          <a:prstGeom prst="rect">
            <a:avLst/>
          </a:prstGeom>
          <a:noFill/>
          <a:ln/>
        </p:spPr>
        <p:txBody>
          <a:bodyPr wrap="square" rtlCol="0" anchor="ctr"/>
          <a:lstStyle/>
          <a:p>
            <a:pPr marL="0" indent="0">
              <a:buNone/>
            </a:pPr>
            <a:r>
              <a:rPr lang="en-US" sz="1100" dirty="0">
                <a:solidFill>
                  <a:srgbClr val="1A1A1A"/>
                </a:solidFill>
                <a:latin typeface="Arial" pitchFamily="34" charset="0"/>
                <a:ea typeface="Arial" pitchFamily="34" charset="-122"/>
                <a:cs typeface="Arial" pitchFamily="34" charset="-120"/>
              </a:rPr>
              <a:t>Adds GRAVITY constant to velocityY each loop iteration — this IS acceleration (change in velocity over time)</a:t>
            </a:r>
            <a:endParaRPr lang="en-US" sz="1100" dirty="0"/>
          </a:p>
        </p:txBody>
      </p:sp>
      <p:sp>
        <p:nvSpPr>
          <p:cNvPr id="17" name="Shape 15"/>
          <p:cNvSpPr/>
          <p:nvPr/>
        </p:nvSpPr>
        <p:spPr>
          <a:xfrm>
            <a:off x="4389120" y="1947672"/>
            <a:ext cx="4480560" cy="850392"/>
          </a:xfrm>
          <a:prstGeom prst="roundRect">
            <a:avLst>
              <a:gd name="adj" fmla="val 7527"/>
            </a:avLst>
          </a:prstGeom>
          <a:solidFill>
            <a:srgbClr val="FFFFFF"/>
          </a:solidFill>
          <a:ln/>
          <a:effectLst>
            <a:outerShdw blurRad="63500" dist="25400" dir="2700000" algn="bl" rotWithShape="0">
              <a:srgbClr val="000000">
                <a:alpha val="12000"/>
              </a:srgbClr>
            </a:outerShdw>
          </a:effectLst>
        </p:spPr>
        <p:txBody>
          <a:bodyPr/>
          <a:lstStyle/>
          <a:p>
            <a:endParaRPr lang="en-US"/>
          </a:p>
        </p:txBody>
      </p:sp>
      <p:sp>
        <p:nvSpPr>
          <p:cNvPr id="18" name="Text 16"/>
          <p:cNvSpPr/>
          <p:nvPr/>
        </p:nvSpPr>
        <p:spPr>
          <a:xfrm>
            <a:off x="4572000" y="1993392"/>
            <a:ext cx="4114800" cy="301752"/>
          </a:xfrm>
          <a:prstGeom prst="rect">
            <a:avLst/>
          </a:prstGeom>
          <a:noFill/>
          <a:ln/>
        </p:spPr>
        <p:txBody>
          <a:bodyPr wrap="square" rtlCol="0" anchor="ctr"/>
          <a:lstStyle/>
          <a:p>
            <a:pPr marL="0" indent="0">
              <a:buNone/>
            </a:pPr>
            <a:r>
              <a:rPr lang="en-US" sz="1300" b="1" dirty="0">
                <a:solidFill>
                  <a:srgbClr val="1B5E20"/>
                </a:solidFill>
                <a:latin typeface="Arial" pitchFamily="34" charset="0"/>
                <a:ea typeface="Arial" pitchFamily="34" charset="-122"/>
                <a:cs typeface="Arial" pitchFamily="34" charset="-120"/>
              </a:rPr>
              <a:t>Jumping = velocity burst</a:t>
            </a:r>
            <a:endParaRPr lang="en-US" sz="1300" dirty="0"/>
          </a:p>
        </p:txBody>
      </p:sp>
      <p:sp>
        <p:nvSpPr>
          <p:cNvPr id="19" name="Text 17"/>
          <p:cNvSpPr/>
          <p:nvPr/>
        </p:nvSpPr>
        <p:spPr>
          <a:xfrm>
            <a:off x="4572000" y="2267712"/>
            <a:ext cx="4114800" cy="457200"/>
          </a:xfrm>
          <a:prstGeom prst="rect">
            <a:avLst/>
          </a:prstGeom>
          <a:noFill/>
          <a:ln/>
        </p:spPr>
        <p:txBody>
          <a:bodyPr wrap="square" rtlCol="0" anchor="ctr"/>
          <a:lstStyle/>
          <a:p>
            <a:pPr marL="0" indent="0">
              <a:buNone/>
            </a:pPr>
            <a:r>
              <a:rPr lang="en-US" sz="1100" dirty="0">
                <a:solidFill>
                  <a:srgbClr val="1A1A1A"/>
                </a:solidFill>
                <a:latin typeface="Arial" pitchFamily="34" charset="0"/>
                <a:ea typeface="Arial" pitchFamily="34" charset="-122"/>
                <a:cs typeface="Arial" pitchFamily="34" charset="-120"/>
              </a:rPr>
              <a:t>We set velocityY to a large POSITIVE value — gravity then decelerates it each tick until character falls</a:t>
            </a:r>
            <a:endParaRPr lang="en-US" sz="1100" dirty="0"/>
          </a:p>
        </p:txBody>
      </p:sp>
      <p:sp>
        <p:nvSpPr>
          <p:cNvPr id="20" name="Shape 18"/>
          <p:cNvSpPr/>
          <p:nvPr/>
        </p:nvSpPr>
        <p:spPr>
          <a:xfrm>
            <a:off x="4389120" y="2889504"/>
            <a:ext cx="4480560" cy="850392"/>
          </a:xfrm>
          <a:prstGeom prst="roundRect">
            <a:avLst>
              <a:gd name="adj" fmla="val 7527"/>
            </a:avLst>
          </a:prstGeom>
          <a:solidFill>
            <a:srgbClr val="E3F2FD"/>
          </a:solidFill>
          <a:ln/>
          <a:effectLst>
            <a:outerShdw blurRad="63500" dist="25400" dir="2700000" algn="bl" rotWithShape="0">
              <a:srgbClr val="000000">
                <a:alpha val="12000"/>
              </a:srgbClr>
            </a:outerShdw>
          </a:effectLst>
        </p:spPr>
        <p:txBody>
          <a:bodyPr/>
          <a:lstStyle/>
          <a:p>
            <a:endParaRPr lang="en-US"/>
          </a:p>
        </p:txBody>
      </p:sp>
      <p:sp>
        <p:nvSpPr>
          <p:cNvPr id="21" name="Text 19"/>
          <p:cNvSpPr/>
          <p:nvPr/>
        </p:nvSpPr>
        <p:spPr>
          <a:xfrm>
            <a:off x="4572000" y="2935224"/>
            <a:ext cx="4114800" cy="301752"/>
          </a:xfrm>
          <a:prstGeom prst="rect">
            <a:avLst/>
          </a:prstGeom>
          <a:noFill/>
          <a:ln/>
        </p:spPr>
        <p:txBody>
          <a:bodyPr wrap="square" rtlCol="0" anchor="ctr"/>
          <a:lstStyle/>
          <a:p>
            <a:pPr marL="0" indent="0">
              <a:buNone/>
            </a:pPr>
            <a:r>
              <a:rPr lang="en-US" sz="1300" b="1" dirty="0">
                <a:solidFill>
                  <a:srgbClr val="37474F"/>
                </a:solidFill>
                <a:latin typeface="Arial" pitchFamily="34" charset="0"/>
                <a:ea typeface="Arial" pitchFamily="34" charset="-122"/>
                <a:cs typeface="Arial" pitchFamily="34" charset="-120"/>
              </a:rPr>
              <a:t>Opposite to Godot!</a:t>
            </a:r>
            <a:endParaRPr lang="en-US" sz="1300" dirty="0"/>
          </a:p>
        </p:txBody>
      </p:sp>
      <p:sp>
        <p:nvSpPr>
          <p:cNvPr id="22" name="Text 20"/>
          <p:cNvSpPr/>
          <p:nvPr/>
        </p:nvSpPr>
        <p:spPr>
          <a:xfrm>
            <a:off x="4572000" y="3209544"/>
            <a:ext cx="4114800" cy="457200"/>
          </a:xfrm>
          <a:prstGeom prst="rect">
            <a:avLst/>
          </a:prstGeom>
          <a:noFill/>
          <a:ln/>
        </p:spPr>
        <p:txBody>
          <a:bodyPr wrap="square" rtlCol="0" anchor="ctr"/>
          <a:lstStyle/>
          <a:p>
            <a:pPr marL="0" indent="0">
              <a:buNone/>
            </a:pPr>
            <a:r>
              <a:rPr lang="en-US" sz="1100" dirty="0">
                <a:solidFill>
                  <a:srgbClr val="1A1A1A"/>
                </a:solidFill>
                <a:latin typeface="Arial" pitchFamily="34" charset="0"/>
                <a:ea typeface="Arial" pitchFamily="34" charset="-122"/>
                <a:cs typeface="Arial" pitchFamily="34" charset="-120"/>
              </a:rPr>
              <a:t>Minecraft: Y increases upward → jump is positive. Godot: Y increases downward → jump is negative. Same physics, different signs!</a:t>
            </a:r>
            <a:endParaRPr lang="en-US" sz="1100" dirty="0"/>
          </a:p>
        </p:txBody>
      </p:sp>
      <p:sp>
        <p:nvSpPr>
          <p:cNvPr id="23" name="Shape 21"/>
          <p:cNvSpPr/>
          <p:nvPr/>
        </p:nvSpPr>
        <p:spPr>
          <a:xfrm>
            <a:off x="4389120" y="3831336"/>
            <a:ext cx="4480560" cy="850392"/>
          </a:xfrm>
          <a:prstGeom prst="roundRect">
            <a:avLst>
              <a:gd name="adj" fmla="val 7527"/>
            </a:avLst>
          </a:prstGeom>
          <a:solidFill>
            <a:srgbClr val="C8E6C9"/>
          </a:solidFill>
          <a:ln/>
          <a:effectLst>
            <a:outerShdw blurRad="63500" dist="25400" dir="2700000" algn="bl" rotWithShape="0">
              <a:srgbClr val="000000">
                <a:alpha val="12000"/>
              </a:srgbClr>
            </a:outerShdw>
          </a:effectLst>
        </p:spPr>
        <p:txBody>
          <a:bodyPr/>
          <a:lstStyle/>
          <a:p>
            <a:endParaRPr lang="en-US"/>
          </a:p>
        </p:txBody>
      </p:sp>
      <p:sp>
        <p:nvSpPr>
          <p:cNvPr id="24" name="Text 22"/>
          <p:cNvSpPr/>
          <p:nvPr/>
        </p:nvSpPr>
        <p:spPr>
          <a:xfrm>
            <a:off x="4572000" y="3877056"/>
            <a:ext cx="4114800" cy="301752"/>
          </a:xfrm>
          <a:prstGeom prst="rect">
            <a:avLst/>
          </a:prstGeom>
          <a:noFill/>
          <a:ln/>
        </p:spPr>
        <p:txBody>
          <a:bodyPr wrap="square" rtlCol="0" anchor="ctr"/>
          <a:lstStyle/>
          <a:p>
            <a:pPr marL="0" indent="0">
              <a:buNone/>
            </a:pPr>
            <a:r>
              <a:rPr lang="en-US" sz="1300" b="1" dirty="0">
                <a:solidFill>
                  <a:srgbClr val="558B2F"/>
                </a:solidFill>
                <a:latin typeface="Arial" pitchFamily="34" charset="0"/>
                <a:ea typeface="Arial" pitchFamily="34" charset="-122"/>
                <a:cs typeface="Arial" pitchFamily="34" charset="-120"/>
              </a:rPr>
              <a:t>The arc is a parabola</a:t>
            </a:r>
            <a:endParaRPr lang="en-US" sz="1300" dirty="0"/>
          </a:p>
        </p:txBody>
      </p:sp>
      <p:sp>
        <p:nvSpPr>
          <p:cNvPr id="25" name="Text 23"/>
          <p:cNvSpPr/>
          <p:nvPr/>
        </p:nvSpPr>
        <p:spPr>
          <a:xfrm>
            <a:off x="4572000" y="4151376"/>
            <a:ext cx="4114800" cy="457200"/>
          </a:xfrm>
          <a:prstGeom prst="rect">
            <a:avLst/>
          </a:prstGeom>
          <a:noFill/>
          <a:ln/>
        </p:spPr>
        <p:txBody>
          <a:bodyPr wrap="square" rtlCol="0" anchor="ctr"/>
          <a:lstStyle/>
          <a:p>
            <a:pPr marL="0" indent="0">
              <a:buNone/>
            </a:pPr>
            <a:r>
              <a:rPr lang="en-US" sz="1100" dirty="0">
                <a:solidFill>
                  <a:srgbClr val="1A1A1A"/>
                </a:solidFill>
                <a:latin typeface="Arial" pitchFamily="34" charset="0"/>
                <a:ea typeface="Arial" pitchFamily="34" charset="-122"/>
                <a:cs typeface="Arial" pitchFamily="34" charset="-120"/>
              </a:rPr>
              <a:t>Position = v₀t + ½gt²  — a quadratic! That's why the jump curve is symmetrical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5E20"/>
          </a:solidFill>
          <a:ln w="12700">
            <a:solidFill>
              <a:srgbClr val="000000"/>
            </a:solidFill>
            <a:prstDash val="solid"/>
          </a:ln>
        </p:spPr>
        <p:txBody>
          <a:bodyPr/>
          <a:lstStyle/>
          <a:p>
            <a:endParaRPr lang="en-US"/>
          </a:p>
        </p:txBody>
      </p:sp>
      <p:sp>
        <p:nvSpPr>
          <p:cNvPr id="3" name="Text 1"/>
          <p:cNvSpPr/>
          <p:nvPr/>
        </p:nvSpPr>
        <p:spPr>
          <a:xfrm>
            <a:off x="365760" y="109728"/>
            <a:ext cx="8229600" cy="59436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Phase 2: MakeCode Walk-Through</a:t>
            </a:r>
            <a:endParaRPr lang="en-US" sz="2600" dirty="0"/>
          </a:p>
        </p:txBody>
      </p:sp>
      <p:sp>
        <p:nvSpPr>
          <p:cNvPr id="4" name="Shape 2"/>
          <p:cNvSpPr/>
          <p:nvPr/>
        </p:nvSpPr>
        <p:spPr>
          <a:xfrm>
            <a:off x="182880" y="914400"/>
            <a:ext cx="4754880" cy="4069080"/>
          </a:xfrm>
          <a:prstGeom prst="roundRect">
            <a:avLst>
              <a:gd name="adj" fmla="val 2247"/>
            </a:avLst>
          </a:prstGeom>
          <a:solidFill>
            <a:srgbClr val="1A237E"/>
          </a:solidFill>
          <a:ln/>
        </p:spPr>
        <p:txBody>
          <a:bodyPr/>
          <a:lstStyle/>
          <a:p>
            <a:endParaRPr lang="en-US"/>
          </a:p>
        </p:txBody>
      </p:sp>
      <p:sp>
        <p:nvSpPr>
          <p:cNvPr id="5" name="Text 3"/>
          <p:cNvSpPr/>
          <p:nvPr/>
        </p:nvSpPr>
        <p:spPr>
          <a:xfrm>
            <a:off x="365760" y="960120"/>
            <a:ext cx="2286000" cy="347472"/>
          </a:xfrm>
          <a:prstGeom prst="rect">
            <a:avLst/>
          </a:prstGeom>
          <a:noFill/>
          <a:ln/>
        </p:spPr>
        <p:txBody>
          <a:bodyPr wrap="square" rtlCol="0" anchor="ctr"/>
          <a:lstStyle/>
          <a:p>
            <a:pPr marL="0" indent="0">
              <a:buNone/>
            </a:pPr>
            <a:r>
              <a:rPr lang="en-US" sz="1100" b="1" dirty="0">
                <a:solidFill>
                  <a:srgbClr val="90CAF9"/>
                </a:solidFill>
                <a:latin typeface="Courier New" pitchFamily="34" charset="0"/>
                <a:ea typeface="Courier New" pitchFamily="34" charset="-122"/>
                <a:cs typeface="Courier New" pitchFamily="34" charset="-120"/>
              </a:rPr>
              <a:t>MakeCode JS</a:t>
            </a:r>
            <a:endParaRPr lang="en-US" sz="1100" dirty="0"/>
          </a:p>
        </p:txBody>
      </p:sp>
      <p:sp>
        <p:nvSpPr>
          <p:cNvPr id="6" name="Text 4"/>
          <p:cNvSpPr/>
          <p:nvPr/>
        </p:nvSpPr>
        <p:spPr>
          <a:xfrm>
            <a:off x="320040" y="1353312"/>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const JUMP_FORCE = 10;</a:t>
            </a:r>
            <a:endParaRPr lang="en-US" sz="950" dirty="0"/>
          </a:p>
        </p:txBody>
      </p:sp>
      <p:sp>
        <p:nvSpPr>
          <p:cNvPr id="7" name="Text 5"/>
          <p:cNvSpPr/>
          <p:nvPr/>
        </p:nvSpPr>
        <p:spPr>
          <a:xfrm>
            <a:off x="320040" y="1485900"/>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const GRAVITY    = -0.6;</a:t>
            </a:r>
            <a:endParaRPr lang="en-US" sz="950" dirty="0"/>
          </a:p>
        </p:txBody>
      </p:sp>
      <p:sp>
        <p:nvSpPr>
          <p:cNvPr id="8" name="Text 6"/>
          <p:cNvSpPr/>
          <p:nvPr/>
        </p:nvSpPr>
        <p:spPr>
          <a:xfrm>
            <a:off x="320040" y="1618488"/>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let velocityY = 0;</a:t>
            </a:r>
            <a:endParaRPr lang="en-US" sz="950" dirty="0"/>
          </a:p>
        </p:txBody>
      </p:sp>
      <p:sp>
        <p:nvSpPr>
          <p:cNvPr id="9" name="Text 7"/>
          <p:cNvSpPr/>
          <p:nvPr/>
        </p:nvSpPr>
        <p:spPr>
          <a:xfrm>
            <a:off x="320040" y="1751076"/>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let posY = 64;</a:t>
            </a:r>
            <a:endParaRPr lang="en-US" sz="950" dirty="0"/>
          </a:p>
        </p:txBody>
      </p:sp>
      <p:sp>
        <p:nvSpPr>
          <p:cNvPr id="10" name="Text 8"/>
          <p:cNvSpPr/>
          <p:nvPr/>
        </p:nvSpPr>
        <p:spPr>
          <a:xfrm>
            <a:off x="320040" y="1883664"/>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let onGround = true;</a:t>
            </a:r>
            <a:endParaRPr lang="en-US" sz="950" dirty="0"/>
          </a:p>
        </p:txBody>
      </p:sp>
      <p:sp>
        <p:nvSpPr>
          <p:cNvPr id="11" name="Text 9"/>
          <p:cNvSpPr/>
          <p:nvPr/>
        </p:nvSpPr>
        <p:spPr>
          <a:xfrm>
            <a:off x="320040" y="2016252"/>
            <a:ext cx="4572000" cy="160020"/>
          </a:xfrm>
          <a:prstGeom prst="rect">
            <a:avLst/>
          </a:prstGeom>
          <a:noFill/>
          <a:ln/>
        </p:spPr>
        <p:txBody>
          <a:bodyPr wrap="square" lIns="0" tIns="0" rIns="0" bIns="0" rtlCol="0" anchor="ctr"/>
          <a:lstStyle/>
          <a:p>
            <a:pPr marL="0" indent="0">
              <a:buNone/>
            </a:pPr>
            <a:endParaRPr lang="en-US" sz="950" dirty="0"/>
          </a:p>
        </p:txBody>
      </p:sp>
      <p:sp>
        <p:nvSpPr>
          <p:cNvPr id="12" name="Text 10"/>
          <p:cNvSpPr/>
          <p:nvPr/>
        </p:nvSpPr>
        <p:spPr>
          <a:xfrm>
            <a:off x="320040" y="2148840"/>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player.onChat("jump", () =&gt; {</a:t>
            </a:r>
            <a:endParaRPr lang="en-US" sz="950" dirty="0"/>
          </a:p>
        </p:txBody>
      </p:sp>
      <p:sp>
        <p:nvSpPr>
          <p:cNvPr id="13" name="Text 11"/>
          <p:cNvSpPr/>
          <p:nvPr/>
        </p:nvSpPr>
        <p:spPr>
          <a:xfrm>
            <a:off x="320040" y="2281428"/>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  if (onGround) {</a:t>
            </a:r>
            <a:endParaRPr lang="en-US" sz="950" dirty="0"/>
          </a:p>
        </p:txBody>
      </p:sp>
      <p:sp>
        <p:nvSpPr>
          <p:cNvPr id="14" name="Text 12"/>
          <p:cNvSpPr/>
          <p:nvPr/>
        </p:nvSpPr>
        <p:spPr>
          <a:xfrm>
            <a:off x="320040" y="2414016"/>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    velocityY = JUMP_FORCE;</a:t>
            </a:r>
            <a:endParaRPr lang="en-US" sz="950" dirty="0"/>
          </a:p>
        </p:txBody>
      </p:sp>
      <p:sp>
        <p:nvSpPr>
          <p:cNvPr id="15" name="Text 13"/>
          <p:cNvSpPr/>
          <p:nvPr/>
        </p:nvSpPr>
        <p:spPr>
          <a:xfrm>
            <a:off x="320040" y="2546604"/>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    onGround = false;</a:t>
            </a:r>
            <a:endParaRPr lang="en-US" sz="950" dirty="0"/>
          </a:p>
        </p:txBody>
      </p:sp>
      <p:sp>
        <p:nvSpPr>
          <p:cNvPr id="16" name="Text 14"/>
          <p:cNvSpPr/>
          <p:nvPr/>
        </p:nvSpPr>
        <p:spPr>
          <a:xfrm>
            <a:off x="320040" y="2679192"/>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  }</a:t>
            </a:r>
            <a:endParaRPr lang="en-US" sz="950" dirty="0"/>
          </a:p>
        </p:txBody>
      </p:sp>
      <p:sp>
        <p:nvSpPr>
          <p:cNvPr id="17" name="Text 15"/>
          <p:cNvSpPr/>
          <p:nvPr/>
        </p:nvSpPr>
        <p:spPr>
          <a:xfrm>
            <a:off x="320040" y="2811780"/>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a:t>
            </a:r>
            <a:endParaRPr lang="en-US" sz="950" dirty="0"/>
          </a:p>
        </p:txBody>
      </p:sp>
      <p:sp>
        <p:nvSpPr>
          <p:cNvPr id="18" name="Text 16"/>
          <p:cNvSpPr/>
          <p:nvPr/>
        </p:nvSpPr>
        <p:spPr>
          <a:xfrm>
            <a:off x="320040" y="2944368"/>
            <a:ext cx="4572000" cy="160020"/>
          </a:xfrm>
          <a:prstGeom prst="rect">
            <a:avLst/>
          </a:prstGeom>
          <a:noFill/>
          <a:ln/>
        </p:spPr>
        <p:txBody>
          <a:bodyPr wrap="square" lIns="0" tIns="0" rIns="0" bIns="0" rtlCol="0" anchor="ctr"/>
          <a:lstStyle/>
          <a:p>
            <a:pPr marL="0" indent="0">
              <a:buNone/>
            </a:pPr>
            <a:endParaRPr lang="en-US" sz="950" dirty="0"/>
          </a:p>
        </p:txBody>
      </p:sp>
      <p:sp>
        <p:nvSpPr>
          <p:cNvPr id="19" name="Text 17"/>
          <p:cNvSpPr/>
          <p:nvPr/>
        </p:nvSpPr>
        <p:spPr>
          <a:xfrm>
            <a:off x="320040" y="3076956"/>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loops.everyInterval(50, () =&gt; {</a:t>
            </a:r>
            <a:endParaRPr lang="en-US" sz="950" dirty="0"/>
          </a:p>
        </p:txBody>
      </p:sp>
      <p:sp>
        <p:nvSpPr>
          <p:cNvPr id="20" name="Text 18"/>
          <p:cNvSpPr/>
          <p:nvPr/>
        </p:nvSpPr>
        <p:spPr>
          <a:xfrm>
            <a:off x="320040" y="3209544"/>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  velocityY += GRAVITY;</a:t>
            </a:r>
            <a:endParaRPr lang="en-US" sz="950" dirty="0"/>
          </a:p>
        </p:txBody>
      </p:sp>
      <p:sp>
        <p:nvSpPr>
          <p:cNvPr id="21" name="Text 19"/>
          <p:cNvSpPr/>
          <p:nvPr/>
        </p:nvSpPr>
        <p:spPr>
          <a:xfrm>
            <a:off x="320040" y="3342132"/>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  posY += velocityY;</a:t>
            </a:r>
            <a:endParaRPr lang="en-US" sz="950" dirty="0"/>
          </a:p>
        </p:txBody>
      </p:sp>
      <p:sp>
        <p:nvSpPr>
          <p:cNvPr id="22" name="Text 20"/>
          <p:cNvSpPr/>
          <p:nvPr/>
        </p:nvSpPr>
        <p:spPr>
          <a:xfrm>
            <a:off x="320040" y="3474720"/>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  if (posY &lt;= 64) {</a:t>
            </a:r>
            <a:endParaRPr lang="en-US" sz="950" dirty="0"/>
          </a:p>
        </p:txBody>
      </p:sp>
      <p:sp>
        <p:nvSpPr>
          <p:cNvPr id="23" name="Text 21"/>
          <p:cNvSpPr/>
          <p:nvPr/>
        </p:nvSpPr>
        <p:spPr>
          <a:xfrm>
            <a:off x="320040" y="3607308"/>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    posY = 64; velocityY = 0;</a:t>
            </a:r>
            <a:endParaRPr lang="en-US" sz="950" dirty="0"/>
          </a:p>
        </p:txBody>
      </p:sp>
      <p:sp>
        <p:nvSpPr>
          <p:cNvPr id="24" name="Text 22"/>
          <p:cNvSpPr/>
          <p:nvPr/>
        </p:nvSpPr>
        <p:spPr>
          <a:xfrm>
            <a:off x="320040" y="3739896"/>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    onGround = true;</a:t>
            </a:r>
            <a:endParaRPr lang="en-US" sz="950" dirty="0"/>
          </a:p>
        </p:txBody>
      </p:sp>
      <p:sp>
        <p:nvSpPr>
          <p:cNvPr id="25" name="Text 23"/>
          <p:cNvSpPr/>
          <p:nvPr/>
        </p:nvSpPr>
        <p:spPr>
          <a:xfrm>
            <a:off x="320040" y="3872484"/>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  }</a:t>
            </a:r>
            <a:endParaRPr lang="en-US" sz="950" dirty="0"/>
          </a:p>
        </p:txBody>
      </p:sp>
      <p:sp>
        <p:nvSpPr>
          <p:cNvPr id="26" name="Text 24"/>
          <p:cNvSpPr/>
          <p:nvPr/>
        </p:nvSpPr>
        <p:spPr>
          <a:xfrm>
            <a:off x="320040" y="4005072"/>
            <a:ext cx="4572000" cy="160020"/>
          </a:xfrm>
          <a:prstGeom prst="rect">
            <a:avLst/>
          </a:prstGeom>
          <a:noFill/>
          <a:ln/>
        </p:spPr>
        <p:txBody>
          <a:bodyPr wrap="square" lIns="0" tIns="0" rIns="0" bIns="0" rtlCol="0" anchor="ctr"/>
          <a:lstStyle/>
          <a:p>
            <a:pPr marL="0" indent="0">
              <a:buNone/>
            </a:pPr>
            <a:r>
              <a:rPr lang="en-US" sz="950" dirty="0">
                <a:solidFill>
                  <a:srgbClr val="E8EAF6"/>
                </a:solidFill>
                <a:latin typeface="Courier New" pitchFamily="34" charset="0"/>
                <a:ea typeface="Courier New" pitchFamily="34" charset="-122"/>
                <a:cs typeface="Courier New" pitchFamily="34" charset="-120"/>
              </a:rPr>
              <a:t>});</a:t>
            </a:r>
            <a:endParaRPr lang="en-US" sz="950" dirty="0"/>
          </a:p>
        </p:txBody>
      </p:sp>
      <p:sp>
        <p:nvSpPr>
          <p:cNvPr id="27" name="Shape 25"/>
          <p:cNvSpPr/>
          <p:nvPr/>
        </p:nvSpPr>
        <p:spPr>
          <a:xfrm>
            <a:off x="5120640" y="960120"/>
            <a:ext cx="3840480" cy="731520"/>
          </a:xfrm>
          <a:prstGeom prst="roundRect">
            <a:avLst>
              <a:gd name="adj" fmla="val 8750"/>
            </a:avLst>
          </a:prstGeom>
          <a:solidFill>
            <a:srgbClr val="C8E6C9"/>
          </a:solidFill>
          <a:ln/>
          <a:effectLst>
            <a:outerShdw blurRad="63500" dist="25400" dir="2700000" algn="bl" rotWithShape="0">
              <a:srgbClr val="000000">
                <a:alpha val="12000"/>
              </a:srgbClr>
            </a:outerShdw>
          </a:effectLst>
        </p:spPr>
        <p:txBody>
          <a:bodyPr/>
          <a:lstStyle/>
          <a:p>
            <a:endParaRPr lang="en-US"/>
          </a:p>
        </p:txBody>
      </p:sp>
      <p:sp>
        <p:nvSpPr>
          <p:cNvPr id="28" name="Text 26"/>
          <p:cNvSpPr/>
          <p:nvPr/>
        </p:nvSpPr>
        <p:spPr>
          <a:xfrm>
            <a:off x="5257800" y="1005840"/>
            <a:ext cx="3566160" cy="256032"/>
          </a:xfrm>
          <a:prstGeom prst="rect">
            <a:avLst/>
          </a:prstGeom>
          <a:noFill/>
          <a:ln/>
        </p:spPr>
        <p:txBody>
          <a:bodyPr wrap="square" rtlCol="0" anchor="ctr"/>
          <a:lstStyle/>
          <a:p>
            <a:pPr marL="0" indent="0">
              <a:buNone/>
            </a:pPr>
            <a:r>
              <a:rPr lang="en-US" sz="1100" b="1" dirty="0">
                <a:solidFill>
                  <a:srgbClr val="1B5E20"/>
                </a:solidFill>
                <a:latin typeface="Courier New" pitchFamily="34" charset="0"/>
                <a:ea typeface="Courier New" pitchFamily="34" charset="-122"/>
                <a:cs typeface="Courier New" pitchFamily="34" charset="-120"/>
              </a:rPr>
              <a:t>JUMP_FORCE = 10</a:t>
            </a:r>
            <a:endParaRPr lang="en-US" sz="1100" dirty="0"/>
          </a:p>
        </p:txBody>
      </p:sp>
      <p:sp>
        <p:nvSpPr>
          <p:cNvPr id="29" name="Text 27"/>
          <p:cNvSpPr/>
          <p:nvPr/>
        </p:nvSpPr>
        <p:spPr>
          <a:xfrm>
            <a:off x="5257800" y="1261872"/>
            <a:ext cx="3566160" cy="365760"/>
          </a:xfrm>
          <a:prstGeom prst="rect">
            <a:avLst/>
          </a:prstGeom>
          <a:noFill/>
          <a:ln/>
        </p:spPr>
        <p:txBody>
          <a:bodyPr wrap="square" rtlCol="0" anchor="ctr"/>
          <a:lstStyle/>
          <a:p>
            <a:pPr marL="0" indent="0">
              <a:buNone/>
            </a:pPr>
            <a:r>
              <a:rPr lang="en-US" sz="1050" dirty="0">
                <a:solidFill>
                  <a:srgbClr val="1A1A1A"/>
                </a:solidFill>
                <a:latin typeface="Arial" pitchFamily="34" charset="0"/>
                <a:ea typeface="Arial" pitchFamily="34" charset="-122"/>
                <a:cs typeface="Arial" pitchFamily="34" charset="-120"/>
              </a:rPr>
              <a:t>Positive value = upward (Minecraft Y up). Try 5, 15, 20!</a:t>
            </a:r>
            <a:endParaRPr lang="en-US" sz="1050" dirty="0"/>
          </a:p>
        </p:txBody>
      </p:sp>
      <p:sp>
        <p:nvSpPr>
          <p:cNvPr id="30" name="Shape 28"/>
          <p:cNvSpPr/>
          <p:nvPr/>
        </p:nvSpPr>
        <p:spPr>
          <a:xfrm>
            <a:off x="5120640" y="1783080"/>
            <a:ext cx="3840480" cy="731520"/>
          </a:xfrm>
          <a:prstGeom prst="roundRect">
            <a:avLst>
              <a:gd name="adj" fmla="val 8750"/>
            </a:avLst>
          </a:prstGeom>
          <a:solidFill>
            <a:srgbClr val="FFFFFF"/>
          </a:solidFill>
          <a:ln/>
          <a:effectLst>
            <a:outerShdw blurRad="63500" dist="25400" dir="2700000" algn="bl" rotWithShape="0">
              <a:srgbClr val="000000">
                <a:alpha val="12000"/>
              </a:srgbClr>
            </a:outerShdw>
          </a:effectLst>
        </p:spPr>
        <p:txBody>
          <a:bodyPr/>
          <a:lstStyle/>
          <a:p>
            <a:endParaRPr lang="en-US"/>
          </a:p>
        </p:txBody>
      </p:sp>
      <p:sp>
        <p:nvSpPr>
          <p:cNvPr id="31" name="Text 29"/>
          <p:cNvSpPr/>
          <p:nvPr/>
        </p:nvSpPr>
        <p:spPr>
          <a:xfrm>
            <a:off x="5257800" y="1828800"/>
            <a:ext cx="3566160" cy="256032"/>
          </a:xfrm>
          <a:prstGeom prst="rect">
            <a:avLst/>
          </a:prstGeom>
          <a:noFill/>
          <a:ln/>
        </p:spPr>
        <p:txBody>
          <a:bodyPr wrap="square" rtlCol="0" anchor="ctr"/>
          <a:lstStyle/>
          <a:p>
            <a:pPr marL="0" indent="0">
              <a:buNone/>
            </a:pPr>
            <a:r>
              <a:rPr lang="en-US" sz="1100" b="1" dirty="0">
                <a:solidFill>
                  <a:srgbClr val="2E7D32"/>
                </a:solidFill>
                <a:latin typeface="Courier New" pitchFamily="34" charset="0"/>
                <a:ea typeface="Courier New" pitchFamily="34" charset="-122"/>
                <a:cs typeface="Courier New" pitchFamily="34" charset="-120"/>
              </a:rPr>
              <a:t>GRAVITY = −0.6</a:t>
            </a:r>
            <a:endParaRPr lang="en-US" sz="1100" dirty="0"/>
          </a:p>
        </p:txBody>
      </p:sp>
      <p:sp>
        <p:nvSpPr>
          <p:cNvPr id="32" name="Text 30"/>
          <p:cNvSpPr/>
          <p:nvPr/>
        </p:nvSpPr>
        <p:spPr>
          <a:xfrm>
            <a:off x="5257800" y="2084832"/>
            <a:ext cx="3566160" cy="365760"/>
          </a:xfrm>
          <a:prstGeom prst="rect">
            <a:avLst/>
          </a:prstGeom>
          <a:noFill/>
          <a:ln/>
        </p:spPr>
        <p:txBody>
          <a:bodyPr wrap="square" rtlCol="0" anchor="ctr"/>
          <a:lstStyle/>
          <a:p>
            <a:pPr marL="0" indent="0">
              <a:buNone/>
            </a:pPr>
            <a:r>
              <a:rPr lang="en-US" sz="1050" dirty="0">
                <a:solidFill>
                  <a:srgbClr val="1A1A1A"/>
                </a:solidFill>
                <a:latin typeface="Arial" pitchFamily="34" charset="0"/>
                <a:ea typeface="Arial" pitchFamily="34" charset="-122"/>
                <a:cs typeface="Arial" pitchFamily="34" charset="-120"/>
              </a:rPr>
              <a:t>Negative = pulls down each tick. Doubles speed of fall. Try −0.3 vs −1.2</a:t>
            </a:r>
            <a:endParaRPr lang="en-US" sz="1050" dirty="0"/>
          </a:p>
        </p:txBody>
      </p:sp>
      <p:sp>
        <p:nvSpPr>
          <p:cNvPr id="33" name="Shape 31"/>
          <p:cNvSpPr/>
          <p:nvPr/>
        </p:nvSpPr>
        <p:spPr>
          <a:xfrm>
            <a:off x="5120640" y="2606040"/>
            <a:ext cx="3840480" cy="731520"/>
          </a:xfrm>
          <a:prstGeom prst="roundRect">
            <a:avLst>
              <a:gd name="adj" fmla="val 8750"/>
            </a:avLst>
          </a:prstGeom>
          <a:solidFill>
            <a:srgbClr val="E3F2FD"/>
          </a:solidFill>
          <a:ln/>
          <a:effectLst>
            <a:outerShdw blurRad="63500" dist="25400" dir="2700000" algn="bl" rotWithShape="0">
              <a:srgbClr val="000000">
                <a:alpha val="12000"/>
              </a:srgbClr>
            </a:outerShdw>
          </a:effectLst>
        </p:spPr>
        <p:txBody>
          <a:bodyPr/>
          <a:lstStyle/>
          <a:p>
            <a:endParaRPr lang="en-US"/>
          </a:p>
        </p:txBody>
      </p:sp>
      <p:sp>
        <p:nvSpPr>
          <p:cNvPr id="34" name="Text 32"/>
          <p:cNvSpPr/>
          <p:nvPr/>
        </p:nvSpPr>
        <p:spPr>
          <a:xfrm>
            <a:off x="5257800" y="2651760"/>
            <a:ext cx="3566160" cy="256032"/>
          </a:xfrm>
          <a:prstGeom prst="rect">
            <a:avLst/>
          </a:prstGeom>
          <a:noFill/>
          <a:ln/>
        </p:spPr>
        <p:txBody>
          <a:bodyPr wrap="square" rtlCol="0" anchor="ctr"/>
          <a:lstStyle/>
          <a:p>
            <a:pPr marL="0" indent="0">
              <a:buNone/>
            </a:pPr>
            <a:r>
              <a:rPr lang="en-US" sz="1100" b="1" dirty="0">
                <a:solidFill>
                  <a:srgbClr val="37474F"/>
                </a:solidFill>
                <a:latin typeface="Courier New" pitchFamily="34" charset="0"/>
                <a:ea typeface="Courier New" pitchFamily="34" charset="-122"/>
                <a:cs typeface="Courier New" pitchFamily="34" charset="-120"/>
              </a:rPr>
              <a:t>loops.everyInterval</a:t>
            </a:r>
            <a:endParaRPr lang="en-US" sz="1100" dirty="0"/>
          </a:p>
        </p:txBody>
      </p:sp>
      <p:sp>
        <p:nvSpPr>
          <p:cNvPr id="35" name="Text 33"/>
          <p:cNvSpPr/>
          <p:nvPr/>
        </p:nvSpPr>
        <p:spPr>
          <a:xfrm>
            <a:off x="5257800" y="2907792"/>
            <a:ext cx="3566160" cy="365760"/>
          </a:xfrm>
          <a:prstGeom prst="rect">
            <a:avLst/>
          </a:prstGeom>
          <a:noFill/>
          <a:ln/>
        </p:spPr>
        <p:txBody>
          <a:bodyPr wrap="square" rtlCol="0" anchor="ctr"/>
          <a:lstStyle/>
          <a:p>
            <a:pPr marL="0" indent="0">
              <a:buNone/>
            </a:pPr>
            <a:r>
              <a:rPr lang="en-US" sz="1050" dirty="0">
                <a:solidFill>
                  <a:srgbClr val="1A1A1A"/>
                </a:solidFill>
                <a:latin typeface="Arial" pitchFamily="34" charset="0"/>
                <a:ea typeface="Arial" pitchFamily="34" charset="-122"/>
                <a:cs typeface="Arial" pitchFamily="34" charset="-120"/>
              </a:rPr>
              <a:t>Fires every 50ms — our physics tick. Gravity applied repeatedly = acceleration</a:t>
            </a:r>
            <a:endParaRPr lang="en-US" sz="1050" dirty="0"/>
          </a:p>
        </p:txBody>
      </p:sp>
      <p:sp>
        <p:nvSpPr>
          <p:cNvPr id="36" name="Shape 34"/>
          <p:cNvSpPr/>
          <p:nvPr/>
        </p:nvSpPr>
        <p:spPr>
          <a:xfrm>
            <a:off x="5120640" y="3429000"/>
            <a:ext cx="3840480" cy="731520"/>
          </a:xfrm>
          <a:prstGeom prst="roundRect">
            <a:avLst>
              <a:gd name="adj" fmla="val 8750"/>
            </a:avLst>
          </a:prstGeom>
          <a:solidFill>
            <a:srgbClr val="C8E6C9"/>
          </a:solidFill>
          <a:ln/>
          <a:effectLst>
            <a:outerShdw blurRad="63500" dist="25400" dir="2700000" algn="bl" rotWithShape="0">
              <a:srgbClr val="000000">
                <a:alpha val="12000"/>
              </a:srgbClr>
            </a:outerShdw>
          </a:effectLst>
        </p:spPr>
        <p:txBody>
          <a:bodyPr/>
          <a:lstStyle/>
          <a:p>
            <a:endParaRPr lang="en-US"/>
          </a:p>
        </p:txBody>
      </p:sp>
      <p:sp>
        <p:nvSpPr>
          <p:cNvPr id="37" name="Text 35"/>
          <p:cNvSpPr/>
          <p:nvPr/>
        </p:nvSpPr>
        <p:spPr>
          <a:xfrm>
            <a:off x="5257800" y="3474720"/>
            <a:ext cx="3566160" cy="256032"/>
          </a:xfrm>
          <a:prstGeom prst="rect">
            <a:avLst/>
          </a:prstGeom>
          <a:noFill/>
          <a:ln/>
        </p:spPr>
        <p:txBody>
          <a:bodyPr wrap="square" rtlCol="0" anchor="ctr"/>
          <a:lstStyle/>
          <a:p>
            <a:pPr marL="0" indent="0">
              <a:buNone/>
            </a:pPr>
            <a:r>
              <a:rPr lang="en-US" sz="1100" b="1" dirty="0">
                <a:solidFill>
                  <a:srgbClr val="558B2F"/>
                </a:solidFill>
                <a:latin typeface="Courier New" pitchFamily="34" charset="0"/>
                <a:ea typeface="Courier New" pitchFamily="34" charset="-122"/>
                <a:cs typeface="Courier New" pitchFamily="34" charset="-120"/>
              </a:rPr>
              <a:t>velocityY += GRAVITY</a:t>
            </a:r>
            <a:endParaRPr lang="en-US" sz="1100" dirty="0"/>
          </a:p>
        </p:txBody>
      </p:sp>
      <p:sp>
        <p:nvSpPr>
          <p:cNvPr id="38" name="Text 36"/>
          <p:cNvSpPr/>
          <p:nvPr/>
        </p:nvSpPr>
        <p:spPr>
          <a:xfrm>
            <a:off x="5257800" y="3730752"/>
            <a:ext cx="3566160" cy="365760"/>
          </a:xfrm>
          <a:prstGeom prst="rect">
            <a:avLst/>
          </a:prstGeom>
          <a:noFill/>
          <a:ln/>
        </p:spPr>
        <p:txBody>
          <a:bodyPr wrap="square" rtlCol="0" anchor="ctr"/>
          <a:lstStyle/>
          <a:p>
            <a:pPr marL="0" indent="0">
              <a:buNone/>
            </a:pPr>
            <a:r>
              <a:rPr lang="en-US" sz="1050" dirty="0">
                <a:solidFill>
                  <a:srgbClr val="1A1A1A"/>
                </a:solidFill>
                <a:latin typeface="Arial" pitchFamily="34" charset="0"/>
                <a:ea typeface="Arial" pitchFamily="34" charset="-122"/>
                <a:cs typeface="Arial" pitchFamily="34" charset="-120"/>
              </a:rPr>
              <a:t>Each tick velocity changes — this IS the definition of acceleration</a:t>
            </a:r>
            <a:endParaRPr lang="en-US" sz="1050" dirty="0"/>
          </a:p>
        </p:txBody>
      </p:sp>
      <p:sp>
        <p:nvSpPr>
          <p:cNvPr id="39" name="Shape 37"/>
          <p:cNvSpPr/>
          <p:nvPr/>
        </p:nvSpPr>
        <p:spPr>
          <a:xfrm>
            <a:off x="5120640" y="4251960"/>
            <a:ext cx="3840480" cy="731520"/>
          </a:xfrm>
          <a:prstGeom prst="roundRect">
            <a:avLst>
              <a:gd name="adj" fmla="val 8750"/>
            </a:avLst>
          </a:prstGeom>
          <a:solidFill>
            <a:srgbClr val="FFF9C4"/>
          </a:solidFill>
          <a:ln/>
          <a:effectLst>
            <a:outerShdw blurRad="63500" dist="25400" dir="2700000" algn="bl" rotWithShape="0">
              <a:srgbClr val="000000">
                <a:alpha val="12000"/>
              </a:srgbClr>
            </a:outerShdw>
          </a:effectLst>
        </p:spPr>
        <p:txBody>
          <a:bodyPr/>
          <a:lstStyle/>
          <a:p>
            <a:endParaRPr lang="en-US"/>
          </a:p>
        </p:txBody>
      </p:sp>
      <p:sp>
        <p:nvSpPr>
          <p:cNvPr id="40" name="Text 38"/>
          <p:cNvSpPr/>
          <p:nvPr/>
        </p:nvSpPr>
        <p:spPr>
          <a:xfrm>
            <a:off x="5257800" y="4297680"/>
            <a:ext cx="3566160" cy="256032"/>
          </a:xfrm>
          <a:prstGeom prst="rect">
            <a:avLst/>
          </a:prstGeom>
          <a:noFill/>
          <a:ln/>
        </p:spPr>
        <p:txBody>
          <a:bodyPr wrap="square" rtlCol="0" anchor="ctr"/>
          <a:lstStyle/>
          <a:p>
            <a:pPr marL="0" indent="0">
              <a:buNone/>
            </a:pPr>
            <a:r>
              <a:rPr lang="en-US" sz="1100" b="1" dirty="0">
                <a:solidFill>
                  <a:srgbClr val="F57F17"/>
                </a:solidFill>
                <a:latin typeface="Courier New" pitchFamily="34" charset="0"/>
                <a:ea typeface="Courier New" pitchFamily="34" charset="-122"/>
                <a:cs typeface="Courier New" pitchFamily="34" charset="-120"/>
              </a:rPr>
              <a:t>onGround check</a:t>
            </a:r>
            <a:endParaRPr lang="en-US" sz="1100" dirty="0"/>
          </a:p>
        </p:txBody>
      </p:sp>
      <p:sp>
        <p:nvSpPr>
          <p:cNvPr id="41" name="Text 39"/>
          <p:cNvSpPr/>
          <p:nvPr/>
        </p:nvSpPr>
        <p:spPr>
          <a:xfrm>
            <a:off x="5257800" y="4553712"/>
            <a:ext cx="3566160" cy="365760"/>
          </a:xfrm>
          <a:prstGeom prst="rect">
            <a:avLst/>
          </a:prstGeom>
          <a:noFill/>
          <a:ln/>
        </p:spPr>
        <p:txBody>
          <a:bodyPr wrap="square" rtlCol="0" anchor="ctr"/>
          <a:lstStyle/>
          <a:p>
            <a:pPr marL="0" indent="0">
              <a:buNone/>
            </a:pPr>
            <a:r>
              <a:rPr lang="en-US" sz="1050" dirty="0">
                <a:solidFill>
                  <a:srgbClr val="1A1A1A"/>
                </a:solidFill>
                <a:latin typeface="Arial" pitchFamily="34" charset="0"/>
                <a:ea typeface="Arial" pitchFamily="34" charset="-122"/>
                <a:cs typeface="Arial" pitchFamily="34" charset="-120"/>
              </a:rPr>
              <a:t>Prevents mid-air jumping — same as is_on_floor() in Godot!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558B2F"/>
          </a:solidFill>
          <a:ln w="12700">
            <a:solidFill>
              <a:srgbClr val="000000"/>
            </a:solidFill>
            <a:prstDash val="solid"/>
          </a:ln>
        </p:spPr>
        <p:txBody>
          <a:bodyPr/>
          <a:lstStyle/>
          <a:p>
            <a:endParaRPr lang="en-US"/>
          </a:p>
        </p:txBody>
      </p:sp>
      <p:sp>
        <p:nvSpPr>
          <p:cNvPr id="3" name="Text 1"/>
          <p:cNvSpPr/>
          <p:nvPr/>
        </p:nvSpPr>
        <p:spPr>
          <a:xfrm>
            <a:off x="365760" y="137160"/>
            <a:ext cx="8229600" cy="64008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Minecraft vs. Godot: Sign Convention</a:t>
            </a:r>
            <a:endParaRPr lang="en-US" sz="3000" dirty="0"/>
          </a:p>
        </p:txBody>
      </p:sp>
      <p:sp>
        <p:nvSpPr>
          <p:cNvPr id="4" name="Shape 2"/>
          <p:cNvSpPr/>
          <p:nvPr/>
        </p:nvSpPr>
        <p:spPr>
          <a:xfrm>
            <a:off x="274320" y="1005840"/>
            <a:ext cx="4160520" cy="3749040"/>
          </a:xfrm>
          <a:prstGeom prst="roundRect">
            <a:avLst>
              <a:gd name="adj" fmla="val 2439"/>
            </a:avLst>
          </a:prstGeom>
          <a:solidFill>
            <a:srgbClr val="E8F5E9"/>
          </a:solidFill>
          <a:ln/>
          <a:effectLst>
            <a:outerShdw blurRad="63500" dist="25400" dir="2700000" algn="bl" rotWithShape="0">
              <a:srgbClr val="000000">
                <a:alpha val="12000"/>
              </a:srgbClr>
            </a:outerShdw>
          </a:effectLst>
        </p:spPr>
        <p:txBody>
          <a:bodyPr/>
          <a:lstStyle/>
          <a:p>
            <a:endParaRPr lang="en-US" dirty="0"/>
          </a:p>
        </p:txBody>
      </p:sp>
      <p:sp>
        <p:nvSpPr>
          <p:cNvPr id="5" name="Text 3"/>
          <p:cNvSpPr/>
          <p:nvPr/>
        </p:nvSpPr>
        <p:spPr>
          <a:xfrm>
            <a:off x="365760" y="1097280"/>
            <a:ext cx="3931920" cy="411480"/>
          </a:xfrm>
          <a:prstGeom prst="rect">
            <a:avLst/>
          </a:prstGeom>
          <a:noFill/>
          <a:ln/>
        </p:spPr>
        <p:txBody>
          <a:bodyPr wrap="square" rtlCol="0" anchor="ctr"/>
          <a:lstStyle/>
          <a:p>
            <a:pPr marL="0" indent="0" algn="ctr">
              <a:buNone/>
            </a:pPr>
            <a:r>
              <a:rPr lang="en-US" sz="1500" b="1" dirty="0">
                <a:solidFill>
                  <a:srgbClr val="1B5E20"/>
                </a:solidFill>
                <a:latin typeface="Arial" pitchFamily="34" charset="0"/>
                <a:ea typeface="Arial" pitchFamily="34" charset="-122"/>
                <a:cs typeface="Arial" pitchFamily="34" charset="-120"/>
              </a:rPr>
              <a:t>MINECRAFT WORLD</a:t>
            </a:r>
            <a:endParaRPr lang="en-US" sz="1500" dirty="0"/>
          </a:p>
        </p:txBody>
      </p:sp>
      <p:sp>
        <p:nvSpPr>
          <p:cNvPr id="7" name="Text 5"/>
          <p:cNvSpPr/>
          <p:nvPr/>
        </p:nvSpPr>
        <p:spPr>
          <a:xfrm>
            <a:off x="411480" y="1655858"/>
            <a:ext cx="3840480" cy="301752"/>
          </a:xfrm>
          <a:prstGeom prst="rect">
            <a:avLst/>
          </a:prstGeom>
          <a:noFill/>
          <a:ln/>
        </p:spPr>
        <p:txBody>
          <a:bodyPr wrap="square" rtlCol="0" anchor="ctr"/>
          <a:lstStyle/>
          <a:p>
            <a:pPr marL="0" indent="0" algn="ctr">
              <a:buNone/>
            </a:pPr>
            <a:r>
              <a:rPr lang="en-US" sz="1250" b="1" dirty="0">
                <a:solidFill>
                  <a:srgbClr val="558B2F"/>
                </a:solidFill>
                <a:latin typeface="Courier New" pitchFamily="34" charset="0"/>
                <a:ea typeface="Courier New" pitchFamily="34" charset="-122"/>
                <a:cs typeface="Courier New" pitchFamily="34" charset="-120"/>
              </a:rPr>
              <a:t>Y+ = UP  ↑</a:t>
            </a:r>
            <a:endParaRPr lang="en-US" sz="1250" dirty="0"/>
          </a:p>
        </p:txBody>
      </p:sp>
      <p:sp>
        <p:nvSpPr>
          <p:cNvPr id="8" name="Text 6"/>
          <p:cNvSpPr/>
          <p:nvPr/>
        </p:nvSpPr>
        <p:spPr>
          <a:xfrm>
            <a:off x="411480" y="2633472"/>
            <a:ext cx="3840480" cy="301752"/>
          </a:xfrm>
          <a:prstGeom prst="rect">
            <a:avLst/>
          </a:prstGeom>
          <a:noFill/>
          <a:ln/>
        </p:spPr>
        <p:txBody>
          <a:bodyPr wrap="square" rtlCol="0" anchor="ctr"/>
          <a:lstStyle/>
          <a:p>
            <a:pPr marL="0" indent="0" algn="ctr">
              <a:buNone/>
            </a:pPr>
            <a:endParaRPr lang="en-US" sz="1250" dirty="0"/>
          </a:p>
        </p:txBody>
      </p:sp>
      <p:sp>
        <p:nvSpPr>
          <p:cNvPr id="9" name="Text 7"/>
          <p:cNvSpPr/>
          <p:nvPr/>
        </p:nvSpPr>
        <p:spPr>
          <a:xfrm>
            <a:off x="411480" y="2259362"/>
            <a:ext cx="3840480" cy="301752"/>
          </a:xfrm>
          <a:prstGeom prst="rect">
            <a:avLst/>
          </a:prstGeom>
          <a:noFill/>
          <a:ln/>
        </p:spPr>
        <p:txBody>
          <a:bodyPr wrap="square" rtlCol="0" anchor="ctr"/>
          <a:lstStyle/>
          <a:p>
            <a:pPr marL="0" indent="0" algn="ctr">
              <a:buNone/>
            </a:pPr>
            <a:r>
              <a:rPr lang="en-US" sz="1250" dirty="0">
                <a:solidFill>
                  <a:srgbClr val="558B2F"/>
                </a:solidFill>
                <a:latin typeface="Arial" pitchFamily="34" charset="0"/>
                <a:ea typeface="Arial" pitchFamily="34" charset="-122"/>
                <a:cs typeface="Arial" pitchFamily="34" charset="-120"/>
              </a:rPr>
              <a:t>Jump velocity: +10</a:t>
            </a:r>
            <a:endParaRPr lang="en-US" sz="1250" dirty="0"/>
          </a:p>
        </p:txBody>
      </p:sp>
      <p:sp>
        <p:nvSpPr>
          <p:cNvPr id="10" name="Text 8"/>
          <p:cNvSpPr/>
          <p:nvPr/>
        </p:nvSpPr>
        <p:spPr>
          <a:xfrm>
            <a:off x="411480" y="2561114"/>
            <a:ext cx="3840480" cy="301752"/>
          </a:xfrm>
          <a:prstGeom prst="rect">
            <a:avLst/>
          </a:prstGeom>
          <a:noFill/>
          <a:ln/>
        </p:spPr>
        <p:txBody>
          <a:bodyPr wrap="square" rtlCol="0" anchor="ctr"/>
          <a:lstStyle/>
          <a:p>
            <a:pPr marL="0" indent="0" algn="ctr">
              <a:buNone/>
            </a:pPr>
            <a:r>
              <a:rPr lang="en-US" sz="1250" dirty="0">
                <a:solidFill>
                  <a:srgbClr val="558B2F"/>
                </a:solidFill>
                <a:latin typeface="Courier New" pitchFamily="34" charset="0"/>
                <a:ea typeface="Courier New" pitchFamily="34" charset="-122"/>
                <a:cs typeface="Courier New" pitchFamily="34" charset="-120"/>
              </a:rPr>
              <a:t>(positive = upward)</a:t>
            </a:r>
            <a:endParaRPr lang="en-US" sz="1250" dirty="0"/>
          </a:p>
        </p:txBody>
      </p:sp>
      <p:sp>
        <p:nvSpPr>
          <p:cNvPr id="11" name="Text 9"/>
          <p:cNvSpPr/>
          <p:nvPr/>
        </p:nvSpPr>
        <p:spPr>
          <a:xfrm>
            <a:off x="411480" y="3538728"/>
            <a:ext cx="3840480" cy="301752"/>
          </a:xfrm>
          <a:prstGeom prst="rect">
            <a:avLst/>
          </a:prstGeom>
          <a:noFill/>
          <a:ln/>
        </p:spPr>
        <p:txBody>
          <a:bodyPr wrap="square" rtlCol="0" anchor="ctr"/>
          <a:lstStyle/>
          <a:p>
            <a:pPr marL="0" indent="0" algn="ctr">
              <a:buNone/>
            </a:pPr>
            <a:endParaRPr lang="en-US" sz="1250" dirty="0"/>
          </a:p>
        </p:txBody>
      </p:sp>
      <p:sp>
        <p:nvSpPr>
          <p:cNvPr id="12" name="Text 10"/>
          <p:cNvSpPr/>
          <p:nvPr/>
        </p:nvSpPr>
        <p:spPr>
          <a:xfrm>
            <a:off x="411480" y="3164618"/>
            <a:ext cx="3840480" cy="301752"/>
          </a:xfrm>
          <a:prstGeom prst="rect">
            <a:avLst/>
          </a:prstGeom>
          <a:noFill/>
          <a:ln/>
        </p:spPr>
        <p:txBody>
          <a:bodyPr wrap="square" rtlCol="0" anchor="ctr"/>
          <a:lstStyle/>
          <a:p>
            <a:pPr marL="0" indent="0" algn="ctr">
              <a:buNone/>
            </a:pPr>
            <a:r>
              <a:rPr lang="en-US" sz="1250" dirty="0">
                <a:solidFill>
                  <a:srgbClr val="C62828"/>
                </a:solidFill>
                <a:latin typeface="Courier New" pitchFamily="34" charset="0"/>
                <a:ea typeface="Courier New" pitchFamily="34" charset="-122"/>
                <a:cs typeface="Courier New" pitchFamily="34" charset="-120"/>
              </a:rPr>
              <a:t>GRAVITY = −0.6</a:t>
            </a:r>
            <a:endParaRPr lang="en-US" sz="1250" dirty="0"/>
          </a:p>
        </p:txBody>
      </p:sp>
      <p:sp>
        <p:nvSpPr>
          <p:cNvPr id="13" name="Text 11"/>
          <p:cNvSpPr/>
          <p:nvPr/>
        </p:nvSpPr>
        <p:spPr>
          <a:xfrm>
            <a:off x="411480" y="4142232"/>
            <a:ext cx="3840480" cy="301752"/>
          </a:xfrm>
          <a:prstGeom prst="rect">
            <a:avLst/>
          </a:prstGeom>
          <a:noFill/>
          <a:ln/>
        </p:spPr>
        <p:txBody>
          <a:bodyPr wrap="square" rtlCol="0" anchor="ctr"/>
          <a:lstStyle/>
          <a:p>
            <a:pPr marL="0" indent="0" algn="ctr">
              <a:buNone/>
            </a:pPr>
            <a:r>
              <a:rPr lang="en-US" sz="1250" dirty="0">
                <a:solidFill>
                  <a:srgbClr val="C62828"/>
                </a:solidFill>
                <a:latin typeface="Courier New" pitchFamily="34" charset="0"/>
                <a:ea typeface="Courier New" pitchFamily="34" charset="-122"/>
                <a:cs typeface="Courier New" pitchFamily="34" charset="-120"/>
              </a:rPr>
              <a:t>(negative = downward)</a:t>
            </a:r>
            <a:endParaRPr lang="en-US" sz="1250" dirty="0"/>
          </a:p>
        </p:txBody>
      </p:sp>
      <p:sp>
        <p:nvSpPr>
          <p:cNvPr id="14" name="Shape 12"/>
          <p:cNvSpPr/>
          <p:nvPr/>
        </p:nvSpPr>
        <p:spPr>
          <a:xfrm>
            <a:off x="411480" y="3665550"/>
            <a:ext cx="3840480" cy="411480"/>
          </a:xfrm>
          <a:prstGeom prst="roundRect">
            <a:avLst>
              <a:gd name="adj" fmla="val 13333"/>
            </a:avLst>
          </a:prstGeom>
          <a:solidFill>
            <a:srgbClr val="1B5E20"/>
          </a:solidFill>
          <a:ln/>
        </p:spPr>
        <p:txBody>
          <a:bodyPr/>
          <a:lstStyle/>
          <a:p>
            <a:endParaRPr lang="en-US"/>
          </a:p>
        </p:txBody>
      </p:sp>
      <p:sp>
        <p:nvSpPr>
          <p:cNvPr id="15" name="Text 13"/>
          <p:cNvSpPr/>
          <p:nvPr/>
        </p:nvSpPr>
        <p:spPr>
          <a:xfrm>
            <a:off x="411480" y="3665550"/>
            <a:ext cx="3840480" cy="41148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JUMP_FORCE is POSITIVE</a:t>
            </a:r>
            <a:endParaRPr lang="en-US" sz="1200" dirty="0"/>
          </a:p>
        </p:txBody>
      </p:sp>
      <p:sp>
        <p:nvSpPr>
          <p:cNvPr id="16" name="Shape 14"/>
          <p:cNvSpPr/>
          <p:nvPr/>
        </p:nvSpPr>
        <p:spPr>
          <a:xfrm>
            <a:off x="4709160" y="1005840"/>
            <a:ext cx="4160520" cy="3749040"/>
          </a:xfrm>
          <a:prstGeom prst="roundRect">
            <a:avLst>
              <a:gd name="adj" fmla="val 2439"/>
            </a:avLst>
          </a:prstGeom>
          <a:solidFill>
            <a:srgbClr val="E3F2FD"/>
          </a:solidFill>
          <a:ln/>
          <a:effectLst>
            <a:outerShdw blurRad="63500" dist="25400" dir="2700000" algn="bl" rotWithShape="0">
              <a:srgbClr val="000000">
                <a:alpha val="12000"/>
              </a:srgbClr>
            </a:outerShdw>
          </a:effectLst>
        </p:spPr>
        <p:txBody>
          <a:bodyPr/>
          <a:lstStyle/>
          <a:p>
            <a:endParaRPr lang="en-US"/>
          </a:p>
        </p:txBody>
      </p:sp>
      <p:sp>
        <p:nvSpPr>
          <p:cNvPr id="17" name="Text 15"/>
          <p:cNvSpPr/>
          <p:nvPr/>
        </p:nvSpPr>
        <p:spPr>
          <a:xfrm>
            <a:off x="4800600" y="1097280"/>
            <a:ext cx="3931920" cy="411480"/>
          </a:xfrm>
          <a:prstGeom prst="rect">
            <a:avLst/>
          </a:prstGeom>
          <a:noFill/>
          <a:ln/>
        </p:spPr>
        <p:txBody>
          <a:bodyPr wrap="square" rtlCol="0" anchor="ctr"/>
          <a:lstStyle/>
          <a:p>
            <a:pPr marL="0" indent="0" algn="ctr">
              <a:buNone/>
            </a:pPr>
            <a:r>
              <a:rPr lang="en-US" sz="1500" b="1" dirty="0">
                <a:solidFill>
                  <a:srgbClr val="1565C0"/>
                </a:solidFill>
                <a:latin typeface="Arial" pitchFamily="34" charset="0"/>
                <a:ea typeface="Arial" pitchFamily="34" charset="-122"/>
                <a:cs typeface="Arial" pitchFamily="34" charset="-120"/>
              </a:rPr>
              <a:t>SCREEN SPACE (GODOT)</a:t>
            </a:r>
            <a:endParaRPr lang="en-US" sz="1500" dirty="0"/>
          </a:p>
        </p:txBody>
      </p:sp>
      <p:sp>
        <p:nvSpPr>
          <p:cNvPr id="19" name="Text 17"/>
          <p:cNvSpPr/>
          <p:nvPr/>
        </p:nvSpPr>
        <p:spPr>
          <a:xfrm>
            <a:off x="4846320" y="1608150"/>
            <a:ext cx="3840480" cy="301752"/>
          </a:xfrm>
          <a:prstGeom prst="rect">
            <a:avLst/>
          </a:prstGeom>
          <a:noFill/>
          <a:ln/>
        </p:spPr>
        <p:txBody>
          <a:bodyPr wrap="square" rtlCol="0" anchor="ctr"/>
          <a:lstStyle/>
          <a:p>
            <a:pPr marL="0" indent="0" algn="ctr">
              <a:buNone/>
            </a:pPr>
            <a:r>
              <a:rPr lang="en-US" sz="1250" b="1" dirty="0">
                <a:solidFill>
                  <a:srgbClr val="558B2F"/>
                </a:solidFill>
                <a:latin typeface="Courier New" pitchFamily="34" charset="0"/>
                <a:ea typeface="Courier New" pitchFamily="34" charset="-122"/>
                <a:cs typeface="Courier New" pitchFamily="34" charset="-120"/>
              </a:rPr>
              <a:t>Y+ = DOWN  ↓</a:t>
            </a:r>
            <a:endParaRPr lang="en-US" sz="1250" dirty="0"/>
          </a:p>
        </p:txBody>
      </p:sp>
      <p:sp>
        <p:nvSpPr>
          <p:cNvPr id="20" name="Text 18"/>
          <p:cNvSpPr/>
          <p:nvPr/>
        </p:nvSpPr>
        <p:spPr>
          <a:xfrm>
            <a:off x="4846320" y="2633472"/>
            <a:ext cx="3840480" cy="301752"/>
          </a:xfrm>
          <a:prstGeom prst="rect">
            <a:avLst/>
          </a:prstGeom>
          <a:noFill/>
          <a:ln/>
        </p:spPr>
        <p:txBody>
          <a:bodyPr wrap="square" rtlCol="0" anchor="ctr"/>
          <a:lstStyle/>
          <a:p>
            <a:pPr marL="0" indent="0" algn="ctr">
              <a:buNone/>
            </a:pPr>
            <a:endParaRPr lang="en-US" sz="1250" dirty="0"/>
          </a:p>
        </p:txBody>
      </p:sp>
      <p:sp>
        <p:nvSpPr>
          <p:cNvPr id="21" name="Text 19"/>
          <p:cNvSpPr/>
          <p:nvPr/>
        </p:nvSpPr>
        <p:spPr>
          <a:xfrm>
            <a:off x="4846320" y="2211654"/>
            <a:ext cx="3840480" cy="301752"/>
          </a:xfrm>
          <a:prstGeom prst="rect">
            <a:avLst/>
          </a:prstGeom>
          <a:noFill/>
          <a:ln/>
        </p:spPr>
        <p:txBody>
          <a:bodyPr wrap="square" rtlCol="0" anchor="ctr"/>
          <a:lstStyle/>
          <a:p>
            <a:pPr marL="0" indent="0" algn="ctr">
              <a:buNone/>
            </a:pPr>
            <a:r>
              <a:rPr lang="en-US" sz="1250" dirty="0">
                <a:solidFill>
                  <a:srgbClr val="C62828"/>
                </a:solidFill>
                <a:latin typeface="Arial" pitchFamily="34" charset="0"/>
                <a:ea typeface="Arial" pitchFamily="34" charset="-122"/>
                <a:cs typeface="Arial" pitchFamily="34" charset="-120"/>
              </a:rPr>
              <a:t>Jump velocity: −500</a:t>
            </a:r>
            <a:endParaRPr lang="en-US" sz="1250" dirty="0"/>
          </a:p>
        </p:txBody>
      </p:sp>
      <p:sp>
        <p:nvSpPr>
          <p:cNvPr id="22" name="Text 20"/>
          <p:cNvSpPr/>
          <p:nvPr/>
        </p:nvSpPr>
        <p:spPr>
          <a:xfrm>
            <a:off x="4846320" y="2513406"/>
            <a:ext cx="3840480" cy="301752"/>
          </a:xfrm>
          <a:prstGeom prst="rect">
            <a:avLst/>
          </a:prstGeom>
          <a:noFill/>
          <a:ln/>
        </p:spPr>
        <p:txBody>
          <a:bodyPr wrap="square" rtlCol="0" anchor="ctr"/>
          <a:lstStyle/>
          <a:p>
            <a:pPr marL="0" indent="0" algn="ctr">
              <a:buNone/>
            </a:pPr>
            <a:r>
              <a:rPr lang="en-US" sz="1250" dirty="0">
                <a:solidFill>
                  <a:srgbClr val="C62828"/>
                </a:solidFill>
                <a:latin typeface="Courier New" pitchFamily="34" charset="0"/>
                <a:ea typeface="Courier New" pitchFamily="34" charset="-122"/>
                <a:cs typeface="Courier New" pitchFamily="34" charset="-120"/>
              </a:rPr>
              <a:t>(negative = upward on screen)</a:t>
            </a:r>
            <a:endParaRPr lang="en-US" sz="1250" dirty="0"/>
          </a:p>
        </p:txBody>
      </p:sp>
      <p:sp>
        <p:nvSpPr>
          <p:cNvPr id="23" name="Text 21"/>
          <p:cNvSpPr/>
          <p:nvPr/>
        </p:nvSpPr>
        <p:spPr>
          <a:xfrm>
            <a:off x="4846320" y="3538728"/>
            <a:ext cx="3840480" cy="301752"/>
          </a:xfrm>
          <a:prstGeom prst="rect">
            <a:avLst/>
          </a:prstGeom>
          <a:noFill/>
          <a:ln/>
        </p:spPr>
        <p:txBody>
          <a:bodyPr wrap="square" rtlCol="0" anchor="ctr"/>
          <a:lstStyle/>
          <a:p>
            <a:pPr marL="0" indent="0" algn="ctr">
              <a:buNone/>
            </a:pPr>
            <a:endParaRPr lang="en-US" sz="1250" dirty="0"/>
          </a:p>
        </p:txBody>
      </p:sp>
      <p:sp>
        <p:nvSpPr>
          <p:cNvPr id="24" name="Text 22"/>
          <p:cNvSpPr/>
          <p:nvPr/>
        </p:nvSpPr>
        <p:spPr>
          <a:xfrm>
            <a:off x="4846320" y="3116910"/>
            <a:ext cx="3840480" cy="301752"/>
          </a:xfrm>
          <a:prstGeom prst="rect">
            <a:avLst/>
          </a:prstGeom>
          <a:noFill/>
          <a:ln/>
        </p:spPr>
        <p:txBody>
          <a:bodyPr wrap="square" rtlCol="0" anchor="ctr"/>
          <a:lstStyle/>
          <a:p>
            <a:pPr marL="0" indent="0" algn="ctr">
              <a:buNone/>
            </a:pPr>
            <a:r>
              <a:rPr lang="en-US" sz="1250" dirty="0">
                <a:solidFill>
                  <a:srgbClr val="558B2F"/>
                </a:solidFill>
                <a:latin typeface="Courier New" pitchFamily="34" charset="0"/>
                <a:ea typeface="Courier New" pitchFamily="34" charset="-122"/>
                <a:cs typeface="Courier New" pitchFamily="34" charset="-120"/>
              </a:rPr>
              <a:t>GRAVITY = +980</a:t>
            </a:r>
            <a:endParaRPr lang="en-US" sz="1250" dirty="0"/>
          </a:p>
        </p:txBody>
      </p:sp>
      <p:sp>
        <p:nvSpPr>
          <p:cNvPr id="25" name="Text 23"/>
          <p:cNvSpPr/>
          <p:nvPr/>
        </p:nvSpPr>
        <p:spPr>
          <a:xfrm>
            <a:off x="4846320" y="4142232"/>
            <a:ext cx="3840480" cy="301752"/>
          </a:xfrm>
          <a:prstGeom prst="rect">
            <a:avLst/>
          </a:prstGeom>
          <a:noFill/>
          <a:ln/>
        </p:spPr>
        <p:txBody>
          <a:bodyPr wrap="square" rtlCol="0" anchor="ctr"/>
          <a:lstStyle/>
          <a:p>
            <a:pPr marL="0" indent="0" algn="ctr">
              <a:buNone/>
            </a:pPr>
            <a:r>
              <a:rPr lang="en-US" sz="1250" dirty="0">
                <a:solidFill>
                  <a:srgbClr val="558B2F"/>
                </a:solidFill>
                <a:latin typeface="Courier New" pitchFamily="34" charset="0"/>
                <a:ea typeface="Courier New" pitchFamily="34" charset="-122"/>
                <a:cs typeface="Courier New" pitchFamily="34" charset="-120"/>
              </a:rPr>
              <a:t>(positive = downward on screen)</a:t>
            </a:r>
            <a:endParaRPr lang="en-US" sz="1250" dirty="0"/>
          </a:p>
        </p:txBody>
      </p:sp>
      <p:sp>
        <p:nvSpPr>
          <p:cNvPr id="26" name="Shape 24"/>
          <p:cNvSpPr/>
          <p:nvPr/>
        </p:nvSpPr>
        <p:spPr>
          <a:xfrm>
            <a:off x="4846320" y="3665553"/>
            <a:ext cx="3840480" cy="411480"/>
          </a:xfrm>
          <a:prstGeom prst="roundRect">
            <a:avLst>
              <a:gd name="adj" fmla="val 13333"/>
            </a:avLst>
          </a:prstGeom>
          <a:solidFill>
            <a:srgbClr val="1565C0"/>
          </a:solidFill>
          <a:ln/>
        </p:spPr>
        <p:txBody>
          <a:bodyPr/>
          <a:lstStyle/>
          <a:p>
            <a:endParaRPr lang="en-US"/>
          </a:p>
        </p:txBody>
      </p:sp>
      <p:sp>
        <p:nvSpPr>
          <p:cNvPr id="27" name="Text 25"/>
          <p:cNvSpPr/>
          <p:nvPr/>
        </p:nvSpPr>
        <p:spPr>
          <a:xfrm>
            <a:off x="4846320" y="3665553"/>
            <a:ext cx="3840480" cy="41148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JUMP_VELOCITY is NEGATIVE</a:t>
            </a:r>
            <a:endParaRPr lang="en-US" sz="1200" dirty="0"/>
          </a:p>
        </p:txBody>
      </p:sp>
      <p:sp>
        <p:nvSpPr>
          <p:cNvPr id="28" name="Shape 26"/>
          <p:cNvSpPr/>
          <p:nvPr/>
        </p:nvSpPr>
        <p:spPr>
          <a:xfrm>
            <a:off x="274320" y="4617720"/>
            <a:ext cx="8595360" cy="365760"/>
          </a:xfrm>
          <a:prstGeom prst="roundRect">
            <a:avLst>
              <a:gd name="adj" fmla="val 15000"/>
            </a:avLst>
          </a:prstGeom>
          <a:solidFill>
            <a:srgbClr val="1B5E20"/>
          </a:solidFill>
          <a:ln/>
        </p:spPr>
        <p:txBody>
          <a:bodyPr/>
          <a:lstStyle/>
          <a:p>
            <a:endParaRPr lang="en-US"/>
          </a:p>
        </p:txBody>
      </p:sp>
      <p:sp>
        <p:nvSpPr>
          <p:cNvPr id="29" name="Text 27"/>
          <p:cNvSpPr/>
          <p:nvPr/>
        </p:nvSpPr>
        <p:spPr>
          <a:xfrm>
            <a:off x="411480" y="4626864"/>
            <a:ext cx="8321040" cy="347472"/>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Same physics — same parabola — opposite sign conventions. The math is identical!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5E20"/>
          </a:solidFill>
          <a:ln w="12700">
            <a:solidFill>
              <a:srgbClr val="000000"/>
            </a:solidFill>
            <a:prstDash val="solid"/>
          </a:ln>
        </p:spPr>
        <p:txBody>
          <a:bodyPr/>
          <a:lstStyle/>
          <a:p>
            <a:endParaRPr lang="en-US"/>
          </a:p>
        </p:txBody>
      </p:sp>
      <p:sp>
        <p:nvSpPr>
          <p:cNvPr id="3" name="Text 1"/>
          <p:cNvSpPr/>
          <p:nvPr/>
        </p:nvSpPr>
        <p:spPr>
          <a:xfrm>
            <a:off x="365760" y="109728"/>
            <a:ext cx="8229600" cy="59436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Phase 3: Your Turn to Code!  (10 min)</a:t>
            </a:r>
            <a:endParaRPr lang="en-US" sz="2600" dirty="0"/>
          </a:p>
        </p:txBody>
      </p:sp>
      <p:sp>
        <p:nvSpPr>
          <p:cNvPr id="4" name="Shape 2"/>
          <p:cNvSpPr/>
          <p:nvPr/>
        </p:nvSpPr>
        <p:spPr>
          <a:xfrm>
            <a:off x="228600" y="914400"/>
            <a:ext cx="8686800" cy="713232"/>
          </a:xfrm>
          <a:prstGeom prst="roundRect">
            <a:avLst>
              <a:gd name="adj" fmla="val 8974"/>
            </a:avLst>
          </a:prstGeom>
          <a:solidFill>
            <a:srgbClr val="C8E6C9"/>
          </a:solidFill>
          <a:ln/>
          <a:effectLst>
            <a:outerShdw blurRad="63500" dist="25400" dir="2700000" algn="bl" rotWithShape="0">
              <a:srgbClr val="000000">
                <a:alpha val="12000"/>
              </a:srgbClr>
            </a:outerShdw>
          </a:effectLst>
        </p:spPr>
        <p:txBody>
          <a:bodyPr/>
          <a:lstStyle/>
          <a:p>
            <a:endParaRPr lang="en-US"/>
          </a:p>
        </p:txBody>
      </p:sp>
      <p:sp>
        <p:nvSpPr>
          <p:cNvPr id="5" name="Shape 3"/>
          <p:cNvSpPr/>
          <p:nvPr/>
        </p:nvSpPr>
        <p:spPr>
          <a:xfrm>
            <a:off x="320040" y="996696"/>
            <a:ext cx="548640" cy="530352"/>
          </a:xfrm>
          <a:prstGeom prst="roundRect">
            <a:avLst>
              <a:gd name="adj" fmla="val 10345"/>
            </a:avLst>
          </a:prstGeom>
          <a:solidFill>
            <a:srgbClr val="1B5E20"/>
          </a:solidFill>
          <a:ln/>
        </p:spPr>
        <p:txBody>
          <a:bodyPr/>
          <a:lstStyle/>
          <a:p>
            <a:endParaRPr lang="en-US"/>
          </a:p>
        </p:txBody>
      </p:sp>
      <p:sp>
        <p:nvSpPr>
          <p:cNvPr id="6" name="Text 4"/>
          <p:cNvSpPr/>
          <p:nvPr/>
        </p:nvSpPr>
        <p:spPr>
          <a:xfrm>
            <a:off x="320040" y="996696"/>
            <a:ext cx="548640" cy="530352"/>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7" name="Text 5"/>
          <p:cNvSpPr/>
          <p:nvPr/>
        </p:nvSpPr>
        <p:spPr>
          <a:xfrm>
            <a:off x="1005840" y="969264"/>
            <a:ext cx="2286000" cy="292608"/>
          </a:xfrm>
          <a:prstGeom prst="rect">
            <a:avLst/>
          </a:prstGeom>
          <a:noFill/>
          <a:ln/>
        </p:spPr>
        <p:txBody>
          <a:bodyPr wrap="square" rtlCol="0" anchor="ctr"/>
          <a:lstStyle/>
          <a:p>
            <a:pPr marL="0" indent="0">
              <a:buNone/>
            </a:pPr>
            <a:r>
              <a:rPr lang="en-US" sz="1400" b="1" dirty="0">
                <a:solidFill>
                  <a:srgbClr val="1B5E20"/>
                </a:solidFill>
                <a:latin typeface="Arial" pitchFamily="34" charset="0"/>
                <a:ea typeface="Arial" pitchFamily="34" charset="-122"/>
                <a:cs typeface="Arial" pitchFamily="34" charset="-120"/>
              </a:rPr>
              <a:t>Open MakeCode</a:t>
            </a:r>
            <a:endParaRPr lang="en-US" sz="1400" dirty="0"/>
          </a:p>
        </p:txBody>
      </p:sp>
      <p:sp>
        <p:nvSpPr>
          <p:cNvPr id="8" name="Text 6"/>
          <p:cNvSpPr/>
          <p:nvPr/>
        </p:nvSpPr>
        <p:spPr>
          <a:xfrm>
            <a:off x="1005840" y="1261872"/>
            <a:ext cx="7772400" cy="292608"/>
          </a:xfrm>
          <a:prstGeom prst="rect">
            <a:avLst/>
          </a:prstGeom>
          <a:noFill/>
          <a:ln/>
        </p:spPr>
        <p:txBody>
          <a:bodyPr wrap="square" rtlCol="0" anchor="ctr"/>
          <a:lstStyle/>
          <a:p>
            <a:pPr marL="0" indent="0">
              <a:buNone/>
            </a:pPr>
            <a:r>
              <a:rPr lang="en-US" sz="1200" dirty="0">
                <a:solidFill>
                  <a:srgbClr val="1A1A1A"/>
                </a:solidFill>
                <a:latin typeface="Arial" pitchFamily="34" charset="0"/>
                <a:ea typeface="Arial" pitchFamily="34" charset="-122"/>
                <a:cs typeface="Arial" pitchFamily="34" charset="-120"/>
              </a:rPr>
              <a:t>Press 'C' in your starter world to open the MakeCode editor. Navigate to the JavaScript tab.</a:t>
            </a:r>
            <a:endParaRPr lang="en-US" sz="1200" dirty="0"/>
          </a:p>
        </p:txBody>
      </p:sp>
      <p:sp>
        <p:nvSpPr>
          <p:cNvPr id="9" name="Shape 7"/>
          <p:cNvSpPr/>
          <p:nvPr/>
        </p:nvSpPr>
        <p:spPr>
          <a:xfrm>
            <a:off x="228600" y="1719072"/>
            <a:ext cx="8686800" cy="713232"/>
          </a:xfrm>
          <a:prstGeom prst="roundRect">
            <a:avLst>
              <a:gd name="adj" fmla="val 8974"/>
            </a:avLst>
          </a:prstGeom>
          <a:solidFill>
            <a:srgbClr val="FFFFFF"/>
          </a:solidFill>
          <a:ln/>
          <a:effectLst>
            <a:outerShdw blurRad="63500" dist="25400" dir="2700000" algn="bl" rotWithShape="0">
              <a:srgbClr val="000000">
                <a:alpha val="12000"/>
              </a:srgbClr>
            </a:outerShdw>
          </a:effectLst>
        </p:spPr>
        <p:txBody>
          <a:bodyPr/>
          <a:lstStyle/>
          <a:p>
            <a:endParaRPr lang="en-US"/>
          </a:p>
        </p:txBody>
      </p:sp>
      <p:sp>
        <p:nvSpPr>
          <p:cNvPr id="10" name="Shape 8"/>
          <p:cNvSpPr/>
          <p:nvPr/>
        </p:nvSpPr>
        <p:spPr>
          <a:xfrm>
            <a:off x="320040" y="1801368"/>
            <a:ext cx="548640" cy="530352"/>
          </a:xfrm>
          <a:prstGeom prst="roundRect">
            <a:avLst>
              <a:gd name="adj" fmla="val 10345"/>
            </a:avLst>
          </a:prstGeom>
          <a:solidFill>
            <a:srgbClr val="1B5E20"/>
          </a:solidFill>
          <a:ln/>
        </p:spPr>
        <p:txBody>
          <a:bodyPr/>
          <a:lstStyle/>
          <a:p>
            <a:endParaRPr lang="en-US"/>
          </a:p>
        </p:txBody>
      </p:sp>
      <p:sp>
        <p:nvSpPr>
          <p:cNvPr id="11" name="Text 9"/>
          <p:cNvSpPr/>
          <p:nvPr/>
        </p:nvSpPr>
        <p:spPr>
          <a:xfrm>
            <a:off x="320040" y="1801368"/>
            <a:ext cx="548640" cy="530352"/>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2" name="Text 10"/>
          <p:cNvSpPr/>
          <p:nvPr/>
        </p:nvSpPr>
        <p:spPr>
          <a:xfrm>
            <a:off x="1005840" y="1773936"/>
            <a:ext cx="2286000" cy="292608"/>
          </a:xfrm>
          <a:prstGeom prst="rect">
            <a:avLst/>
          </a:prstGeom>
          <a:noFill/>
          <a:ln/>
        </p:spPr>
        <p:txBody>
          <a:bodyPr wrap="square" rtlCol="0" anchor="ctr"/>
          <a:lstStyle/>
          <a:p>
            <a:pPr marL="0" indent="0">
              <a:buNone/>
            </a:pPr>
            <a:r>
              <a:rPr lang="en-US" sz="1400" b="1" dirty="0">
                <a:solidFill>
                  <a:srgbClr val="1B5E20"/>
                </a:solidFill>
                <a:latin typeface="Arial" pitchFamily="34" charset="0"/>
                <a:ea typeface="Arial" pitchFamily="34" charset="-122"/>
                <a:cs typeface="Arial" pitchFamily="34" charset="-120"/>
              </a:rPr>
              <a:t>Type the script</a:t>
            </a:r>
            <a:endParaRPr lang="en-US" sz="1400" dirty="0"/>
          </a:p>
        </p:txBody>
      </p:sp>
      <p:sp>
        <p:nvSpPr>
          <p:cNvPr id="13" name="Text 11"/>
          <p:cNvSpPr/>
          <p:nvPr/>
        </p:nvSpPr>
        <p:spPr>
          <a:xfrm>
            <a:off x="1005840" y="2066544"/>
            <a:ext cx="7772400" cy="292608"/>
          </a:xfrm>
          <a:prstGeom prst="rect">
            <a:avLst/>
          </a:prstGeom>
          <a:noFill/>
          <a:ln/>
        </p:spPr>
        <p:txBody>
          <a:bodyPr wrap="square" rtlCol="0" anchor="ctr"/>
          <a:lstStyle/>
          <a:p>
            <a:pPr marL="0" indent="0">
              <a:buNone/>
            </a:pPr>
            <a:r>
              <a:rPr lang="en-US" sz="1200" dirty="0">
                <a:solidFill>
                  <a:srgbClr val="1A1A1A"/>
                </a:solidFill>
                <a:latin typeface="Arial" pitchFamily="34" charset="0"/>
                <a:ea typeface="Arial" pitchFamily="34" charset="-122"/>
                <a:cs typeface="Arial" pitchFamily="34" charset="-120"/>
              </a:rPr>
              <a:t>Enter the full code from the board. No copy/paste — typing it builds muscle memory and understanding!</a:t>
            </a:r>
            <a:endParaRPr lang="en-US" sz="1200" dirty="0"/>
          </a:p>
        </p:txBody>
      </p:sp>
      <p:sp>
        <p:nvSpPr>
          <p:cNvPr id="14" name="Shape 12"/>
          <p:cNvSpPr/>
          <p:nvPr/>
        </p:nvSpPr>
        <p:spPr>
          <a:xfrm>
            <a:off x="228600" y="2523744"/>
            <a:ext cx="8686800" cy="713232"/>
          </a:xfrm>
          <a:prstGeom prst="roundRect">
            <a:avLst>
              <a:gd name="adj" fmla="val 8974"/>
            </a:avLst>
          </a:prstGeom>
          <a:solidFill>
            <a:srgbClr val="C8E6C9"/>
          </a:solidFill>
          <a:ln/>
          <a:effectLst>
            <a:outerShdw blurRad="63500" dist="25400" dir="2700000" algn="bl" rotWithShape="0">
              <a:srgbClr val="000000">
                <a:alpha val="12000"/>
              </a:srgbClr>
            </a:outerShdw>
          </a:effectLst>
        </p:spPr>
        <p:txBody>
          <a:bodyPr/>
          <a:lstStyle/>
          <a:p>
            <a:endParaRPr lang="en-US"/>
          </a:p>
        </p:txBody>
      </p:sp>
      <p:sp>
        <p:nvSpPr>
          <p:cNvPr id="15" name="Shape 13"/>
          <p:cNvSpPr/>
          <p:nvPr/>
        </p:nvSpPr>
        <p:spPr>
          <a:xfrm>
            <a:off x="320040" y="2606040"/>
            <a:ext cx="548640" cy="530352"/>
          </a:xfrm>
          <a:prstGeom prst="roundRect">
            <a:avLst>
              <a:gd name="adj" fmla="val 10345"/>
            </a:avLst>
          </a:prstGeom>
          <a:solidFill>
            <a:srgbClr val="1B5E20"/>
          </a:solidFill>
          <a:ln/>
        </p:spPr>
        <p:txBody>
          <a:bodyPr/>
          <a:lstStyle/>
          <a:p>
            <a:endParaRPr lang="en-US"/>
          </a:p>
        </p:txBody>
      </p:sp>
      <p:sp>
        <p:nvSpPr>
          <p:cNvPr id="16" name="Text 14"/>
          <p:cNvSpPr/>
          <p:nvPr/>
        </p:nvSpPr>
        <p:spPr>
          <a:xfrm>
            <a:off x="320040" y="2606040"/>
            <a:ext cx="548640" cy="530352"/>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7" name="Text 15"/>
          <p:cNvSpPr/>
          <p:nvPr/>
        </p:nvSpPr>
        <p:spPr>
          <a:xfrm>
            <a:off x="1005840" y="2578608"/>
            <a:ext cx="2286000" cy="292608"/>
          </a:xfrm>
          <a:prstGeom prst="rect">
            <a:avLst/>
          </a:prstGeom>
          <a:noFill/>
          <a:ln/>
        </p:spPr>
        <p:txBody>
          <a:bodyPr wrap="square" rtlCol="0" anchor="ctr"/>
          <a:lstStyle/>
          <a:p>
            <a:pPr marL="0" indent="0">
              <a:buNone/>
            </a:pPr>
            <a:r>
              <a:rPr lang="en-US" sz="1400" b="1" dirty="0">
                <a:solidFill>
                  <a:srgbClr val="1B5E20"/>
                </a:solidFill>
                <a:latin typeface="Arial" pitchFamily="34" charset="0"/>
                <a:ea typeface="Arial" pitchFamily="34" charset="-122"/>
                <a:cs typeface="Arial" pitchFamily="34" charset="-120"/>
              </a:rPr>
              <a:t>Chat: /jump</a:t>
            </a:r>
            <a:endParaRPr lang="en-US" sz="1400" dirty="0"/>
          </a:p>
        </p:txBody>
      </p:sp>
      <p:sp>
        <p:nvSpPr>
          <p:cNvPr id="18" name="Text 16"/>
          <p:cNvSpPr/>
          <p:nvPr/>
        </p:nvSpPr>
        <p:spPr>
          <a:xfrm>
            <a:off x="1005840" y="2871216"/>
            <a:ext cx="7772400" cy="292608"/>
          </a:xfrm>
          <a:prstGeom prst="rect">
            <a:avLst/>
          </a:prstGeom>
          <a:noFill/>
          <a:ln/>
        </p:spPr>
        <p:txBody>
          <a:bodyPr wrap="square" rtlCol="0" anchor="ctr"/>
          <a:lstStyle/>
          <a:p>
            <a:pPr marL="0" indent="0">
              <a:buNone/>
            </a:pPr>
            <a:r>
              <a:rPr lang="en-US" sz="1200" dirty="0">
                <a:solidFill>
                  <a:srgbClr val="1A1A1A"/>
                </a:solidFill>
                <a:latin typeface="Arial" pitchFamily="34" charset="0"/>
                <a:ea typeface="Arial" pitchFamily="34" charset="-122"/>
                <a:cs typeface="Arial" pitchFamily="34" charset="-120"/>
              </a:rPr>
              <a:t>Return to Minecraft and type /jump in chat. Watch your agent jump! Does the arc look right?</a:t>
            </a:r>
            <a:endParaRPr lang="en-US" sz="1200" dirty="0"/>
          </a:p>
        </p:txBody>
      </p:sp>
      <p:sp>
        <p:nvSpPr>
          <p:cNvPr id="19" name="Shape 17"/>
          <p:cNvSpPr/>
          <p:nvPr/>
        </p:nvSpPr>
        <p:spPr>
          <a:xfrm>
            <a:off x="228600" y="3328416"/>
            <a:ext cx="8686800" cy="713232"/>
          </a:xfrm>
          <a:prstGeom prst="roundRect">
            <a:avLst>
              <a:gd name="adj" fmla="val 8974"/>
            </a:avLst>
          </a:prstGeom>
          <a:solidFill>
            <a:srgbClr val="FFFFFF"/>
          </a:solidFill>
          <a:ln/>
          <a:effectLst>
            <a:outerShdw blurRad="63500" dist="25400" dir="2700000" algn="bl" rotWithShape="0">
              <a:srgbClr val="000000">
                <a:alpha val="12000"/>
              </a:srgbClr>
            </a:outerShdw>
          </a:effectLst>
        </p:spPr>
        <p:txBody>
          <a:bodyPr/>
          <a:lstStyle/>
          <a:p>
            <a:endParaRPr lang="en-US"/>
          </a:p>
        </p:txBody>
      </p:sp>
      <p:sp>
        <p:nvSpPr>
          <p:cNvPr id="20" name="Shape 18"/>
          <p:cNvSpPr/>
          <p:nvPr/>
        </p:nvSpPr>
        <p:spPr>
          <a:xfrm>
            <a:off x="320040" y="3410712"/>
            <a:ext cx="548640" cy="530352"/>
          </a:xfrm>
          <a:prstGeom prst="roundRect">
            <a:avLst>
              <a:gd name="adj" fmla="val 10345"/>
            </a:avLst>
          </a:prstGeom>
          <a:solidFill>
            <a:srgbClr val="1B5E20"/>
          </a:solidFill>
          <a:ln/>
        </p:spPr>
        <p:txBody>
          <a:bodyPr/>
          <a:lstStyle/>
          <a:p>
            <a:endParaRPr lang="en-US"/>
          </a:p>
        </p:txBody>
      </p:sp>
      <p:sp>
        <p:nvSpPr>
          <p:cNvPr id="21" name="Text 19"/>
          <p:cNvSpPr/>
          <p:nvPr/>
        </p:nvSpPr>
        <p:spPr>
          <a:xfrm>
            <a:off x="320040" y="3410712"/>
            <a:ext cx="548640" cy="530352"/>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2" name="Text 20"/>
          <p:cNvSpPr/>
          <p:nvPr/>
        </p:nvSpPr>
        <p:spPr>
          <a:xfrm>
            <a:off x="1005840" y="3383280"/>
            <a:ext cx="2286000" cy="292608"/>
          </a:xfrm>
          <a:prstGeom prst="rect">
            <a:avLst/>
          </a:prstGeom>
          <a:noFill/>
          <a:ln/>
        </p:spPr>
        <p:txBody>
          <a:bodyPr wrap="square" rtlCol="0" anchor="ctr"/>
          <a:lstStyle/>
          <a:p>
            <a:pPr marL="0" indent="0">
              <a:buNone/>
            </a:pPr>
            <a:r>
              <a:rPr lang="en-US" sz="1400" b="1" dirty="0">
                <a:solidFill>
                  <a:srgbClr val="1B5E20"/>
                </a:solidFill>
                <a:latin typeface="Arial" pitchFamily="34" charset="0"/>
                <a:ea typeface="Arial" pitchFamily="34" charset="-122"/>
                <a:cs typeface="Arial" pitchFamily="34" charset="-120"/>
              </a:rPr>
              <a:t>Experiment!</a:t>
            </a:r>
            <a:endParaRPr lang="en-US" sz="1400" dirty="0"/>
          </a:p>
        </p:txBody>
      </p:sp>
      <p:sp>
        <p:nvSpPr>
          <p:cNvPr id="23" name="Text 21"/>
          <p:cNvSpPr/>
          <p:nvPr/>
        </p:nvSpPr>
        <p:spPr>
          <a:xfrm>
            <a:off x="1005840" y="3675888"/>
            <a:ext cx="7772400" cy="292608"/>
          </a:xfrm>
          <a:prstGeom prst="rect">
            <a:avLst/>
          </a:prstGeom>
          <a:noFill/>
          <a:ln/>
        </p:spPr>
        <p:txBody>
          <a:bodyPr wrap="square" rtlCol="0" anchor="ctr"/>
          <a:lstStyle/>
          <a:p>
            <a:pPr marL="0" indent="0">
              <a:buNone/>
            </a:pPr>
            <a:r>
              <a:rPr lang="en-US" sz="1200" dirty="0">
                <a:solidFill>
                  <a:srgbClr val="1A1A1A"/>
                </a:solidFill>
                <a:latin typeface="Arial" pitchFamily="34" charset="0"/>
                <a:ea typeface="Arial" pitchFamily="34" charset="-122"/>
                <a:cs typeface="Arial" pitchFamily="34" charset="-120"/>
              </a:rPr>
              <a:t>Change JUMP_FORCE (try 5, 15, 25). Change GRAVITY (try -0.3, -1.2). Describe what you observe.</a:t>
            </a:r>
            <a:endParaRPr lang="en-US" sz="1200" dirty="0"/>
          </a:p>
        </p:txBody>
      </p:sp>
      <p:sp>
        <p:nvSpPr>
          <p:cNvPr id="24" name="Shape 22"/>
          <p:cNvSpPr/>
          <p:nvPr/>
        </p:nvSpPr>
        <p:spPr>
          <a:xfrm>
            <a:off x="228600" y="4133088"/>
            <a:ext cx="8686800" cy="713232"/>
          </a:xfrm>
          <a:prstGeom prst="roundRect">
            <a:avLst>
              <a:gd name="adj" fmla="val 8974"/>
            </a:avLst>
          </a:prstGeom>
          <a:solidFill>
            <a:srgbClr val="C8E6C9"/>
          </a:solidFill>
          <a:ln/>
          <a:effectLst>
            <a:outerShdw blurRad="63500" dist="25400" dir="2700000" algn="bl" rotWithShape="0">
              <a:srgbClr val="000000">
                <a:alpha val="12000"/>
              </a:srgbClr>
            </a:outerShdw>
          </a:effectLst>
        </p:spPr>
        <p:txBody>
          <a:bodyPr/>
          <a:lstStyle/>
          <a:p>
            <a:endParaRPr lang="en-US"/>
          </a:p>
        </p:txBody>
      </p:sp>
      <p:sp>
        <p:nvSpPr>
          <p:cNvPr id="25" name="Shape 23"/>
          <p:cNvSpPr/>
          <p:nvPr/>
        </p:nvSpPr>
        <p:spPr>
          <a:xfrm>
            <a:off x="320040" y="4215384"/>
            <a:ext cx="548640" cy="530352"/>
          </a:xfrm>
          <a:prstGeom prst="roundRect">
            <a:avLst>
              <a:gd name="adj" fmla="val 10345"/>
            </a:avLst>
          </a:prstGeom>
          <a:solidFill>
            <a:srgbClr val="1B5E20"/>
          </a:solidFill>
          <a:ln/>
        </p:spPr>
        <p:txBody>
          <a:bodyPr/>
          <a:lstStyle/>
          <a:p>
            <a:endParaRPr lang="en-US"/>
          </a:p>
        </p:txBody>
      </p:sp>
      <p:sp>
        <p:nvSpPr>
          <p:cNvPr id="26" name="Text 24"/>
          <p:cNvSpPr/>
          <p:nvPr/>
        </p:nvSpPr>
        <p:spPr>
          <a:xfrm>
            <a:off x="320040" y="4215384"/>
            <a:ext cx="548640" cy="530352"/>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27" name="Text 25"/>
          <p:cNvSpPr/>
          <p:nvPr/>
        </p:nvSpPr>
        <p:spPr>
          <a:xfrm>
            <a:off x="1005840" y="4187952"/>
            <a:ext cx="2286000" cy="292608"/>
          </a:xfrm>
          <a:prstGeom prst="rect">
            <a:avLst/>
          </a:prstGeom>
          <a:noFill/>
          <a:ln/>
        </p:spPr>
        <p:txBody>
          <a:bodyPr wrap="square" rtlCol="0" anchor="ctr"/>
          <a:lstStyle/>
          <a:p>
            <a:pPr marL="0" indent="0">
              <a:buNone/>
            </a:pPr>
            <a:r>
              <a:rPr lang="en-US" sz="1400" b="1" dirty="0">
                <a:solidFill>
                  <a:srgbClr val="1B5E20"/>
                </a:solidFill>
                <a:latin typeface="Arial" pitchFamily="34" charset="0"/>
                <a:ea typeface="Arial" pitchFamily="34" charset="-122"/>
                <a:cs typeface="Arial" pitchFamily="34" charset="-120"/>
              </a:rPr>
              <a:t>Journal entry</a:t>
            </a:r>
            <a:endParaRPr lang="en-US" sz="1400" dirty="0"/>
          </a:p>
        </p:txBody>
      </p:sp>
      <p:sp>
        <p:nvSpPr>
          <p:cNvPr id="28" name="Text 26"/>
          <p:cNvSpPr/>
          <p:nvPr/>
        </p:nvSpPr>
        <p:spPr>
          <a:xfrm>
            <a:off x="1005840" y="4480560"/>
            <a:ext cx="7772400" cy="292608"/>
          </a:xfrm>
          <a:prstGeom prst="rect">
            <a:avLst/>
          </a:prstGeom>
          <a:noFill/>
          <a:ln/>
        </p:spPr>
        <p:txBody>
          <a:bodyPr wrap="square" rtlCol="0" anchor="ctr"/>
          <a:lstStyle/>
          <a:p>
            <a:pPr marL="0" indent="0">
              <a:buNone/>
            </a:pPr>
            <a:r>
              <a:rPr lang="en-US" sz="1200" dirty="0">
                <a:solidFill>
                  <a:srgbClr val="1A1A1A"/>
                </a:solidFill>
                <a:latin typeface="Arial" pitchFamily="34" charset="0"/>
                <a:ea typeface="Arial" pitchFamily="34" charset="-122"/>
                <a:cs typeface="Arial" pitchFamily="34" charset="-120"/>
              </a:rPr>
              <a:t>In your Game Design Journal: record the best JUMP_FORCE + GRAVITY combo you found and why.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5D4037"/>
          </a:solidFill>
          <a:ln w="12700">
            <a:solidFill>
              <a:srgbClr val="000000"/>
            </a:solidFill>
            <a:prstDash val="solid"/>
          </a:ln>
        </p:spPr>
        <p:txBody>
          <a:bodyPr/>
          <a:lstStyle/>
          <a:p>
            <a:endParaRPr lang="en-US"/>
          </a:p>
        </p:txBody>
      </p:sp>
      <p:sp>
        <p:nvSpPr>
          <p:cNvPr id="3" name="Text 1"/>
          <p:cNvSpPr/>
          <p:nvPr/>
        </p:nvSpPr>
        <p:spPr>
          <a:xfrm>
            <a:off x="365760" y="109728"/>
            <a:ext cx="8229600" cy="59436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Math Connection  ·  Why Is the Jump a Parabola?</a:t>
            </a:r>
            <a:endParaRPr lang="en-US" sz="2600" dirty="0"/>
          </a:p>
        </p:txBody>
      </p:sp>
      <p:sp>
        <p:nvSpPr>
          <p:cNvPr id="4" name="Shape 2"/>
          <p:cNvSpPr/>
          <p:nvPr/>
        </p:nvSpPr>
        <p:spPr>
          <a:xfrm>
            <a:off x="274320" y="914400"/>
            <a:ext cx="8595360" cy="777240"/>
          </a:xfrm>
          <a:prstGeom prst="roundRect">
            <a:avLst>
              <a:gd name="adj" fmla="val 9412"/>
            </a:avLst>
          </a:prstGeom>
          <a:solidFill>
            <a:srgbClr val="1B5E20"/>
          </a:solidFill>
          <a:ln/>
        </p:spPr>
        <p:txBody>
          <a:bodyPr/>
          <a:lstStyle/>
          <a:p>
            <a:endParaRPr lang="en-US"/>
          </a:p>
        </p:txBody>
      </p:sp>
      <p:sp>
        <p:nvSpPr>
          <p:cNvPr id="5" name="Text 3"/>
          <p:cNvSpPr/>
          <p:nvPr/>
        </p:nvSpPr>
        <p:spPr>
          <a:xfrm>
            <a:off x="457200" y="960120"/>
            <a:ext cx="8229600" cy="68580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y(t)  =  v₀ × t  +  ½ × g × t²</a:t>
            </a:r>
            <a:endParaRPr lang="en-US" sz="3000" dirty="0"/>
          </a:p>
        </p:txBody>
      </p:sp>
      <p:sp>
        <p:nvSpPr>
          <p:cNvPr id="6" name="Shape 4"/>
          <p:cNvSpPr/>
          <p:nvPr/>
        </p:nvSpPr>
        <p:spPr>
          <a:xfrm>
            <a:off x="274320" y="1828800"/>
            <a:ext cx="1627632" cy="1463040"/>
          </a:xfrm>
          <a:prstGeom prst="roundRect">
            <a:avLst>
              <a:gd name="adj" fmla="val 5000"/>
            </a:avLst>
          </a:prstGeom>
          <a:solidFill>
            <a:srgbClr val="C8E6C9"/>
          </a:solidFill>
          <a:ln/>
          <a:effectLst>
            <a:outerShdw blurRad="63500" dist="25400" dir="2700000" algn="bl" rotWithShape="0">
              <a:srgbClr val="000000">
                <a:alpha val="12000"/>
              </a:srgbClr>
            </a:outerShdw>
          </a:effectLst>
        </p:spPr>
        <p:txBody>
          <a:bodyPr/>
          <a:lstStyle/>
          <a:p>
            <a:endParaRPr lang="en-US"/>
          </a:p>
        </p:txBody>
      </p:sp>
      <p:sp>
        <p:nvSpPr>
          <p:cNvPr id="7" name="Text 5"/>
          <p:cNvSpPr/>
          <p:nvPr/>
        </p:nvSpPr>
        <p:spPr>
          <a:xfrm>
            <a:off x="320040" y="1892808"/>
            <a:ext cx="1508760" cy="594360"/>
          </a:xfrm>
          <a:prstGeom prst="rect">
            <a:avLst/>
          </a:prstGeom>
          <a:noFill/>
          <a:ln/>
        </p:spPr>
        <p:txBody>
          <a:bodyPr wrap="square" rtlCol="0" anchor="ctr"/>
          <a:lstStyle/>
          <a:p>
            <a:pPr marL="0" indent="0" algn="ctr">
              <a:buNone/>
            </a:pPr>
            <a:r>
              <a:rPr lang="en-US" sz="2800" b="1" dirty="0">
                <a:solidFill>
                  <a:srgbClr val="1B5E20"/>
                </a:solidFill>
                <a:latin typeface="Cambria" pitchFamily="34" charset="0"/>
                <a:ea typeface="Cambria" pitchFamily="34" charset="-122"/>
                <a:cs typeface="Cambria" pitchFamily="34" charset="-120"/>
              </a:rPr>
              <a:t>y(t)</a:t>
            </a:r>
            <a:endParaRPr lang="en-US" sz="2800" dirty="0"/>
          </a:p>
        </p:txBody>
      </p:sp>
      <p:sp>
        <p:nvSpPr>
          <p:cNvPr id="8" name="Text 6"/>
          <p:cNvSpPr/>
          <p:nvPr/>
        </p:nvSpPr>
        <p:spPr>
          <a:xfrm>
            <a:off x="320040" y="2487168"/>
            <a:ext cx="1508760" cy="713232"/>
          </a:xfrm>
          <a:prstGeom prst="rect">
            <a:avLst/>
          </a:prstGeom>
          <a:noFill/>
          <a:ln/>
        </p:spPr>
        <p:txBody>
          <a:bodyPr wrap="square" rtlCol="0" anchor="t"/>
          <a:lstStyle/>
          <a:p>
            <a:pPr marL="0" indent="0" algn="ctr">
              <a:buNone/>
            </a:pPr>
            <a:r>
              <a:rPr lang="en-US" sz="1100" dirty="0">
                <a:solidFill>
                  <a:srgbClr val="1A1A1A"/>
                </a:solidFill>
                <a:latin typeface="Arial" pitchFamily="34" charset="0"/>
                <a:ea typeface="Arial" pitchFamily="34" charset="-122"/>
                <a:cs typeface="Arial" pitchFamily="34" charset="-120"/>
              </a:rPr>
              <a:t>Position (block height)</a:t>
            </a:r>
            <a:endParaRPr lang="en-US" sz="1100" dirty="0"/>
          </a:p>
          <a:p>
            <a:pPr marL="0" indent="0" algn="ctr">
              <a:buNone/>
            </a:pPr>
            <a:r>
              <a:rPr lang="en-US" sz="1100" dirty="0">
                <a:solidFill>
                  <a:srgbClr val="1A1A1A"/>
                </a:solidFill>
                <a:latin typeface="Arial" pitchFamily="34" charset="0"/>
                <a:ea typeface="Arial" pitchFamily="34" charset="-122"/>
                <a:cs typeface="Arial" pitchFamily="34" charset="-120"/>
              </a:rPr>
              <a:t>at time t</a:t>
            </a:r>
            <a:endParaRPr lang="en-US" sz="1100" dirty="0"/>
          </a:p>
        </p:txBody>
      </p:sp>
      <p:sp>
        <p:nvSpPr>
          <p:cNvPr id="9" name="Shape 7"/>
          <p:cNvSpPr/>
          <p:nvPr/>
        </p:nvSpPr>
        <p:spPr>
          <a:xfrm>
            <a:off x="1993392" y="1828800"/>
            <a:ext cx="1627632" cy="1463040"/>
          </a:xfrm>
          <a:prstGeom prst="roundRect">
            <a:avLst>
              <a:gd name="adj" fmla="val 5000"/>
            </a:avLst>
          </a:prstGeom>
          <a:solidFill>
            <a:srgbClr val="FFFFFF"/>
          </a:solidFill>
          <a:ln/>
          <a:effectLst>
            <a:outerShdw blurRad="63500" dist="25400" dir="2700000" algn="bl" rotWithShape="0">
              <a:srgbClr val="000000">
                <a:alpha val="12000"/>
              </a:srgbClr>
            </a:outerShdw>
          </a:effectLst>
        </p:spPr>
        <p:txBody>
          <a:bodyPr/>
          <a:lstStyle/>
          <a:p>
            <a:endParaRPr lang="en-US"/>
          </a:p>
        </p:txBody>
      </p:sp>
      <p:sp>
        <p:nvSpPr>
          <p:cNvPr id="10" name="Text 8"/>
          <p:cNvSpPr/>
          <p:nvPr/>
        </p:nvSpPr>
        <p:spPr>
          <a:xfrm>
            <a:off x="2039112" y="1892808"/>
            <a:ext cx="1508760" cy="594360"/>
          </a:xfrm>
          <a:prstGeom prst="rect">
            <a:avLst/>
          </a:prstGeom>
          <a:noFill/>
          <a:ln/>
        </p:spPr>
        <p:txBody>
          <a:bodyPr wrap="square" rtlCol="0" anchor="ctr"/>
          <a:lstStyle/>
          <a:p>
            <a:pPr marL="0" indent="0" algn="ctr">
              <a:buNone/>
            </a:pPr>
            <a:r>
              <a:rPr lang="en-US" sz="2800" b="1" dirty="0">
                <a:solidFill>
                  <a:srgbClr val="1B5E20"/>
                </a:solidFill>
                <a:latin typeface="Cambria" pitchFamily="34" charset="0"/>
                <a:ea typeface="Cambria" pitchFamily="34" charset="-122"/>
                <a:cs typeface="Cambria" pitchFamily="34" charset="-120"/>
              </a:rPr>
              <a:t>v₀</a:t>
            </a:r>
            <a:endParaRPr lang="en-US" sz="2800" dirty="0"/>
          </a:p>
        </p:txBody>
      </p:sp>
      <p:sp>
        <p:nvSpPr>
          <p:cNvPr id="11" name="Text 9"/>
          <p:cNvSpPr/>
          <p:nvPr/>
        </p:nvSpPr>
        <p:spPr>
          <a:xfrm>
            <a:off x="2039112" y="2487168"/>
            <a:ext cx="1508760" cy="713232"/>
          </a:xfrm>
          <a:prstGeom prst="rect">
            <a:avLst/>
          </a:prstGeom>
          <a:noFill/>
          <a:ln/>
        </p:spPr>
        <p:txBody>
          <a:bodyPr wrap="square" rtlCol="0" anchor="t"/>
          <a:lstStyle/>
          <a:p>
            <a:pPr marL="0" indent="0" algn="ctr">
              <a:buNone/>
            </a:pPr>
            <a:r>
              <a:rPr lang="en-US" sz="1100" dirty="0">
                <a:solidFill>
                  <a:srgbClr val="1A1A1A"/>
                </a:solidFill>
                <a:latin typeface="Arial" pitchFamily="34" charset="0"/>
                <a:ea typeface="Arial" pitchFamily="34" charset="-122"/>
                <a:cs typeface="Arial" pitchFamily="34" charset="-120"/>
              </a:rPr>
              <a:t>Initial velocity</a:t>
            </a:r>
            <a:endParaRPr lang="en-US" sz="1100" dirty="0"/>
          </a:p>
          <a:p>
            <a:pPr marL="0" indent="0" algn="ctr">
              <a:buNone/>
            </a:pPr>
            <a:r>
              <a:rPr lang="en-US" sz="1100" dirty="0">
                <a:solidFill>
                  <a:srgbClr val="1A1A1A"/>
                </a:solidFill>
                <a:latin typeface="Arial" pitchFamily="34" charset="0"/>
                <a:ea typeface="Arial" pitchFamily="34" charset="-122"/>
                <a:cs typeface="Arial" pitchFamily="34" charset="-120"/>
              </a:rPr>
              <a:t>(your JUMP_FORCE)</a:t>
            </a:r>
            <a:endParaRPr lang="en-US" sz="1100" dirty="0"/>
          </a:p>
        </p:txBody>
      </p:sp>
      <p:sp>
        <p:nvSpPr>
          <p:cNvPr id="12" name="Shape 10"/>
          <p:cNvSpPr/>
          <p:nvPr/>
        </p:nvSpPr>
        <p:spPr>
          <a:xfrm>
            <a:off x="3712464" y="1828800"/>
            <a:ext cx="1627632" cy="1463040"/>
          </a:xfrm>
          <a:prstGeom prst="roundRect">
            <a:avLst>
              <a:gd name="adj" fmla="val 5000"/>
            </a:avLst>
          </a:prstGeom>
          <a:solidFill>
            <a:srgbClr val="C8E6C9"/>
          </a:solidFill>
          <a:ln/>
          <a:effectLst>
            <a:outerShdw blurRad="63500" dist="25400" dir="2700000" algn="bl" rotWithShape="0">
              <a:srgbClr val="000000">
                <a:alpha val="12000"/>
              </a:srgbClr>
            </a:outerShdw>
          </a:effectLst>
        </p:spPr>
        <p:txBody>
          <a:bodyPr/>
          <a:lstStyle/>
          <a:p>
            <a:endParaRPr lang="en-US"/>
          </a:p>
        </p:txBody>
      </p:sp>
      <p:sp>
        <p:nvSpPr>
          <p:cNvPr id="13" name="Text 11"/>
          <p:cNvSpPr/>
          <p:nvPr/>
        </p:nvSpPr>
        <p:spPr>
          <a:xfrm>
            <a:off x="3758184" y="1892808"/>
            <a:ext cx="1508760" cy="594360"/>
          </a:xfrm>
          <a:prstGeom prst="rect">
            <a:avLst/>
          </a:prstGeom>
          <a:noFill/>
          <a:ln/>
        </p:spPr>
        <p:txBody>
          <a:bodyPr wrap="square" rtlCol="0" anchor="ctr"/>
          <a:lstStyle/>
          <a:p>
            <a:pPr marL="0" indent="0" algn="ctr">
              <a:buNone/>
            </a:pPr>
            <a:r>
              <a:rPr lang="en-US" sz="2800" b="1" dirty="0">
                <a:solidFill>
                  <a:srgbClr val="1B5E20"/>
                </a:solidFill>
                <a:latin typeface="Cambria" pitchFamily="34" charset="0"/>
                <a:ea typeface="Cambria" pitchFamily="34" charset="-122"/>
                <a:cs typeface="Cambria" pitchFamily="34" charset="-120"/>
              </a:rPr>
              <a:t>t</a:t>
            </a:r>
            <a:endParaRPr lang="en-US" sz="2800" dirty="0"/>
          </a:p>
        </p:txBody>
      </p:sp>
      <p:sp>
        <p:nvSpPr>
          <p:cNvPr id="14" name="Text 12"/>
          <p:cNvSpPr/>
          <p:nvPr/>
        </p:nvSpPr>
        <p:spPr>
          <a:xfrm>
            <a:off x="3758184" y="2487168"/>
            <a:ext cx="1508760" cy="713232"/>
          </a:xfrm>
          <a:prstGeom prst="rect">
            <a:avLst/>
          </a:prstGeom>
          <a:noFill/>
          <a:ln/>
        </p:spPr>
        <p:txBody>
          <a:bodyPr wrap="square" rtlCol="0" anchor="t"/>
          <a:lstStyle/>
          <a:p>
            <a:pPr marL="0" indent="0" algn="ctr">
              <a:buNone/>
            </a:pPr>
            <a:r>
              <a:rPr lang="en-US" sz="1100" dirty="0">
                <a:solidFill>
                  <a:srgbClr val="1A1A1A"/>
                </a:solidFill>
                <a:latin typeface="Arial" pitchFamily="34" charset="0"/>
                <a:ea typeface="Arial" pitchFamily="34" charset="-122"/>
                <a:cs typeface="Arial" pitchFamily="34" charset="-120"/>
              </a:rPr>
              <a:t>Time elapsed</a:t>
            </a:r>
            <a:endParaRPr lang="en-US" sz="1100" dirty="0"/>
          </a:p>
          <a:p>
            <a:pPr marL="0" indent="0" algn="ctr">
              <a:buNone/>
            </a:pPr>
            <a:r>
              <a:rPr lang="en-US" sz="1100" dirty="0">
                <a:solidFill>
                  <a:srgbClr val="1A1A1A"/>
                </a:solidFill>
                <a:latin typeface="Arial" pitchFamily="34" charset="0"/>
                <a:ea typeface="Arial" pitchFamily="34" charset="-122"/>
                <a:cs typeface="Arial" pitchFamily="34" charset="-120"/>
              </a:rPr>
              <a:t>(in seconds)</a:t>
            </a:r>
            <a:endParaRPr lang="en-US" sz="1100" dirty="0"/>
          </a:p>
        </p:txBody>
      </p:sp>
      <p:sp>
        <p:nvSpPr>
          <p:cNvPr id="15" name="Shape 13"/>
          <p:cNvSpPr/>
          <p:nvPr/>
        </p:nvSpPr>
        <p:spPr>
          <a:xfrm>
            <a:off x="5431536" y="1828800"/>
            <a:ext cx="1627632" cy="1463040"/>
          </a:xfrm>
          <a:prstGeom prst="roundRect">
            <a:avLst>
              <a:gd name="adj" fmla="val 5000"/>
            </a:avLst>
          </a:prstGeom>
          <a:solidFill>
            <a:srgbClr val="FFFFFF"/>
          </a:solidFill>
          <a:ln/>
          <a:effectLst>
            <a:outerShdw blurRad="63500" dist="25400" dir="2700000" algn="bl" rotWithShape="0">
              <a:srgbClr val="000000">
                <a:alpha val="12000"/>
              </a:srgbClr>
            </a:outerShdw>
          </a:effectLst>
        </p:spPr>
        <p:txBody>
          <a:bodyPr/>
          <a:lstStyle/>
          <a:p>
            <a:endParaRPr lang="en-US"/>
          </a:p>
        </p:txBody>
      </p:sp>
      <p:sp>
        <p:nvSpPr>
          <p:cNvPr id="16" name="Text 14"/>
          <p:cNvSpPr/>
          <p:nvPr/>
        </p:nvSpPr>
        <p:spPr>
          <a:xfrm>
            <a:off x="5477256" y="1892808"/>
            <a:ext cx="1508760" cy="594360"/>
          </a:xfrm>
          <a:prstGeom prst="rect">
            <a:avLst/>
          </a:prstGeom>
          <a:noFill/>
          <a:ln/>
        </p:spPr>
        <p:txBody>
          <a:bodyPr wrap="square" rtlCol="0" anchor="ctr"/>
          <a:lstStyle/>
          <a:p>
            <a:pPr marL="0" indent="0" algn="ctr">
              <a:buNone/>
            </a:pPr>
            <a:r>
              <a:rPr lang="en-US" sz="2800" b="1" dirty="0">
                <a:solidFill>
                  <a:srgbClr val="1B5E20"/>
                </a:solidFill>
                <a:latin typeface="Cambria" pitchFamily="34" charset="0"/>
                <a:ea typeface="Cambria" pitchFamily="34" charset="-122"/>
                <a:cs typeface="Cambria" pitchFamily="34" charset="-120"/>
              </a:rPr>
              <a:t>g</a:t>
            </a:r>
            <a:endParaRPr lang="en-US" sz="2800" dirty="0"/>
          </a:p>
        </p:txBody>
      </p:sp>
      <p:sp>
        <p:nvSpPr>
          <p:cNvPr id="17" name="Text 15"/>
          <p:cNvSpPr/>
          <p:nvPr/>
        </p:nvSpPr>
        <p:spPr>
          <a:xfrm>
            <a:off x="5477256" y="2487168"/>
            <a:ext cx="1508760" cy="713232"/>
          </a:xfrm>
          <a:prstGeom prst="rect">
            <a:avLst/>
          </a:prstGeom>
          <a:noFill/>
          <a:ln/>
        </p:spPr>
        <p:txBody>
          <a:bodyPr wrap="square" rtlCol="0" anchor="t"/>
          <a:lstStyle/>
          <a:p>
            <a:pPr marL="0" indent="0" algn="ctr">
              <a:buNone/>
            </a:pPr>
            <a:r>
              <a:rPr lang="en-US" sz="1100" dirty="0">
                <a:solidFill>
                  <a:srgbClr val="1A1A1A"/>
                </a:solidFill>
                <a:latin typeface="Arial" pitchFamily="34" charset="0"/>
                <a:ea typeface="Arial" pitchFamily="34" charset="-122"/>
                <a:cs typeface="Arial" pitchFamily="34" charset="-120"/>
              </a:rPr>
              <a:t>Gravity acceleration</a:t>
            </a:r>
            <a:endParaRPr lang="en-US" sz="1100" dirty="0"/>
          </a:p>
          <a:p>
            <a:pPr marL="0" indent="0" algn="ctr">
              <a:buNone/>
            </a:pPr>
            <a:r>
              <a:rPr lang="en-US" sz="1100" dirty="0">
                <a:solidFill>
                  <a:srgbClr val="1A1A1A"/>
                </a:solidFill>
                <a:latin typeface="Arial" pitchFamily="34" charset="0"/>
                <a:ea typeface="Arial" pitchFamily="34" charset="-122"/>
                <a:cs typeface="Arial" pitchFamily="34" charset="-120"/>
              </a:rPr>
              <a:t>(GRAVITY × ticks/sec)</a:t>
            </a:r>
            <a:endParaRPr lang="en-US" sz="1100" dirty="0"/>
          </a:p>
        </p:txBody>
      </p:sp>
      <p:sp>
        <p:nvSpPr>
          <p:cNvPr id="18" name="Shape 16"/>
          <p:cNvSpPr/>
          <p:nvPr/>
        </p:nvSpPr>
        <p:spPr>
          <a:xfrm>
            <a:off x="7150608" y="1828800"/>
            <a:ext cx="1627632" cy="1463040"/>
          </a:xfrm>
          <a:prstGeom prst="roundRect">
            <a:avLst>
              <a:gd name="adj" fmla="val 5000"/>
            </a:avLst>
          </a:prstGeom>
          <a:solidFill>
            <a:srgbClr val="F9A825"/>
          </a:solidFill>
          <a:ln/>
          <a:effectLst>
            <a:outerShdw blurRad="63500" dist="25400" dir="2700000" algn="bl" rotWithShape="0">
              <a:srgbClr val="000000">
                <a:alpha val="12000"/>
              </a:srgbClr>
            </a:outerShdw>
          </a:effectLst>
        </p:spPr>
        <p:txBody>
          <a:bodyPr/>
          <a:lstStyle/>
          <a:p>
            <a:endParaRPr lang="en-US"/>
          </a:p>
        </p:txBody>
      </p:sp>
      <p:sp>
        <p:nvSpPr>
          <p:cNvPr id="19" name="Text 17"/>
          <p:cNvSpPr/>
          <p:nvPr/>
        </p:nvSpPr>
        <p:spPr>
          <a:xfrm>
            <a:off x="7196328" y="1892808"/>
            <a:ext cx="1508760" cy="594360"/>
          </a:xfrm>
          <a:prstGeom prst="rect">
            <a:avLst/>
          </a:prstGeom>
          <a:noFill/>
          <a:ln/>
        </p:spPr>
        <p:txBody>
          <a:bodyPr wrap="square" rtlCol="0" anchor="ctr"/>
          <a:lstStyle/>
          <a:p>
            <a:pPr marL="0" indent="0" algn="ctr">
              <a:buNone/>
            </a:pPr>
            <a:r>
              <a:rPr lang="en-US" sz="2800" b="1" dirty="0">
                <a:solidFill>
                  <a:srgbClr val="37474F"/>
                </a:solidFill>
                <a:latin typeface="Cambria" pitchFamily="34" charset="0"/>
                <a:ea typeface="Cambria" pitchFamily="34" charset="-122"/>
                <a:cs typeface="Cambria" pitchFamily="34" charset="-120"/>
              </a:rPr>
              <a:t>t²</a:t>
            </a:r>
            <a:endParaRPr lang="en-US" sz="2800" dirty="0"/>
          </a:p>
        </p:txBody>
      </p:sp>
      <p:sp>
        <p:nvSpPr>
          <p:cNvPr id="20" name="Text 18"/>
          <p:cNvSpPr/>
          <p:nvPr/>
        </p:nvSpPr>
        <p:spPr>
          <a:xfrm>
            <a:off x="7196328" y="2487168"/>
            <a:ext cx="1508760" cy="713232"/>
          </a:xfrm>
          <a:prstGeom prst="rect">
            <a:avLst/>
          </a:prstGeom>
          <a:noFill/>
          <a:ln/>
        </p:spPr>
        <p:txBody>
          <a:bodyPr wrap="square" rtlCol="0" anchor="t"/>
          <a:lstStyle/>
          <a:p>
            <a:pPr marL="0" indent="0" algn="ctr">
              <a:buNone/>
            </a:pPr>
            <a:r>
              <a:rPr lang="en-US" sz="1100" dirty="0">
                <a:solidFill>
                  <a:srgbClr val="1A1A1A"/>
                </a:solidFill>
                <a:latin typeface="Arial" pitchFamily="34" charset="0"/>
                <a:ea typeface="Arial" pitchFamily="34" charset="-122"/>
                <a:cs typeface="Arial" pitchFamily="34" charset="-120"/>
              </a:rPr>
              <a:t>Squaring time =</a:t>
            </a:r>
            <a:endParaRPr lang="en-US" sz="1100" dirty="0"/>
          </a:p>
          <a:p>
            <a:pPr marL="0" indent="0" algn="ctr">
              <a:buNone/>
            </a:pPr>
            <a:r>
              <a:rPr lang="en-US" sz="1100" dirty="0">
                <a:solidFill>
                  <a:srgbClr val="1A1A1A"/>
                </a:solidFill>
                <a:latin typeface="Arial" pitchFamily="34" charset="0"/>
                <a:ea typeface="Arial" pitchFamily="34" charset="-122"/>
                <a:cs typeface="Arial" pitchFamily="34" charset="-120"/>
              </a:rPr>
              <a:t>QUADRATIC = PARABOLA!</a:t>
            </a:r>
            <a:endParaRPr lang="en-US" sz="1100" dirty="0"/>
          </a:p>
        </p:txBody>
      </p:sp>
      <p:sp>
        <p:nvSpPr>
          <p:cNvPr id="21" name="Shape 19"/>
          <p:cNvSpPr/>
          <p:nvPr/>
        </p:nvSpPr>
        <p:spPr>
          <a:xfrm>
            <a:off x="274320" y="3401568"/>
            <a:ext cx="8595360" cy="914400"/>
          </a:xfrm>
          <a:prstGeom prst="roundRect">
            <a:avLst>
              <a:gd name="adj" fmla="val 8000"/>
            </a:avLst>
          </a:prstGeom>
          <a:solidFill>
            <a:srgbClr val="E8F5E9"/>
          </a:solidFill>
          <a:ln/>
        </p:spPr>
        <p:txBody>
          <a:bodyPr/>
          <a:lstStyle/>
          <a:p>
            <a:endParaRPr lang="en-US"/>
          </a:p>
        </p:txBody>
      </p:sp>
      <p:sp>
        <p:nvSpPr>
          <p:cNvPr id="22" name="Text 20"/>
          <p:cNvSpPr/>
          <p:nvPr/>
        </p:nvSpPr>
        <p:spPr>
          <a:xfrm>
            <a:off x="411480" y="3456432"/>
            <a:ext cx="8321040" cy="347472"/>
          </a:xfrm>
          <a:prstGeom prst="rect">
            <a:avLst/>
          </a:prstGeom>
          <a:noFill/>
          <a:ln/>
        </p:spPr>
        <p:txBody>
          <a:bodyPr wrap="square" rtlCol="0" anchor="ctr"/>
          <a:lstStyle/>
          <a:p>
            <a:pPr marL="0" indent="0">
              <a:buNone/>
            </a:pPr>
            <a:r>
              <a:rPr lang="en-US" sz="1300" b="1" dirty="0">
                <a:solidFill>
                  <a:srgbClr val="1B5E20"/>
                </a:solidFill>
                <a:latin typeface="Arial" pitchFamily="34" charset="0"/>
                <a:ea typeface="Arial" pitchFamily="34" charset="-122"/>
                <a:cs typeface="Arial" pitchFamily="34" charset="-120"/>
              </a:rPr>
              <a:t>In Minecraft, your agent's block Y position during a jump follows this EXACT formula!</a:t>
            </a:r>
            <a:endParaRPr lang="en-US" sz="1300" dirty="0"/>
          </a:p>
        </p:txBody>
      </p:sp>
      <p:sp>
        <p:nvSpPr>
          <p:cNvPr id="23" name="Text 21"/>
          <p:cNvSpPr/>
          <p:nvPr/>
        </p:nvSpPr>
        <p:spPr>
          <a:xfrm>
            <a:off x="411480" y="3794760"/>
            <a:ext cx="8321040" cy="438912"/>
          </a:xfrm>
          <a:prstGeom prst="rect">
            <a:avLst/>
          </a:prstGeom>
          <a:noFill/>
          <a:ln/>
        </p:spPr>
        <p:txBody>
          <a:bodyPr wrap="square" rtlCol="0" anchor="ctr"/>
          <a:lstStyle/>
          <a:p>
            <a:pPr marL="0" indent="0">
              <a:buNone/>
            </a:pPr>
            <a:r>
              <a:rPr lang="en-US" sz="1300" dirty="0">
                <a:solidFill>
                  <a:srgbClr val="558B2F"/>
                </a:solidFill>
                <a:latin typeface="Courier New" pitchFamily="34" charset="0"/>
                <a:ea typeface="Courier New" pitchFamily="34" charset="-122"/>
                <a:cs typeface="Courier New" pitchFamily="34" charset="-120"/>
              </a:rPr>
              <a:t>JUMP_FORCE = v₀   |   each loop tick ≈ time step   |   GRAVITY constant = g</a:t>
            </a:r>
            <a:endParaRPr lang="en-US" sz="1300" dirty="0"/>
          </a:p>
        </p:txBody>
      </p:sp>
      <p:sp>
        <p:nvSpPr>
          <p:cNvPr id="24" name="Shape 22"/>
          <p:cNvSpPr/>
          <p:nvPr/>
        </p:nvSpPr>
        <p:spPr>
          <a:xfrm>
            <a:off x="274320" y="4407408"/>
            <a:ext cx="8595360" cy="530352"/>
          </a:xfrm>
          <a:prstGeom prst="roundRect">
            <a:avLst>
              <a:gd name="adj" fmla="val 10345"/>
            </a:avLst>
          </a:prstGeom>
          <a:solidFill>
            <a:srgbClr val="37474F"/>
          </a:solidFill>
          <a:ln/>
        </p:spPr>
        <p:txBody>
          <a:bodyPr/>
          <a:lstStyle/>
          <a:p>
            <a:endParaRPr lang="en-US"/>
          </a:p>
        </p:txBody>
      </p:sp>
      <p:sp>
        <p:nvSpPr>
          <p:cNvPr id="25" name="Text 23"/>
          <p:cNvSpPr/>
          <p:nvPr/>
        </p:nvSpPr>
        <p:spPr>
          <a:xfrm>
            <a:off x="411480" y="4425696"/>
            <a:ext cx="8321040" cy="475488"/>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Discussion: If we graphed the agent's Y position over time during a jump — what shape would we get? Why?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558B2F"/>
          </a:solidFill>
          <a:ln w="12700">
            <a:solidFill>
              <a:srgbClr val="000000"/>
            </a:solidFill>
            <a:prstDash val="solid"/>
          </a:ln>
        </p:spPr>
        <p:txBody>
          <a:bodyPr/>
          <a:lstStyle/>
          <a:p>
            <a:endParaRPr lang="en-US"/>
          </a:p>
        </p:txBody>
      </p:sp>
      <p:sp>
        <p:nvSpPr>
          <p:cNvPr id="3" name="Text 1"/>
          <p:cNvSpPr/>
          <p:nvPr/>
        </p:nvSpPr>
        <p:spPr>
          <a:xfrm>
            <a:off x="365760" y="109728"/>
            <a:ext cx="8229600" cy="59436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Game Narrative  ·  What Does Gravity Say About Your Minecraft World?</a:t>
            </a:r>
            <a:endParaRPr lang="en-US" sz="2200" dirty="0"/>
          </a:p>
        </p:txBody>
      </p:sp>
      <p:sp>
        <p:nvSpPr>
          <p:cNvPr id="4" name="Shape 2"/>
          <p:cNvSpPr/>
          <p:nvPr/>
        </p:nvSpPr>
        <p:spPr>
          <a:xfrm>
            <a:off x="182880" y="914400"/>
            <a:ext cx="2834640" cy="4023360"/>
          </a:xfrm>
          <a:prstGeom prst="roundRect">
            <a:avLst>
              <a:gd name="adj" fmla="val 3226"/>
            </a:avLst>
          </a:prstGeom>
          <a:solidFill>
            <a:srgbClr val="E8F5E9"/>
          </a:solidFill>
          <a:ln/>
          <a:effectLst>
            <a:outerShdw blurRad="63500" dist="25400" dir="2700000" algn="bl" rotWithShape="0">
              <a:srgbClr val="000000">
                <a:alpha val="12000"/>
              </a:srgbClr>
            </a:outerShdw>
          </a:effectLst>
        </p:spPr>
        <p:txBody>
          <a:bodyPr/>
          <a:lstStyle/>
          <a:p>
            <a:endParaRPr lang="en-US"/>
          </a:p>
        </p:txBody>
      </p:sp>
      <p:sp>
        <p:nvSpPr>
          <p:cNvPr id="5" name="Shape 3"/>
          <p:cNvSpPr/>
          <p:nvPr/>
        </p:nvSpPr>
        <p:spPr>
          <a:xfrm>
            <a:off x="274320" y="987552"/>
            <a:ext cx="2651760" cy="640080"/>
          </a:xfrm>
          <a:prstGeom prst="roundRect">
            <a:avLst>
              <a:gd name="adj" fmla="val 10000"/>
            </a:avLst>
          </a:prstGeom>
          <a:solidFill>
            <a:srgbClr val="4CAF50"/>
          </a:solidFill>
          <a:ln/>
        </p:spPr>
        <p:txBody>
          <a:bodyPr/>
          <a:lstStyle/>
          <a:p>
            <a:endParaRPr lang="en-US"/>
          </a:p>
        </p:txBody>
      </p:sp>
      <p:sp>
        <p:nvSpPr>
          <p:cNvPr id="6" name="Text 4"/>
          <p:cNvSpPr/>
          <p:nvPr/>
        </p:nvSpPr>
        <p:spPr>
          <a:xfrm>
            <a:off x="274320" y="1005840"/>
            <a:ext cx="2651760" cy="347472"/>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Low Gravity</a:t>
            </a:r>
            <a:endParaRPr lang="en-US" sz="1600" dirty="0"/>
          </a:p>
        </p:txBody>
      </p:sp>
      <p:sp>
        <p:nvSpPr>
          <p:cNvPr id="7" name="Text 5"/>
          <p:cNvSpPr/>
          <p:nvPr/>
        </p:nvSpPr>
        <p:spPr>
          <a:xfrm>
            <a:off x="274320" y="1344168"/>
            <a:ext cx="2651760" cy="256032"/>
          </a:xfrm>
          <a:prstGeom prst="rect">
            <a:avLst/>
          </a:prstGeom>
          <a:noFill/>
          <a:ln/>
        </p:spPr>
        <p:txBody>
          <a:bodyPr wrap="square" rtlCol="0" anchor="ctr"/>
          <a:lstStyle/>
          <a:p>
            <a:pPr marL="0" indent="0" algn="ctr">
              <a:buNone/>
            </a:pPr>
            <a:r>
              <a:rPr lang="en-US" sz="1000" i="1" dirty="0">
                <a:solidFill>
                  <a:srgbClr val="FFFFFF"/>
                </a:solidFill>
                <a:latin typeface="Arial" pitchFamily="34" charset="0"/>
                <a:ea typeface="Arial" pitchFamily="34" charset="-122"/>
                <a:cs typeface="Arial" pitchFamily="34" charset="-120"/>
              </a:rPr>
              <a:t>Floaty &amp; Dream-Like</a:t>
            </a:r>
            <a:endParaRPr lang="en-US" sz="1000" dirty="0"/>
          </a:p>
        </p:txBody>
      </p:sp>
      <p:sp>
        <p:nvSpPr>
          <p:cNvPr id="8" name="Text 6"/>
          <p:cNvSpPr/>
          <p:nvPr/>
        </p:nvSpPr>
        <p:spPr>
          <a:xfrm>
            <a:off x="320040" y="1719072"/>
            <a:ext cx="2560320" cy="320040"/>
          </a:xfrm>
          <a:prstGeom prst="rect">
            <a:avLst/>
          </a:prstGeom>
          <a:noFill/>
          <a:ln/>
        </p:spPr>
        <p:txBody>
          <a:bodyPr wrap="square" rtlCol="0" anchor="ctr"/>
          <a:lstStyle/>
          <a:p>
            <a:pPr marL="0" indent="0" algn="ctr">
              <a:buNone/>
            </a:pPr>
            <a:r>
              <a:rPr lang="en-US" sz="1000" b="1" dirty="0">
                <a:solidFill>
                  <a:srgbClr val="4CAF50"/>
                </a:solidFill>
                <a:latin typeface="Arial" pitchFamily="34" charset="0"/>
                <a:ea typeface="Arial" pitchFamily="34" charset="-122"/>
                <a:cs typeface="Arial" pitchFamily="34" charset="-120"/>
              </a:rPr>
              <a:t>Magical / End Dimension / Space</a:t>
            </a:r>
            <a:endParaRPr lang="en-US" sz="1000" dirty="0"/>
          </a:p>
        </p:txBody>
      </p:sp>
      <p:sp>
        <p:nvSpPr>
          <p:cNvPr id="9" name="Text 7"/>
          <p:cNvSpPr/>
          <p:nvPr/>
        </p:nvSpPr>
        <p:spPr>
          <a:xfrm>
            <a:off x="320040" y="2103120"/>
            <a:ext cx="2560320" cy="1280160"/>
          </a:xfrm>
          <a:prstGeom prst="rect">
            <a:avLst/>
          </a:prstGeom>
          <a:noFill/>
          <a:ln/>
        </p:spPr>
        <p:txBody>
          <a:bodyPr wrap="square" rtlCol="0" anchor="ctr"/>
          <a:lstStyle/>
          <a:p>
            <a:pPr marL="0" indent="0">
              <a:buNone/>
            </a:pPr>
            <a:r>
              <a:rPr lang="en-US" sz="1100" dirty="0">
                <a:solidFill>
                  <a:srgbClr val="1A1A1A"/>
                </a:solidFill>
                <a:latin typeface="Arial" pitchFamily="34" charset="0"/>
                <a:ea typeface="Arial" pitchFamily="34" charset="-122"/>
                <a:cs typeface="Arial" pitchFamily="34" charset="-120"/>
              </a:rPr>
              <a:t>Characters feel weightless — every jump soars. Perfect for End-inspired adventure maps, sky islands, or moon worlds. Feels supernatural.</a:t>
            </a:r>
            <a:endParaRPr lang="en-US" sz="1100" dirty="0"/>
          </a:p>
        </p:txBody>
      </p:sp>
      <p:sp>
        <p:nvSpPr>
          <p:cNvPr id="10" name="Shape 8"/>
          <p:cNvSpPr/>
          <p:nvPr/>
        </p:nvSpPr>
        <p:spPr>
          <a:xfrm>
            <a:off x="320040" y="3429000"/>
            <a:ext cx="2560320" cy="365760"/>
          </a:xfrm>
          <a:prstGeom prst="roundRect">
            <a:avLst>
              <a:gd name="adj" fmla="val 12500"/>
            </a:avLst>
          </a:prstGeom>
          <a:solidFill>
            <a:srgbClr val="4CAF50"/>
          </a:solidFill>
          <a:ln/>
        </p:spPr>
        <p:txBody>
          <a:bodyPr/>
          <a:lstStyle/>
          <a:p>
            <a:endParaRPr lang="en-US"/>
          </a:p>
        </p:txBody>
      </p:sp>
      <p:sp>
        <p:nvSpPr>
          <p:cNvPr id="11" name="Text 9"/>
          <p:cNvSpPr/>
          <p:nvPr/>
        </p:nvSpPr>
        <p:spPr>
          <a:xfrm>
            <a:off x="320040" y="3429000"/>
            <a:ext cx="2560320" cy="365760"/>
          </a:xfrm>
          <a:prstGeom prst="rect">
            <a:avLst/>
          </a:prstGeom>
          <a:noFill/>
          <a:ln/>
        </p:spPr>
        <p:txBody>
          <a:bodyPr wrap="square" rtlCol="0" anchor="ctr"/>
          <a:lstStyle/>
          <a:p>
            <a:pPr marL="0" indent="0" algn="ctr">
              <a:buNone/>
            </a:pPr>
            <a:r>
              <a:rPr lang="en-US" sz="950" i="1" dirty="0">
                <a:solidFill>
                  <a:srgbClr val="FFFFFF"/>
                </a:solidFill>
                <a:latin typeface="Arial" pitchFamily="34" charset="0"/>
                <a:ea typeface="Arial" pitchFamily="34" charset="-122"/>
                <a:cs typeface="Arial" pitchFamily="34" charset="-120"/>
              </a:rPr>
              <a:t>End Cities, Sky Island maps</a:t>
            </a:r>
            <a:endParaRPr lang="en-US" sz="950" dirty="0"/>
          </a:p>
        </p:txBody>
      </p:sp>
      <p:sp>
        <p:nvSpPr>
          <p:cNvPr id="12" name="Text 10"/>
          <p:cNvSpPr/>
          <p:nvPr/>
        </p:nvSpPr>
        <p:spPr>
          <a:xfrm>
            <a:off x="320040" y="3858768"/>
            <a:ext cx="2560320" cy="384048"/>
          </a:xfrm>
          <a:prstGeom prst="rect">
            <a:avLst/>
          </a:prstGeom>
          <a:noFill/>
          <a:ln/>
        </p:spPr>
        <p:txBody>
          <a:bodyPr wrap="square" rtlCol="0" anchor="ctr"/>
          <a:lstStyle/>
          <a:p>
            <a:pPr marL="0" indent="0" algn="ctr">
              <a:buNone/>
            </a:pPr>
            <a:r>
              <a:rPr lang="en-US" sz="1000" b="1" dirty="0">
                <a:solidFill>
                  <a:srgbClr val="4CAF50"/>
                </a:solidFill>
                <a:latin typeface="Courier New" pitchFamily="34" charset="0"/>
                <a:ea typeface="Courier New" pitchFamily="34" charset="-122"/>
                <a:cs typeface="Courier New" pitchFamily="34" charset="-120"/>
              </a:rPr>
              <a:t>GRAVITY = −0.2 to −0.3</a:t>
            </a:r>
            <a:endParaRPr lang="en-US" sz="1000" dirty="0"/>
          </a:p>
        </p:txBody>
      </p:sp>
      <p:sp>
        <p:nvSpPr>
          <p:cNvPr id="13" name="Shape 11"/>
          <p:cNvSpPr/>
          <p:nvPr/>
        </p:nvSpPr>
        <p:spPr>
          <a:xfrm>
            <a:off x="3246120" y="914400"/>
            <a:ext cx="2834640" cy="4023360"/>
          </a:xfrm>
          <a:prstGeom prst="roundRect">
            <a:avLst>
              <a:gd name="adj" fmla="val 3226"/>
            </a:avLst>
          </a:prstGeom>
          <a:solidFill>
            <a:srgbClr val="FFF9C4"/>
          </a:solidFill>
          <a:ln/>
          <a:effectLst>
            <a:outerShdw blurRad="63500" dist="25400" dir="2700000" algn="bl" rotWithShape="0">
              <a:srgbClr val="000000">
                <a:alpha val="12000"/>
              </a:srgbClr>
            </a:outerShdw>
          </a:effectLst>
        </p:spPr>
        <p:txBody>
          <a:bodyPr/>
          <a:lstStyle/>
          <a:p>
            <a:endParaRPr lang="en-US"/>
          </a:p>
        </p:txBody>
      </p:sp>
      <p:sp>
        <p:nvSpPr>
          <p:cNvPr id="14" name="Shape 12"/>
          <p:cNvSpPr/>
          <p:nvPr/>
        </p:nvSpPr>
        <p:spPr>
          <a:xfrm>
            <a:off x="3337560" y="987552"/>
            <a:ext cx="2651760" cy="640080"/>
          </a:xfrm>
          <a:prstGeom prst="roundRect">
            <a:avLst>
              <a:gd name="adj" fmla="val 10000"/>
            </a:avLst>
          </a:prstGeom>
          <a:solidFill>
            <a:srgbClr val="5D4037"/>
          </a:solidFill>
          <a:ln/>
        </p:spPr>
        <p:txBody>
          <a:bodyPr/>
          <a:lstStyle/>
          <a:p>
            <a:endParaRPr lang="en-US"/>
          </a:p>
        </p:txBody>
      </p:sp>
      <p:sp>
        <p:nvSpPr>
          <p:cNvPr id="15" name="Text 13"/>
          <p:cNvSpPr/>
          <p:nvPr/>
        </p:nvSpPr>
        <p:spPr>
          <a:xfrm>
            <a:off x="3337560" y="1005840"/>
            <a:ext cx="2651760" cy="347472"/>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Normal Gravity</a:t>
            </a:r>
            <a:endParaRPr lang="en-US" sz="1600" dirty="0"/>
          </a:p>
        </p:txBody>
      </p:sp>
      <p:sp>
        <p:nvSpPr>
          <p:cNvPr id="16" name="Text 14"/>
          <p:cNvSpPr/>
          <p:nvPr/>
        </p:nvSpPr>
        <p:spPr>
          <a:xfrm>
            <a:off x="3337560" y="1344168"/>
            <a:ext cx="2651760" cy="256032"/>
          </a:xfrm>
          <a:prstGeom prst="rect">
            <a:avLst/>
          </a:prstGeom>
          <a:noFill/>
          <a:ln/>
        </p:spPr>
        <p:txBody>
          <a:bodyPr wrap="square" rtlCol="0" anchor="ctr"/>
          <a:lstStyle/>
          <a:p>
            <a:pPr marL="0" indent="0" algn="ctr">
              <a:buNone/>
            </a:pPr>
            <a:r>
              <a:rPr lang="en-US" sz="1000" i="1" dirty="0">
                <a:solidFill>
                  <a:srgbClr val="FFFFFF"/>
                </a:solidFill>
                <a:latin typeface="Arial" pitchFamily="34" charset="0"/>
                <a:ea typeface="Arial" pitchFamily="34" charset="-122"/>
                <a:cs typeface="Arial" pitchFamily="34" charset="-120"/>
              </a:rPr>
              <a:t>Grounded &amp; Familiar</a:t>
            </a:r>
            <a:endParaRPr lang="en-US" sz="1000" dirty="0"/>
          </a:p>
        </p:txBody>
      </p:sp>
      <p:sp>
        <p:nvSpPr>
          <p:cNvPr id="17" name="Text 15"/>
          <p:cNvSpPr/>
          <p:nvPr/>
        </p:nvSpPr>
        <p:spPr>
          <a:xfrm>
            <a:off x="3383280" y="1719072"/>
            <a:ext cx="2560320" cy="320040"/>
          </a:xfrm>
          <a:prstGeom prst="rect">
            <a:avLst/>
          </a:prstGeom>
          <a:noFill/>
          <a:ln/>
        </p:spPr>
        <p:txBody>
          <a:bodyPr wrap="square" rtlCol="0" anchor="ctr"/>
          <a:lstStyle/>
          <a:p>
            <a:pPr marL="0" indent="0" algn="ctr">
              <a:buNone/>
            </a:pPr>
            <a:r>
              <a:rPr lang="en-US" sz="1000" b="1" dirty="0">
                <a:solidFill>
                  <a:srgbClr val="5D4037"/>
                </a:solidFill>
                <a:latin typeface="Arial" pitchFamily="34" charset="0"/>
                <a:ea typeface="Arial" pitchFamily="34" charset="-122"/>
                <a:cs typeface="Arial" pitchFamily="34" charset="-120"/>
              </a:rPr>
              <a:t>Realistic / Survival / Overworld</a:t>
            </a:r>
            <a:endParaRPr lang="en-US" sz="1000" dirty="0"/>
          </a:p>
        </p:txBody>
      </p:sp>
      <p:sp>
        <p:nvSpPr>
          <p:cNvPr id="18" name="Text 16"/>
          <p:cNvSpPr/>
          <p:nvPr/>
        </p:nvSpPr>
        <p:spPr>
          <a:xfrm>
            <a:off x="3383280" y="2103120"/>
            <a:ext cx="2560320" cy="1280160"/>
          </a:xfrm>
          <a:prstGeom prst="rect">
            <a:avLst/>
          </a:prstGeom>
          <a:noFill/>
          <a:ln/>
        </p:spPr>
        <p:txBody>
          <a:bodyPr wrap="square" rtlCol="0" anchor="ctr"/>
          <a:lstStyle/>
          <a:p>
            <a:pPr marL="0" indent="0">
              <a:buNone/>
            </a:pPr>
            <a:r>
              <a:rPr lang="en-US" sz="1100" dirty="0">
                <a:solidFill>
                  <a:srgbClr val="1A1A1A"/>
                </a:solidFill>
                <a:latin typeface="Arial" pitchFamily="34" charset="0"/>
                <a:ea typeface="Arial" pitchFamily="34" charset="-122"/>
                <a:cs typeface="Arial" pitchFamily="34" charset="-120"/>
              </a:rPr>
              <a:t>The baseline players know from vanilla Minecraft. Weight and effort feel believable. This is what your world is measured against.</a:t>
            </a:r>
            <a:endParaRPr lang="en-US" sz="1100" dirty="0"/>
          </a:p>
        </p:txBody>
      </p:sp>
      <p:sp>
        <p:nvSpPr>
          <p:cNvPr id="19" name="Shape 17"/>
          <p:cNvSpPr/>
          <p:nvPr/>
        </p:nvSpPr>
        <p:spPr>
          <a:xfrm>
            <a:off x="3383280" y="3429000"/>
            <a:ext cx="2560320" cy="365760"/>
          </a:xfrm>
          <a:prstGeom prst="roundRect">
            <a:avLst>
              <a:gd name="adj" fmla="val 12500"/>
            </a:avLst>
          </a:prstGeom>
          <a:solidFill>
            <a:srgbClr val="5D4037"/>
          </a:solidFill>
          <a:ln/>
        </p:spPr>
        <p:txBody>
          <a:bodyPr/>
          <a:lstStyle/>
          <a:p>
            <a:endParaRPr lang="en-US"/>
          </a:p>
        </p:txBody>
      </p:sp>
      <p:sp>
        <p:nvSpPr>
          <p:cNvPr id="20" name="Text 18"/>
          <p:cNvSpPr/>
          <p:nvPr/>
        </p:nvSpPr>
        <p:spPr>
          <a:xfrm>
            <a:off x="3383280" y="3429000"/>
            <a:ext cx="2560320" cy="365760"/>
          </a:xfrm>
          <a:prstGeom prst="rect">
            <a:avLst/>
          </a:prstGeom>
          <a:noFill/>
          <a:ln/>
        </p:spPr>
        <p:txBody>
          <a:bodyPr wrap="square" rtlCol="0" anchor="ctr"/>
          <a:lstStyle/>
          <a:p>
            <a:pPr marL="0" indent="0" algn="ctr">
              <a:buNone/>
            </a:pPr>
            <a:r>
              <a:rPr lang="en-US" sz="950" i="1" dirty="0">
                <a:solidFill>
                  <a:srgbClr val="FFFFFF"/>
                </a:solidFill>
                <a:latin typeface="Arial" pitchFamily="34" charset="0"/>
                <a:ea typeface="Arial" pitchFamily="34" charset="-122"/>
                <a:cs typeface="Arial" pitchFamily="34" charset="-120"/>
              </a:rPr>
              <a:t>Standard Survival, Adventure Maps</a:t>
            </a:r>
            <a:endParaRPr lang="en-US" sz="950" dirty="0"/>
          </a:p>
        </p:txBody>
      </p:sp>
      <p:sp>
        <p:nvSpPr>
          <p:cNvPr id="21" name="Text 19"/>
          <p:cNvSpPr/>
          <p:nvPr/>
        </p:nvSpPr>
        <p:spPr>
          <a:xfrm>
            <a:off x="3383280" y="3858768"/>
            <a:ext cx="2560320" cy="384048"/>
          </a:xfrm>
          <a:prstGeom prst="rect">
            <a:avLst/>
          </a:prstGeom>
          <a:noFill/>
          <a:ln/>
        </p:spPr>
        <p:txBody>
          <a:bodyPr wrap="square" rtlCol="0" anchor="ctr"/>
          <a:lstStyle/>
          <a:p>
            <a:pPr marL="0" indent="0" algn="ctr">
              <a:buNone/>
            </a:pPr>
            <a:r>
              <a:rPr lang="en-US" sz="1000" b="1" dirty="0">
                <a:solidFill>
                  <a:srgbClr val="5D4037"/>
                </a:solidFill>
                <a:latin typeface="Courier New" pitchFamily="34" charset="0"/>
                <a:ea typeface="Courier New" pitchFamily="34" charset="-122"/>
                <a:cs typeface="Courier New" pitchFamily="34" charset="-120"/>
              </a:rPr>
              <a:t>GRAVITY = −0.6 (default)</a:t>
            </a:r>
            <a:endParaRPr lang="en-US" sz="1000" dirty="0"/>
          </a:p>
        </p:txBody>
      </p:sp>
      <p:sp>
        <p:nvSpPr>
          <p:cNvPr id="22" name="Shape 20"/>
          <p:cNvSpPr/>
          <p:nvPr/>
        </p:nvSpPr>
        <p:spPr>
          <a:xfrm>
            <a:off x="6309360" y="914400"/>
            <a:ext cx="2834640" cy="4023360"/>
          </a:xfrm>
          <a:prstGeom prst="roundRect">
            <a:avLst>
              <a:gd name="adj" fmla="val 3226"/>
            </a:avLst>
          </a:prstGeom>
          <a:solidFill>
            <a:srgbClr val="FFEBEE"/>
          </a:solidFill>
          <a:ln/>
          <a:effectLst>
            <a:outerShdw blurRad="63500" dist="25400" dir="2700000" algn="bl" rotWithShape="0">
              <a:srgbClr val="000000">
                <a:alpha val="12000"/>
              </a:srgbClr>
            </a:outerShdw>
          </a:effectLst>
        </p:spPr>
        <p:txBody>
          <a:bodyPr/>
          <a:lstStyle/>
          <a:p>
            <a:endParaRPr lang="en-US"/>
          </a:p>
        </p:txBody>
      </p:sp>
      <p:sp>
        <p:nvSpPr>
          <p:cNvPr id="23" name="Shape 21"/>
          <p:cNvSpPr/>
          <p:nvPr/>
        </p:nvSpPr>
        <p:spPr>
          <a:xfrm>
            <a:off x="6400800" y="987552"/>
            <a:ext cx="2651760" cy="640080"/>
          </a:xfrm>
          <a:prstGeom prst="roundRect">
            <a:avLst>
              <a:gd name="adj" fmla="val 10000"/>
            </a:avLst>
          </a:prstGeom>
          <a:solidFill>
            <a:srgbClr val="B71C1C"/>
          </a:solidFill>
          <a:ln/>
        </p:spPr>
        <p:txBody>
          <a:bodyPr/>
          <a:lstStyle/>
          <a:p>
            <a:endParaRPr lang="en-US"/>
          </a:p>
        </p:txBody>
      </p:sp>
      <p:sp>
        <p:nvSpPr>
          <p:cNvPr id="24" name="Text 22"/>
          <p:cNvSpPr/>
          <p:nvPr/>
        </p:nvSpPr>
        <p:spPr>
          <a:xfrm>
            <a:off x="6400800" y="1005840"/>
            <a:ext cx="2651760" cy="347472"/>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High Gravity</a:t>
            </a:r>
            <a:endParaRPr lang="en-US" sz="1600" dirty="0"/>
          </a:p>
        </p:txBody>
      </p:sp>
      <p:sp>
        <p:nvSpPr>
          <p:cNvPr id="25" name="Text 23"/>
          <p:cNvSpPr/>
          <p:nvPr/>
        </p:nvSpPr>
        <p:spPr>
          <a:xfrm>
            <a:off x="6400800" y="1344168"/>
            <a:ext cx="2651760" cy="256032"/>
          </a:xfrm>
          <a:prstGeom prst="rect">
            <a:avLst/>
          </a:prstGeom>
          <a:noFill/>
          <a:ln/>
        </p:spPr>
        <p:txBody>
          <a:bodyPr wrap="square" rtlCol="0" anchor="ctr"/>
          <a:lstStyle/>
          <a:p>
            <a:pPr marL="0" indent="0" algn="ctr">
              <a:buNone/>
            </a:pPr>
            <a:r>
              <a:rPr lang="en-US" sz="1000" i="1" dirty="0">
                <a:solidFill>
                  <a:srgbClr val="FFFFFF"/>
                </a:solidFill>
                <a:latin typeface="Arial" pitchFamily="34" charset="0"/>
                <a:ea typeface="Arial" pitchFamily="34" charset="-122"/>
                <a:cs typeface="Arial" pitchFamily="34" charset="-120"/>
              </a:rPr>
              <a:t>Heavy &amp; Punishing</a:t>
            </a:r>
            <a:endParaRPr lang="en-US" sz="1000" dirty="0"/>
          </a:p>
        </p:txBody>
      </p:sp>
      <p:sp>
        <p:nvSpPr>
          <p:cNvPr id="26" name="Text 24"/>
          <p:cNvSpPr/>
          <p:nvPr/>
        </p:nvSpPr>
        <p:spPr>
          <a:xfrm>
            <a:off x="6446520" y="1719072"/>
            <a:ext cx="2560320" cy="320040"/>
          </a:xfrm>
          <a:prstGeom prst="rect">
            <a:avLst/>
          </a:prstGeom>
          <a:noFill/>
          <a:ln/>
        </p:spPr>
        <p:txBody>
          <a:bodyPr wrap="square" rtlCol="0" anchor="ctr"/>
          <a:lstStyle/>
          <a:p>
            <a:pPr marL="0" indent="0" algn="ctr">
              <a:buNone/>
            </a:pPr>
            <a:r>
              <a:rPr lang="en-US" sz="1000" b="1" dirty="0">
                <a:solidFill>
                  <a:srgbClr val="B71C1C"/>
                </a:solidFill>
                <a:latin typeface="Arial" pitchFamily="34" charset="0"/>
                <a:ea typeface="Arial" pitchFamily="34" charset="-122"/>
                <a:cs typeface="Arial" pitchFamily="34" charset="-120"/>
              </a:rPr>
              <a:t>Danger / Deep Cave / Nether</a:t>
            </a:r>
            <a:endParaRPr lang="en-US" sz="1000" dirty="0"/>
          </a:p>
        </p:txBody>
      </p:sp>
      <p:sp>
        <p:nvSpPr>
          <p:cNvPr id="27" name="Text 25"/>
          <p:cNvSpPr/>
          <p:nvPr/>
        </p:nvSpPr>
        <p:spPr>
          <a:xfrm>
            <a:off x="6446520" y="2103120"/>
            <a:ext cx="2560320" cy="1280160"/>
          </a:xfrm>
          <a:prstGeom prst="rect">
            <a:avLst/>
          </a:prstGeom>
          <a:noFill/>
          <a:ln/>
        </p:spPr>
        <p:txBody>
          <a:bodyPr wrap="square" rtlCol="0" anchor="ctr"/>
          <a:lstStyle/>
          <a:p>
            <a:pPr marL="0" indent="0">
              <a:buNone/>
            </a:pPr>
            <a:r>
              <a:rPr lang="en-US" sz="1100" dirty="0">
                <a:solidFill>
                  <a:srgbClr val="1A1A1A"/>
                </a:solidFill>
                <a:latin typeface="Arial" pitchFamily="34" charset="0"/>
                <a:ea typeface="Arial" pitchFamily="34" charset="-122"/>
                <a:cs typeface="Arial" pitchFamily="34" charset="-120"/>
              </a:rPr>
              <a:t>Every jump is an effort. Creates tension and weight. Great for brutal platformers, Nether-themed maps, or deep underground dungeons.</a:t>
            </a:r>
            <a:endParaRPr lang="en-US" sz="1100" dirty="0"/>
          </a:p>
        </p:txBody>
      </p:sp>
      <p:sp>
        <p:nvSpPr>
          <p:cNvPr id="28" name="Shape 26"/>
          <p:cNvSpPr/>
          <p:nvPr/>
        </p:nvSpPr>
        <p:spPr>
          <a:xfrm>
            <a:off x="6446520" y="3429000"/>
            <a:ext cx="2560320" cy="365760"/>
          </a:xfrm>
          <a:prstGeom prst="roundRect">
            <a:avLst>
              <a:gd name="adj" fmla="val 12500"/>
            </a:avLst>
          </a:prstGeom>
          <a:solidFill>
            <a:srgbClr val="B71C1C"/>
          </a:solidFill>
          <a:ln/>
        </p:spPr>
        <p:txBody>
          <a:bodyPr/>
          <a:lstStyle/>
          <a:p>
            <a:endParaRPr lang="en-US"/>
          </a:p>
        </p:txBody>
      </p:sp>
      <p:sp>
        <p:nvSpPr>
          <p:cNvPr id="29" name="Text 27"/>
          <p:cNvSpPr/>
          <p:nvPr/>
        </p:nvSpPr>
        <p:spPr>
          <a:xfrm>
            <a:off x="6446520" y="3429000"/>
            <a:ext cx="2560320" cy="365760"/>
          </a:xfrm>
          <a:prstGeom prst="rect">
            <a:avLst/>
          </a:prstGeom>
          <a:noFill/>
          <a:ln/>
        </p:spPr>
        <p:txBody>
          <a:bodyPr wrap="square" rtlCol="0" anchor="ctr"/>
          <a:lstStyle/>
          <a:p>
            <a:pPr marL="0" indent="0" algn="ctr">
              <a:buNone/>
            </a:pPr>
            <a:r>
              <a:rPr lang="en-US" sz="950" i="1" dirty="0">
                <a:solidFill>
                  <a:srgbClr val="FFFFFF"/>
                </a:solidFill>
                <a:latin typeface="Arial" pitchFamily="34" charset="0"/>
                <a:ea typeface="Arial" pitchFamily="34" charset="-122"/>
                <a:cs typeface="Arial" pitchFamily="34" charset="-120"/>
              </a:rPr>
              <a:t>Hardcore maps, Nether levels</a:t>
            </a:r>
            <a:endParaRPr lang="en-US" sz="950" dirty="0"/>
          </a:p>
        </p:txBody>
      </p:sp>
      <p:sp>
        <p:nvSpPr>
          <p:cNvPr id="30" name="Text 28"/>
          <p:cNvSpPr/>
          <p:nvPr/>
        </p:nvSpPr>
        <p:spPr>
          <a:xfrm>
            <a:off x="6446520" y="3858768"/>
            <a:ext cx="2560320" cy="384048"/>
          </a:xfrm>
          <a:prstGeom prst="rect">
            <a:avLst/>
          </a:prstGeom>
          <a:noFill/>
          <a:ln/>
        </p:spPr>
        <p:txBody>
          <a:bodyPr wrap="square" rtlCol="0" anchor="ctr"/>
          <a:lstStyle/>
          <a:p>
            <a:pPr marL="0" indent="0" algn="ctr">
              <a:buNone/>
            </a:pPr>
            <a:r>
              <a:rPr lang="en-US" sz="1000" b="1" dirty="0">
                <a:solidFill>
                  <a:srgbClr val="B71C1C"/>
                </a:solidFill>
                <a:latin typeface="Courier New" pitchFamily="34" charset="0"/>
                <a:ea typeface="Courier New" pitchFamily="34" charset="-122"/>
                <a:cs typeface="Courier New" pitchFamily="34" charset="-120"/>
              </a:rPr>
              <a:t>GRAVITY = −1.5 to −3.0</a:t>
            </a:r>
            <a:endParaRPr lang="en-US" sz="1000" dirty="0"/>
          </a:p>
        </p:txBody>
      </p:sp>
      <p:sp>
        <p:nvSpPr>
          <p:cNvPr id="31" name="Shape 29"/>
          <p:cNvSpPr/>
          <p:nvPr/>
        </p:nvSpPr>
        <p:spPr>
          <a:xfrm>
            <a:off x="182880" y="4709160"/>
            <a:ext cx="8778240" cy="320040"/>
          </a:xfrm>
          <a:prstGeom prst="roundRect">
            <a:avLst>
              <a:gd name="adj" fmla="val 17143"/>
            </a:avLst>
          </a:prstGeom>
          <a:solidFill>
            <a:srgbClr val="1B5E20"/>
          </a:solidFill>
          <a:ln/>
        </p:spPr>
        <p:txBody>
          <a:bodyPr/>
          <a:lstStyle/>
          <a:p>
            <a:endParaRPr lang="en-US"/>
          </a:p>
        </p:txBody>
      </p:sp>
      <p:sp>
        <p:nvSpPr>
          <p:cNvPr id="32" name="Text 30"/>
          <p:cNvSpPr/>
          <p:nvPr/>
        </p:nvSpPr>
        <p:spPr>
          <a:xfrm>
            <a:off x="274320" y="4718304"/>
            <a:ext cx="8595360" cy="292608"/>
          </a:xfrm>
          <a:prstGeom prst="rect">
            <a:avLst/>
          </a:prstGeom>
          <a:noFill/>
          <a:ln/>
        </p:spPr>
        <p:txBody>
          <a:bodyPr wrap="square" rtlCol="0" anchor="ctr"/>
          <a:lstStyle/>
          <a:p>
            <a:pPr marL="0" indent="0" algn="ctr">
              <a:buNone/>
            </a:pPr>
            <a:r>
              <a:rPr lang="en-US" sz="1200" i="1" dirty="0">
                <a:solidFill>
                  <a:srgbClr val="FFFFFF"/>
                </a:solidFill>
                <a:latin typeface="Arial" pitchFamily="34" charset="0"/>
                <a:ea typeface="Arial" pitchFamily="34" charset="-122"/>
                <a:cs typeface="Arial" pitchFamily="34" charset="-120"/>
              </a:rPr>
              <a:t>"What does the gravity feel of YOUR Minecraft adventure map say about the world your player lives in?"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5E20"/>
          </a:solidFill>
          <a:ln w="12700">
            <a:solidFill>
              <a:srgbClr val="000000"/>
            </a:solidFill>
            <a:prstDash val="solid"/>
          </a:ln>
        </p:spPr>
        <p:txBody>
          <a:bodyPr/>
          <a:lstStyle/>
          <a:p>
            <a:endParaRPr lang="en-US"/>
          </a:p>
        </p:txBody>
      </p:sp>
      <p:sp>
        <p:nvSpPr>
          <p:cNvPr id="3" name="Text 1"/>
          <p:cNvSpPr/>
          <p:nvPr/>
        </p:nvSpPr>
        <p:spPr>
          <a:xfrm>
            <a:off x="365760" y="109728"/>
            <a:ext cx="8229600" cy="59436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Reflection &amp; Exit Ticket  (7 min)</a:t>
            </a:r>
            <a:endParaRPr lang="en-US" sz="2800" dirty="0"/>
          </a:p>
        </p:txBody>
      </p:sp>
      <p:sp>
        <p:nvSpPr>
          <p:cNvPr id="4" name="Shape 2"/>
          <p:cNvSpPr/>
          <p:nvPr/>
        </p:nvSpPr>
        <p:spPr>
          <a:xfrm>
            <a:off x="182880" y="960120"/>
            <a:ext cx="4160520" cy="3566160"/>
          </a:xfrm>
          <a:prstGeom prst="roundRect">
            <a:avLst>
              <a:gd name="adj" fmla="val 2564"/>
            </a:avLst>
          </a:prstGeom>
          <a:solidFill>
            <a:srgbClr val="C8E6C9"/>
          </a:solidFill>
          <a:ln/>
          <a:effectLst>
            <a:outerShdw blurRad="63500" dist="25400" dir="2700000" algn="bl" rotWithShape="0">
              <a:srgbClr val="000000">
                <a:alpha val="12000"/>
              </a:srgbClr>
            </a:outerShdw>
          </a:effectLst>
        </p:spPr>
        <p:txBody>
          <a:bodyPr/>
          <a:lstStyle/>
          <a:p>
            <a:endParaRPr lang="en-US"/>
          </a:p>
        </p:txBody>
      </p:sp>
      <p:sp>
        <p:nvSpPr>
          <p:cNvPr id="5" name="Text 3"/>
          <p:cNvSpPr/>
          <p:nvPr/>
        </p:nvSpPr>
        <p:spPr>
          <a:xfrm>
            <a:off x="320040" y="1024128"/>
            <a:ext cx="3886200" cy="347472"/>
          </a:xfrm>
          <a:prstGeom prst="rect">
            <a:avLst/>
          </a:prstGeom>
          <a:noFill/>
          <a:ln/>
        </p:spPr>
        <p:txBody>
          <a:bodyPr wrap="square" rtlCol="0" anchor="ctr"/>
          <a:lstStyle/>
          <a:p>
            <a:pPr marL="0" indent="0">
              <a:buNone/>
            </a:pPr>
            <a:r>
              <a:rPr lang="en-US" sz="1300" b="1" dirty="0">
                <a:solidFill>
                  <a:srgbClr val="1B5E20"/>
                </a:solidFill>
                <a:latin typeface="Arial" pitchFamily="34" charset="0"/>
                <a:ea typeface="Arial" pitchFamily="34" charset="-122"/>
                <a:cs typeface="Arial" pitchFamily="34" charset="-120"/>
              </a:rPr>
              <a:t>CLASS DISCUSSION</a:t>
            </a:r>
            <a:endParaRPr lang="en-US" sz="1300" dirty="0"/>
          </a:p>
        </p:txBody>
      </p:sp>
      <p:sp>
        <p:nvSpPr>
          <p:cNvPr id="6" name="Shape 4"/>
          <p:cNvSpPr/>
          <p:nvPr/>
        </p:nvSpPr>
        <p:spPr>
          <a:xfrm>
            <a:off x="320040" y="1435608"/>
            <a:ext cx="3886200" cy="658368"/>
          </a:xfrm>
          <a:prstGeom prst="roundRect">
            <a:avLst>
              <a:gd name="adj" fmla="val 8333"/>
            </a:avLst>
          </a:prstGeom>
          <a:solidFill>
            <a:srgbClr val="FFFFFF"/>
          </a:solidFill>
          <a:ln/>
        </p:spPr>
        <p:txBody>
          <a:bodyPr/>
          <a:lstStyle/>
          <a:p>
            <a:endParaRPr lang="en-US"/>
          </a:p>
        </p:txBody>
      </p:sp>
      <p:sp>
        <p:nvSpPr>
          <p:cNvPr id="7" name="Text 5"/>
          <p:cNvSpPr/>
          <p:nvPr/>
        </p:nvSpPr>
        <p:spPr>
          <a:xfrm>
            <a:off x="438912" y="1463040"/>
            <a:ext cx="3657600" cy="603504"/>
          </a:xfrm>
          <a:prstGeom prst="rect">
            <a:avLst/>
          </a:prstGeom>
          <a:noFill/>
          <a:ln/>
        </p:spPr>
        <p:txBody>
          <a:bodyPr wrap="square" rtlCol="0" anchor="ctr"/>
          <a:lstStyle/>
          <a:p>
            <a:pPr marL="0" indent="0">
              <a:buNone/>
            </a:pPr>
            <a:r>
              <a:rPr lang="en-US" sz="1150" dirty="0">
                <a:solidFill>
                  <a:srgbClr val="1A1A1A"/>
                </a:solidFill>
                <a:latin typeface="Arial" pitchFamily="34" charset="0"/>
                <a:ea typeface="Arial" pitchFamily="34" charset="-122"/>
                <a:cs typeface="Arial" pitchFamily="34" charset="-120"/>
              </a:rPr>
              <a:t>How would changing JUMP_FORCE affect how the game feels? What about changing GRAVITY?</a:t>
            </a:r>
            <a:endParaRPr lang="en-US" sz="1150" dirty="0"/>
          </a:p>
        </p:txBody>
      </p:sp>
      <p:sp>
        <p:nvSpPr>
          <p:cNvPr id="8" name="Shape 6"/>
          <p:cNvSpPr/>
          <p:nvPr/>
        </p:nvSpPr>
        <p:spPr>
          <a:xfrm>
            <a:off x="320040" y="2185416"/>
            <a:ext cx="3886200" cy="658368"/>
          </a:xfrm>
          <a:prstGeom prst="roundRect">
            <a:avLst>
              <a:gd name="adj" fmla="val 8333"/>
            </a:avLst>
          </a:prstGeom>
          <a:solidFill>
            <a:srgbClr val="FFFFFF"/>
          </a:solidFill>
          <a:ln/>
        </p:spPr>
        <p:txBody>
          <a:bodyPr/>
          <a:lstStyle/>
          <a:p>
            <a:endParaRPr lang="en-US"/>
          </a:p>
        </p:txBody>
      </p:sp>
      <p:sp>
        <p:nvSpPr>
          <p:cNvPr id="9" name="Text 7"/>
          <p:cNvSpPr/>
          <p:nvPr/>
        </p:nvSpPr>
        <p:spPr>
          <a:xfrm>
            <a:off x="438912" y="2212848"/>
            <a:ext cx="3657600" cy="603504"/>
          </a:xfrm>
          <a:prstGeom prst="rect">
            <a:avLst/>
          </a:prstGeom>
          <a:noFill/>
          <a:ln/>
        </p:spPr>
        <p:txBody>
          <a:bodyPr wrap="square" rtlCol="0" anchor="ctr"/>
          <a:lstStyle/>
          <a:p>
            <a:pPr marL="0" indent="0">
              <a:buNone/>
            </a:pPr>
            <a:r>
              <a:rPr lang="en-US" sz="1150" dirty="0">
                <a:solidFill>
                  <a:srgbClr val="1A1A1A"/>
                </a:solidFill>
                <a:latin typeface="Arial" pitchFamily="34" charset="0"/>
                <a:ea typeface="Arial" pitchFamily="34" charset="-122"/>
                <a:cs typeface="Arial" pitchFamily="34" charset="-120"/>
              </a:rPr>
              <a:t>Which Minecraft maps have memorable jumps? What makes them feel that way?</a:t>
            </a:r>
            <a:endParaRPr lang="en-US" sz="1150" dirty="0"/>
          </a:p>
        </p:txBody>
      </p:sp>
      <p:sp>
        <p:nvSpPr>
          <p:cNvPr id="10" name="Shape 8"/>
          <p:cNvSpPr/>
          <p:nvPr/>
        </p:nvSpPr>
        <p:spPr>
          <a:xfrm>
            <a:off x="320040" y="2935224"/>
            <a:ext cx="3886200" cy="658368"/>
          </a:xfrm>
          <a:prstGeom prst="roundRect">
            <a:avLst>
              <a:gd name="adj" fmla="val 8333"/>
            </a:avLst>
          </a:prstGeom>
          <a:solidFill>
            <a:srgbClr val="FFFFFF"/>
          </a:solidFill>
          <a:ln/>
        </p:spPr>
        <p:txBody>
          <a:bodyPr/>
          <a:lstStyle/>
          <a:p>
            <a:endParaRPr lang="en-US"/>
          </a:p>
        </p:txBody>
      </p:sp>
      <p:sp>
        <p:nvSpPr>
          <p:cNvPr id="11" name="Text 9"/>
          <p:cNvSpPr/>
          <p:nvPr/>
        </p:nvSpPr>
        <p:spPr>
          <a:xfrm>
            <a:off x="438912" y="2962656"/>
            <a:ext cx="3657600" cy="603504"/>
          </a:xfrm>
          <a:prstGeom prst="rect">
            <a:avLst/>
          </a:prstGeom>
          <a:noFill/>
          <a:ln/>
        </p:spPr>
        <p:txBody>
          <a:bodyPr wrap="square" rtlCol="0" anchor="ctr"/>
          <a:lstStyle/>
          <a:p>
            <a:pPr marL="0" indent="0">
              <a:buNone/>
            </a:pPr>
            <a:r>
              <a:rPr lang="en-US" sz="1150" dirty="0">
                <a:solidFill>
                  <a:srgbClr val="1A1A1A"/>
                </a:solidFill>
                <a:latin typeface="Arial" pitchFamily="34" charset="0"/>
                <a:ea typeface="Arial" pitchFamily="34" charset="-122"/>
                <a:cs typeface="Arial" pitchFamily="34" charset="-120"/>
              </a:rPr>
              <a:t>How is our MakeCode simulation similar to what Minecraft actually does internally?</a:t>
            </a:r>
            <a:endParaRPr lang="en-US" sz="1150" dirty="0"/>
          </a:p>
        </p:txBody>
      </p:sp>
      <p:sp>
        <p:nvSpPr>
          <p:cNvPr id="12" name="Shape 10"/>
          <p:cNvSpPr/>
          <p:nvPr/>
        </p:nvSpPr>
        <p:spPr>
          <a:xfrm>
            <a:off x="320040" y="3685032"/>
            <a:ext cx="3886200" cy="658368"/>
          </a:xfrm>
          <a:prstGeom prst="roundRect">
            <a:avLst>
              <a:gd name="adj" fmla="val 8333"/>
            </a:avLst>
          </a:prstGeom>
          <a:solidFill>
            <a:srgbClr val="FFFFFF"/>
          </a:solidFill>
          <a:ln/>
        </p:spPr>
        <p:txBody>
          <a:bodyPr/>
          <a:lstStyle/>
          <a:p>
            <a:endParaRPr lang="en-US"/>
          </a:p>
        </p:txBody>
      </p:sp>
      <p:sp>
        <p:nvSpPr>
          <p:cNvPr id="13" name="Text 11"/>
          <p:cNvSpPr/>
          <p:nvPr/>
        </p:nvSpPr>
        <p:spPr>
          <a:xfrm>
            <a:off x="438912" y="3712464"/>
            <a:ext cx="3657600" cy="603504"/>
          </a:xfrm>
          <a:prstGeom prst="rect">
            <a:avLst/>
          </a:prstGeom>
          <a:noFill/>
          <a:ln/>
        </p:spPr>
        <p:txBody>
          <a:bodyPr wrap="square" rtlCol="0" anchor="ctr"/>
          <a:lstStyle/>
          <a:p>
            <a:pPr marL="0" indent="0">
              <a:buNone/>
            </a:pPr>
            <a:r>
              <a:rPr lang="en-US" sz="1150" dirty="0">
                <a:solidFill>
                  <a:srgbClr val="1A1A1A"/>
                </a:solidFill>
                <a:latin typeface="Arial" pitchFamily="34" charset="0"/>
                <a:ea typeface="Arial" pitchFamily="34" charset="-122"/>
                <a:cs typeface="Arial" pitchFamily="34" charset="-120"/>
              </a:rPr>
              <a:t>How is programming a jump similar to real physics? How is it different?</a:t>
            </a:r>
            <a:endParaRPr lang="en-US" sz="1150" dirty="0"/>
          </a:p>
        </p:txBody>
      </p:sp>
      <p:sp>
        <p:nvSpPr>
          <p:cNvPr id="14" name="Shape 12"/>
          <p:cNvSpPr/>
          <p:nvPr/>
        </p:nvSpPr>
        <p:spPr>
          <a:xfrm>
            <a:off x="4572000" y="960120"/>
            <a:ext cx="4343400" cy="3566160"/>
          </a:xfrm>
          <a:prstGeom prst="roundRect">
            <a:avLst>
              <a:gd name="adj" fmla="val 2564"/>
            </a:avLst>
          </a:prstGeom>
          <a:solidFill>
            <a:srgbClr val="FFFFFF"/>
          </a:solidFill>
          <a:ln/>
          <a:effectLst>
            <a:outerShdw blurRad="63500" dist="25400" dir="2700000" algn="bl" rotWithShape="0">
              <a:srgbClr val="000000">
                <a:alpha val="12000"/>
              </a:srgbClr>
            </a:outerShdw>
          </a:effectLst>
        </p:spPr>
        <p:txBody>
          <a:bodyPr/>
          <a:lstStyle/>
          <a:p>
            <a:endParaRPr lang="en-US"/>
          </a:p>
        </p:txBody>
      </p:sp>
      <p:sp>
        <p:nvSpPr>
          <p:cNvPr id="15" name="Shape 13"/>
          <p:cNvSpPr/>
          <p:nvPr/>
        </p:nvSpPr>
        <p:spPr>
          <a:xfrm>
            <a:off x="4663440" y="1024128"/>
            <a:ext cx="4160520" cy="411480"/>
          </a:xfrm>
          <a:prstGeom prst="roundRect">
            <a:avLst>
              <a:gd name="adj" fmla="val 13333"/>
            </a:avLst>
          </a:prstGeom>
          <a:solidFill>
            <a:srgbClr val="5D4037"/>
          </a:solidFill>
          <a:ln/>
        </p:spPr>
        <p:txBody>
          <a:bodyPr/>
          <a:lstStyle/>
          <a:p>
            <a:endParaRPr lang="en-US"/>
          </a:p>
        </p:txBody>
      </p:sp>
      <p:sp>
        <p:nvSpPr>
          <p:cNvPr id="16" name="Text 14"/>
          <p:cNvSpPr/>
          <p:nvPr/>
        </p:nvSpPr>
        <p:spPr>
          <a:xfrm>
            <a:off x="4663440" y="1024128"/>
            <a:ext cx="4160520" cy="41148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EXIT TICKET  (sticky note or journal)</a:t>
            </a:r>
            <a:endParaRPr lang="en-US" sz="1200" dirty="0"/>
          </a:p>
        </p:txBody>
      </p:sp>
      <p:sp>
        <p:nvSpPr>
          <p:cNvPr id="17" name="Shape 15"/>
          <p:cNvSpPr/>
          <p:nvPr/>
        </p:nvSpPr>
        <p:spPr>
          <a:xfrm>
            <a:off x="4663440" y="1536192"/>
            <a:ext cx="4160520" cy="822960"/>
          </a:xfrm>
          <a:prstGeom prst="roundRect">
            <a:avLst>
              <a:gd name="adj" fmla="val 7778"/>
            </a:avLst>
          </a:prstGeom>
          <a:solidFill>
            <a:srgbClr val="C8E6C9"/>
          </a:solidFill>
          <a:ln/>
        </p:spPr>
        <p:txBody>
          <a:bodyPr/>
          <a:lstStyle/>
          <a:p>
            <a:endParaRPr lang="en-US"/>
          </a:p>
        </p:txBody>
      </p:sp>
      <p:sp>
        <p:nvSpPr>
          <p:cNvPr id="18" name="Shape 16"/>
          <p:cNvSpPr/>
          <p:nvPr/>
        </p:nvSpPr>
        <p:spPr>
          <a:xfrm>
            <a:off x="4736592" y="1591056"/>
            <a:ext cx="457200" cy="457200"/>
          </a:xfrm>
          <a:prstGeom prst="roundRect">
            <a:avLst>
              <a:gd name="adj" fmla="val 10000"/>
            </a:avLst>
          </a:prstGeom>
          <a:solidFill>
            <a:srgbClr val="1B5E20"/>
          </a:solidFill>
          <a:ln/>
        </p:spPr>
        <p:txBody>
          <a:bodyPr/>
          <a:lstStyle/>
          <a:p>
            <a:endParaRPr lang="en-US"/>
          </a:p>
        </p:txBody>
      </p:sp>
      <p:sp>
        <p:nvSpPr>
          <p:cNvPr id="19" name="Text 17"/>
          <p:cNvSpPr/>
          <p:nvPr/>
        </p:nvSpPr>
        <p:spPr>
          <a:xfrm>
            <a:off x="4736592" y="1591056"/>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20" name="Text 18"/>
          <p:cNvSpPr/>
          <p:nvPr/>
        </p:nvSpPr>
        <p:spPr>
          <a:xfrm>
            <a:off x="5257800" y="1591056"/>
            <a:ext cx="3429000" cy="621792"/>
          </a:xfrm>
          <a:prstGeom prst="rect">
            <a:avLst/>
          </a:prstGeom>
          <a:noFill/>
          <a:ln/>
        </p:spPr>
        <p:txBody>
          <a:bodyPr wrap="square" rtlCol="0" anchor="ctr"/>
          <a:lstStyle/>
          <a:p>
            <a:pPr marL="0" indent="0">
              <a:buNone/>
            </a:pPr>
            <a:r>
              <a:rPr lang="en-US" sz="1150" dirty="0">
                <a:solidFill>
                  <a:srgbClr val="1A1A1A"/>
                </a:solidFill>
                <a:latin typeface="Arial" pitchFamily="34" charset="0"/>
                <a:ea typeface="Arial" pitchFamily="34" charset="-122"/>
                <a:cs typeface="Arial" pitchFamily="34" charset="-120"/>
              </a:rPr>
              <a:t>In your own words: what does gravity do to an object's velocity over time?</a:t>
            </a:r>
            <a:endParaRPr lang="en-US" sz="1150" dirty="0"/>
          </a:p>
        </p:txBody>
      </p:sp>
      <p:sp>
        <p:nvSpPr>
          <p:cNvPr id="21" name="Shape 19"/>
          <p:cNvSpPr/>
          <p:nvPr/>
        </p:nvSpPr>
        <p:spPr>
          <a:xfrm>
            <a:off x="4663440" y="2487168"/>
            <a:ext cx="4160520" cy="822960"/>
          </a:xfrm>
          <a:prstGeom prst="roundRect">
            <a:avLst>
              <a:gd name="adj" fmla="val 7778"/>
            </a:avLst>
          </a:prstGeom>
          <a:solidFill>
            <a:srgbClr val="C8E6C9"/>
          </a:solidFill>
          <a:ln/>
        </p:spPr>
        <p:txBody>
          <a:bodyPr/>
          <a:lstStyle/>
          <a:p>
            <a:endParaRPr lang="en-US"/>
          </a:p>
        </p:txBody>
      </p:sp>
      <p:sp>
        <p:nvSpPr>
          <p:cNvPr id="22" name="Shape 20"/>
          <p:cNvSpPr/>
          <p:nvPr/>
        </p:nvSpPr>
        <p:spPr>
          <a:xfrm>
            <a:off x="4736592" y="2542032"/>
            <a:ext cx="457200" cy="457200"/>
          </a:xfrm>
          <a:prstGeom prst="roundRect">
            <a:avLst>
              <a:gd name="adj" fmla="val 10000"/>
            </a:avLst>
          </a:prstGeom>
          <a:solidFill>
            <a:srgbClr val="1B5E20"/>
          </a:solidFill>
          <a:ln/>
        </p:spPr>
        <p:txBody>
          <a:bodyPr/>
          <a:lstStyle/>
          <a:p>
            <a:endParaRPr lang="en-US"/>
          </a:p>
        </p:txBody>
      </p:sp>
      <p:sp>
        <p:nvSpPr>
          <p:cNvPr id="23" name="Text 21"/>
          <p:cNvSpPr/>
          <p:nvPr/>
        </p:nvSpPr>
        <p:spPr>
          <a:xfrm>
            <a:off x="4736592" y="2542032"/>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24" name="Text 22"/>
          <p:cNvSpPr/>
          <p:nvPr/>
        </p:nvSpPr>
        <p:spPr>
          <a:xfrm>
            <a:off x="5257800" y="2542032"/>
            <a:ext cx="3429000" cy="621792"/>
          </a:xfrm>
          <a:prstGeom prst="rect">
            <a:avLst/>
          </a:prstGeom>
          <a:noFill/>
          <a:ln/>
        </p:spPr>
        <p:txBody>
          <a:bodyPr wrap="square" rtlCol="0" anchor="ctr"/>
          <a:lstStyle/>
          <a:p>
            <a:pPr marL="0" indent="0">
              <a:buNone/>
            </a:pPr>
            <a:r>
              <a:rPr lang="en-US" sz="1150" dirty="0">
                <a:solidFill>
                  <a:srgbClr val="1A1A1A"/>
                </a:solidFill>
                <a:latin typeface="Arial" pitchFamily="34" charset="0"/>
                <a:ea typeface="Arial" pitchFamily="34" charset="-122"/>
                <a:cs typeface="Arial" pitchFamily="34" charset="-120"/>
              </a:rPr>
              <a:t>Why is JUMP_FORCE positive in Minecraft code (unlike Godot where it was negative)?</a:t>
            </a:r>
            <a:endParaRPr lang="en-US" sz="1150" dirty="0"/>
          </a:p>
        </p:txBody>
      </p:sp>
      <p:sp>
        <p:nvSpPr>
          <p:cNvPr id="25" name="Shape 23"/>
          <p:cNvSpPr/>
          <p:nvPr/>
        </p:nvSpPr>
        <p:spPr>
          <a:xfrm>
            <a:off x="4663440" y="3438144"/>
            <a:ext cx="4160520" cy="822960"/>
          </a:xfrm>
          <a:prstGeom prst="roundRect">
            <a:avLst>
              <a:gd name="adj" fmla="val 7778"/>
            </a:avLst>
          </a:prstGeom>
          <a:solidFill>
            <a:srgbClr val="C8E6C9"/>
          </a:solidFill>
          <a:ln/>
        </p:spPr>
        <p:txBody>
          <a:bodyPr/>
          <a:lstStyle/>
          <a:p>
            <a:endParaRPr lang="en-US"/>
          </a:p>
        </p:txBody>
      </p:sp>
      <p:sp>
        <p:nvSpPr>
          <p:cNvPr id="26" name="Shape 24"/>
          <p:cNvSpPr/>
          <p:nvPr/>
        </p:nvSpPr>
        <p:spPr>
          <a:xfrm>
            <a:off x="4736592" y="3493008"/>
            <a:ext cx="457200" cy="457200"/>
          </a:xfrm>
          <a:prstGeom prst="roundRect">
            <a:avLst>
              <a:gd name="adj" fmla="val 10000"/>
            </a:avLst>
          </a:prstGeom>
          <a:solidFill>
            <a:srgbClr val="1B5E20"/>
          </a:solidFill>
          <a:ln/>
        </p:spPr>
        <p:txBody>
          <a:bodyPr/>
          <a:lstStyle/>
          <a:p>
            <a:endParaRPr lang="en-US"/>
          </a:p>
        </p:txBody>
      </p:sp>
      <p:sp>
        <p:nvSpPr>
          <p:cNvPr id="27" name="Text 25"/>
          <p:cNvSpPr/>
          <p:nvPr/>
        </p:nvSpPr>
        <p:spPr>
          <a:xfrm>
            <a:off x="4736592" y="3493008"/>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8" name="Text 26"/>
          <p:cNvSpPr/>
          <p:nvPr/>
        </p:nvSpPr>
        <p:spPr>
          <a:xfrm>
            <a:off x="5257800" y="3493008"/>
            <a:ext cx="3429000" cy="621792"/>
          </a:xfrm>
          <a:prstGeom prst="rect">
            <a:avLst/>
          </a:prstGeom>
          <a:noFill/>
          <a:ln/>
        </p:spPr>
        <p:txBody>
          <a:bodyPr wrap="square" rtlCol="0" anchor="ctr"/>
          <a:lstStyle/>
          <a:p>
            <a:pPr marL="0" indent="0">
              <a:buNone/>
            </a:pPr>
            <a:r>
              <a:rPr lang="en-US" sz="1150" dirty="0">
                <a:solidFill>
                  <a:srgbClr val="1A1A1A"/>
                </a:solidFill>
                <a:latin typeface="Arial" pitchFamily="34" charset="0"/>
                <a:ea typeface="Arial" pitchFamily="34" charset="-122"/>
                <a:cs typeface="Arial" pitchFamily="34" charset="-120"/>
              </a:rPr>
              <a:t>One word to describe how your agent's jump felt during testing.</a:t>
            </a:r>
            <a:endParaRPr lang="en-US" sz="1150" dirty="0"/>
          </a:p>
        </p:txBody>
      </p:sp>
      <p:sp>
        <p:nvSpPr>
          <p:cNvPr id="29" name="Shape 27"/>
          <p:cNvSpPr/>
          <p:nvPr/>
        </p:nvSpPr>
        <p:spPr>
          <a:xfrm>
            <a:off x="182880" y="4617720"/>
            <a:ext cx="8778240" cy="384048"/>
          </a:xfrm>
          <a:prstGeom prst="roundRect">
            <a:avLst>
              <a:gd name="adj" fmla="val 14286"/>
            </a:avLst>
          </a:prstGeom>
          <a:solidFill>
            <a:srgbClr val="1B5E20"/>
          </a:solidFill>
          <a:ln/>
        </p:spPr>
        <p:txBody>
          <a:bodyPr/>
          <a:lstStyle/>
          <a:p>
            <a:endParaRPr lang="en-US"/>
          </a:p>
        </p:txBody>
      </p:sp>
      <p:sp>
        <p:nvSpPr>
          <p:cNvPr id="30" name="Text 28"/>
          <p:cNvSpPr/>
          <p:nvPr/>
        </p:nvSpPr>
        <p:spPr>
          <a:xfrm>
            <a:off x="320040" y="4626864"/>
            <a:ext cx="8503920" cy="347472"/>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Reminder: Save your MakeCode project before leaving!  File → Save  (or ensure auto-save is 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1615</Words>
  <Application>Microsoft Macintosh PowerPoint</Application>
  <PresentationFormat>On-screen Show (16:9)</PresentationFormat>
  <Paragraphs>180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STEM Games Day 6 - Gravity &amp; Jumping - Minecraft Edition</dc:title>
  <dc:subject>PptxGenJS Presentation</dc:subject>
  <dc:creator>PptxGenJS</dc:creator>
  <cp:lastModifiedBy>Babichenko, Dmitriy</cp:lastModifiedBy>
  <cp:revision>8</cp:revision>
  <dcterms:created xsi:type="dcterms:W3CDTF">2026-06-16T16:11:54Z</dcterms:created>
  <dcterms:modified xsi:type="dcterms:W3CDTF">2026-06-29T02:34:24Z</dcterms:modified>
</cp:coreProperties>
</file>